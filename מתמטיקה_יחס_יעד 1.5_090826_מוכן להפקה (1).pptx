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ags/tag2.xml" ContentType="application/vnd.openxmlformats-officedocument.presentationml.tags+xml"/>
  <Override PartName="/ppt/tags/tag3.xml" ContentType="application/vnd.openxmlformats-officedocument.presentationml.tags+xml"/>
  <Override PartName="/ppt/notesSlides/notesSlide1.xml" ContentType="application/vnd.openxmlformats-officedocument.presentationml.notesSlide+xml"/>
  <Override PartName="/ppt/notesSlides/notesSlide2.xml" ContentType="application/vnd.openxmlformats-officedocument.presentationml.notesSlide+xml"/>
  <Override PartName="/ppt/comments/modernComment_2F3_E6B03D3F.xml" ContentType="application/vnd.ms-powerpoint.comments+xml"/>
  <Override PartName="/ppt/notesSlides/notesSlide3.xml" ContentType="application/vnd.openxmlformats-officedocument.presentationml.notesSlide+xml"/>
  <Override PartName="/ppt/comments/modernComment_2FC_15E13E9D.xml" ContentType="application/vnd.ms-powerpoint.comments+xml"/>
  <Override PartName="/ppt/notesSlides/notesSlide4.xml" ContentType="application/vnd.openxmlformats-officedocument.presentationml.notesSlide+xml"/>
  <Override PartName="/ppt/notesSlides/notesSlide5.xml" ContentType="application/vnd.openxmlformats-officedocument.presentationml.notesSlide+xml"/>
  <Override PartName="/ppt/tags/tag4.xml" ContentType="application/vnd.openxmlformats-officedocument.presentationml.tags+xml"/>
  <Override PartName="/ppt/notesSlides/notesSlide6.xml" ContentType="application/vnd.openxmlformats-officedocument.presentationml.notesSlide+xml"/>
  <Override PartName="/ppt/comments/modernComment_29A_753116BF.xml" ContentType="application/vnd.ms-powerpoint.comments+xml"/>
  <Override PartName="/ppt/tags/tag5.xml" ContentType="application/vnd.openxmlformats-officedocument.presentationml.tags+xml"/>
  <Override PartName="/ppt/notesSlides/notesSlide7.xml" ContentType="application/vnd.openxmlformats-officedocument.presentationml.notesSlide+xml"/>
  <Override PartName="/ppt/comments/modernComment_2DF_59597A36.xml" ContentType="application/vnd.ms-powerpoint.comments+xml"/>
  <Override PartName="/ppt/tags/tag6.xml" ContentType="application/vnd.openxmlformats-officedocument.presentationml.tags+xml"/>
  <Override PartName="/ppt/notesSlides/notesSlide8.xml" ContentType="application/vnd.openxmlformats-officedocument.presentationml.notesSlide+xml"/>
  <Override PartName="/ppt/tags/tag7.xml" ContentType="application/vnd.openxmlformats-officedocument.presentationml.tags+xml"/>
  <Override PartName="/ppt/notesSlides/notesSlide9.xml" ContentType="application/vnd.openxmlformats-officedocument.presentationml.notesSlide+xml"/>
  <Override PartName="/ppt/tags/tag8.xml" ContentType="application/vnd.openxmlformats-officedocument.presentationml.tags+xml"/>
  <Override PartName="/ppt/notesSlides/notesSlide10.xml" ContentType="application/vnd.openxmlformats-officedocument.presentationml.notesSlide+xml"/>
  <Override PartName="/ppt/tags/tag9.xml" ContentType="application/vnd.openxmlformats-officedocument.presentationml.tags+xml"/>
  <Override PartName="/ppt/notesSlides/notesSlide11.xml" ContentType="application/vnd.openxmlformats-officedocument.presentationml.notesSlide+xml"/>
  <Override PartName="/ppt/tags/tag10.xml" ContentType="application/vnd.openxmlformats-officedocument.presentationml.tags+xml"/>
  <Override PartName="/ppt/notesSlides/notesSlide12.xml" ContentType="application/vnd.openxmlformats-officedocument.presentationml.notesSlide+xml"/>
  <Override PartName="/ppt/tags/tag11.xml" ContentType="application/vnd.openxmlformats-officedocument.presentationml.tags+xml"/>
  <Override PartName="/ppt/notesSlides/notesSlide13.xml" ContentType="application/vnd.openxmlformats-officedocument.presentationml.notesSlide+xml"/>
  <Override PartName="/ppt/tags/tag12.xml" ContentType="application/vnd.openxmlformats-officedocument.presentationml.tags+xml"/>
  <Override PartName="/ppt/notesSlides/notesSlide14.xml" ContentType="application/vnd.openxmlformats-officedocument.presentationml.notesSlide+xml"/>
  <Override PartName="/ppt/comments/modernComment_2C8_BD02B5E2.xml" ContentType="application/vnd.ms-powerpoint.comments+xml"/>
  <Override PartName="/ppt/tags/tag13.xml" ContentType="application/vnd.openxmlformats-officedocument.presentationml.tags+xml"/>
  <Override PartName="/ppt/notesSlides/notesSlide15.xml" ContentType="application/vnd.openxmlformats-officedocument.presentationml.notesSlide+xml"/>
  <Override PartName="/ppt/tags/tag14.xml" ContentType="application/vnd.openxmlformats-officedocument.presentationml.tags+xml"/>
  <Override PartName="/ppt/notesSlides/notesSlide16.xml" ContentType="application/vnd.openxmlformats-officedocument.presentationml.notesSlide+xml"/>
  <Override PartName="/ppt/tags/tag15.xml" ContentType="application/vnd.openxmlformats-officedocument.presentationml.tags+xml"/>
  <Override PartName="/ppt/notesSlides/notesSlide17.xml" ContentType="application/vnd.openxmlformats-officedocument.presentationml.notesSlide+xml"/>
  <Override PartName="/ppt/tags/tag16.xml" ContentType="application/vnd.openxmlformats-officedocument.presentationml.tags+xml"/>
  <Override PartName="/ppt/notesSlides/notesSlide18.xml" ContentType="application/vnd.openxmlformats-officedocument.presentationml.notesSlide+xml"/>
  <Override PartName="/ppt/tags/tag17.xml" ContentType="application/vnd.openxmlformats-officedocument.presentationml.tags+xml"/>
  <Override PartName="/ppt/notesSlides/notesSlide19.xml" ContentType="application/vnd.openxmlformats-officedocument.presentationml.notesSlide+xml"/>
  <Override PartName="/ppt/tags/tag18.xml" ContentType="application/vnd.openxmlformats-officedocument.presentationml.tags+xml"/>
  <Override PartName="/ppt/notesSlides/notesSlide20.xml" ContentType="application/vnd.openxmlformats-officedocument.presentationml.notesSlide+xml"/>
  <Override PartName="/ppt/tags/tag19.xml" ContentType="application/vnd.openxmlformats-officedocument.presentationml.tags+xml"/>
  <Override PartName="/ppt/notesSlides/notesSlide21.xml" ContentType="application/vnd.openxmlformats-officedocument.presentationml.notesSlide+xml"/>
  <Override PartName="/ppt/comments/modernComment_12C_1651563B.xml" ContentType="application/vnd.ms-powerpoint.comments+xml"/>
  <Override PartName="/ppt/tags/tag20.xml" ContentType="application/vnd.openxmlformats-officedocument.presentationml.tags+xml"/>
  <Override PartName="/ppt/notesSlides/notesSlide22.xml" ContentType="application/vnd.openxmlformats-officedocument.presentationml.notesSlide+xml"/>
  <Override PartName="/ppt/tags/tag21.xml" ContentType="application/vnd.openxmlformats-officedocument.presentationml.tags+xml"/>
  <Override PartName="/ppt/notesSlides/notesSlide23.xml" ContentType="application/vnd.openxmlformats-officedocument.presentationml.notesSlide+xml"/>
  <Override PartName="/ppt/tags/tag22.xml" ContentType="application/vnd.openxmlformats-officedocument.presentationml.tags+xml"/>
  <Override PartName="/ppt/notesSlides/notesSlide24.xml" ContentType="application/vnd.openxmlformats-officedocument.presentationml.notesSlide+xml"/>
  <Override PartName="/ppt/tags/tag23.xml" ContentType="application/vnd.openxmlformats-officedocument.presentationml.tags+xml"/>
  <Override PartName="/ppt/notesSlides/notesSlide25.xml" ContentType="application/vnd.openxmlformats-officedocument.presentationml.notesSlide+xml"/>
  <Override PartName="/ppt/tags/tag24.xml" ContentType="application/vnd.openxmlformats-officedocument.presentationml.tags+xml"/>
  <Override PartName="/ppt/notesSlides/notesSlide26.xml" ContentType="application/vnd.openxmlformats-officedocument.presentationml.notesSlide+xml"/>
  <Override PartName="/ppt/tags/tag25.xml" ContentType="application/vnd.openxmlformats-officedocument.presentationml.tags+xml"/>
  <Override PartName="/ppt/notesSlides/notesSlide27.xml" ContentType="application/vnd.openxmlformats-officedocument.presentationml.notesSlide+xml"/>
  <Override PartName="/ppt/tags/tag26.xml" ContentType="application/vnd.openxmlformats-officedocument.presentationml.tags+xml"/>
  <Override PartName="/ppt/notesSlides/notesSlide28.xml" ContentType="application/vnd.openxmlformats-officedocument.presentationml.notesSlide+xml"/>
  <Override PartName="/ppt/tags/tag27.xml" ContentType="application/vnd.openxmlformats-officedocument.presentationml.tags+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tags/tag28.xml" ContentType="application/vnd.openxmlformats-officedocument.presentationml.tags+xml"/>
  <Override PartName="/ppt/notesSlides/notesSlide33.xml" ContentType="application/vnd.openxmlformats-officedocument.presentationml.notesSlide+xml"/>
  <Override PartName="/ppt/tags/tag29.xml" ContentType="application/vnd.openxmlformats-officedocument.presentationml.tags+xml"/>
  <Override PartName="/ppt/notesSlides/notesSlide34.xml" ContentType="application/vnd.openxmlformats-officedocument.presentationml.notesSlide+xml"/>
  <Override PartName="/ppt/tags/tag30.xml" ContentType="application/vnd.openxmlformats-officedocument.presentationml.tags+xml"/>
  <Override PartName="/ppt/notesSlides/notesSlide35.xml" ContentType="application/vnd.openxmlformats-officedocument.presentationml.notesSlide+xml"/>
  <Override PartName="/ppt/comments/modernComment_2E5_44FA5E12.xml" ContentType="application/vnd.ms-powerpoint.comments+xml"/>
  <Override PartName="/ppt/tags/tag31.xml" ContentType="application/vnd.openxmlformats-officedocument.presentationml.tags+xml"/>
  <Override PartName="/ppt/notesSlides/notesSlide36.xml" ContentType="application/vnd.openxmlformats-officedocument.presentationml.notesSlide+xml"/>
  <Override PartName="/ppt/comments/modernComment_2E6_82D90E9E.xml" ContentType="application/vnd.ms-powerpoint.comments+xml"/>
  <Override PartName="/ppt/tags/tag32.xml" ContentType="application/vnd.openxmlformats-officedocument.presentationml.tags+xml"/>
  <Override PartName="/ppt/notesSlides/notesSlide37.xml" ContentType="application/vnd.openxmlformats-officedocument.presentationml.notesSlide+xml"/>
  <Override PartName="/ppt/tags/tag33.xml" ContentType="application/vnd.openxmlformats-officedocument.presentationml.tags+xml"/>
  <Override PartName="/ppt/notesSlides/notesSlide38.xml" ContentType="application/vnd.openxmlformats-officedocument.presentationml.notesSlide+xml"/>
  <Override PartName="/ppt/comments/modernComment_2D9_57274BED.xml" ContentType="application/vnd.ms-powerpoint.comments+xml"/>
  <Override PartName="/ppt/tags/tag34.xml" ContentType="application/vnd.openxmlformats-officedocument.presentationml.tags+xml"/>
  <Override PartName="/ppt/notesSlides/notesSlide39.xml" ContentType="application/vnd.openxmlformats-officedocument.presentationml.notesSlide+xml"/>
  <Override PartName="/ppt/tags/tag35.xml" ContentType="application/vnd.openxmlformats-officedocument.presentationml.tags+xml"/>
  <Override PartName="/ppt/notesSlides/notesSlide40.xml" ContentType="application/vnd.openxmlformats-officedocument.presentationml.notesSlide+xml"/>
  <Override PartName="/ppt/tags/tag36.xml" ContentType="application/vnd.openxmlformats-officedocument.presentationml.tags+xml"/>
  <Override PartName="/ppt/notesSlides/notesSlide41.xml" ContentType="application/vnd.openxmlformats-officedocument.presentationml.notesSlide+xml"/>
  <Override PartName="/ppt/tags/tag37.xml" ContentType="application/vnd.openxmlformats-officedocument.presentationml.tags+xml"/>
  <Override PartName="/ppt/notesSlides/notesSlide42.xml" ContentType="application/vnd.openxmlformats-officedocument.presentationml.notesSlide+xml"/>
  <Override PartName="/ppt/tags/tag38.xml" ContentType="application/vnd.openxmlformats-officedocument.presentationml.tags+xml"/>
  <Override PartName="/ppt/notesSlides/notesSlide43.xml" ContentType="application/vnd.openxmlformats-officedocument.presentationml.notesSlide+xml"/>
  <Override PartName="/ppt/tags/tag39.xml" ContentType="application/vnd.openxmlformats-officedocument.presentationml.tags+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tags/tag40.xml" ContentType="application/vnd.openxmlformats-officedocument.presentationml.tags+xml"/>
  <Override PartName="/ppt/notesSlides/notesSlide49.xml" ContentType="application/vnd.openxmlformats-officedocument.presentationml.notesSlide+xml"/>
  <Override PartName="/ppt/comments/modernComment_2E8_56EF8DB5.xml" ContentType="application/vnd.ms-powerpoint.comments+xml"/>
  <Override PartName="/ppt/tags/tag41.xml" ContentType="application/vnd.openxmlformats-officedocument.presentationml.tags+xml"/>
  <Override PartName="/ppt/notesSlides/notesSlide50.xml" ContentType="application/vnd.openxmlformats-officedocument.presentationml.notesSlide+xml"/>
  <Override PartName="/ppt/comments/modernComment_305_542D2E36.xml" ContentType="application/vnd.ms-powerpoint.comments+xml"/>
  <Override PartName="/ppt/tags/tag42.xml" ContentType="application/vnd.openxmlformats-officedocument.presentationml.tags+xml"/>
  <Override PartName="/ppt/notesSlides/notesSlide51.xml" ContentType="application/vnd.openxmlformats-officedocument.presentationml.notesSlide+xml"/>
  <Override PartName="/ppt/comments/modernComment_2BC_B3237111.xml" ContentType="application/vnd.ms-powerpoint.comments+xml"/>
  <Override PartName="/ppt/notesSlides/notesSlide52.xml" ContentType="application/vnd.openxmlformats-officedocument.presentationml.notesSlide+xml"/>
  <Override PartName="/ppt/comments/modernComment_2F7_5ADD8DEA.xml" ContentType="application/vnd.ms-powerpoint.comments+xml"/>
  <Override PartName="/ppt/notesSlides/notesSlide53.xml" ContentType="application/vnd.openxmlformats-officedocument.presentationml.notesSlide+xml"/>
  <Override PartName="/ppt/tags/tag43.xml" ContentType="application/vnd.openxmlformats-officedocument.presentationml.tags+xml"/>
  <Override PartName="/ppt/notesSlides/notesSlide54.xml" ContentType="application/vnd.openxmlformats-officedocument.presentationml.notesSlide+xml"/>
  <Override PartName="/ppt/tags/tag44.xml" ContentType="application/vnd.openxmlformats-officedocument.presentationml.tags+xml"/>
  <Override PartName="/ppt/notesSlides/notesSlide55.xml" ContentType="application/vnd.openxmlformats-officedocument.presentationml.notesSlide+xml"/>
  <Override PartName="/ppt/comments/modernComment_1D6_104D38E8.xml" ContentType="application/vnd.ms-powerpoint.comments+xml"/>
  <Override PartName="/ppt/tags/tag45.xml" ContentType="application/vnd.openxmlformats-officedocument.presentationml.tags+xml"/>
  <Override PartName="/ppt/notesSlides/notesSlide56.xml" ContentType="application/vnd.openxmlformats-officedocument.presentationml.notesSlide+xml"/>
  <Override PartName="/ppt/tags/tag46.xml" ContentType="application/vnd.openxmlformats-officedocument.presentationml.tags+xml"/>
  <Override PartName="/ppt/notesSlides/notesSlide57.xml" ContentType="application/vnd.openxmlformats-officedocument.presentationml.notesSlide+xml"/>
  <Override PartName="/ppt/tags/tag47.xml" ContentType="application/vnd.openxmlformats-officedocument.presentationml.tags+xml"/>
  <Override PartName="/ppt/notesSlides/notesSlide58.xml" ContentType="application/vnd.openxmlformats-officedocument.presentationml.notesSlide+xml"/>
  <Override PartName="/ppt/tags/tag48.xml" ContentType="application/vnd.openxmlformats-officedocument.presentationml.tags+xml"/>
  <Override PartName="/ppt/notesSlides/notesSlide59.xml" ContentType="application/vnd.openxmlformats-officedocument.presentationml.notesSlide+xml"/>
  <Override PartName="/ppt/tags/tag49.xml" ContentType="application/vnd.openxmlformats-officedocument.presentationml.tags+xml"/>
  <Override PartName="/ppt/notesSlides/notesSlide60.xml" ContentType="application/vnd.openxmlformats-officedocument.presentationml.notesSlide+xml"/>
  <Override PartName="/ppt/comments/modernComment_2EF_519780AD.xml" ContentType="application/vnd.ms-powerpoint.comments+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rtl="1" saveSubsetFonts="1">
  <p:sldMasterIdLst>
    <p:sldMasterId id="2147483648" r:id="rId4"/>
  </p:sldMasterIdLst>
  <p:notesMasterIdLst>
    <p:notesMasterId r:id="rId73"/>
  </p:notesMasterIdLst>
  <p:sldIdLst>
    <p:sldId id="273" r:id="rId5"/>
    <p:sldId id="775" r:id="rId6"/>
    <p:sldId id="259" r:id="rId7"/>
    <p:sldId id="755" r:id="rId8"/>
    <p:sldId id="764" r:id="rId9"/>
    <p:sldId id="766" r:id="rId10"/>
    <p:sldId id="756" r:id="rId11"/>
    <p:sldId id="666" r:id="rId12"/>
    <p:sldId id="735" r:id="rId13"/>
    <p:sldId id="767" r:id="rId14"/>
    <p:sldId id="667" r:id="rId15"/>
    <p:sldId id="736" r:id="rId16"/>
    <p:sldId id="737" r:id="rId17"/>
    <p:sldId id="738" r:id="rId18"/>
    <p:sldId id="350" r:id="rId19"/>
    <p:sldId id="673" r:id="rId20"/>
    <p:sldId id="712" r:id="rId21"/>
    <p:sldId id="713" r:id="rId22"/>
    <p:sldId id="714" r:id="rId23"/>
    <p:sldId id="715" r:id="rId24"/>
    <p:sldId id="754" r:id="rId25"/>
    <p:sldId id="716" r:id="rId26"/>
    <p:sldId id="536" r:id="rId27"/>
    <p:sldId id="300" r:id="rId28"/>
    <p:sldId id="717" r:id="rId29"/>
    <p:sldId id="678" r:id="rId30"/>
    <p:sldId id="780" r:id="rId31"/>
    <p:sldId id="679" r:id="rId32"/>
    <p:sldId id="718" r:id="rId33"/>
    <p:sldId id="725" r:id="rId34"/>
    <p:sldId id="726" r:id="rId35"/>
    <p:sldId id="768" r:id="rId36"/>
    <p:sldId id="727" r:id="rId37"/>
    <p:sldId id="757" r:id="rId38"/>
    <p:sldId id="770" r:id="rId39"/>
    <p:sldId id="769" r:id="rId40"/>
    <p:sldId id="776" r:id="rId41"/>
    <p:sldId id="433" r:id="rId42"/>
    <p:sldId id="740" r:id="rId43"/>
    <p:sldId id="741" r:id="rId44"/>
    <p:sldId id="742" r:id="rId45"/>
    <p:sldId id="685" r:id="rId46"/>
    <p:sldId id="729" r:id="rId47"/>
    <p:sldId id="730" r:id="rId48"/>
    <p:sldId id="731" r:id="rId49"/>
    <p:sldId id="691" r:id="rId50"/>
    <p:sldId id="771" r:id="rId51"/>
    <p:sldId id="694" r:id="rId52"/>
    <p:sldId id="732" r:id="rId53"/>
    <p:sldId id="777" r:id="rId54"/>
    <p:sldId id="526" r:id="rId55"/>
    <p:sldId id="566" r:id="rId56"/>
    <p:sldId id="772" r:id="rId57"/>
    <p:sldId id="778" r:id="rId58"/>
    <p:sldId id="528" r:id="rId59"/>
    <p:sldId id="744" r:id="rId60"/>
    <p:sldId id="773" r:id="rId61"/>
    <p:sldId id="700" r:id="rId62"/>
    <p:sldId id="759" r:id="rId63"/>
    <p:sldId id="774" r:id="rId64"/>
    <p:sldId id="779" r:id="rId65"/>
    <p:sldId id="549" r:id="rId66"/>
    <p:sldId id="470" r:id="rId67"/>
    <p:sldId id="550" r:id="rId68"/>
    <p:sldId id="748" r:id="rId69"/>
    <p:sldId id="749" r:id="rId70"/>
    <p:sldId id="750" r:id="rId71"/>
    <p:sldId id="751" r:id="rId72"/>
  </p:sldIdLst>
  <p:sldSz cx="12192000" cy="6858000"/>
  <p:notesSz cx="6858000" cy="9144000"/>
  <p:custDataLst>
    <p:tags r:id="rId74"/>
  </p:custDataLst>
  <p:defaultTextStyle>
    <a:defPPr>
      <a:defRPr lang="LID4096"/>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הנחיות כלליות להפקה" id="{77ED7E5C-8BE8-47DB-8F6B-0AFE5FA5687C}">
          <p14:sldIdLst>
            <p14:sldId id="273"/>
          </p14:sldIdLst>
        </p14:section>
        <p14:section name="מסך פתיחה" id="{313166BB-F5B9-4C4D-88D2-72822B6440AE}">
          <p14:sldIdLst>
            <p14:sldId id="775"/>
            <p14:sldId id="259"/>
          </p14:sldIdLst>
        </p14:section>
        <p14:section name="מסכי הוק" id="{12CCA45D-FFDD-4FF7-A62C-6DC6040E5DD3}">
          <p14:sldIdLst>
            <p14:sldId id="755"/>
            <p14:sldId id="764"/>
            <p14:sldId id="766"/>
            <p14:sldId id="756"/>
          </p14:sldIdLst>
        </p14:section>
        <p14:section name="הקנייה" id="{0AA3AF03-8357-4F50-869C-B2BFAB5DC861}">
          <p14:sldIdLst>
            <p14:sldId id="666"/>
            <p14:sldId id="735"/>
            <p14:sldId id="767"/>
            <p14:sldId id="667"/>
            <p14:sldId id="736"/>
            <p14:sldId id="737"/>
            <p14:sldId id="738"/>
          </p14:sldIdLst>
        </p14:section>
        <p14:section name="מסך הזנקה לתרגול מונחה" id="{D742600A-B5FE-48F1-8206-903B888F4CCD}">
          <p14:sldIdLst>
            <p14:sldId id="350"/>
          </p14:sldIdLst>
        </p14:section>
        <p14:section name="תרגול מונחה" id="{21096F7B-1FDF-4378-AA2E-A0C7E85C853F}">
          <p14:sldIdLst>
            <p14:sldId id="673"/>
            <p14:sldId id="712"/>
            <p14:sldId id="713"/>
            <p14:sldId id="714"/>
            <p14:sldId id="715"/>
            <p14:sldId id="754"/>
            <p14:sldId id="716"/>
          </p14:sldIdLst>
        </p14:section>
        <p14:section name="תיווך מעבר לתרגול" id="{CE4681A1-B21C-4BE4-99A5-9CB55476A704}">
          <p14:sldIdLst>
            <p14:sldId id="536"/>
            <p14:sldId id="300"/>
            <p14:sldId id="717"/>
            <p14:sldId id="678"/>
          </p14:sldIdLst>
        </p14:section>
        <p14:section name="תרגול סטנדרטי" id="{D05914EC-2968-4213-A3A0-1535409FE86D}">
          <p14:sldIdLst>
            <p14:sldId id="780"/>
            <p14:sldId id="679"/>
            <p14:sldId id="718"/>
            <p14:sldId id="725"/>
            <p14:sldId id="726"/>
            <p14:sldId id="768"/>
            <p14:sldId id="727"/>
            <p14:sldId id="757"/>
            <p14:sldId id="770"/>
            <p14:sldId id="769"/>
          </p14:sldIdLst>
        </p14:section>
        <p14:section name="תרגול בסיסי" id="{9E347DCF-67F9-4895-971C-CD6C36B289AF}">
          <p14:sldIdLst>
            <p14:sldId id="776"/>
            <p14:sldId id="433"/>
            <p14:sldId id="740"/>
            <p14:sldId id="741"/>
            <p14:sldId id="742"/>
            <p14:sldId id="685"/>
            <p14:sldId id="729"/>
            <p14:sldId id="730"/>
            <p14:sldId id="731"/>
          </p14:sldIdLst>
        </p14:section>
        <p14:section name="תרגול סטנדרטי ב" id="{BC68DBA4-4DB3-498E-8BCC-0D6B3B89F57F}">
          <p14:sldIdLst>
            <p14:sldId id="691"/>
            <p14:sldId id="771"/>
            <p14:sldId id="694"/>
            <p14:sldId id="732"/>
          </p14:sldIdLst>
        </p14:section>
        <p14:section name="משימת כיתה" id="{BEBAB06D-1143-4A55-925B-26FAA2BFFE33}">
          <p14:sldIdLst>
            <p14:sldId id="777"/>
            <p14:sldId id="526"/>
            <p14:sldId id="566"/>
            <p14:sldId id="772"/>
          </p14:sldIdLst>
        </p14:section>
        <p14:section name="תרגול מתקדם" id="{06DC51F4-29D9-4769-A0AC-088E5DA56C0C}">
          <p14:sldIdLst>
            <p14:sldId id="778"/>
            <p14:sldId id="528"/>
            <p14:sldId id="744"/>
            <p14:sldId id="773"/>
            <p14:sldId id="700"/>
            <p14:sldId id="759"/>
            <p14:sldId id="774"/>
          </p14:sldIdLst>
        </p14:section>
        <p14:section name="שאלת שיא" id="{B8C38F3C-85FC-41A9-B66F-66ABCA7FB01C}">
          <p14:sldIdLst>
            <p14:sldId id="779"/>
            <p14:sldId id="549"/>
            <p14:sldId id="470"/>
            <p14:sldId id="550"/>
            <p14:sldId id="748"/>
            <p14:sldId id="749"/>
            <p14:sldId id="750"/>
            <p14:sldId id="751"/>
          </p14:sldIdLst>
        </p14:section>
      </p14:sectionLst>
    </p:ext>
    <p:ext uri="{EFAFB233-063F-42B5-8137-9DF3F51BA10A}">
      <p15:sldGuideLst xmlns:p15="http://schemas.microsoft.com/office/powerpoint/2012/main">
        <p15:guide id="1" orient="horz" pos="2304" userDrawn="1">
          <p15:clr>
            <a:srgbClr val="A4A3A4"/>
          </p15:clr>
        </p15:guide>
        <p15:guide id="2" pos="7296"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3FA6D409-70D9-A7C0-34C9-312AE2010542}" name="Efrat Fridman" initials="EF" userId="S::efratf@methodic.co.il::836e6198-0e35-40f2-9dd0-6d9153984309" providerId="AD"/>
  <p188:author id="{1FD6B628-3317-1EAF-5325-AECEF7B84EFC}" name="iriskahana1" initials="ir" userId="S::iriskahana1_gmail.com#ext#@methodiccoil.onmicrosoft.com::a6b5e001-8739-4f8e-980d-c9b7d58198cc" providerId="AD"/>
  <p188:author id="{2FF2E36C-5A36-DC35-687D-E9035155C4D7}" name="Assaf Kahana" initials="AK" userId="07b576fae4f2cece" providerId="Windows Live"/>
  <p188:author id="{5DBA2B73-2628-61E4-26BA-A64404A37C7F}" name="Ofer Lahak" initials="OL" userId="S::oferl@methodic.co.il::00a12390-77d5-479b-8312-c41be9642a6a" providerId="AD"/>
  <p188:author id="{E49A717E-A48B-F426-977D-D09BE3BECCBC}" name="Nili Danieli" initials="ND" userId="S::nilid@methodic.co.il::a40d0098-998c-4798-8f69-3f5e4bf5acfa" providerId="AD"/>
  <p188:author id="{EE592DAF-1A68-381E-F051-75973DBEE186}" name="Gal Zada" initials="GZ" userId="1bcaf55383a97f35" providerId="Windows Live"/>
  <p188:author id="{F82549B2-5121-4975-7AD2-65C67B191749}" name="Avital Ende" initials="AE" userId="S::Avitale@methodic.co.il::2304a035-ab07-4f8b-9a1b-dc61222ce4da" providerId="AD"/>
  <p188:author id="{408A77E5-9F8C-5E23-A0A6-0375EBA392A7}" name="Guest User" initials="GU" userId="S::urn:spo:tenantanon#5c2d6ca4-360c-4a88-b920-f6e6da0a89d8::"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B0F0"/>
    <a:srgbClr val="00B050"/>
    <a:srgbClr val="ECEAE8"/>
    <a:srgbClr val="92D050"/>
    <a:srgbClr val="EFF3F7"/>
    <a:srgbClr val="D9F2D0"/>
    <a:srgbClr val="FFE5E5"/>
    <a:srgbClr val="FDF7EF"/>
    <a:srgbClr val="EBEAEC"/>
    <a:srgbClr val="30D5C8"/>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2F4ED93-40D0-42B0-AC45-2FCF2EFA4E6C}" v="1" dt="2026-08-16T09:25:15.076"/>
    <p1510:client id="{638ECA7E-5E47-4519-8C3B-BD8D89F77C21}" v="1" dt="2026-08-16T10:32:41.707"/>
  </p1510:revLst>
</p1510:revInfo>
</file>

<file path=ppt/tableStyles.xml><?xml version="1.0" encoding="utf-8"?>
<a:tblStyleLst xmlns:a="http://schemas.openxmlformats.org/drawingml/2006/main" def="{5C22544A-7EE6-4342-B048-85BDC9FD1C3A}">
  <a:tblStyle styleId="{5C22544A-7EE6-4342-B048-85BDC9FD1C3A}" styleName="סגנון ביניים 2 - הדגשה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סגנון ביניים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00A15C55-8517-42AA-B614-E9B94910E393}" styleName="סגנון ביניים 2 - הדגשה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D27102A9-8310-4765-A935-A1911B00CA55}" styleName="סגנון בהיר 1 - הדגשה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9D7B26C5-4107-4FEC-AEDC-1716B250A1EF}" styleName="סגנון בהיר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84380"/>
    <p:restoredTop sz="80508" autoAdjust="0"/>
  </p:normalViewPr>
  <p:slideViewPr>
    <p:cSldViewPr snapToGrid="0">
      <p:cViewPr varScale="1">
        <p:scale>
          <a:sx n="89" d="100"/>
          <a:sy n="89" d="100"/>
        </p:scale>
        <p:origin x="1398" y="84"/>
      </p:cViewPr>
      <p:guideLst>
        <p:guide orient="horz" pos="2304"/>
        <p:guide pos="7296"/>
      </p:guideLst>
    </p:cSldViewPr>
  </p:slideViewPr>
  <p:notesTextViewPr>
    <p:cViewPr>
      <p:scale>
        <a:sx n="1" d="1"/>
        <a:sy n="1" d="1"/>
      </p:scale>
      <p:origin x="0" y="0"/>
    </p:cViewPr>
  </p:notesTextViewPr>
  <p:sorterViewPr>
    <p:cViewPr varScale="1">
      <p:scale>
        <a:sx n="100" d="100"/>
        <a:sy n="100" d="100"/>
      </p:scale>
      <p:origin x="0" y="-1398"/>
    </p:cViewPr>
  </p:sorter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42" Type="http://schemas.openxmlformats.org/officeDocument/2006/relationships/slide" Target="slides/slide38.xml"/><Relationship Id="rId47" Type="http://schemas.openxmlformats.org/officeDocument/2006/relationships/slide" Target="slides/slide43.xml"/><Relationship Id="rId63" Type="http://schemas.openxmlformats.org/officeDocument/2006/relationships/slide" Target="slides/slide59.xml"/><Relationship Id="rId68" Type="http://schemas.openxmlformats.org/officeDocument/2006/relationships/slide" Target="slides/slide64.xml"/><Relationship Id="rId16" Type="http://schemas.openxmlformats.org/officeDocument/2006/relationships/slide" Target="slides/slide12.xml"/><Relationship Id="rId11" Type="http://schemas.openxmlformats.org/officeDocument/2006/relationships/slide" Target="slides/slide7.xml"/><Relationship Id="rId32" Type="http://schemas.openxmlformats.org/officeDocument/2006/relationships/slide" Target="slides/slide28.xml"/><Relationship Id="rId37" Type="http://schemas.openxmlformats.org/officeDocument/2006/relationships/slide" Target="slides/slide33.xml"/><Relationship Id="rId53" Type="http://schemas.openxmlformats.org/officeDocument/2006/relationships/slide" Target="slides/slide49.xml"/><Relationship Id="rId58" Type="http://schemas.openxmlformats.org/officeDocument/2006/relationships/slide" Target="slides/slide54.xml"/><Relationship Id="rId74" Type="http://schemas.openxmlformats.org/officeDocument/2006/relationships/tags" Target="tags/tag1.xml"/><Relationship Id="rId79" Type="http://schemas.microsoft.com/office/2016/11/relationships/changesInfo" Target="changesInfos/changesInfo1.xml"/><Relationship Id="rId5" Type="http://schemas.openxmlformats.org/officeDocument/2006/relationships/slide" Target="slides/slide1.xml"/><Relationship Id="rId61" Type="http://schemas.openxmlformats.org/officeDocument/2006/relationships/slide" Target="slides/slide57.xml"/><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slide" Target="slides/slide52.xml"/><Relationship Id="rId64" Type="http://schemas.openxmlformats.org/officeDocument/2006/relationships/slide" Target="slides/slide60.xml"/><Relationship Id="rId69" Type="http://schemas.openxmlformats.org/officeDocument/2006/relationships/slide" Target="slides/slide65.xml"/><Relationship Id="rId77" Type="http://schemas.openxmlformats.org/officeDocument/2006/relationships/theme" Target="theme/theme1.xml"/><Relationship Id="rId8" Type="http://schemas.openxmlformats.org/officeDocument/2006/relationships/slide" Target="slides/slide4.xml"/><Relationship Id="rId51" Type="http://schemas.openxmlformats.org/officeDocument/2006/relationships/slide" Target="slides/slide47.xml"/><Relationship Id="rId72" Type="http://schemas.openxmlformats.org/officeDocument/2006/relationships/slide" Target="slides/slide68.xml"/><Relationship Id="rId80" Type="http://schemas.microsoft.com/office/2015/10/relationships/revisionInfo" Target="revisionInfo.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slide" Target="slides/slide55.xml"/><Relationship Id="rId67" Type="http://schemas.openxmlformats.org/officeDocument/2006/relationships/slide" Target="slides/slide63.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slide" Target="slides/slide58.xml"/><Relationship Id="rId70" Type="http://schemas.openxmlformats.org/officeDocument/2006/relationships/slide" Target="slides/slide66.xml"/><Relationship Id="rId75"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slide" Target="slides/slide61.xml"/><Relationship Id="rId73" Type="http://schemas.openxmlformats.org/officeDocument/2006/relationships/notesMaster" Target="notesMasters/notesMaster1.xml"/><Relationship Id="rId78" Type="http://schemas.openxmlformats.org/officeDocument/2006/relationships/tableStyles" Target="tableStyles.xml"/><Relationship Id="rId81" Type="http://schemas.microsoft.com/office/2018/10/relationships/authors" Target="authors.xml"/><Relationship Id="rId4" Type="http://schemas.openxmlformats.org/officeDocument/2006/relationships/slideMaster" Target="slideMasters/slideMaster1.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 Id="rId76" Type="http://schemas.openxmlformats.org/officeDocument/2006/relationships/viewProps" Target="viewProps.xml"/><Relationship Id="rId7" Type="http://schemas.openxmlformats.org/officeDocument/2006/relationships/slide" Target="slides/slide3.xml"/><Relationship Id="rId71" Type="http://schemas.openxmlformats.org/officeDocument/2006/relationships/slide" Target="slides/slide67.xml"/><Relationship Id="rId2" Type="http://schemas.openxmlformats.org/officeDocument/2006/relationships/customXml" Target="../customXml/item2.xml"/><Relationship Id="rId29" Type="http://schemas.openxmlformats.org/officeDocument/2006/relationships/slide" Target="slides/slide25.xml"/><Relationship Id="rId24" Type="http://schemas.openxmlformats.org/officeDocument/2006/relationships/slide" Target="slides/slide20.xml"/><Relationship Id="rId40" Type="http://schemas.openxmlformats.org/officeDocument/2006/relationships/slide" Target="slides/slide36.xml"/><Relationship Id="rId45" Type="http://schemas.openxmlformats.org/officeDocument/2006/relationships/slide" Target="slides/slide41.xml"/><Relationship Id="rId66" Type="http://schemas.openxmlformats.org/officeDocument/2006/relationships/slide" Target="slides/slide6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Kholod khadeja" userId="89b5dca1-a3f7-495f-8fd5-6ed76c31f45b" providerId="ADAL" clId="{1B440FC1-6C49-4665-9288-F07D972861DA}"/>
    <pc:docChg chg="modSld">
      <pc:chgData name="Kholod khadeja" userId="89b5dca1-a3f7-495f-8fd5-6ed76c31f45b" providerId="ADAL" clId="{1B440FC1-6C49-4665-9288-F07D972861DA}" dt="2026-08-17T07:14:52.604" v="0" actId="1076"/>
      <pc:docMkLst>
        <pc:docMk/>
      </pc:docMkLst>
      <pc:sldChg chg="modSp mod">
        <pc:chgData name="Kholod khadeja" userId="89b5dca1-a3f7-495f-8fd5-6ed76c31f45b" providerId="ADAL" clId="{1B440FC1-6C49-4665-9288-F07D972861DA}" dt="2026-08-17T07:14:52.604" v="0" actId="1076"/>
        <pc:sldMkLst>
          <pc:docMk/>
          <pc:sldMk cId="1146869661" sldId="736"/>
        </pc:sldMkLst>
        <pc:picChg chg="mod">
          <ac:chgData name="Kholod khadeja" userId="89b5dca1-a3f7-495f-8fd5-6ed76c31f45b" providerId="ADAL" clId="{1B440FC1-6C49-4665-9288-F07D972861DA}" dt="2026-08-17T07:14:52.604" v="0" actId="1076"/>
          <ac:picMkLst>
            <pc:docMk/>
            <pc:sldMk cId="1146869661" sldId="736"/>
            <ac:picMk id="29" creationId="{281A20C7-B07D-704C-35A0-D79052EA9FEE}"/>
          </ac:picMkLst>
        </pc:picChg>
      </pc:sldChg>
    </pc:docChg>
  </pc:docChgLst>
</pc:chgInfo>
</file>

<file path=ppt/comments/modernComment_1D6_104D38E8.xml><?xml version="1.0" encoding="utf-8"?>
<p188:cmLst xmlns:a="http://schemas.openxmlformats.org/drawingml/2006/main" xmlns:r="http://schemas.openxmlformats.org/officeDocument/2006/relationships" xmlns:p188="http://schemas.microsoft.com/office/powerpoint/2018/8/main">
  <p188:cm id="{3B16406F-6502-4F52-9E06-FFC1C8502080}" authorId="{408A77E5-9F8C-5E23-A0A6-0375EBA392A7}" status="resolved" created="2026-08-04T11:24:14.947" complete="100000">
    <ac:deMkLst xmlns:ac="http://schemas.microsoft.com/office/drawing/2013/main/command">
      <pc:docMk xmlns:pc="http://schemas.microsoft.com/office/powerpoint/2013/main/command"/>
      <pc:sldMk xmlns:pc="http://schemas.microsoft.com/office/powerpoint/2013/main/command" cId="273496296" sldId="470"/>
      <ac:spMk id="8" creationId="{3CB7F4A6-03FC-9E13-D19B-77BA4315C8CB}"/>
    </ac:deMkLst>
    <p188:txBody>
      <a:bodyPr/>
      <a:lstStyle/>
      <a:p>
        <a:r>
          <a:rPr lang="he-IL"/>
          <a:t>ניצה: בשביל להגשים את החלום הם נפגשו ...
קשה לי עם השימוש החוזר בפועל "לעשות". </a:t>
        </a:r>
      </a:p>
    </p188:txBody>
  </p188:cm>
</p188:cmLst>
</file>

<file path=ppt/comments/modernComment_2BC_B3237111.xml><?xml version="1.0" encoding="utf-8"?>
<p188:cmLst xmlns:a="http://schemas.openxmlformats.org/drawingml/2006/main" xmlns:r="http://schemas.openxmlformats.org/officeDocument/2006/relationships" xmlns:p188="http://schemas.microsoft.com/office/powerpoint/2018/8/main">
  <p188:cm id="{72D8F10E-A027-43A3-8653-B1A2F15D71DF}" authorId="{408A77E5-9F8C-5E23-A0A6-0375EBA392A7}" status="resolved" created="2026-08-04T11:20:07.610" complete="100000">
    <ac:txMkLst xmlns:ac="http://schemas.microsoft.com/office/drawing/2013/main/command">
      <pc:docMk xmlns:pc="http://schemas.microsoft.com/office/powerpoint/2013/main/command"/>
      <pc:sldMk xmlns:pc="http://schemas.microsoft.com/office/powerpoint/2013/main/command" cId="3005444369" sldId="700"/>
      <ac:spMk id="26" creationId="{836137A0-DF45-62BB-9F4B-A46A66C6FDB9}"/>
      <ac:txMk cp="122" len="26">
        <ac:context len="204" hash="3943516649"/>
      </ac:txMk>
    </ac:txMkLst>
    <p188:pos x="5372745" y="1278610"/>
    <p188:replyLst>
      <p188:reply id="{8D8E534E-A308-45C4-A96C-314D8A69D44E}" authorId="{2FF2E36C-5A36-DC35-687D-E9035155C4D7}" created="2026-08-04T14:47:19.579">
        <p188:txBody>
          <a:bodyPr/>
          <a:lstStyle/>
          <a:p>
            <a:r>
              <a:rPr lang="he-IL"/>
              <a:t>כתבתי (לא כתבתי גובה של איזה משולש).</a:t>
            </a:r>
          </a:p>
        </p188:txBody>
      </p188:reply>
    </p188:replyLst>
    <p188:txBody>
      <a:bodyPr/>
      <a:lstStyle/>
      <a:p>
        <a:r>
          <a:rPr lang="he-IL"/>
          <a:t>ניצה: חייבים לסמן שAE הוא הגובה. או דרך 90 מעלות או במילים. </a:t>
        </a:r>
      </a:p>
    </p188:txBody>
  </p188:cm>
</p188:cmLst>
</file>

<file path=ppt/comments/modernComment_2C8_BD02B5E2.xml><?xml version="1.0" encoding="utf-8"?>
<p188:cmLst xmlns:a="http://schemas.openxmlformats.org/drawingml/2006/main" xmlns:r="http://schemas.openxmlformats.org/officeDocument/2006/relationships" xmlns:p188="http://schemas.microsoft.com/office/powerpoint/2018/8/main">
  <p188:cm id="{9F60087D-F5A9-4E9F-B993-9DCBC687E8D0}" authorId="{5DBA2B73-2628-61E4-26BA-A64404A37C7F}" status="resolved" created="2026-07-29T13:12:36.193" complete="100000">
    <pc:sldMkLst xmlns:pc="http://schemas.microsoft.com/office/powerpoint/2013/main/command">
      <pc:docMk/>
      <pc:sldMk cId="3171071458" sldId="712"/>
    </pc:sldMkLst>
    <p188:replyLst>
      <p188:reply id="{640C60B4-FA62-49D0-A1C8-E3999290ABCF}" authorId="{2FF2E36C-5A36-DC35-687D-E9035155C4D7}" created="2026-08-03T05:48:19.885">
        <p188:txBody>
          <a:bodyPr/>
          <a:lstStyle/>
          <a:p>
            <a:r>
              <a:rPr lang="he-IL"/>
              <a:t>הם כבר יודעים</a:t>
            </a:r>
          </a:p>
        </p188:txBody>
      </p188:reply>
      <p188:reply id="{4473FEE4-D0F2-408E-9079-9C66FB9C312D}" authorId="{408A77E5-9F8C-5E23-A0A6-0375EBA392A7}" created="2026-08-04T09:51:10.818">
        <p188:txBody>
          <a:bodyPr/>
          <a:lstStyle/>
          <a:p>
            <a:r>
              <a:rPr lang="he-IL"/>
              <a:t>ניצה: הכלל הוא סדר הכתיבה במילים מול סדר הכתיבה במספרים. במילים - ימין לשמאל, במספרים שמאל לימין</a:t>
            </a:r>
          </a:p>
        </p188:txBody>
      </p188:reply>
    </p188:replyLst>
    <p188:txBody>
      <a:bodyPr/>
      <a:lstStyle/>
      <a:p>
        <a:r>
          <a:rPr lang="he-IL"/>
          <a:t>האם יש כלל שהם מכירים לאיזה צד ביחד שייך לאיזה רכיב? כלומר הוא יודע ש 2 שייך לאדומות כי הם משמאל וקוראים אותם קודם? אם הם לא יודעים אז צריך עוד שלב לפני להסביר איך הוא יודע אם ה 2 שייך לאדומות או הכחולות וכנ"ל ה 5</a:t>
        </a:r>
      </a:p>
    </p188:txBody>
  </p188:cm>
</p188:cmLst>
</file>

<file path=ppt/comments/modernComment_2D9_57274BED.xml><?xml version="1.0" encoding="utf-8"?>
<p188:cmLst xmlns:a="http://schemas.openxmlformats.org/drawingml/2006/main" xmlns:r="http://schemas.openxmlformats.org/officeDocument/2006/relationships" xmlns:p188="http://schemas.microsoft.com/office/powerpoint/2018/8/main">
  <p188:cm id="{766F17BE-E28B-4842-AAE1-86D818A71064}" authorId="{3FA6D409-70D9-A7C0-34C9-312AE2010542}" status="resolved" created="2026-08-09T06:29:13.234" complete="100000">
    <pc:sldMkLst xmlns:pc="http://schemas.microsoft.com/office/powerpoint/2013/main/command">
      <pc:docMk/>
      <pc:sldMk cId="1462193133" sldId="729"/>
    </pc:sldMkLst>
    <p188:txBody>
      <a:bodyPr/>
      <a:lstStyle/>
      <a:p>
        <a:r>
          <a:rPr lang="en-US"/>
          <a:t>איריס - אנא תקפי את הרמז </a:t>
        </a:r>
      </a:p>
    </p188:txBody>
  </p188:cm>
</p188:cmLst>
</file>

<file path=ppt/comments/modernComment_2DF_59597A36.xml><?xml version="1.0" encoding="utf-8"?>
<p188:cmLst xmlns:a="http://schemas.openxmlformats.org/drawingml/2006/main" xmlns:r="http://schemas.openxmlformats.org/officeDocument/2006/relationships" xmlns:p188="http://schemas.microsoft.com/office/powerpoint/2018/8/main">
  <p188:cm id="{3433146C-21A0-40E2-921F-1762076F5455}" authorId="{5DBA2B73-2628-61E4-26BA-A64404A37C7F}" status="resolved" created="2026-07-29T13:19:24.823" complete="100000">
    <pc:sldMkLst xmlns:pc="http://schemas.microsoft.com/office/powerpoint/2013/main/command">
      <pc:docMk/>
      <pc:sldMk cId="1499036214" sldId="735"/>
    </pc:sldMkLst>
    <p188:replyLst>
      <p188:reply id="{1B5C7393-2116-4EE0-9A71-234C4CF28AAA}" authorId="{408A77E5-9F8C-5E23-A0A6-0375EBA392A7}" created="2026-08-04T08:59:56.661">
        <p188:txBody>
          <a:bodyPr/>
          <a:lstStyle/>
          <a:p>
            <a:r>
              <a:rPr lang="he-IL"/>
              <a:t>ניצה: אני אנסה לענות. מזיזים את הסליידר עד ל 10 שורות. סה"כ יתקבלו 70 זרעים של חסה וצנוניות ביחד. 
יחד עם זה היישומון בכלל מדבר על עיגולים וריבועים. אז צריך או לשנות את ההנחייה ל"השתמשו ביישומון, הגדילו את מספר השורות בעזרת הסליידר עד למספר שורות המתאים ל-70 צורות ביחד (עיגולים וריבועים)</a:t>
            </a:r>
          </a:p>
        </p188:txBody>
      </p188:reply>
    </p188:replyLst>
    <p188:txBody>
      <a:bodyPr/>
      <a:lstStyle/>
      <a:p>
        <a:r>
          <a:rPr lang="he-IL"/>
          <a:t>או שנכין כזה אחר / בעברית ונוח יותר או שנסביר הרבה יותר טוב את השימוש בישומון כי אני לא הבנתי אותו אז אני מניח שגם תלמיד.
תוכלי להוסיף הסבר יותר ברור מה הכוונה להוסיף שורות / איך? הנחיה צעד צעד למה מבצעים?</a:t>
        </a:r>
      </a:p>
    </p188:txBody>
  </p188:cm>
  <p188:cm id="{45941794-8CDE-46A0-B77F-5C0AF8D97E32}" authorId="{2FF2E36C-5A36-DC35-687D-E9035155C4D7}" status="resolved" created="2026-08-02T08:22:49.003" complete="100000">
    <pc:sldMkLst xmlns:pc="http://schemas.microsoft.com/office/powerpoint/2013/main/command">
      <pc:docMk/>
      <pc:sldMk cId="1499036214" sldId="735"/>
    </pc:sldMkLst>
    <p188:txBody>
      <a:bodyPr/>
      <a:lstStyle/>
      <a:p>
        <a:r>
          <a:rPr lang="he-IL"/>
          <a:t>לתקן תמונה לצנוניות</a:t>
        </a:r>
      </a:p>
    </p188:txBody>
  </p188:cm>
</p188:cmLst>
</file>

<file path=ppt/comments/modernComment_2E5_44FA5E12.xml><?xml version="1.0" encoding="utf-8"?>
<p188:cmLst xmlns:a="http://schemas.openxmlformats.org/drawingml/2006/main" xmlns:r="http://schemas.openxmlformats.org/officeDocument/2006/relationships" xmlns:p188="http://schemas.microsoft.com/office/powerpoint/2018/8/main">
  <p188:cm id="{A27AC42C-C5E8-4D39-9F07-9ECC795C08DD}" authorId="{2FF2E36C-5A36-DC35-687D-E9035155C4D7}" status="resolved" created="2026-08-02T09:14:26.036" complete="100000">
    <pc:sldMkLst xmlns:pc="http://schemas.microsoft.com/office/powerpoint/2013/main/command">
      <pc:docMk/>
      <pc:sldMk cId="1157258770" sldId="741"/>
    </pc:sldMkLst>
    <p188:txBody>
      <a:bodyPr/>
      <a:lstStyle/>
      <a:p>
        <a:r>
          <a:rPr lang="he-IL"/>
          <a:t>ניסחתי שוב</a:t>
        </a:r>
      </a:p>
    </p188:txBody>
  </p188:cm>
</p188:cmLst>
</file>

<file path=ppt/comments/modernComment_2E6_82D90E9E.xml><?xml version="1.0" encoding="utf-8"?>
<p188:cmLst xmlns:a="http://schemas.openxmlformats.org/drawingml/2006/main" xmlns:r="http://schemas.openxmlformats.org/officeDocument/2006/relationships" xmlns:p188="http://schemas.microsoft.com/office/powerpoint/2018/8/main">
  <p188:cm id="{156E6DBA-7447-454D-9ADD-1DDF7B99AE3E}" authorId="{5DBA2B73-2628-61E4-26BA-A64404A37C7F}" status="resolved" created="2026-07-30T04:39:00.466" complete="100000">
    <ac:deMkLst xmlns:ac="http://schemas.microsoft.com/office/drawing/2013/main/command">
      <pc:docMk xmlns:pc="http://schemas.microsoft.com/office/powerpoint/2013/main/command"/>
      <pc:sldMk xmlns:pc="http://schemas.microsoft.com/office/powerpoint/2013/main/command" cId="2195263134" sldId="742"/>
      <ac:spMk id="6" creationId="{FDABC4C1-BA90-B065-6BDE-0895922F01FA}"/>
    </ac:deMkLst>
    <p188:txBody>
      <a:bodyPr/>
      <a:lstStyle/>
      <a:p>
        <a:r>
          <a:rPr lang="he-IL"/>
          <a:t>לא הבנתי את השאלה.. מה הכוונה ניתן לחשב מראש? לפי אילו נתונים? ומה הקשר לכך שהמקרה לא מתאים.. אם תוכלי לעזור לנסח טוב יותר בבקשה. גם את המשוב בהתאם</a:t>
        </a:r>
      </a:p>
    </p188:txBody>
  </p188:cm>
  <p188:cm id="{9A80E5E3-F659-4DDF-B4AE-7EA1963203A2}" authorId="{2FF2E36C-5A36-DC35-687D-E9035155C4D7}" status="resolved" created="2026-08-02T09:15:08.662" complete="100000">
    <pc:sldMkLst xmlns:pc="http://schemas.microsoft.com/office/powerpoint/2013/main/command">
      <pc:docMk/>
      <pc:sldMk cId="2195263134" sldId="742"/>
    </pc:sldMkLst>
    <p188:txBody>
      <a:bodyPr/>
      <a:lstStyle/>
      <a:p>
        <a:r>
          <a:rPr lang="he-IL"/>
          <a:t>חסר לי מסיח שלישי</a:t>
        </a:r>
      </a:p>
    </p188:txBody>
  </p188:cm>
</p188:cmLst>
</file>

<file path=ppt/comments/modernComment_2E8_56EF8DB5.xml><?xml version="1.0" encoding="utf-8"?>
<p188:cmLst xmlns:a="http://schemas.openxmlformats.org/drawingml/2006/main" xmlns:r="http://schemas.openxmlformats.org/officeDocument/2006/relationships" xmlns:p188="http://schemas.microsoft.com/office/powerpoint/2018/8/main">
  <p188:cm id="{333356F7-CEBD-4C59-8EDA-5FCAADF4578E}" authorId="{5DBA2B73-2628-61E4-26BA-A64404A37C7F}" status="resolved" created="2026-07-30T04:58:31.189" complete="100000">
    <pc:sldMkLst xmlns:pc="http://schemas.microsoft.com/office/powerpoint/2013/main/command">
      <pc:docMk/>
      <pc:sldMk cId="1458539957" sldId="744"/>
    </pc:sldMkLst>
    <p188:replyLst>
      <p188:reply id="{D34DDA81-3BB8-426D-A79E-213B11908046}" authorId="{2FF2E36C-5A36-DC35-687D-E9035155C4D7}" created="2026-08-04T14:36:09.492">
        <p188:txBody>
          <a:bodyPr/>
          <a:lstStyle/>
          <a:p>
            <a:r>
              <a:rPr lang="he-IL"/>
              <a:t>נכון, הוספתי</a:t>
            </a:r>
          </a:p>
        </p188:txBody>
      </p188:reply>
    </p188:replyLst>
    <p188:txBody>
      <a:bodyPr/>
      <a:lstStyle/>
      <a:p>
        <a:r>
          <a:rPr lang="he-IL"/>
          <a:t>צריך להוסיף שאלה אם הוא צדק / טעה אחרי החישוב לא? כי זו מהות השאלה</a:t>
        </a:r>
      </a:p>
    </p188:txBody>
  </p188:cm>
  <p188:cm id="{F4FB95F8-3B22-4A10-AA73-30233F236E85}" authorId="{408A77E5-9F8C-5E23-A0A6-0375EBA392A7}" status="resolved" created="2026-08-04T10:54:43.242" complete="100000">
    <ac:deMkLst xmlns:ac="http://schemas.microsoft.com/office/drawing/2013/main/command">
      <pc:docMk xmlns:pc="http://schemas.microsoft.com/office/powerpoint/2013/main/command"/>
      <pc:sldMk xmlns:pc="http://schemas.microsoft.com/office/powerpoint/2013/main/command" cId="1458539957" sldId="744"/>
      <ac:spMk id="26" creationId="{0F5902FA-6BEE-BC9A-C5BE-4ABF968F6239}"/>
    </ac:deMkLst>
    <p188:txBody>
      <a:bodyPr/>
      <a:lstStyle/>
      <a:p>
        <a:r>
          <a:rPr lang="he-IL"/>
          <a:t>ניצה: נכון לעופר וגם אם יש סעיף א אז מהו סעיף ב'?</a:t>
        </a:r>
      </a:p>
    </p188:txBody>
  </p188:cm>
  <p188:cm id="{B6A41022-89E5-4190-A7C3-C90037C482AF}" authorId="{408A77E5-9F8C-5E23-A0A6-0375EBA392A7}" status="resolved" created="2026-08-04T10:55:33.588" complete="100000">
    <ac:txMkLst xmlns:ac="http://schemas.microsoft.com/office/drawing/2013/main/command">
      <pc:docMk xmlns:pc="http://schemas.microsoft.com/office/powerpoint/2013/main/command"/>
      <pc:sldMk xmlns:pc="http://schemas.microsoft.com/office/powerpoint/2013/main/command" cId="1458539957" sldId="744"/>
      <ac:spMk id="26" creationId="{0F5902FA-6BEE-BC9A-C5BE-4ABF968F6239}"/>
      <ac:txMk cp="201">
        <ac:context len="237" hash="1752074773"/>
      </ac:txMk>
    </ac:txMkLst>
    <p188:pos x="5618135" y="1898542"/>
    <p188:replyLst>
      <p188:reply id="{28F6CD99-42F5-4883-BF0B-E22CC9F4C5C7}" authorId="{2FF2E36C-5A36-DC35-687D-E9035155C4D7}" created="2026-08-04T14:35:57.870">
        <p188:txBody>
          <a:bodyPr/>
          <a:lstStyle/>
          <a:p>
            <a:r>
              <a:rPr lang="he-IL"/>
              <a:t>תיקנתי, בדקי אם בסדר.</a:t>
            </a:r>
          </a:p>
        </p188:txBody>
      </p188:reply>
    </p188:replyLst>
    <p188:txBody>
      <a:bodyPr/>
      <a:lstStyle/>
      <a:p>
        <a:r>
          <a:rPr lang="he-IL"/>
          <a:t>ניצה: לא חושבת שהרעיון הוא שהמבנה יקרוס. הרעיון שאי אפשר יהיה לבנות מבנה כזה כי זוויות הבסיס במשולש שווה שוקיים לא יכולות להיות קהות.</a:t>
        </a:r>
      </a:p>
    </p188:txBody>
  </p188:cm>
</p188:cmLst>
</file>

<file path=ppt/comments/modernComment_2EF_519780AD.xml><?xml version="1.0" encoding="utf-8"?>
<p188:cmLst xmlns:a="http://schemas.openxmlformats.org/drawingml/2006/main" xmlns:r="http://schemas.openxmlformats.org/officeDocument/2006/relationships" xmlns:p188="http://schemas.microsoft.com/office/powerpoint/2018/8/main">
  <p188:cm id="{1C4CEE54-B348-4F73-BC4F-8EBD3CD63002}" authorId="{408A77E5-9F8C-5E23-A0A6-0375EBA392A7}" status="resolved" created="2026-08-04T11:29:12.973" complete="100000">
    <ac:deMkLst xmlns:ac="http://schemas.microsoft.com/office/drawing/2013/main/command">
      <pc:docMk xmlns:pc="http://schemas.microsoft.com/office/powerpoint/2013/main/command"/>
      <pc:sldMk xmlns:pc="http://schemas.microsoft.com/office/powerpoint/2013/main/command" cId="1368883373" sldId="751"/>
      <ac:spMk id="78" creationId="{1CD6E084-A85D-F5A2-FB38-059697ED4C68}"/>
    </ac:deMkLst>
    <p188:replyLst>
      <p188:reply id="{3DAF19EE-60A7-4BB3-B1AC-6554213F070A}" authorId="{2FF2E36C-5A36-DC35-687D-E9035155C4D7}" created="2026-08-04T14:48:05.636">
        <p188:txBody>
          <a:bodyPr/>
          <a:lstStyle/>
          <a:p>
            <a:r>
              <a:rPr lang="he-IL"/>
              <a:t>זה יכול להיות אם הבית נבנה לגובה ...</a:t>
            </a:r>
          </a:p>
        </p188:txBody>
      </p188:reply>
    </p188:replyLst>
    <p188:txBody>
      <a:bodyPr/>
      <a:lstStyle/>
      <a:p>
        <a:r>
          <a:rPr lang="he-IL"/>
          <a:t>ניצה: לא ריאלי שהגינה תהיה כל כך גדולה והבית קטן.</a:t>
        </a:r>
      </a:p>
    </p188:txBody>
  </p188:cm>
</p188:cmLst>
</file>

<file path=ppt/comments/modernComment_2F3_E6B03D3F.xml><?xml version="1.0" encoding="utf-8"?>
<p188:cmLst xmlns:a="http://schemas.openxmlformats.org/drawingml/2006/main" xmlns:r="http://schemas.openxmlformats.org/officeDocument/2006/relationships" xmlns:p188="http://schemas.microsoft.com/office/powerpoint/2018/8/main">
  <p188:cm id="{9F601BC9-FBB4-4C4B-8D01-48BAF422DFB3}" authorId="{408A77E5-9F8C-5E23-A0A6-0375EBA392A7}" status="resolved" created="2026-08-04T08:53:01.926" complete="100000">
    <ac:deMkLst xmlns:ac="http://schemas.microsoft.com/office/drawing/2013/main/command">
      <pc:docMk xmlns:pc="http://schemas.microsoft.com/office/powerpoint/2013/main/command"/>
      <pc:sldMk xmlns:pc="http://schemas.microsoft.com/office/powerpoint/2013/main/command" cId="3870309695" sldId="755"/>
      <ac:spMk id="3" creationId="{189B6678-6B46-8996-60C0-7DAD23D1F4A8}"/>
    </ac:deMkLst>
    <p188:replyLst>
      <p188:reply id="{B55652C9-97EB-4CB2-8817-06376408AADE}" authorId="{1FD6B628-3317-1EAF-5325-AECEF7B84EFC}" created="2026-08-04T14:00:14.999">
        <p188:txBody>
          <a:bodyPr/>
          <a:lstStyle/>
          <a:p>
            <a:r>
              <a:rPr lang="he-IL"/>
              <a:t>ברור. צודקת</a:t>
            </a:r>
          </a:p>
        </p188:txBody>
      </p188:reply>
    </p188:replyLst>
    <p188:txBody>
      <a:bodyPr/>
      <a:lstStyle/>
      <a:p>
        <a:r>
          <a:rPr lang="he-IL"/>
          <a:t>ניצה: בשורה האחרונה. להימנע מסלנג. זוכים במדליה משיגים מדליה. להביא מדליה זו צורת דיבור נמוכה. </a:t>
        </a:r>
      </a:p>
    </p188:txBody>
  </p188:cm>
</p188:cmLst>
</file>

<file path=ppt/comments/modernComment_2F7_5ADD8DEA.xml><?xml version="1.0" encoding="utf-8"?>
<p188:cmLst xmlns:a="http://schemas.openxmlformats.org/drawingml/2006/main" xmlns:r="http://schemas.openxmlformats.org/officeDocument/2006/relationships" xmlns:p188="http://schemas.microsoft.com/office/powerpoint/2018/8/main">
  <p188:cm id="{815D02D2-1D3A-4C95-B208-2EE4918D2FCE}" authorId="{408A77E5-9F8C-5E23-A0A6-0375EBA392A7}" status="resolved" created="2026-08-04T11:21:37.832" complete="100000">
    <ac:deMkLst xmlns:ac="http://schemas.microsoft.com/office/drawing/2013/main/command">
      <pc:docMk xmlns:pc="http://schemas.microsoft.com/office/powerpoint/2013/main/command"/>
      <pc:sldMk xmlns:pc="http://schemas.microsoft.com/office/powerpoint/2013/main/command" cId="1524469226" sldId="759"/>
      <ac:spMk id="3" creationId="{EB7E5EAC-844D-B6F0-FC08-4BE3075E1FAE}"/>
    </ac:deMkLst>
    <p188:txBody>
      <a:bodyPr/>
      <a:lstStyle/>
      <a:p>
        <a:r>
          <a:rPr lang="he-IL"/>
          <a:t>ניצה: סעיף א: ניסוח: סך כל הליטרים של הצבע "ירק-זית" שהתקבלו
סעיף ב: כדי להגיע לגוון הרצוי הוא החליט... </a:t>
        </a:r>
      </a:p>
    </p188:txBody>
  </p188:cm>
</p188:cmLst>
</file>

<file path=ppt/comments/modernComment_2FC_15E13E9D.xml><?xml version="1.0" encoding="utf-8"?>
<p188:cmLst xmlns:a="http://schemas.openxmlformats.org/drawingml/2006/main" xmlns:r="http://schemas.openxmlformats.org/officeDocument/2006/relationships" xmlns:p188="http://schemas.microsoft.com/office/powerpoint/2018/8/main">
  <p188:cm id="{01E0C352-48E9-4662-A712-2B1B3258D472}" authorId="{3FA6D409-70D9-A7C0-34C9-312AE2010542}" created="2026-08-06T09:01:43.742">
    <pc:sldMkLst xmlns:pc="http://schemas.microsoft.com/office/powerpoint/2013/main/command">
      <pc:docMk/>
      <pc:sldMk cId="367083165" sldId="764"/>
    </pc:sldMkLst>
    <p188:txBody>
      <a:bodyPr/>
      <a:lstStyle/>
      <a:p>
        <a:r>
          <a:rPr lang="en-US"/>
          <a:t>איריס - תוכלי בבקשה להשלים את ההסבר במשוב לסעיף ב? </a:t>
        </a:r>
      </a:p>
    </p188:txBody>
  </p188:cm>
</p188:cmLst>
</file>

<file path=ppt/comments/modernComment_12C_1651563B.xml><?xml version="1.0" encoding="utf-8"?>
<p188:cmLst xmlns:a="http://schemas.openxmlformats.org/drawingml/2006/main" xmlns:r="http://schemas.openxmlformats.org/officeDocument/2006/relationships" xmlns:p188="http://schemas.microsoft.com/office/powerpoint/2018/8/main">
  <p188:cm id="{81726AD9-7593-44EB-BB42-AB8D92F0A947}" authorId="{5DBA2B73-2628-61E4-26BA-A64404A37C7F}" status="resolved" created="2026-07-29T13:41:00.448" complete="100000">
    <pc:sldMkLst xmlns:pc="http://schemas.microsoft.com/office/powerpoint/2013/main/command">
      <pc:docMk/>
      <pc:sldMk cId="374429243" sldId="300"/>
    </pc:sldMkLst>
    <p188:replyLst>
      <p188:reply id="{99C2EFAB-7187-4D3B-8214-36D8593C0890}" authorId="{408A77E5-9F8C-5E23-A0A6-0375EBA392A7}" created="2026-08-04T09:54:29.154">
        <p188:txBody>
          <a:bodyPr/>
          <a:lstStyle/>
          <a:p>
            <a:r>
              <a:rPr lang="he-IL"/>
              <a:t>ניצה: חסרה אות במילה "תסדרו" ביישומון</a:t>
            </a:r>
          </a:p>
        </p188:txBody>
      </p188:reply>
    </p188:replyLst>
    <p188:txBody>
      <a:bodyPr/>
      <a:lstStyle/>
      <a:p>
        <a:r>
          <a:rPr lang="he-IL"/>
          <a:t>מהו הקישור לישומון? אם אפשר להוסיף בהערות לשקף</a:t>
        </a:r>
      </a:p>
    </p188:txBody>
  </p188:cm>
  <p188:cm id="{FA8E6B47-0799-4CB9-BFF6-CB17323A9414}" authorId="{408A77E5-9F8C-5E23-A0A6-0375EBA392A7}" status="resolved" created="2026-08-04T09:53:08.682" complete="100000">
    <ac:txMkLst xmlns:ac="http://schemas.microsoft.com/office/drawing/2013/main/command">
      <pc:docMk xmlns:pc="http://schemas.microsoft.com/office/powerpoint/2013/main/command"/>
      <pc:sldMk xmlns:pc="http://schemas.microsoft.com/office/powerpoint/2013/main/command" cId="374429243" sldId="300"/>
      <ac:spMk id="6" creationId="{532AA96D-93D7-8DD6-F7D1-67B47623EE9E}"/>
      <ac:txMk cp="144" len="7">
        <ac:context len="225" hash="1016306713"/>
      </ac:txMk>
    </ac:txMkLst>
    <p188:pos x="3138406" y="1588576"/>
    <p188:txBody>
      <a:bodyPr/>
      <a:lstStyle/>
      <a:p>
        <a:r>
          <a:rPr lang="he-IL"/>
          <a:t>ניצה: זו פעם שנייה של היחס 2:3. זה בסדר אבל לא יותר..... </a:t>
        </a:r>
      </a:p>
    </p188:txBody>
  </p188:cm>
</p188:cmLst>
</file>

<file path=ppt/comments/modernComment_29A_753116BF.xml><?xml version="1.0" encoding="utf-8"?>
<p188:cmLst xmlns:a="http://schemas.openxmlformats.org/drawingml/2006/main" xmlns:r="http://schemas.openxmlformats.org/officeDocument/2006/relationships" xmlns:p188="http://schemas.microsoft.com/office/powerpoint/2018/8/main">
  <p188:cm id="{2D3A5F04-5148-4DF4-B057-B8498E5E395B}" authorId="{2FF2E36C-5A36-DC35-687D-E9035155C4D7}" status="resolved" created="2026-08-02T08:21:55.753" complete="100000">
    <pc:sldMkLst xmlns:pc="http://schemas.microsoft.com/office/powerpoint/2013/main/command">
      <pc:docMk/>
      <pc:sldMk cId="1966151359" sldId="666"/>
    </pc:sldMkLst>
    <p188:txBody>
      <a:bodyPr/>
      <a:lstStyle/>
      <a:p>
        <a:r>
          <a:rPr lang="he-IL"/>
          <a:t>החלפתי את העגבניות לצנוניות שגדלות בבודד ולא על שיח...</a:t>
        </a:r>
      </a:p>
    </p188:txBody>
  </p188:cm>
</p188:cmLst>
</file>

<file path=ppt/comments/modernComment_305_542D2E36.xml><?xml version="1.0" encoding="utf-8"?>
<p188:cmLst xmlns:a="http://schemas.openxmlformats.org/drawingml/2006/main" xmlns:r="http://schemas.openxmlformats.org/officeDocument/2006/relationships" xmlns:p188="http://schemas.microsoft.com/office/powerpoint/2018/8/main">
  <p188:cm id="{E5DC9DBD-08C2-450A-B886-783D6C28B873}" authorId="{5DBA2B73-2628-61E4-26BA-A64404A37C7F}" status="resolved" created="2026-07-30T04:58:31.189">
    <pc:sldMkLst xmlns:pc="http://schemas.microsoft.com/office/powerpoint/2013/main/command">
      <pc:docMk/>
      <pc:sldMk cId="1458539957" sldId="744"/>
    </pc:sldMkLst>
    <p188:replyLst>
      <p188:reply id="{D34DDA81-3BB8-426D-A79E-213B11908046}" authorId="{2FF2E36C-5A36-DC35-687D-E9035155C4D7}" created="2026-08-04T14:36:09.492">
        <p188:txBody>
          <a:bodyPr/>
          <a:lstStyle/>
          <a:p>
            <a:r>
              <a:rPr lang="he-IL"/>
              <a:t>נכון, הוספתי</a:t>
            </a:r>
          </a:p>
        </p188:txBody>
      </p188:reply>
    </p188:replyLst>
    <p188:txBody>
      <a:bodyPr/>
      <a:lstStyle/>
      <a:p>
        <a:r>
          <a:rPr lang="he-IL"/>
          <a:t>צריך להוסיף שאלה אם הוא צדק / טעה אחרי החישוב לא? כי זו מהות השאלה</a:t>
        </a:r>
      </a:p>
    </p188:txBody>
  </p188:cm>
  <p188:cm id="{DF0CF759-C77A-46DF-96D8-7CC5A0AC5304}" authorId="{408A77E5-9F8C-5E23-A0A6-0375EBA392A7}" status="resolved" created="2026-08-04T10:54:43.242">
    <ac:deMkLst xmlns:ac="http://schemas.microsoft.com/office/drawing/2013/main/command">
      <pc:docMk xmlns:pc="http://schemas.microsoft.com/office/powerpoint/2013/main/command"/>
      <pc:sldMk xmlns:pc="http://schemas.microsoft.com/office/powerpoint/2013/main/command" cId="1412247094" sldId="773"/>
      <ac:spMk id="26" creationId="{B14522A7-0CBC-9D08-D192-8D89C19D113D}"/>
    </ac:deMkLst>
    <p188:txBody>
      <a:bodyPr/>
      <a:lstStyle/>
      <a:p>
        <a:r>
          <a:rPr lang="he-IL"/>
          <a:t>ניצה: נכון לעופר וגם אם יש סעיף א אז מהו סעיף ב'?</a:t>
        </a:r>
      </a:p>
    </p188:txBody>
  </p188:cm>
  <p188:cm id="{D05E7E46-0F1C-4658-B62B-B3F62C9DE979}" authorId="{408A77E5-9F8C-5E23-A0A6-0375EBA392A7}" status="resolved" created="2026-08-04T10:55:33.588">
    <ac:txMkLst xmlns:ac="http://schemas.microsoft.com/office/drawing/2013/main/command">
      <pc:docMk xmlns:pc="http://schemas.microsoft.com/office/powerpoint/2013/main/command"/>
      <pc:sldMk xmlns:pc="http://schemas.microsoft.com/office/powerpoint/2013/main/command" cId="1412247094" sldId="773"/>
      <ac:spMk id="26" creationId="{B14522A7-0CBC-9D08-D192-8D89C19D113D}"/>
      <ac:txMk cp="96" len="37">
        <ac:context len="135" hash="3697544601"/>
      </ac:txMk>
    </ac:txMkLst>
    <p188:pos x="5618135" y="1898542"/>
    <p188:replyLst>
      <p188:reply id="{28F6CD99-42F5-4883-BF0B-E22CC9F4C5C7}" authorId="{2FF2E36C-5A36-DC35-687D-E9035155C4D7}" created="2026-08-04T14:35:57.870">
        <p188:txBody>
          <a:bodyPr/>
          <a:lstStyle/>
          <a:p>
            <a:r>
              <a:rPr lang="he-IL"/>
              <a:t>תיקנתי, בדקי אם בסדר.</a:t>
            </a:r>
          </a:p>
        </p188:txBody>
      </p188:reply>
    </p188:replyLst>
    <p188:txBody>
      <a:bodyPr/>
      <a:lstStyle/>
      <a:p>
        <a:r>
          <a:rPr lang="he-IL"/>
          <a:t>ניצה: לא חושבת שהרעיון הוא שהמבנה יקרוס. הרעיון שאי אפשר יהיה לבנות מבנה כזה כי זוויות הבסיס במשולש שווה שוקיים לא יכולות להיות קהות.</a:t>
        </a:r>
      </a:p>
    </p188:txBody>
  </p188:cm>
</p188: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מציין מיקום של כותרת עליונה 1"/>
          <p:cNvSpPr>
            <a:spLocks noGrp="1"/>
          </p:cNvSpPr>
          <p:nvPr>
            <p:ph type="hdr" sz="quarter"/>
          </p:nvPr>
        </p:nvSpPr>
        <p:spPr>
          <a:xfrm>
            <a:off x="3886200" y="0"/>
            <a:ext cx="2971800" cy="458788"/>
          </a:xfrm>
          <a:prstGeom prst="rect">
            <a:avLst/>
          </a:prstGeom>
        </p:spPr>
        <p:txBody>
          <a:bodyPr vert="horz" lIns="91440" tIns="45720" rIns="91440" bIns="45720" rtlCol="1"/>
          <a:lstStyle>
            <a:lvl1pPr algn="l">
              <a:defRPr sz="1200"/>
            </a:lvl1pPr>
          </a:lstStyle>
          <a:p>
            <a:endParaRPr lang="LID4096"/>
          </a:p>
        </p:txBody>
      </p:sp>
      <p:sp>
        <p:nvSpPr>
          <p:cNvPr id="3" name="מציין מיקום של תאריך 2"/>
          <p:cNvSpPr>
            <a:spLocks noGrp="1"/>
          </p:cNvSpPr>
          <p:nvPr>
            <p:ph type="dt" idx="1"/>
          </p:nvPr>
        </p:nvSpPr>
        <p:spPr>
          <a:xfrm>
            <a:off x="1588" y="0"/>
            <a:ext cx="2971800" cy="458788"/>
          </a:xfrm>
          <a:prstGeom prst="rect">
            <a:avLst/>
          </a:prstGeom>
        </p:spPr>
        <p:txBody>
          <a:bodyPr vert="horz" lIns="91440" tIns="45720" rIns="91440" bIns="45720" rtlCol="1"/>
          <a:lstStyle>
            <a:lvl1pPr algn="r">
              <a:defRPr sz="1200"/>
            </a:lvl1pPr>
          </a:lstStyle>
          <a:p>
            <a:fld id="{0418A68C-7A06-4A0D-89DE-74DBA01F776D}" type="datetimeFigureOut">
              <a:rPr lang="LID4096" smtClean="0"/>
              <a:t>08/17/2026</a:t>
            </a:fld>
            <a:endParaRPr lang="LID4096"/>
          </a:p>
        </p:txBody>
      </p:sp>
      <p:sp>
        <p:nvSpPr>
          <p:cNvPr id="4" name="מציין מיקום של תמונת שקופית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1" anchor="ctr"/>
          <a:lstStyle/>
          <a:p>
            <a:endParaRPr lang="LID4096"/>
          </a:p>
        </p:txBody>
      </p:sp>
      <p:sp>
        <p:nvSpPr>
          <p:cNvPr id="5" name="מציין מיקום של הערות 4"/>
          <p:cNvSpPr>
            <a:spLocks noGrp="1"/>
          </p:cNvSpPr>
          <p:nvPr>
            <p:ph type="body" sz="quarter" idx="3"/>
          </p:nvPr>
        </p:nvSpPr>
        <p:spPr>
          <a:xfrm>
            <a:off x="685800" y="4400550"/>
            <a:ext cx="5486400" cy="3600450"/>
          </a:xfrm>
          <a:prstGeom prst="rect">
            <a:avLst/>
          </a:prstGeom>
        </p:spPr>
        <p:txBody>
          <a:bodyPr vert="horz" lIns="91440" tIns="45720" rIns="91440" bIns="45720" rtlCol="1"/>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endParaRPr lang="LID4096"/>
          </a:p>
        </p:txBody>
      </p:sp>
      <p:sp>
        <p:nvSpPr>
          <p:cNvPr id="6" name="מציין מיקום של כותרת תחתונה 5"/>
          <p:cNvSpPr>
            <a:spLocks noGrp="1"/>
          </p:cNvSpPr>
          <p:nvPr>
            <p:ph type="ftr" sz="quarter" idx="4"/>
          </p:nvPr>
        </p:nvSpPr>
        <p:spPr>
          <a:xfrm>
            <a:off x="3886200" y="8685213"/>
            <a:ext cx="2971800" cy="458787"/>
          </a:xfrm>
          <a:prstGeom prst="rect">
            <a:avLst/>
          </a:prstGeom>
        </p:spPr>
        <p:txBody>
          <a:bodyPr vert="horz" lIns="91440" tIns="45720" rIns="91440" bIns="45720" rtlCol="1" anchor="b"/>
          <a:lstStyle>
            <a:lvl1pPr algn="l">
              <a:defRPr sz="1200"/>
            </a:lvl1pPr>
          </a:lstStyle>
          <a:p>
            <a:endParaRPr lang="LID4096"/>
          </a:p>
        </p:txBody>
      </p:sp>
      <p:sp>
        <p:nvSpPr>
          <p:cNvPr id="7" name="מציין מיקום של מספר שקופית 6"/>
          <p:cNvSpPr>
            <a:spLocks noGrp="1"/>
          </p:cNvSpPr>
          <p:nvPr>
            <p:ph type="sldNum" sz="quarter" idx="5"/>
          </p:nvPr>
        </p:nvSpPr>
        <p:spPr>
          <a:xfrm>
            <a:off x="1588" y="8685213"/>
            <a:ext cx="2971800" cy="458787"/>
          </a:xfrm>
          <a:prstGeom prst="rect">
            <a:avLst/>
          </a:prstGeom>
        </p:spPr>
        <p:txBody>
          <a:bodyPr vert="horz" lIns="91440" tIns="45720" rIns="91440" bIns="45720" rtlCol="1" anchor="b"/>
          <a:lstStyle>
            <a:lvl1pPr algn="r">
              <a:defRPr sz="1200"/>
            </a:lvl1pPr>
          </a:lstStyle>
          <a:p>
            <a:fld id="{25FC8A2B-14B3-4AB7-B945-4222430686C6}" type="slidenum">
              <a:rPr lang="LID4096" smtClean="0"/>
              <a:t>‹#›</a:t>
            </a:fld>
            <a:endParaRPr lang="LID4096"/>
          </a:p>
        </p:txBody>
      </p:sp>
    </p:spTree>
    <p:extLst>
      <p:ext uri="{BB962C8B-B14F-4D97-AF65-F5344CB8AC3E}">
        <p14:creationId xmlns:p14="http://schemas.microsoft.com/office/powerpoint/2010/main" val="739651628"/>
      </p:ext>
    </p:extLst>
  </p:cSld>
  <p:clrMap bg1="lt1" tx1="dk1" bg2="lt2" tx2="dk2" accent1="accent1" accent2="accent2" accent3="accent3" accent4="accent4" accent5="accent5" accent6="accent6" hlink="hlink" folHlink="folHlink"/>
  <p:notesStyle>
    <a:lvl1pPr marL="0" algn="r" defTabSz="914400" rtl="1" eaLnBrk="1" latinLnBrk="0" hangingPunct="1">
      <a:defRPr sz="1200" kern="1200">
        <a:solidFill>
          <a:schemeClr val="tx1"/>
        </a:solidFill>
        <a:latin typeface="+mn-lt"/>
        <a:ea typeface="+mn-ea"/>
        <a:cs typeface="+mn-cs"/>
      </a:defRPr>
    </a:lvl1pPr>
    <a:lvl2pPr marL="457200" algn="r" defTabSz="914400" rtl="1" eaLnBrk="1" latinLnBrk="0" hangingPunct="1">
      <a:defRPr sz="1200" kern="1200">
        <a:solidFill>
          <a:schemeClr val="tx1"/>
        </a:solidFill>
        <a:latin typeface="+mn-lt"/>
        <a:ea typeface="+mn-ea"/>
        <a:cs typeface="+mn-cs"/>
      </a:defRPr>
    </a:lvl2pPr>
    <a:lvl3pPr marL="914400" algn="r" defTabSz="914400" rtl="1" eaLnBrk="1" latinLnBrk="0" hangingPunct="1">
      <a:defRPr sz="1200" kern="1200">
        <a:solidFill>
          <a:schemeClr val="tx1"/>
        </a:solidFill>
        <a:latin typeface="+mn-lt"/>
        <a:ea typeface="+mn-ea"/>
        <a:cs typeface="+mn-cs"/>
      </a:defRPr>
    </a:lvl3pPr>
    <a:lvl4pPr marL="1371600" algn="r" defTabSz="914400" rtl="1" eaLnBrk="1" latinLnBrk="0" hangingPunct="1">
      <a:defRPr sz="1200" kern="1200">
        <a:solidFill>
          <a:schemeClr val="tx1"/>
        </a:solidFill>
        <a:latin typeface="+mn-lt"/>
        <a:ea typeface="+mn-ea"/>
        <a:cs typeface="+mn-cs"/>
      </a:defRPr>
    </a:lvl4pPr>
    <a:lvl5pPr marL="1828800" algn="r" defTabSz="914400" rtl="1" eaLnBrk="1" latinLnBrk="0" hangingPunct="1">
      <a:defRPr sz="1200" kern="1200">
        <a:solidFill>
          <a:schemeClr val="tx1"/>
        </a:solidFill>
        <a:latin typeface="+mn-lt"/>
        <a:ea typeface="+mn-ea"/>
        <a:cs typeface="+mn-cs"/>
      </a:defRPr>
    </a:lvl5pPr>
    <a:lvl6pPr marL="2286000" algn="r" defTabSz="914400" rtl="1" eaLnBrk="1" latinLnBrk="0" hangingPunct="1">
      <a:defRPr sz="1200" kern="1200">
        <a:solidFill>
          <a:schemeClr val="tx1"/>
        </a:solidFill>
        <a:latin typeface="+mn-lt"/>
        <a:ea typeface="+mn-ea"/>
        <a:cs typeface="+mn-cs"/>
      </a:defRPr>
    </a:lvl6pPr>
    <a:lvl7pPr marL="2743200" algn="r" defTabSz="914400" rtl="1" eaLnBrk="1" latinLnBrk="0" hangingPunct="1">
      <a:defRPr sz="1200" kern="1200">
        <a:solidFill>
          <a:schemeClr val="tx1"/>
        </a:solidFill>
        <a:latin typeface="+mn-lt"/>
        <a:ea typeface="+mn-ea"/>
        <a:cs typeface="+mn-cs"/>
      </a:defRPr>
    </a:lvl7pPr>
    <a:lvl8pPr marL="3200400" algn="r" defTabSz="914400" rtl="1" eaLnBrk="1" latinLnBrk="0" hangingPunct="1">
      <a:defRPr sz="1200" kern="1200">
        <a:solidFill>
          <a:schemeClr val="tx1"/>
        </a:solidFill>
        <a:latin typeface="+mn-lt"/>
        <a:ea typeface="+mn-ea"/>
        <a:cs typeface="+mn-cs"/>
      </a:defRPr>
    </a:lvl8pPr>
    <a:lvl9pPr marL="3657600" algn="r" defTabSz="914400" rtl="1"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של תמונת שקופית 1"/>
          <p:cNvSpPr>
            <a:spLocks noGrp="1" noRot="1" noChangeAspect="1"/>
          </p:cNvSpPr>
          <p:nvPr>
            <p:ph type="sldImg"/>
          </p:nvPr>
        </p:nvSpPr>
        <p:spPr/>
        <p:txBody>
          <a:bodyPr/>
          <a:lstStyle/>
          <a:p>
            <a:endParaRPr lang="he-IL"/>
          </a:p>
        </p:txBody>
      </p:sp>
      <p:sp>
        <p:nvSpPr>
          <p:cNvPr id="3" name="מציין מיקום של הערות 2"/>
          <p:cNvSpPr>
            <a:spLocks noGrp="1"/>
          </p:cNvSpPr>
          <p:nvPr>
            <p:ph type="body" idx="1"/>
          </p:nvPr>
        </p:nvSpPr>
        <p:spPr/>
        <p:txBody>
          <a:bodyPr/>
          <a:lstStyle/>
          <a:p>
            <a:r>
              <a:rPr lang="he-IL" b="1" dirty="0"/>
              <a:t>הנחיות הפקה: </a:t>
            </a:r>
          </a:p>
          <a:p>
            <a:pPr marL="171450" indent="-171450">
              <a:buFont typeface="Arial" panose="020B0604020202020204" pitchFamily="34" charset="0"/>
              <a:buChar char="•"/>
            </a:pPr>
            <a:r>
              <a:rPr lang="he-IL" dirty="0"/>
              <a:t>שם המסך </a:t>
            </a:r>
            <a:r>
              <a:rPr lang="he-IL" dirty="0" err="1"/>
              <a:t>בפיגמה</a:t>
            </a:r>
            <a:r>
              <a:rPr lang="he-IL" dirty="0"/>
              <a:t>: </a:t>
            </a:r>
            <a:r>
              <a:rPr lang="en-US" i="1" u="sng" dirty="0" err="1"/>
              <a:t>TwoOptionSelection</a:t>
            </a:r>
            <a:endParaRPr lang="he-IL" i="1" u="sng" dirty="0"/>
          </a:p>
          <a:p>
            <a:pPr marL="171450" marR="0" lvl="0" indent="-171450" algn="r" defTabSz="914400" rtl="1" eaLnBrk="1" fontAlgn="auto" latinLnBrk="0" hangingPunct="1">
              <a:lnSpc>
                <a:spcPct val="100000"/>
              </a:lnSpc>
              <a:spcBef>
                <a:spcPts val="0"/>
              </a:spcBef>
              <a:spcAft>
                <a:spcPts val="0"/>
              </a:spcAft>
              <a:buClrTx/>
              <a:buSzTx/>
              <a:buFont typeface="Arial" panose="020B0604020202020204" pitchFamily="34" charset="0"/>
              <a:buChar char="•"/>
              <a:tabLst/>
              <a:defRPr/>
            </a:pPr>
            <a:r>
              <a:rPr lang="he-IL" dirty="0"/>
              <a:t>שם התמונה בצד ימין:</a:t>
            </a:r>
            <a:r>
              <a:rPr lang="he-IL" i="1" u="sng" dirty="0"/>
              <a:t>&lt;ילד חכם&gt;</a:t>
            </a:r>
            <a:endParaRPr lang="he-IL" dirty="0"/>
          </a:p>
          <a:p>
            <a:pPr marL="171450" marR="0" lvl="0" indent="-171450" algn="r" defTabSz="914400" rtl="1" eaLnBrk="1" fontAlgn="auto" latinLnBrk="0" hangingPunct="1">
              <a:lnSpc>
                <a:spcPct val="100000"/>
              </a:lnSpc>
              <a:spcBef>
                <a:spcPts val="0"/>
              </a:spcBef>
              <a:spcAft>
                <a:spcPts val="0"/>
              </a:spcAft>
              <a:buClrTx/>
              <a:buSzTx/>
              <a:buFont typeface="Arial" panose="020B0604020202020204" pitchFamily="34" charset="0"/>
              <a:buChar char="•"/>
              <a:tabLst/>
              <a:defRPr/>
            </a:pPr>
            <a:r>
              <a:rPr lang="he-IL" dirty="0"/>
              <a:t>שם התמונה בצד שמאל: </a:t>
            </a:r>
            <a:r>
              <a:rPr lang="he-IL" i="1" u="sng" dirty="0"/>
              <a:t>&lt;גבוהה&gt;</a:t>
            </a:r>
          </a:p>
          <a:p>
            <a:pPr marL="0" indent="0">
              <a:buFont typeface="Arial" panose="020B0604020202020204" pitchFamily="34" charset="0"/>
              <a:buNone/>
            </a:pPr>
            <a:endParaRPr lang="he-IL" dirty="0"/>
          </a:p>
          <a:p>
            <a:pPr marL="0" indent="0">
              <a:buFont typeface="Arial" panose="020B0604020202020204" pitchFamily="34" charset="0"/>
              <a:buNone/>
            </a:pPr>
            <a:endParaRPr lang="he-IL" dirty="0"/>
          </a:p>
          <a:p>
            <a:pPr marL="0" indent="0">
              <a:buFont typeface="Arial" panose="020B0604020202020204" pitchFamily="34" charset="0"/>
              <a:buNone/>
            </a:pPr>
            <a:r>
              <a:rPr lang="he-IL" dirty="0"/>
              <a:t> </a:t>
            </a:r>
            <a:endParaRPr lang="LID4096" dirty="0"/>
          </a:p>
        </p:txBody>
      </p:sp>
      <p:sp>
        <p:nvSpPr>
          <p:cNvPr id="4" name="מציין מיקום של מספר שקופית 3"/>
          <p:cNvSpPr>
            <a:spLocks noGrp="1"/>
          </p:cNvSpPr>
          <p:nvPr>
            <p:ph type="sldNum" sz="quarter" idx="5"/>
          </p:nvPr>
        </p:nvSpPr>
        <p:spPr/>
        <p:txBody>
          <a:bodyPr/>
          <a:lstStyle/>
          <a:p>
            <a:fld id="{25FC8A2B-14B3-4AB7-B945-4222430686C6}" type="slidenum">
              <a:rPr lang="LID4096" smtClean="0"/>
              <a:t>3</a:t>
            </a:fld>
            <a:endParaRPr lang="LID4096"/>
          </a:p>
        </p:txBody>
      </p:sp>
    </p:spTree>
    <p:extLst>
      <p:ext uri="{BB962C8B-B14F-4D97-AF65-F5344CB8AC3E}">
        <p14:creationId xmlns:p14="http://schemas.microsoft.com/office/powerpoint/2010/main" val="49380237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he-IL"/>
              <a:t>מסך לא בתבנית. </a:t>
            </a:r>
          </a:p>
          <a:p>
            <a:r>
              <a:rPr lang="he-IL"/>
              <a:t>גלילה עד סוף השאלות. </a:t>
            </a:r>
          </a:p>
          <a:p>
            <a:r>
              <a:rPr lang="he-IL"/>
              <a:t>נתוני היחס המופיעים פה צפים לאורך כל השאלות </a:t>
            </a:r>
            <a:endParaRPr lang="en-US"/>
          </a:p>
        </p:txBody>
      </p:sp>
      <p:sp>
        <p:nvSpPr>
          <p:cNvPr id="4" name="Slide Number Placeholder 3"/>
          <p:cNvSpPr>
            <a:spLocks noGrp="1"/>
          </p:cNvSpPr>
          <p:nvPr>
            <p:ph type="sldNum" sz="quarter" idx="5"/>
          </p:nvPr>
        </p:nvSpPr>
        <p:spPr/>
        <p:txBody>
          <a:bodyPr/>
          <a:lstStyle/>
          <a:p>
            <a:fld id="{25FC8A2B-14B3-4AB7-B945-4222430686C6}" type="slidenum">
              <a:rPr lang="LID4096" smtClean="0"/>
              <a:t>4</a:t>
            </a:fld>
            <a:endParaRPr lang="LID4096"/>
          </a:p>
        </p:txBody>
      </p:sp>
    </p:spTree>
    <p:extLst>
      <p:ext uri="{BB962C8B-B14F-4D97-AF65-F5344CB8AC3E}">
        <p14:creationId xmlns:p14="http://schemas.microsoft.com/office/powerpoint/2010/main" val="138907265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he-IL" dirty="0"/>
              <a:t>מסך לא בתבנית.</a:t>
            </a:r>
          </a:p>
          <a:p>
            <a:r>
              <a:rPr lang="he-IL" dirty="0"/>
              <a:t>השאלות עולות בזו אחר זו. ואחרי כל מענה עולה רק המשוב הספציפי לשאלה. </a:t>
            </a:r>
          </a:p>
          <a:p>
            <a:r>
              <a:rPr lang="he-IL" dirty="0"/>
              <a:t>תמונות ונתוני יחס נשארים צפים. </a:t>
            </a:r>
            <a:endParaRPr lang="en-US" dirty="0"/>
          </a:p>
        </p:txBody>
      </p:sp>
      <p:sp>
        <p:nvSpPr>
          <p:cNvPr id="4" name="Slide Number Placeholder 3"/>
          <p:cNvSpPr>
            <a:spLocks noGrp="1"/>
          </p:cNvSpPr>
          <p:nvPr>
            <p:ph type="sldNum" sz="quarter" idx="5"/>
          </p:nvPr>
        </p:nvSpPr>
        <p:spPr/>
        <p:txBody>
          <a:bodyPr/>
          <a:lstStyle/>
          <a:p>
            <a:fld id="{25FC8A2B-14B3-4AB7-B945-4222430686C6}" type="slidenum">
              <a:rPr lang="LID4096" smtClean="0"/>
              <a:t>5</a:t>
            </a:fld>
            <a:endParaRPr lang="LID4096"/>
          </a:p>
        </p:txBody>
      </p:sp>
    </p:spTree>
    <p:extLst>
      <p:ext uri="{BB962C8B-B14F-4D97-AF65-F5344CB8AC3E}">
        <p14:creationId xmlns:p14="http://schemas.microsoft.com/office/powerpoint/2010/main" val="319447050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74E2A3-F1D2-51D1-A340-2DB281CE641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AF9191E-B354-9DD6-FDF5-33CB8A7A0E2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B3E9D62-5307-679F-946F-2F2C42E5879B}"/>
              </a:ext>
            </a:extLst>
          </p:cNvPr>
          <p:cNvSpPr>
            <a:spLocks noGrp="1"/>
          </p:cNvSpPr>
          <p:nvPr>
            <p:ph type="body" idx="1"/>
          </p:nvPr>
        </p:nvSpPr>
        <p:spPr/>
        <p:txBody>
          <a:bodyPr/>
          <a:lstStyle/>
          <a:p>
            <a:r>
              <a:rPr lang="he-IL"/>
              <a:t>מסך לא בתבנית.</a:t>
            </a:r>
          </a:p>
          <a:p>
            <a:r>
              <a:rPr lang="he-IL"/>
              <a:t>השאלות עולות בזו אחר זו. ואחרי כל מענה עולה רק המשוב הספציפי לשאלה. </a:t>
            </a:r>
          </a:p>
          <a:p>
            <a:r>
              <a:rPr lang="he-IL"/>
              <a:t>תמונות ונתוני יחס נשארים צפים. </a:t>
            </a:r>
            <a:endParaRPr lang="en-US"/>
          </a:p>
        </p:txBody>
      </p:sp>
      <p:sp>
        <p:nvSpPr>
          <p:cNvPr id="4" name="Slide Number Placeholder 3">
            <a:extLst>
              <a:ext uri="{FF2B5EF4-FFF2-40B4-BE49-F238E27FC236}">
                <a16:creationId xmlns:a16="http://schemas.microsoft.com/office/drawing/2014/main" id="{803AF04B-D616-55A7-89E2-755C19ED6E99}"/>
              </a:ext>
            </a:extLst>
          </p:cNvPr>
          <p:cNvSpPr>
            <a:spLocks noGrp="1"/>
          </p:cNvSpPr>
          <p:nvPr>
            <p:ph type="sldNum" sz="quarter" idx="5"/>
          </p:nvPr>
        </p:nvSpPr>
        <p:spPr/>
        <p:txBody>
          <a:bodyPr/>
          <a:lstStyle/>
          <a:p>
            <a:fld id="{25FC8A2B-14B3-4AB7-B945-4222430686C6}" type="slidenum">
              <a:rPr lang="LID4096" smtClean="0"/>
              <a:t>6</a:t>
            </a:fld>
            <a:endParaRPr lang="LID4096"/>
          </a:p>
        </p:txBody>
      </p:sp>
    </p:spTree>
    <p:extLst>
      <p:ext uri="{BB962C8B-B14F-4D97-AF65-F5344CB8AC3E}">
        <p14:creationId xmlns:p14="http://schemas.microsoft.com/office/powerpoint/2010/main" val="419624484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he-IL"/>
              <a:t>גיף "עושה שרירים" </a:t>
            </a:r>
            <a:endParaRPr lang="en-US"/>
          </a:p>
        </p:txBody>
      </p:sp>
      <p:sp>
        <p:nvSpPr>
          <p:cNvPr id="4" name="Slide Number Placeholder 3"/>
          <p:cNvSpPr>
            <a:spLocks noGrp="1"/>
          </p:cNvSpPr>
          <p:nvPr>
            <p:ph type="sldNum" sz="quarter" idx="5"/>
          </p:nvPr>
        </p:nvSpPr>
        <p:spPr/>
        <p:txBody>
          <a:bodyPr/>
          <a:lstStyle/>
          <a:p>
            <a:fld id="{25FC8A2B-14B3-4AB7-B945-4222430686C6}" type="slidenum">
              <a:rPr lang="LID4096" smtClean="0"/>
              <a:t>7</a:t>
            </a:fld>
            <a:endParaRPr lang="LID4096"/>
          </a:p>
        </p:txBody>
      </p:sp>
    </p:spTree>
    <p:extLst>
      <p:ext uri="{BB962C8B-B14F-4D97-AF65-F5344CB8AC3E}">
        <p14:creationId xmlns:p14="http://schemas.microsoft.com/office/powerpoint/2010/main" val="222083527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9B02DA-297B-0927-07F0-A122C0833E33}"/>
            </a:ext>
          </a:extLst>
        </p:cNvPr>
        <p:cNvGrpSpPr/>
        <p:nvPr/>
      </p:nvGrpSpPr>
      <p:grpSpPr>
        <a:xfrm>
          <a:off x="0" y="0"/>
          <a:ext cx="0" cy="0"/>
          <a:chOff x="0" y="0"/>
          <a:chExt cx="0" cy="0"/>
        </a:xfrm>
      </p:grpSpPr>
      <p:sp>
        <p:nvSpPr>
          <p:cNvPr id="2" name="מציין מיקום של תמונת שקופית 1">
            <a:extLst>
              <a:ext uri="{FF2B5EF4-FFF2-40B4-BE49-F238E27FC236}">
                <a16:creationId xmlns:a16="http://schemas.microsoft.com/office/drawing/2014/main" id="{684C9DEE-C9DA-15F1-945E-9D4E5AD6A7F0}"/>
              </a:ext>
            </a:extLst>
          </p:cNvPr>
          <p:cNvSpPr>
            <a:spLocks noGrp="1" noRot="1" noChangeAspect="1"/>
          </p:cNvSpPr>
          <p:nvPr>
            <p:ph type="sldImg"/>
          </p:nvPr>
        </p:nvSpPr>
        <p:spPr/>
      </p:sp>
      <p:sp>
        <p:nvSpPr>
          <p:cNvPr id="3" name="מציין מיקום של הערות 2">
            <a:extLst>
              <a:ext uri="{FF2B5EF4-FFF2-40B4-BE49-F238E27FC236}">
                <a16:creationId xmlns:a16="http://schemas.microsoft.com/office/drawing/2014/main" id="{721FB8EC-7019-94A2-AC3C-DF6D67A808E1}"/>
              </a:ext>
            </a:extLst>
          </p:cNvPr>
          <p:cNvSpPr>
            <a:spLocks noGrp="1"/>
          </p:cNvSpPr>
          <p:nvPr>
            <p:ph type="body" idx="1"/>
          </p:nvPr>
        </p:nvSpPr>
        <p:spPr/>
        <p:txBody>
          <a:bodyPr/>
          <a:lstStyle/>
          <a:p>
            <a:r>
              <a:rPr lang="he-IL"/>
              <a:t>שקף לא בתבנית</a:t>
            </a:r>
          </a:p>
          <a:p>
            <a:pPr marL="171450" marR="0" lvl="0" indent="-171450" algn="r" defTabSz="914400" rtl="1" eaLnBrk="1" fontAlgn="auto" latinLnBrk="0" hangingPunct="1">
              <a:lnSpc>
                <a:spcPct val="100000"/>
              </a:lnSpc>
              <a:spcBef>
                <a:spcPts val="0"/>
              </a:spcBef>
              <a:spcAft>
                <a:spcPts val="0"/>
              </a:spcAft>
              <a:buClrTx/>
              <a:buSzTx/>
              <a:buFont typeface="Arial" panose="020B0604020202020204" pitchFamily="34" charset="0"/>
              <a:buChar char="•"/>
              <a:tabLst/>
              <a:defRPr/>
            </a:pPr>
            <a:r>
              <a:rPr lang="he-IL" sz="1200">
                <a:solidFill>
                  <a:schemeClr val="tx1"/>
                </a:solidFill>
                <a:latin typeface="Assistant" pitchFamily="2" charset="-79"/>
                <a:cs typeface="Assistant" pitchFamily="2" charset="-79"/>
              </a:rPr>
              <a:t>ההקנייה תתבצע בתוך גלילה</a:t>
            </a:r>
          </a:p>
          <a:p>
            <a:pPr marL="171450" marR="0" lvl="0" indent="-171450" algn="r" defTabSz="914400" rtl="1" eaLnBrk="1" fontAlgn="auto" latinLnBrk="0" hangingPunct="1">
              <a:lnSpc>
                <a:spcPct val="100000"/>
              </a:lnSpc>
              <a:spcBef>
                <a:spcPts val="0"/>
              </a:spcBef>
              <a:spcAft>
                <a:spcPts val="0"/>
              </a:spcAft>
              <a:buClrTx/>
              <a:buSzTx/>
              <a:buFont typeface="Arial" panose="020B0604020202020204" pitchFamily="34" charset="0"/>
              <a:buChar char="•"/>
              <a:tabLst/>
              <a:defRPr/>
            </a:pPr>
            <a:r>
              <a:rPr lang="he-IL" sz="1200">
                <a:solidFill>
                  <a:schemeClr val="tx1"/>
                </a:solidFill>
                <a:latin typeface="Assistant" pitchFamily="2" charset="-79"/>
                <a:cs typeface="Assistant" pitchFamily="2" charset="-79"/>
              </a:rPr>
              <a:t>כפתור המשך יהיה זמין ללחיצה בתחתית הגלילה </a:t>
            </a:r>
            <a:endParaRPr lang="en-IL" sz="1200">
              <a:solidFill>
                <a:schemeClr val="tx1"/>
              </a:solidFill>
              <a:latin typeface="Assistant" pitchFamily="2" charset="-79"/>
              <a:cs typeface="Assistant" pitchFamily="2" charset="-79"/>
            </a:endParaRPr>
          </a:p>
          <a:p>
            <a:pPr marL="0" marR="0" lvl="0" indent="0" algn="r" defTabSz="914400" rtl="1" eaLnBrk="1" fontAlgn="auto" latinLnBrk="0" hangingPunct="1">
              <a:lnSpc>
                <a:spcPct val="100000"/>
              </a:lnSpc>
              <a:spcBef>
                <a:spcPts val="0"/>
              </a:spcBef>
              <a:spcAft>
                <a:spcPts val="0"/>
              </a:spcAft>
              <a:buClrTx/>
              <a:buSzTx/>
              <a:buFont typeface="Arial" panose="020B0604020202020204" pitchFamily="34" charset="0"/>
              <a:buNone/>
              <a:tabLst/>
              <a:defRPr/>
            </a:pPr>
            <a:endParaRPr lang="en-IL" sz="1200">
              <a:solidFill>
                <a:schemeClr val="tx1"/>
              </a:solidFill>
              <a:latin typeface="Assistant" pitchFamily="2" charset="-79"/>
              <a:cs typeface="Assistant" pitchFamily="2" charset="-79"/>
            </a:endParaRPr>
          </a:p>
          <a:p>
            <a:pPr marL="171450" marR="0" lvl="0" indent="-171450" algn="r" defTabSz="914400" rtl="1"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IL" sz="1200">
              <a:solidFill>
                <a:schemeClr val="tx1"/>
              </a:solidFill>
              <a:latin typeface="Assistant" pitchFamily="2" charset="-79"/>
              <a:cs typeface="Assistant" pitchFamily="2" charset="-79"/>
            </a:endParaRPr>
          </a:p>
          <a:p>
            <a:pPr marL="171450" indent="-171450">
              <a:buFont typeface="Arial" panose="020B0604020202020204" pitchFamily="34" charset="0"/>
              <a:buChar char="•"/>
            </a:pPr>
            <a:endParaRPr lang="LID4096"/>
          </a:p>
        </p:txBody>
      </p:sp>
      <p:sp>
        <p:nvSpPr>
          <p:cNvPr id="4" name="מציין מיקום של מספר שקופית 3">
            <a:extLst>
              <a:ext uri="{FF2B5EF4-FFF2-40B4-BE49-F238E27FC236}">
                <a16:creationId xmlns:a16="http://schemas.microsoft.com/office/drawing/2014/main" id="{02980F27-1DD4-A92B-5F74-B4264315E1A5}"/>
              </a:ext>
            </a:extLst>
          </p:cNvPr>
          <p:cNvSpPr>
            <a:spLocks noGrp="1"/>
          </p:cNvSpPr>
          <p:nvPr>
            <p:ph type="sldNum" sz="quarter" idx="5"/>
          </p:nvPr>
        </p:nvSpPr>
        <p:spPr/>
        <p:txBody>
          <a:bodyPr/>
          <a:lstStyle/>
          <a:p>
            <a:fld id="{25FC8A2B-14B3-4AB7-B945-4222430686C6}" type="slidenum">
              <a:rPr lang="LID4096" smtClean="0"/>
              <a:t>8</a:t>
            </a:fld>
            <a:endParaRPr lang="LID4096"/>
          </a:p>
        </p:txBody>
      </p:sp>
    </p:spTree>
    <p:extLst>
      <p:ext uri="{BB962C8B-B14F-4D97-AF65-F5344CB8AC3E}">
        <p14:creationId xmlns:p14="http://schemas.microsoft.com/office/powerpoint/2010/main" val="215319434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DCFE4B-69EA-1C18-186D-B0DD7554C2C2}"/>
            </a:ext>
          </a:extLst>
        </p:cNvPr>
        <p:cNvGrpSpPr/>
        <p:nvPr/>
      </p:nvGrpSpPr>
      <p:grpSpPr>
        <a:xfrm>
          <a:off x="0" y="0"/>
          <a:ext cx="0" cy="0"/>
          <a:chOff x="0" y="0"/>
          <a:chExt cx="0" cy="0"/>
        </a:xfrm>
      </p:grpSpPr>
      <p:sp>
        <p:nvSpPr>
          <p:cNvPr id="2" name="מציין מיקום של תמונת שקופית 1">
            <a:extLst>
              <a:ext uri="{FF2B5EF4-FFF2-40B4-BE49-F238E27FC236}">
                <a16:creationId xmlns:a16="http://schemas.microsoft.com/office/drawing/2014/main" id="{A14F6CA5-56C8-B34B-A8EB-DB0CE7DFA25C}"/>
              </a:ext>
            </a:extLst>
          </p:cNvPr>
          <p:cNvSpPr>
            <a:spLocks noGrp="1" noRot="1" noChangeAspect="1"/>
          </p:cNvSpPr>
          <p:nvPr>
            <p:ph type="sldImg"/>
          </p:nvPr>
        </p:nvSpPr>
        <p:spPr/>
      </p:sp>
      <p:sp>
        <p:nvSpPr>
          <p:cNvPr id="3" name="מציין מיקום של הערות 2">
            <a:extLst>
              <a:ext uri="{FF2B5EF4-FFF2-40B4-BE49-F238E27FC236}">
                <a16:creationId xmlns:a16="http://schemas.microsoft.com/office/drawing/2014/main" id="{56CBB496-0A11-FAE4-DBF9-579F5DDF1B27}"/>
              </a:ext>
            </a:extLst>
          </p:cNvPr>
          <p:cNvSpPr>
            <a:spLocks noGrp="1"/>
          </p:cNvSpPr>
          <p:nvPr>
            <p:ph type="body" idx="1"/>
          </p:nvPr>
        </p:nvSpPr>
        <p:spPr/>
        <p:txBody>
          <a:bodyPr/>
          <a:lstStyle/>
          <a:p>
            <a:r>
              <a:rPr lang="he-IL"/>
              <a:t>שקף לא בתבנית</a:t>
            </a:r>
          </a:p>
          <a:p>
            <a:pPr marL="171450" marR="0" lvl="0" indent="-171450" algn="r" defTabSz="914400" rtl="1" eaLnBrk="1" fontAlgn="auto" latinLnBrk="0" hangingPunct="1">
              <a:lnSpc>
                <a:spcPct val="100000"/>
              </a:lnSpc>
              <a:spcBef>
                <a:spcPts val="0"/>
              </a:spcBef>
              <a:spcAft>
                <a:spcPts val="0"/>
              </a:spcAft>
              <a:buClrTx/>
              <a:buSzTx/>
              <a:buFont typeface="Arial" panose="020B0604020202020204" pitchFamily="34" charset="0"/>
              <a:buChar char="•"/>
              <a:tabLst/>
              <a:defRPr/>
            </a:pPr>
            <a:r>
              <a:rPr lang="he-IL" sz="1200">
                <a:solidFill>
                  <a:schemeClr val="tx1"/>
                </a:solidFill>
                <a:latin typeface="Assistant" pitchFamily="2" charset="-79"/>
                <a:cs typeface="Assistant" pitchFamily="2" charset="-79"/>
              </a:rPr>
              <a:t>ההקנייה תתבצע בתוך גלילה</a:t>
            </a:r>
          </a:p>
          <a:p>
            <a:pPr marL="171450" marR="0" lvl="0" indent="-171450" algn="r" defTabSz="914400" rtl="1" eaLnBrk="1" fontAlgn="auto" latinLnBrk="0" hangingPunct="1">
              <a:lnSpc>
                <a:spcPct val="100000"/>
              </a:lnSpc>
              <a:spcBef>
                <a:spcPts val="0"/>
              </a:spcBef>
              <a:spcAft>
                <a:spcPts val="0"/>
              </a:spcAft>
              <a:buClrTx/>
              <a:buSzTx/>
              <a:buFont typeface="Arial" panose="020B0604020202020204" pitchFamily="34" charset="0"/>
              <a:buChar char="•"/>
              <a:tabLst/>
              <a:defRPr/>
            </a:pPr>
            <a:r>
              <a:rPr lang="he-IL" sz="1200">
                <a:solidFill>
                  <a:schemeClr val="tx1"/>
                </a:solidFill>
                <a:latin typeface="Assistant" pitchFamily="2" charset="-79"/>
                <a:cs typeface="Assistant" pitchFamily="2" charset="-79"/>
              </a:rPr>
              <a:t>כפתור המשך יהיה זמין ללחיצה בתחתית הגלילה </a:t>
            </a:r>
          </a:p>
          <a:p>
            <a:pPr marL="171450" marR="0" lvl="0" indent="-171450" algn="r" defTabSz="914400" rtl="1" eaLnBrk="1" fontAlgn="auto" latinLnBrk="0" hangingPunct="1">
              <a:lnSpc>
                <a:spcPct val="100000"/>
              </a:lnSpc>
              <a:spcBef>
                <a:spcPts val="0"/>
              </a:spcBef>
              <a:spcAft>
                <a:spcPts val="0"/>
              </a:spcAft>
              <a:buClrTx/>
              <a:buSzTx/>
              <a:buFont typeface="Arial" panose="020B0604020202020204" pitchFamily="34" charset="0"/>
              <a:buChar char="•"/>
              <a:tabLst/>
              <a:defRPr/>
            </a:pPr>
            <a:r>
              <a:rPr lang="he-IL" sz="1200">
                <a:solidFill>
                  <a:schemeClr val="tx1"/>
                </a:solidFill>
                <a:latin typeface="Assistant" pitchFamily="2" charset="-79"/>
                <a:cs typeface="Assistant" pitchFamily="2" charset="-79"/>
              </a:rPr>
              <a:t>הנחיות ליישומון בשקף הבא. </a:t>
            </a:r>
            <a:endParaRPr lang="en-IL" sz="1200">
              <a:solidFill>
                <a:schemeClr val="tx1"/>
              </a:solidFill>
              <a:latin typeface="Assistant" pitchFamily="2" charset="-79"/>
              <a:cs typeface="Assistant" pitchFamily="2" charset="-79"/>
            </a:endParaRPr>
          </a:p>
          <a:p>
            <a:pPr marL="171450" indent="-171450">
              <a:buFont typeface="Arial" panose="020B0604020202020204" pitchFamily="34" charset="0"/>
              <a:buChar char="•"/>
            </a:pPr>
            <a:endParaRPr lang="LID4096"/>
          </a:p>
        </p:txBody>
      </p:sp>
      <p:sp>
        <p:nvSpPr>
          <p:cNvPr id="4" name="מציין מיקום של מספר שקופית 3">
            <a:extLst>
              <a:ext uri="{FF2B5EF4-FFF2-40B4-BE49-F238E27FC236}">
                <a16:creationId xmlns:a16="http://schemas.microsoft.com/office/drawing/2014/main" id="{9D2A90EA-AB73-1988-7D4E-E1D9F4A32902}"/>
              </a:ext>
            </a:extLst>
          </p:cNvPr>
          <p:cNvSpPr>
            <a:spLocks noGrp="1"/>
          </p:cNvSpPr>
          <p:nvPr>
            <p:ph type="sldNum" sz="quarter" idx="5"/>
          </p:nvPr>
        </p:nvSpPr>
        <p:spPr/>
        <p:txBody>
          <a:bodyPr/>
          <a:lstStyle/>
          <a:p>
            <a:fld id="{25FC8A2B-14B3-4AB7-B945-4222430686C6}" type="slidenum">
              <a:rPr lang="LID4096" smtClean="0"/>
              <a:t>9</a:t>
            </a:fld>
            <a:endParaRPr lang="LID4096"/>
          </a:p>
        </p:txBody>
      </p:sp>
    </p:spTree>
    <p:extLst>
      <p:ext uri="{BB962C8B-B14F-4D97-AF65-F5344CB8AC3E}">
        <p14:creationId xmlns:p14="http://schemas.microsoft.com/office/powerpoint/2010/main" val="19296541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35E300-87CA-9239-1CF1-A4C35D14D059}"/>
            </a:ext>
          </a:extLst>
        </p:cNvPr>
        <p:cNvGrpSpPr/>
        <p:nvPr/>
      </p:nvGrpSpPr>
      <p:grpSpPr>
        <a:xfrm>
          <a:off x="0" y="0"/>
          <a:ext cx="0" cy="0"/>
          <a:chOff x="0" y="0"/>
          <a:chExt cx="0" cy="0"/>
        </a:xfrm>
      </p:grpSpPr>
      <p:sp>
        <p:nvSpPr>
          <p:cNvPr id="2" name="מציין מיקום של תמונת שקופית 1">
            <a:extLst>
              <a:ext uri="{FF2B5EF4-FFF2-40B4-BE49-F238E27FC236}">
                <a16:creationId xmlns:a16="http://schemas.microsoft.com/office/drawing/2014/main" id="{2A478300-7916-1EC6-1A1A-669EE490991F}"/>
              </a:ext>
            </a:extLst>
          </p:cNvPr>
          <p:cNvSpPr>
            <a:spLocks noGrp="1" noRot="1" noChangeAspect="1"/>
          </p:cNvSpPr>
          <p:nvPr>
            <p:ph type="sldImg"/>
          </p:nvPr>
        </p:nvSpPr>
        <p:spPr/>
      </p:sp>
      <p:sp>
        <p:nvSpPr>
          <p:cNvPr id="3" name="מציין מיקום של הערות 2">
            <a:extLst>
              <a:ext uri="{FF2B5EF4-FFF2-40B4-BE49-F238E27FC236}">
                <a16:creationId xmlns:a16="http://schemas.microsoft.com/office/drawing/2014/main" id="{8DCC34FF-A493-0325-E3D1-414F7069161A}"/>
              </a:ext>
            </a:extLst>
          </p:cNvPr>
          <p:cNvSpPr>
            <a:spLocks noGrp="1"/>
          </p:cNvSpPr>
          <p:nvPr>
            <p:ph type="body" idx="1"/>
          </p:nvPr>
        </p:nvSpPr>
        <p:spPr/>
        <p:txBody>
          <a:bodyPr/>
          <a:lstStyle/>
          <a:p>
            <a:r>
              <a:rPr lang="he-IL"/>
              <a:t>שקף לא בתבנית</a:t>
            </a:r>
          </a:p>
          <a:p>
            <a:pPr marL="171450" marR="0" lvl="0" indent="-171450" algn="r" defTabSz="914400" rtl="1" eaLnBrk="1" fontAlgn="auto" latinLnBrk="0" hangingPunct="1">
              <a:lnSpc>
                <a:spcPct val="100000"/>
              </a:lnSpc>
              <a:spcBef>
                <a:spcPts val="0"/>
              </a:spcBef>
              <a:spcAft>
                <a:spcPts val="0"/>
              </a:spcAft>
              <a:buClrTx/>
              <a:buSzTx/>
              <a:buFont typeface="Arial" panose="020B0604020202020204" pitchFamily="34" charset="0"/>
              <a:buChar char="•"/>
              <a:tabLst/>
              <a:defRPr/>
            </a:pPr>
            <a:r>
              <a:rPr lang="he-IL" sz="1200">
                <a:solidFill>
                  <a:schemeClr val="tx1"/>
                </a:solidFill>
                <a:latin typeface="Assistant" pitchFamily="2" charset="-79"/>
                <a:cs typeface="Assistant" pitchFamily="2" charset="-79"/>
              </a:rPr>
              <a:t>ההקנייה תתבצע בתוך גלילה</a:t>
            </a:r>
          </a:p>
          <a:p>
            <a:pPr marL="171450" marR="0" lvl="0" indent="-171450" algn="r" defTabSz="914400" rtl="1" eaLnBrk="1" fontAlgn="auto" latinLnBrk="0" hangingPunct="1">
              <a:lnSpc>
                <a:spcPct val="100000"/>
              </a:lnSpc>
              <a:spcBef>
                <a:spcPts val="0"/>
              </a:spcBef>
              <a:spcAft>
                <a:spcPts val="0"/>
              </a:spcAft>
              <a:buClrTx/>
              <a:buSzTx/>
              <a:buFont typeface="Arial" panose="020B0604020202020204" pitchFamily="34" charset="0"/>
              <a:buChar char="•"/>
              <a:tabLst/>
              <a:defRPr/>
            </a:pPr>
            <a:r>
              <a:rPr lang="he-IL" sz="1200">
                <a:solidFill>
                  <a:schemeClr val="tx1"/>
                </a:solidFill>
                <a:latin typeface="Assistant" pitchFamily="2" charset="-79"/>
                <a:cs typeface="Assistant" pitchFamily="2" charset="-79"/>
              </a:rPr>
              <a:t>כפתור המשך יהיה זמין ללחיצה בתחתית הגלילה </a:t>
            </a:r>
            <a:endParaRPr lang="en-IL" sz="1200">
              <a:solidFill>
                <a:schemeClr val="tx1"/>
              </a:solidFill>
              <a:latin typeface="Assistant" pitchFamily="2" charset="-79"/>
              <a:cs typeface="Assistant" pitchFamily="2" charset="-79"/>
            </a:endParaRPr>
          </a:p>
          <a:p>
            <a:pPr marL="0" marR="0" lvl="0" indent="0" algn="r" defTabSz="914400" rtl="1" eaLnBrk="1" fontAlgn="auto" latinLnBrk="0" hangingPunct="1">
              <a:lnSpc>
                <a:spcPct val="100000"/>
              </a:lnSpc>
              <a:spcBef>
                <a:spcPts val="0"/>
              </a:spcBef>
              <a:spcAft>
                <a:spcPts val="0"/>
              </a:spcAft>
              <a:buClrTx/>
              <a:buSzTx/>
              <a:buFont typeface="Arial" panose="020B0604020202020204" pitchFamily="34" charset="0"/>
              <a:buNone/>
              <a:tabLst/>
              <a:defRPr/>
            </a:pPr>
            <a:endParaRPr lang="en-IL" sz="1200">
              <a:solidFill>
                <a:schemeClr val="tx1"/>
              </a:solidFill>
              <a:latin typeface="Assistant" pitchFamily="2" charset="-79"/>
              <a:cs typeface="Assistant" pitchFamily="2" charset="-79"/>
            </a:endParaRPr>
          </a:p>
          <a:p>
            <a:pPr marL="171450" marR="0" lvl="0" indent="-171450" algn="r" defTabSz="914400" rtl="1"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IL" sz="1200">
              <a:solidFill>
                <a:schemeClr val="tx1"/>
              </a:solidFill>
              <a:latin typeface="Assistant" pitchFamily="2" charset="-79"/>
              <a:cs typeface="Assistant" pitchFamily="2" charset="-79"/>
            </a:endParaRPr>
          </a:p>
          <a:p>
            <a:pPr marL="171450" indent="-171450">
              <a:buFont typeface="Arial" panose="020B0604020202020204" pitchFamily="34" charset="0"/>
              <a:buChar char="•"/>
            </a:pPr>
            <a:endParaRPr lang="LID4096"/>
          </a:p>
        </p:txBody>
      </p:sp>
      <p:sp>
        <p:nvSpPr>
          <p:cNvPr id="4" name="מציין מיקום של מספר שקופית 3">
            <a:extLst>
              <a:ext uri="{FF2B5EF4-FFF2-40B4-BE49-F238E27FC236}">
                <a16:creationId xmlns:a16="http://schemas.microsoft.com/office/drawing/2014/main" id="{040B8DA5-06F8-CD47-452A-E459E85F6C00}"/>
              </a:ext>
            </a:extLst>
          </p:cNvPr>
          <p:cNvSpPr>
            <a:spLocks noGrp="1"/>
          </p:cNvSpPr>
          <p:nvPr>
            <p:ph type="sldNum" sz="quarter" idx="5"/>
          </p:nvPr>
        </p:nvSpPr>
        <p:spPr/>
        <p:txBody>
          <a:bodyPr/>
          <a:lstStyle/>
          <a:p>
            <a:fld id="{25FC8A2B-14B3-4AB7-B945-4222430686C6}" type="slidenum">
              <a:rPr lang="LID4096" smtClean="0"/>
              <a:t>11</a:t>
            </a:fld>
            <a:endParaRPr lang="LID4096"/>
          </a:p>
        </p:txBody>
      </p:sp>
    </p:spTree>
    <p:extLst>
      <p:ext uri="{BB962C8B-B14F-4D97-AF65-F5344CB8AC3E}">
        <p14:creationId xmlns:p14="http://schemas.microsoft.com/office/powerpoint/2010/main" val="206762131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C5F0CB-CEEE-6BFD-2AD6-E58212132DC1}"/>
            </a:ext>
          </a:extLst>
        </p:cNvPr>
        <p:cNvGrpSpPr/>
        <p:nvPr/>
      </p:nvGrpSpPr>
      <p:grpSpPr>
        <a:xfrm>
          <a:off x="0" y="0"/>
          <a:ext cx="0" cy="0"/>
          <a:chOff x="0" y="0"/>
          <a:chExt cx="0" cy="0"/>
        </a:xfrm>
      </p:grpSpPr>
      <p:sp>
        <p:nvSpPr>
          <p:cNvPr id="2" name="מציין מיקום של תמונת שקופית 1">
            <a:extLst>
              <a:ext uri="{FF2B5EF4-FFF2-40B4-BE49-F238E27FC236}">
                <a16:creationId xmlns:a16="http://schemas.microsoft.com/office/drawing/2014/main" id="{59611613-0B3F-C362-0E1F-AA0F3C95854C}"/>
              </a:ext>
            </a:extLst>
          </p:cNvPr>
          <p:cNvSpPr>
            <a:spLocks noGrp="1" noRot="1" noChangeAspect="1"/>
          </p:cNvSpPr>
          <p:nvPr>
            <p:ph type="sldImg"/>
          </p:nvPr>
        </p:nvSpPr>
        <p:spPr/>
      </p:sp>
      <p:sp>
        <p:nvSpPr>
          <p:cNvPr id="3" name="מציין מיקום של הערות 2">
            <a:extLst>
              <a:ext uri="{FF2B5EF4-FFF2-40B4-BE49-F238E27FC236}">
                <a16:creationId xmlns:a16="http://schemas.microsoft.com/office/drawing/2014/main" id="{88FA90BB-314E-7371-F176-B455D3F1C71F}"/>
              </a:ext>
            </a:extLst>
          </p:cNvPr>
          <p:cNvSpPr>
            <a:spLocks noGrp="1"/>
          </p:cNvSpPr>
          <p:nvPr>
            <p:ph type="body" idx="1"/>
          </p:nvPr>
        </p:nvSpPr>
        <p:spPr/>
        <p:txBody>
          <a:bodyPr/>
          <a:lstStyle/>
          <a:p>
            <a:r>
              <a:rPr lang="he-IL"/>
              <a:t>שקף לא בתבנית</a:t>
            </a:r>
          </a:p>
          <a:p>
            <a:pPr marL="171450" marR="0" lvl="0" indent="-171450" algn="r" defTabSz="914400" rtl="1" eaLnBrk="1" fontAlgn="auto" latinLnBrk="0" hangingPunct="1">
              <a:lnSpc>
                <a:spcPct val="100000"/>
              </a:lnSpc>
              <a:spcBef>
                <a:spcPts val="0"/>
              </a:spcBef>
              <a:spcAft>
                <a:spcPts val="0"/>
              </a:spcAft>
              <a:buClrTx/>
              <a:buSzTx/>
              <a:buFont typeface="Arial" panose="020B0604020202020204" pitchFamily="34" charset="0"/>
              <a:buChar char="•"/>
              <a:tabLst/>
              <a:defRPr/>
            </a:pPr>
            <a:r>
              <a:rPr lang="he-IL" sz="1200">
                <a:solidFill>
                  <a:schemeClr val="tx1"/>
                </a:solidFill>
                <a:latin typeface="Assistant" pitchFamily="2" charset="-79"/>
                <a:cs typeface="Assistant" pitchFamily="2" charset="-79"/>
              </a:rPr>
              <a:t>התמונה עולה יחד עם המשוב</a:t>
            </a:r>
          </a:p>
          <a:p>
            <a:pPr marL="171450" marR="0" lvl="0" indent="-171450" algn="r" defTabSz="914400" rtl="1" eaLnBrk="1" fontAlgn="auto" latinLnBrk="0" hangingPunct="1">
              <a:lnSpc>
                <a:spcPct val="100000"/>
              </a:lnSpc>
              <a:spcBef>
                <a:spcPts val="0"/>
              </a:spcBef>
              <a:spcAft>
                <a:spcPts val="0"/>
              </a:spcAft>
              <a:buClrTx/>
              <a:buSzTx/>
              <a:buFont typeface="Arial" panose="020B0604020202020204" pitchFamily="34" charset="0"/>
              <a:buChar char="•"/>
              <a:tabLst/>
              <a:defRPr/>
            </a:pPr>
            <a:r>
              <a:rPr lang="he-IL" sz="1200">
                <a:solidFill>
                  <a:schemeClr val="tx1"/>
                </a:solidFill>
                <a:latin typeface="Assistant" pitchFamily="2" charset="-79"/>
                <a:cs typeface="Assistant" pitchFamily="2" charset="-79"/>
              </a:rPr>
              <a:t>להחליף עגבניות בצנוניות </a:t>
            </a:r>
          </a:p>
          <a:p>
            <a:pPr marL="171450" marR="0" lvl="0" indent="-171450" algn="r" defTabSz="914400" rtl="1" eaLnBrk="1" fontAlgn="auto" latinLnBrk="0" hangingPunct="1">
              <a:lnSpc>
                <a:spcPct val="100000"/>
              </a:lnSpc>
              <a:spcBef>
                <a:spcPts val="0"/>
              </a:spcBef>
              <a:spcAft>
                <a:spcPts val="0"/>
              </a:spcAft>
              <a:buClrTx/>
              <a:buSzTx/>
              <a:buFont typeface="Arial" panose="020B0604020202020204" pitchFamily="34" charset="0"/>
              <a:buChar char="•"/>
              <a:tabLst/>
              <a:defRPr/>
            </a:pPr>
            <a:r>
              <a:rPr lang="he-IL" sz="1200">
                <a:solidFill>
                  <a:schemeClr val="tx1"/>
                </a:solidFill>
                <a:latin typeface="Assistant" pitchFamily="2" charset="-79"/>
                <a:cs typeface="Assistant" pitchFamily="2" charset="-79"/>
              </a:rPr>
              <a:t>כפתור המשך יהיה זמין ללחיצה בתחתית הגלילה </a:t>
            </a:r>
            <a:endParaRPr lang="en-IL" sz="1200">
              <a:solidFill>
                <a:schemeClr val="tx1"/>
              </a:solidFill>
              <a:latin typeface="Assistant" pitchFamily="2" charset="-79"/>
              <a:cs typeface="Assistant" pitchFamily="2" charset="-79"/>
            </a:endParaRPr>
          </a:p>
          <a:p>
            <a:pPr marL="0" marR="0" lvl="0" indent="0" algn="r" defTabSz="914400" rtl="1" eaLnBrk="1" fontAlgn="auto" latinLnBrk="0" hangingPunct="1">
              <a:lnSpc>
                <a:spcPct val="100000"/>
              </a:lnSpc>
              <a:spcBef>
                <a:spcPts val="0"/>
              </a:spcBef>
              <a:spcAft>
                <a:spcPts val="0"/>
              </a:spcAft>
              <a:buClrTx/>
              <a:buSzTx/>
              <a:buFont typeface="Arial" panose="020B0604020202020204" pitchFamily="34" charset="0"/>
              <a:buNone/>
              <a:tabLst/>
              <a:defRPr/>
            </a:pPr>
            <a:endParaRPr lang="en-IL" sz="1200">
              <a:solidFill>
                <a:schemeClr val="tx1"/>
              </a:solidFill>
              <a:latin typeface="Assistant" pitchFamily="2" charset="-79"/>
              <a:cs typeface="Assistant" pitchFamily="2" charset="-79"/>
            </a:endParaRPr>
          </a:p>
          <a:p>
            <a:pPr marL="171450" marR="0" lvl="0" indent="-171450" algn="r" defTabSz="914400" rtl="1"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IL" sz="1200">
              <a:solidFill>
                <a:schemeClr val="tx1"/>
              </a:solidFill>
              <a:latin typeface="Assistant" pitchFamily="2" charset="-79"/>
              <a:cs typeface="Assistant" pitchFamily="2" charset="-79"/>
            </a:endParaRPr>
          </a:p>
          <a:p>
            <a:pPr marL="171450" indent="-171450">
              <a:buFont typeface="Arial" panose="020B0604020202020204" pitchFamily="34" charset="0"/>
              <a:buChar char="•"/>
            </a:pPr>
            <a:endParaRPr lang="LID4096"/>
          </a:p>
        </p:txBody>
      </p:sp>
      <p:sp>
        <p:nvSpPr>
          <p:cNvPr id="4" name="מציין מיקום של מספר שקופית 3">
            <a:extLst>
              <a:ext uri="{FF2B5EF4-FFF2-40B4-BE49-F238E27FC236}">
                <a16:creationId xmlns:a16="http://schemas.microsoft.com/office/drawing/2014/main" id="{7DE7B918-3B8D-1702-E443-D611E7C00277}"/>
              </a:ext>
            </a:extLst>
          </p:cNvPr>
          <p:cNvSpPr>
            <a:spLocks noGrp="1"/>
          </p:cNvSpPr>
          <p:nvPr>
            <p:ph type="sldNum" sz="quarter" idx="5"/>
          </p:nvPr>
        </p:nvSpPr>
        <p:spPr/>
        <p:txBody>
          <a:bodyPr/>
          <a:lstStyle/>
          <a:p>
            <a:fld id="{25FC8A2B-14B3-4AB7-B945-4222430686C6}" type="slidenum">
              <a:rPr lang="LID4096" smtClean="0"/>
              <a:t>12</a:t>
            </a:fld>
            <a:endParaRPr lang="LID4096"/>
          </a:p>
        </p:txBody>
      </p:sp>
    </p:spTree>
    <p:extLst>
      <p:ext uri="{BB962C8B-B14F-4D97-AF65-F5344CB8AC3E}">
        <p14:creationId xmlns:p14="http://schemas.microsoft.com/office/powerpoint/2010/main" val="403578877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BD75EA-8DC3-80AF-7861-6B380B20FE61}"/>
            </a:ext>
          </a:extLst>
        </p:cNvPr>
        <p:cNvGrpSpPr/>
        <p:nvPr/>
      </p:nvGrpSpPr>
      <p:grpSpPr>
        <a:xfrm>
          <a:off x="0" y="0"/>
          <a:ext cx="0" cy="0"/>
          <a:chOff x="0" y="0"/>
          <a:chExt cx="0" cy="0"/>
        </a:xfrm>
      </p:grpSpPr>
      <p:sp>
        <p:nvSpPr>
          <p:cNvPr id="2" name="מציין מיקום של תמונת שקופית 1">
            <a:extLst>
              <a:ext uri="{FF2B5EF4-FFF2-40B4-BE49-F238E27FC236}">
                <a16:creationId xmlns:a16="http://schemas.microsoft.com/office/drawing/2014/main" id="{B7217708-9080-1B6F-3D13-58009065413B}"/>
              </a:ext>
            </a:extLst>
          </p:cNvPr>
          <p:cNvSpPr>
            <a:spLocks noGrp="1" noRot="1" noChangeAspect="1"/>
          </p:cNvSpPr>
          <p:nvPr>
            <p:ph type="sldImg"/>
          </p:nvPr>
        </p:nvSpPr>
        <p:spPr/>
      </p:sp>
      <p:sp>
        <p:nvSpPr>
          <p:cNvPr id="3" name="מציין מיקום של הערות 2">
            <a:extLst>
              <a:ext uri="{FF2B5EF4-FFF2-40B4-BE49-F238E27FC236}">
                <a16:creationId xmlns:a16="http://schemas.microsoft.com/office/drawing/2014/main" id="{0A3E12C5-9AC7-C109-2774-B153C3B378A4}"/>
              </a:ext>
            </a:extLst>
          </p:cNvPr>
          <p:cNvSpPr>
            <a:spLocks noGrp="1"/>
          </p:cNvSpPr>
          <p:nvPr>
            <p:ph type="body" idx="1"/>
          </p:nvPr>
        </p:nvSpPr>
        <p:spPr/>
        <p:txBody>
          <a:bodyPr/>
          <a:lstStyle/>
          <a:p>
            <a:r>
              <a:rPr lang="he-IL"/>
              <a:t>שקף לא בתבנית</a:t>
            </a:r>
          </a:p>
          <a:p>
            <a:pPr marL="171450" marR="0" lvl="0" indent="-171450" algn="r" defTabSz="914400" rtl="1" eaLnBrk="1" fontAlgn="auto" latinLnBrk="0" hangingPunct="1">
              <a:lnSpc>
                <a:spcPct val="100000"/>
              </a:lnSpc>
              <a:spcBef>
                <a:spcPts val="0"/>
              </a:spcBef>
              <a:spcAft>
                <a:spcPts val="0"/>
              </a:spcAft>
              <a:buClrTx/>
              <a:buSzTx/>
              <a:buFont typeface="Arial" panose="020B0604020202020204" pitchFamily="34" charset="0"/>
              <a:buChar char="•"/>
              <a:tabLst/>
              <a:defRPr/>
            </a:pPr>
            <a:r>
              <a:rPr lang="he-IL" sz="1200">
                <a:solidFill>
                  <a:schemeClr val="tx1"/>
                </a:solidFill>
                <a:latin typeface="Assistant" pitchFamily="2" charset="-79"/>
                <a:cs typeface="Assistant" pitchFamily="2" charset="-79"/>
              </a:rPr>
              <a:t>ההקנייה תתבצע בתוך גלילה</a:t>
            </a:r>
          </a:p>
          <a:p>
            <a:pPr marL="171450" marR="0" lvl="0" indent="-171450" algn="r" defTabSz="914400" rtl="1" eaLnBrk="1" fontAlgn="auto" latinLnBrk="0" hangingPunct="1">
              <a:lnSpc>
                <a:spcPct val="100000"/>
              </a:lnSpc>
              <a:spcBef>
                <a:spcPts val="0"/>
              </a:spcBef>
              <a:spcAft>
                <a:spcPts val="0"/>
              </a:spcAft>
              <a:buClrTx/>
              <a:buSzTx/>
              <a:buFont typeface="Arial" panose="020B0604020202020204" pitchFamily="34" charset="0"/>
              <a:buChar char="•"/>
              <a:tabLst/>
              <a:defRPr/>
            </a:pPr>
            <a:r>
              <a:rPr lang="he-IL" sz="1200">
                <a:solidFill>
                  <a:schemeClr val="tx1"/>
                </a:solidFill>
                <a:latin typeface="Assistant" pitchFamily="2" charset="-79"/>
                <a:cs typeface="Assistant" pitchFamily="2" charset="-79"/>
              </a:rPr>
              <a:t>כפתור המשך יהיה זמין ללחיצה בתחתית הגלילה </a:t>
            </a:r>
          </a:p>
          <a:p>
            <a:pPr marL="171450" marR="0" lvl="0" indent="-171450" algn="r" defTabSz="914400" rtl="1"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IL" sz="1200">
              <a:solidFill>
                <a:schemeClr val="tx1"/>
              </a:solidFill>
              <a:latin typeface="Assistant" pitchFamily="2" charset="-79"/>
              <a:cs typeface="Assistant" pitchFamily="2" charset="-79"/>
            </a:endParaRPr>
          </a:p>
          <a:p>
            <a:pPr marL="0" marR="0" lvl="0" indent="0" algn="r" defTabSz="914400" rtl="1" eaLnBrk="1" fontAlgn="auto" latinLnBrk="0" hangingPunct="1">
              <a:lnSpc>
                <a:spcPct val="100000"/>
              </a:lnSpc>
              <a:spcBef>
                <a:spcPts val="0"/>
              </a:spcBef>
              <a:spcAft>
                <a:spcPts val="0"/>
              </a:spcAft>
              <a:buClrTx/>
              <a:buSzTx/>
              <a:buFont typeface="Arial" panose="020B0604020202020204" pitchFamily="34" charset="0"/>
              <a:buNone/>
              <a:tabLst/>
              <a:defRPr/>
            </a:pPr>
            <a:endParaRPr lang="en-IL" sz="1200">
              <a:solidFill>
                <a:schemeClr val="tx1"/>
              </a:solidFill>
              <a:latin typeface="Assistant" pitchFamily="2" charset="-79"/>
              <a:cs typeface="Assistant" pitchFamily="2" charset="-79"/>
            </a:endParaRPr>
          </a:p>
          <a:p>
            <a:pPr marL="171450" marR="0" lvl="0" indent="-171450" algn="r" defTabSz="914400" rtl="1"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IL" sz="1200">
              <a:solidFill>
                <a:schemeClr val="tx1"/>
              </a:solidFill>
              <a:latin typeface="Assistant" pitchFamily="2" charset="-79"/>
              <a:cs typeface="Assistant" pitchFamily="2" charset="-79"/>
            </a:endParaRPr>
          </a:p>
          <a:p>
            <a:pPr marL="171450" indent="-171450">
              <a:buFont typeface="Arial" panose="020B0604020202020204" pitchFamily="34" charset="0"/>
              <a:buChar char="•"/>
            </a:pPr>
            <a:endParaRPr lang="LID4096"/>
          </a:p>
        </p:txBody>
      </p:sp>
      <p:sp>
        <p:nvSpPr>
          <p:cNvPr id="4" name="מציין מיקום של מספר שקופית 3">
            <a:extLst>
              <a:ext uri="{FF2B5EF4-FFF2-40B4-BE49-F238E27FC236}">
                <a16:creationId xmlns:a16="http://schemas.microsoft.com/office/drawing/2014/main" id="{D1241046-1549-B98E-9B26-3D4186D2DA9A}"/>
              </a:ext>
            </a:extLst>
          </p:cNvPr>
          <p:cNvSpPr>
            <a:spLocks noGrp="1"/>
          </p:cNvSpPr>
          <p:nvPr>
            <p:ph type="sldNum" sz="quarter" idx="5"/>
          </p:nvPr>
        </p:nvSpPr>
        <p:spPr/>
        <p:txBody>
          <a:bodyPr/>
          <a:lstStyle/>
          <a:p>
            <a:fld id="{25FC8A2B-14B3-4AB7-B945-4222430686C6}" type="slidenum">
              <a:rPr lang="LID4096" smtClean="0"/>
              <a:t>13</a:t>
            </a:fld>
            <a:endParaRPr lang="LID4096"/>
          </a:p>
        </p:txBody>
      </p:sp>
    </p:spTree>
    <p:extLst>
      <p:ext uri="{BB962C8B-B14F-4D97-AF65-F5344CB8AC3E}">
        <p14:creationId xmlns:p14="http://schemas.microsoft.com/office/powerpoint/2010/main" val="30870585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B89293-D964-3910-C8A9-97275DE49BD4}"/>
            </a:ext>
          </a:extLst>
        </p:cNvPr>
        <p:cNvGrpSpPr/>
        <p:nvPr/>
      </p:nvGrpSpPr>
      <p:grpSpPr>
        <a:xfrm>
          <a:off x="0" y="0"/>
          <a:ext cx="0" cy="0"/>
          <a:chOff x="0" y="0"/>
          <a:chExt cx="0" cy="0"/>
        </a:xfrm>
      </p:grpSpPr>
      <p:sp>
        <p:nvSpPr>
          <p:cNvPr id="2" name="מציין מיקום של תמונת שקופית 1">
            <a:extLst>
              <a:ext uri="{FF2B5EF4-FFF2-40B4-BE49-F238E27FC236}">
                <a16:creationId xmlns:a16="http://schemas.microsoft.com/office/drawing/2014/main" id="{5FE85E54-8BD3-838E-1D59-E7E977C03FEC}"/>
              </a:ext>
            </a:extLst>
          </p:cNvPr>
          <p:cNvSpPr>
            <a:spLocks noGrp="1" noRot="1" noChangeAspect="1"/>
          </p:cNvSpPr>
          <p:nvPr>
            <p:ph type="sldImg"/>
          </p:nvPr>
        </p:nvSpPr>
        <p:spPr/>
      </p:sp>
      <p:sp>
        <p:nvSpPr>
          <p:cNvPr id="3" name="מציין מיקום של הערות 2">
            <a:extLst>
              <a:ext uri="{FF2B5EF4-FFF2-40B4-BE49-F238E27FC236}">
                <a16:creationId xmlns:a16="http://schemas.microsoft.com/office/drawing/2014/main" id="{B45CB8EC-6CA2-E69F-453A-25EE6A84ED18}"/>
              </a:ext>
            </a:extLst>
          </p:cNvPr>
          <p:cNvSpPr>
            <a:spLocks noGrp="1"/>
          </p:cNvSpPr>
          <p:nvPr>
            <p:ph type="body" idx="1"/>
          </p:nvPr>
        </p:nvSpPr>
        <p:spPr/>
        <p:txBody>
          <a:bodyPr/>
          <a:lstStyle/>
          <a:p>
            <a:r>
              <a:rPr lang="he-IL"/>
              <a:t>מסך לא בתבנית. גרור-הדבק. </a:t>
            </a:r>
          </a:p>
          <a:p>
            <a:r>
              <a:rPr lang="he-IL"/>
              <a:t>שני נסיונות מענה. </a:t>
            </a:r>
          </a:p>
          <a:p>
            <a:pPr marL="171450" marR="0" lvl="0" indent="-171450" algn="r" defTabSz="914400" rtl="1" eaLnBrk="1" fontAlgn="auto" latinLnBrk="0" hangingPunct="1">
              <a:lnSpc>
                <a:spcPct val="100000"/>
              </a:lnSpc>
              <a:spcBef>
                <a:spcPts val="0"/>
              </a:spcBef>
              <a:spcAft>
                <a:spcPts val="0"/>
              </a:spcAft>
              <a:buClrTx/>
              <a:buSzTx/>
              <a:buFont typeface="Arial" panose="020B0604020202020204" pitchFamily="34" charset="0"/>
              <a:buChar char="•"/>
              <a:tabLst/>
              <a:defRPr/>
            </a:pPr>
            <a:endParaRPr lang="he-IL" sz="1200">
              <a:solidFill>
                <a:schemeClr val="tx1"/>
              </a:solidFill>
              <a:latin typeface="Assistant" pitchFamily="2" charset="-79"/>
              <a:cs typeface="Assistant" pitchFamily="2" charset="-79"/>
            </a:endParaRPr>
          </a:p>
          <a:p>
            <a:pPr marL="0" marR="0" lvl="0" indent="0" algn="r" defTabSz="914400" rtl="1" eaLnBrk="1" fontAlgn="auto" latinLnBrk="0" hangingPunct="1">
              <a:lnSpc>
                <a:spcPct val="100000"/>
              </a:lnSpc>
              <a:spcBef>
                <a:spcPts val="0"/>
              </a:spcBef>
              <a:spcAft>
                <a:spcPts val="0"/>
              </a:spcAft>
              <a:buClrTx/>
              <a:buSzTx/>
              <a:buFont typeface="Arial" panose="020B0604020202020204" pitchFamily="34" charset="0"/>
              <a:buNone/>
              <a:tabLst/>
              <a:defRPr/>
            </a:pPr>
            <a:r>
              <a:rPr lang="he-IL" sz="1200">
                <a:solidFill>
                  <a:schemeClr val="tx1"/>
                </a:solidFill>
                <a:latin typeface="Assistant" pitchFamily="2" charset="-79"/>
                <a:cs typeface="Assistant" pitchFamily="2" charset="-79"/>
              </a:rPr>
              <a:t>תשובות נכונות: </a:t>
            </a:r>
          </a:p>
          <a:p>
            <a:pPr marL="0" marR="0" lvl="0" indent="0" algn="r" defTabSz="914400" rtl="1" eaLnBrk="1" fontAlgn="auto" latinLnBrk="0" hangingPunct="1">
              <a:lnSpc>
                <a:spcPct val="100000"/>
              </a:lnSpc>
              <a:spcBef>
                <a:spcPts val="0"/>
              </a:spcBef>
              <a:spcAft>
                <a:spcPts val="0"/>
              </a:spcAft>
              <a:buClrTx/>
              <a:buSzTx/>
              <a:buFont typeface="Arial" panose="020B0604020202020204" pitchFamily="34" charset="0"/>
              <a:buNone/>
              <a:tabLst/>
              <a:defRPr/>
            </a:pPr>
            <a:endParaRPr lang="he-IL" sz="1200">
              <a:solidFill>
                <a:schemeClr val="tx1"/>
              </a:solidFill>
              <a:latin typeface="Assistant" pitchFamily="2" charset="-79"/>
              <a:cs typeface="Assistant" pitchFamily="2" charset="-79"/>
            </a:endParaRPr>
          </a:p>
          <a:p>
            <a:pPr marL="0" marR="0" lvl="0" indent="0" algn="r" defTabSz="914400" rtl="1" eaLnBrk="1" fontAlgn="auto" latinLnBrk="0" hangingPunct="1">
              <a:lnSpc>
                <a:spcPct val="100000"/>
              </a:lnSpc>
              <a:spcBef>
                <a:spcPts val="0"/>
              </a:spcBef>
              <a:spcAft>
                <a:spcPts val="0"/>
              </a:spcAft>
              <a:buClrTx/>
              <a:buSzTx/>
              <a:buFont typeface="Arial" panose="020B0604020202020204" pitchFamily="34" charset="0"/>
              <a:buNone/>
              <a:tabLst/>
              <a:defRPr/>
            </a:pPr>
            <a:r>
              <a:rPr lang="he-IL" sz="1200">
                <a:solidFill>
                  <a:schemeClr val="tx1"/>
                </a:solidFill>
                <a:latin typeface="Assistant" pitchFamily="2" charset="-79"/>
                <a:cs typeface="Assistant" pitchFamily="2" charset="-79"/>
              </a:rPr>
              <a:t>4 – החלק הידוע לפי היחס</a:t>
            </a:r>
          </a:p>
          <a:p>
            <a:pPr marL="0" marR="0" lvl="0" indent="0" algn="r" defTabSz="914400" rtl="1" eaLnBrk="1" fontAlgn="auto" latinLnBrk="0" hangingPunct="1">
              <a:lnSpc>
                <a:spcPct val="100000"/>
              </a:lnSpc>
              <a:spcBef>
                <a:spcPts val="0"/>
              </a:spcBef>
              <a:spcAft>
                <a:spcPts val="0"/>
              </a:spcAft>
              <a:buClrTx/>
              <a:buSzTx/>
              <a:buFont typeface="Arial" panose="020B0604020202020204" pitchFamily="34" charset="0"/>
              <a:buNone/>
              <a:tabLst/>
              <a:defRPr/>
            </a:pPr>
            <a:r>
              <a:rPr lang="he-IL" sz="1200">
                <a:solidFill>
                  <a:schemeClr val="tx1"/>
                </a:solidFill>
                <a:latin typeface="Assistant" pitchFamily="2" charset="-79"/>
                <a:cs typeface="Assistant" pitchFamily="2" charset="-79"/>
              </a:rPr>
              <a:t>7 – סך החלקים לפי היחס </a:t>
            </a:r>
          </a:p>
          <a:p>
            <a:pPr marL="0" marR="0" lvl="0" indent="0" algn="r" defTabSz="914400" rtl="1" eaLnBrk="1" fontAlgn="auto" latinLnBrk="0" hangingPunct="1">
              <a:lnSpc>
                <a:spcPct val="100000"/>
              </a:lnSpc>
              <a:spcBef>
                <a:spcPts val="0"/>
              </a:spcBef>
              <a:spcAft>
                <a:spcPts val="0"/>
              </a:spcAft>
              <a:buClrTx/>
              <a:buSzTx/>
              <a:buFont typeface="Arial" panose="020B0604020202020204" pitchFamily="34" charset="0"/>
              <a:buNone/>
              <a:tabLst/>
              <a:defRPr/>
            </a:pPr>
            <a:r>
              <a:rPr lang="he-IL" sz="1200">
                <a:solidFill>
                  <a:schemeClr val="tx1"/>
                </a:solidFill>
                <a:latin typeface="Assistant" pitchFamily="2" charset="-79"/>
                <a:cs typeface="Assistant" pitchFamily="2" charset="-79"/>
              </a:rPr>
              <a:t>70 – גודל הקבוצה</a:t>
            </a:r>
          </a:p>
          <a:p>
            <a:pPr marL="0" marR="0" lvl="0" indent="0" algn="r" defTabSz="914400" rtl="1" eaLnBrk="1" fontAlgn="auto" latinLnBrk="0" hangingPunct="1">
              <a:lnSpc>
                <a:spcPct val="100000"/>
              </a:lnSpc>
              <a:spcBef>
                <a:spcPts val="0"/>
              </a:spcBef>
              <a:spcAft>
                <a:spcPts val="0"/>
              </a:spcAft>
              <a:buClrTx/>
              <a:buSzTx/>
              <a:buFont typeface="Arial" panose="020B0604020202020204" pitchFamily="34" charset="0"/>
              <a:buNone/>
              <a:tabLst/>
              <a:defRPr/>
            </a:pPr>
            <a:r>
              <a:rPr lang="he-IL" sz="1200">
                <a:solidFill>
                  <a:schemeClr val="tx1"/>
                </a:solidFill>
                <a:latin typeface="Assistant" pitchFamily="2" charset="-79"/>
                <a:cs typeface="Assistant" pitchFamily="2" charset="-79"/>
              </a:rPr>
              <a:t>40 – </a:t>
            </a:r>
            <a:r>
              <a:rPr lang="he-IL" sz="1200" kern="1200">
                <a:solidFill>
                  <a:schemeClr val="tx1"/>
                </a:solidFill>
                <a:effectLst/>
                <a:latin typeface="+mn-lt"/>
                <a:ea typeface="+mn-ea"/>
                <a:cs typeface="+mn-cs"/>
              </a:rPr>
              <a:t>הגודל של החלק הידוע לפי היחס</a:t>
            </a:r>
            <a:br>
              <a:rPr lang="he-IL" sz="1200" kern="1200">
                <a:solidFill>
                  <a:schemeClr val="tx1"/>
                </a:solidFill>
                <a:effectLst/>
                <a:latin typeface="+mn-lt"/>
                <a:ea typeface="+mn-ea"/>
                <a:cs typeface="+mn-cs"/>
              </a:rPr>
            </a:br>
            <a:endParaRPr lang="he-IL" sz="1200">
              <a:solidFill>
                <a:schemeClr val="tx1"/>
              </a:solidFill>
              <a:latin typeface="Assistant" pitchFamily="2" charset="-79"/>
              <a:cs typeface="Assistant" pitchFamily="2" charset="-79"/>
            </a:endParaRPr>
          </a:p>
          <a:p>
            <a:pPr marL="0" marR="0" lvl="0" indent="0" algn="r" defTabSz="914400" rtl="1" eaLnBrk="1" fontAlgn="auto" latinLnBrk="0" hangingPunct="1">
              <a:lnSpc>
                <a:spcPct val="100000"/>
              </a:lnSpc>
              <a:spcBef>
                <a:spcPts val="0"/>
              </a:spcBef>
              <a:spcAft>
                <a:spcPts val="0"/>
              </a:spcAft>
              <a:buClrTx/>
              <a:buSzTx/>
              <a:buFont typeface="Arial" panose="020B0604020202020204" pitchFamily="34" charset="0"/>
              <a:buNone/>
              <a:tabLst/>
              <a:defRPr/>
            </a:pPr>
            <a:endParaRPr lang="en-IL" sz="1200">
              <a:solidFill>
                <a:schemeClr val="tx1"/>
              </a:solidFill>
              <a:latin typeface="Assistant" pitchFamily="2" charset="-79"/>
              <a:cs typeface="Assistant" pitchFamily="2" charset="-79"/>
            </a:endParaRPr>
          </a:p>
          <a:p>
            <a:pPr marL="0" marR="0" lvl="0" indent="0" algn="r" defTabSz="914400" rtl="1" eaLnBrk="1" fontAlgn="auto" latinLnBrk="0" hangingPunct="1">
              <a:lnSpc>
                <a:spcPct val="100000"/>
              </a:lnSpc>
              <a:spcBef>
                <a:spcPts val="0"/>
              </a:spcBef>
              <a:spcAft>
                <a:spcPts val="0"/>
              </a:spcAft>
              <a:buClrTx/>
              <a:buSzTx/>
              <a:buFont typeface="Arial" panose="020B0604020202020204" pitchFamily="34" charset="0"/>
              <a:buNone/>
              <a:tabLst/>
              <a:defRPr/>
            </a:pPr>
            <a:endParaRPr lang="en-IL" sz="1200">
              <a:solidFill>
                <a:schemeClr val="tx1"/>
              </a:solidFill>
              <a:latin typeface="Assistant" pitchFamily="2" charset="-79"/>
              <a:cs typeface="Assistant" pitchFamily="2" charset="-79"/>
            </a:endParaRPr>
          </a:p>
          <a:p>
            <a:pPr marL="171450" marR="0" lvl="0" indent="-171450" algn="r" defTabSz="914400" rtl="1"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IL" sz="1200">
              <a:solidFill>
                <a:schemeClr val="tx1"/>
              </a:solidFill>
              <a:latin typeface="Assistant" pitchFamily="2" charset="-79"/>
              <a:cs typeface="Assistant" pitchFamily="2" charset="-79"/>
            </a:endParaRPr>
          </a:p>
          <a:p>
            <a:pPr marL="171450" indent="-171450">
              <a:buFont typeface="Arial" panose="020B0604020202020204" pitchFamily="34" charset="0"/>
              <a:buChar char="•"/>
            </a:pPr>
            <a:endParaRPr lang="LID4096"/>
          </a:p>
        </p:txBody>
      </p:sp>
      <p:sp>
        <p:nvSpPr>
          <p:cNvPr id="4" name="מציין מיקום של מספר שקופית 3">
            <a:extLst>
              <a:ext uri="{FF2B5EF4-FFF2-40B4-BE49-F238E27FC236}">
                <a16:creationId xmlns:a16="http://schemas.microsoft.com/office/drawing/2014/main" id="{A4C9A93B-F01B-C20A-5378-CBC268D10727}"/>
              </a:ext>
            </a:extLst>
          </p:cNvPr>
          <p:cNvSpPr>
            <a:spLocks noGrp="1"/>
          </p:cNvSpPr>
          <p:nvPr>
            <p:ph type="sldNum" sz="quarter" idx="5"/>
          </p:nvPr>
        </p:nvSpPr>
        <p:spPr/>
        <p:txBody>
          <a:bodyPr/>
          <a:lstStyle/>
          <a:p>
            <a:fld id="{25FC8A2B-14B3-4AB7-B945-4222430686C6}" type="slidenum">
              <a:rPr lang="LID4096" smtClean="0"/>
              <a:t>14</a:t>
            </a:fld>
            <a:endParaRPr lang="LID4096"/>
          </a:p>
        </p:txBody>
      </p:sp>
    </p:spTree>
    <p:extLst>
      <p:ext uri="{BB962C8B-B14F-4D97-AF65-F5344CB8AC3E}">
        <p14:creationId xmlns:p14="http://schemas.microsoft.com/office/powerpoint/2010/main" val="223924032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he-IL"/>
          </a:p>
        </p:txBody>
      </p:sp>
      <p:sp>
        <p:nvSpPr>
          <p:cNvPr id="3" name="Notes Placeholder 2"/>
          <p:cNvSpPr>
            <a:spLocks noGrp="1"/>
          </p:cNvSpPr>
          <p:nvPr>
            <p:ph type="body" idx="1"/>
          </p:nvPr>
        </p:nvSpPr>
        <p:spPr/>
        <p:txBody>
          <a:bodyPr/>
          <a:lstStyle/>
          <a:p>
            <a:r>
              <a:rPr lang="he-IL" b="1"/>
              <a:t>הנחיות הפקה: </a:t>
            </a:r>
          </a:p>
          <a:p>
            <a:pPr marL="171450" indent="-171450">
              <a:buFont typeface="Arial" panose="020B0604020202020204" pitchFamily="34" charset="0"/>
              <a:buChar char="•"/>
            </a:pPr>
            <a:r>
              <a:rPr lang="he-IL" b="1"/>
              <a:t>מסך הזנקה לתרגול מונחה</a:t>
            </a:r>
          </a:p>
          <a:p>
            <a:pPr marL="171450" indent="-171450">
              <a:buFont typeface="Arial" panose="020B0604020202020204" pitchFamily="34" charset="0"/>
              <a:buChar char="•"/>
            </a:pPr>
            <a:r>
              <a:rPr lang="he-IL"/>
              <a:t>שם המסך בפיגמה: </a:t>
            </a:r>
            <a:r>
              <a:rPr lang="en-US" sz="1200" kern="1200" err="1">
                <a:solidFill>
                  <a:schemeClr val="tx1"/>
                </a:solidFill>
                <a:effectLst/>
                <a:latin typeface="+mn-lt"/>
                <a:ea typeface="+mn-ea"/>
                <a:cs typeface="+mn-cs"/>
              </a:rPr>
              <a:t>TransitionScreen</a:t>
            </a:r>
            <a:endParaRPr lang="he-IL" sz="1200" kern="1200">
              <a:solidFill>
                <a:schemeClr val="tx1"/>
              </a:solidFill>
              <a:effectLst/>
              <a:latin typeface="+mn-lt"/>
              <a:ea typeface="+mn-ea"/>
              <a:cs typeface="+mn-cs"/>
            </a:endParaRPr>
          </a:p>
          <a:p>
            <a:pPr marL="171450" indent="-171450">
              <a:buFont typeface="Arial" panose="020B0604020202020204" pitchFamily="34" charset="0"/>
              <a:buChar char="•"/>
            </a:pPr>
            <a:r>
              <a:rPr lang="he-IL" sz="1200" kern="1200">
                <a:solidFill>
                  <a:schemeClr val="tx1"/>
                </a:solidFill>
                <a:effectLst/>
                <a:latin typeface="+mn-lt"/>
                <a:ea typeface="+mn-ea"/>
                <a:cs typeface="+mn-cs"/>
              </a:rPr>
              <a:t>שתי הדמויות אוחזות יד ביד </a:t>
            </a:r>
            <a:endParaRPr lang="he-IL"/>
          </a:p>
          <a:p>
            <a:endParaRPr lang="he-IL"/>
          </a:p>
        </p:txBody>
      </p:sp>
      <p:sp>
        <p:nvSpPr>
          <p:cNvPr id="4" name="Slide Number Placeholder 3"/>
          <p:cNvSpPr>
            <a:spLocks noGrp="1"/>
          </p:cNvSpPr>
          <p:nvPr>
            <p:ph type="sldNum" sz="quarter" idx="5"/>
          </p:nvPr>
        </p:nvSpPr>
        <p:spPr/>
        <p:txBody>
          <a:bodyPr/>
          <a:lstStyle/>
          <a:p>
            <a:fld id="{25FC8A2B-14B3-4AB7-B945-4222430686C6}" type="slidenum">
              <a:rPr lang="LID4096" smtClean="0"/>
              <a:t>15</a:t>
            </a:fld>
            <a:endParaRPr lang="LID4096"/>
          </a:p>
        </p:txBody>
      </p:sp>
    </p:spTree>
    <p:extLst>
      <p:ext uri="{BB962C8B-B14F-4D97-AF65-F5344CB8AC3E}">
        <p14:creationId xmlns:p14="http://schemas.microsoft.com/office/powerpoint/2010/main" val="331824734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0AAD57-6FA8-67E2-63AF-BC572A552B94}"/>
            </a:ext>
          </a:extLst>
        </p:cNvPr>
        <p:cNvGrpSpPr/>
        <p:nvPr/>
      </p:nvGrpSpPr>
      <p:grpSpPr>
        <a:xfrm>
          <a:off x="0" y="0"/>
          <a:ext cx="0" cy="0"/>
          <a:chOff x="0" y="0"/>
          <a:chExt cx="0" cy="0"/>
        </a:xfrm>
      </p:grpSpPr>
      <p:sp>
        <p:nvSpPr>
          <p:cNvPr id="2" name="מציין מיקום של תמונת שקופית 1">
            <a:extLst>
              <a:ext uri="{FF2B5EF4-FFF2-40B4-BE49-F238E27FC236}">
                <a16:creationId xmlns:a16="http://schemas.microsoft.com/office/drawing/2014/main" id="{5EE7F9C7-CF8B-762D-759B-EC45CE2469DB}"/>
              </a:ext>
            </a:extLst>
          </p:cNvPr>
          <p:cNvSpPr>
            <a:spLocks noGrp="1" noRot="1" noChangeAspect="1"/>
          </p:cNvSpPr>
          <p:nvPr>
            <p:ph type="sldImg"/>
          </p:nvPr>
        </p:nvSpPr>
        <p:spPr/>
        <p:txBody>
          <a:bodyPr/>
          <a:lstStyle/>
          <a:p>
            <a:endParaRPr lang="he-IL"/>
          </a:p>
        </p:txBody>
      </p:sp>
      <p:sp>
        <p:nvSpPr>
          <p:cNvPr id="3" name="מציין מיקום של הערות 2">
            <a:extLst>
              <a:ext uri="{FF2B5EF4-FFF2-40B4-BE49-F238E27FC236}">
                <a16:creationId xmlns:a16="http://schemas.microsoft.com/office/drawing/2014/main" id="{28638CE9-9D87-94D1-7315-94B04AC8F8B6}"/>
              </a:ext>
            </a:extLst>
          </p:cNvPr>
          <p:cNvSpPr>
            <a:spLocks noGrp="1"/>
          </p:cNvSpPr>
          <p:nvPr>
            <p:ph type="body" idx="1"/>
          </p:nvPr>
        </p:nvSpPr>
        <p:spPr/>
        <p:txBody>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lang="he-IL"/>
              <a:t>שקף לא בתבנית</a:t>
            </a:r>
            <a:endParaRPr lang="he-IL">
              <a:solidFill>
                <a:schemeClr val="tx1"/>
              </a:solidFill>
            </a:endParaRPr>
          </a:p>
        </p:txBody>
      </p:sp>
      <p:sp>
        <p:nvSpPr>
          <p:cNvPr id="4" name="מציין מיקום של מספר שקופית 3">
            <a:extLst>
              <a:ext uri="{FF2B5EF4-FFF2-40B4-BE49-F238E27FC236}">
                <a16:creationId xmlns:a16="http://schemas.microsoft.com/office/drawing/2014/main" id="{F207C73C-009C-3F8C-ACEB-4BD2A353FD2B}"/>
              </a:ext>
            </a:extLst>
          </p:cNvPr>
          <p:cNvSpPr>
            <a:spLocks noGrp="1"/>
          </p:cNvSpPr>
          <p:nvPr>
            <p:ph type="sldNum" sz="quarter" idx="5"/>
          </p:nvPr>
        </p:nvSpPr>
        <p:spPr/>
        <p:txBody>
          <a:bodyPr/>
          <a:lstStyle/>
          <a:p>
            <a:fld id="{25FC8A2B-14B3-4AB7-B945-4222430686C6}" type="slidenum">
              <a:rPr lang="LID4096" smtClean="0"/>
              <a:t>16</a:t>
            </a:fld>
            <a:endParaRPr lang="LID4096"/>
          </a:p>
        </p:txBody>
      </p:sp>
    </p:spTree>
    <p:extLst>
      <p:ext uri="{BB962C8B-B14F-4D97-AF65-F5344CB8AC3E}">
        <p14:creationId xmlns:p14="http://schemas.microsoft.com/office/powerpoint/2010/main" val="113310928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5B3D44-C282-8FB1-D445-E655E4FADEE3}"/>
            </a:ext>
          </a:extLst>
        </p:cNvPr>
        <p:cNvGrpSpPr/>
        <p:nvPr/>
      </p:nvGrpSpPr>
      <p:grpSpPr>
        <a:xfrm>
          <a:off x="0" y="0"/>
          <a:ext cx="0" cy="0"/>
          <a:chOff x="0" y="0"/>
          <a:chExt cx="0" cy="0"/>
        </a:xfrm>
      </p:grpSpPr>
      <p:sp>
        <p:nvSpPr>
          <p:cNvPr id="2" name="מציין מיקום של תמונת שקופית 1">
            <a:extLst>
              <a:ext uri="{FF2B5EF4-FFF2-40B4-BE49-F238E27FC236}">
                <a16:creationId xmlns:a16="http://schemas.microsoft.com/office/drawing/2014/main" id="{3DCBF32C-3869-ECF1-F9FF-71CD248A65C7}"/>
              </a:ext>
            </a:extLst>
          </p:cNvPr>
          <p:cNvSpPr>
            <a:spLocks noGrp="1" noRot="1" noChangeAspect="1"/>
          </p:cNvSpPr>
          <p:nvPr>
            <p:ph type="sldImg"/>
          </p:nvPr>
        </p:nvSpPr>
        <p:spPr/>
        <p:txBody>
          <a:bodyPr/>
          <a:lstStyle/>
          <a:p>
            <a:endParaRPr lang="he-IL"/>
          </a:p>
        </p:txBody>
      </p:sp>
      <p:sp>
        <p:nvSpPr>
          <p:cNvPr id="3" name="מציין מיקום של הערות 2">
            <a:extLst>
              <a:ext uri="{FF2B5EF4-FFF2-40B4-BE49-F238E27FC236}">
                <a16:creationId xmlns:a16="http://schemas.microsoft.com/office/drawing/2014/main" id="{09918DE6-5EE4-D4FC-E251-AC4D022CFCAB}"/>
              </a:ext>
            </a:extLst>
          </p:cNvPr>
          <p:cNvSpPr>
            <a:spLocks noGrp="1"/>
          </p:cNvSpPr>
          <p:nvPr>
            <p:ph type="body" idx="1"/>
          </p:nvPr>
        </p:nvSpPr>
        <p:spPr/>
        <p:txBody>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lang="he-IL"/>
              <a:t>שקף לא בתבנית</a:t>
            </a:r>
            <a:endParaRPr lang="he-IL">
              <a:solidFill>
                <a:schemeClr val="tx1"/>
              </a:solidFill>
            </a:endParaRPr>
          </a:p>
        </p:txBody>
      </p:sp>
      <p:sp>
        <p:nvSpPr>
          <p:cNvPr id="4" name="מציין מיקום של מספר שקופית 3">
            <a:extLst>
              <a:ext uri="{FF2B5EF4-FFF2-40B4-BE49-F238E27FC236}">
                <a16:creationId xmlns:a16="http://schemas.microsoft.com/office/drawing/2014/main" id="{09A7F4EC-18C1-A183-0FB8-12A48639B1D3}"/>
              </a:ext>
            </a:extLst>
          </p:cNvPr>
          <p:cNvSpPr>
            <a:spLocks noGrp="1"/>
          </p:cNvSpPr>
          <p:nvPr>
            <p:ph type="sldNum" sz="quarter" idx="5"/>
          </p:nvPr>
        </p:nvSpPr>
        <p:spPr/>
        <p:txBody>
          <a:bodyPr/>
          <a:lstStyle/>
          <a:p>
            <a:fld id="{25FC8A2B-14B3-4AB7-B945-4222430686C6}" type="slidenum">
              <a:rPr lang="LID4096" smtClean="0"/>
              <a:t>17</a:t>
            </a:fld>
            <a:endParaRPr lang="LID4096"/>
          </a:p>
        </p:txBody>
      </p:sp>
    </p:spTree>
    <p:extLst>
      <p:ext uri="{BB962C8B-B14F-4D97-AF65-F5344CB8AC3E}">
        <p14:creationId xmlns:p14="http://schemas.microsoft.com/office/powerpoint/2010/main" val="113617282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B2A33A-2E97-81A2-768D-EE528DBF6800}"/>
            </a:ext>
          </a:extLst>
        </p:cNvPr>
        <p:cNvGrpSpPr/>
        <p:nvPr/>
      </p:nvGrpSpPr>
      <p:grpSpPr>
        <a:xfrm>
          <a:off x="0" y="0"/>
          <a:ext cx="0" cy="0"/>
          <a:chOff x="0" y="0"/>
          <a:chExt cx="0" cy="0"/>
        </a:xfrm>
      </p:grpSpPr>
      <p:sp>
        <p:nvSpPr>
          <p:cNvPr id="2" name="מציין מיקום של תמונת שקופית 1">
            <a:extLst>
              <a:ext uri="{FF2B5EF4-FFF2-40B4-BE49-F238E27FC236}">
                <a16:creationId xmlns:a16="http://schemas.microsoft.com/office/drawing/2014/main" id="{931B275C-26E1-95C6-70DE-10C1D05B8AA1}"/>
              </a:ext>
            </a:extLst>
          </p:cNvPr>
          <p:cNvSpPr>
            <a:spLocks noGrp="1" noRot="1" noChangeAspect="1"/>
          </p:cNvSpPr>
          <p:nvPr>
            <p:ph type="sldImg"/>
          </p:nvPr>
        </p:nvSpPr>
        <p:spPr/>
        <p:txBody>
          <a:bodyPr/>
          <a:lstStyle/>
          <a:p>
            <a:endParaRPr lang="he-IL"/>
          </a:p>
        </p:txBody>
      </p:sp>
      <p:sp>
        <p:nvSpPr>
          <p:cNvPr id="3" name="מציין מיקום של הערות 2">
            <a:extLst>
              <a:ext uri="{FF2B5EF4-FFF2-40B4-BE49-F238E27FC236}">
                <a16:creationId xmlns:a16="http://schemas.microsoft.com/office/drawing/2014/main" id="{3EC042BF-ADFC-5CD0-29BE-F10C25FE671D}"/>
              </a:ext>
            </a:extLst>
          </p:cNvPr>
          <p:cNvSpPr>
            <a:spLocks noGrp="1"/>
          </p:cNvSpPr>
          <p:nvPr>
            <p:ph type="body" idx="1"/>
          </p:nvPr>
        </p:nvSpPr>
        <p:spPr/>
        <p:txBody>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lang="he-IL"/>
              <a:t>שקף לא בתבנית</a:t>
            </a:r>
            <a:endParaRPr lang="he-IL">
              <a:solidFill>
                <a:schemeClr val="tx1"/>
              </a:solidFill>
            </a:endParaRPr>
          </a:p>
        </p:txBody>
      </p:sp>
      <p:sp>
        <p:nvSpPr>
          <p:cNvPr id="4" name="מציין מיקום של מספר שקופית 3">
            <a:extLst>
              <a:ext uri="{FF2B5EF4-FFF2-40B4-BE49-F238E27FC236}">
                <a16:creationId xmlns:a16="http://schemas.microsoft.com/office/drawing/2014/main" id="{8D7CB1F3-9BA4-C3DA-916A-64A1F3E81E9E}"/>
              </a:ext>
            </a:extLst>
          </p:cNvPr>
          <p:cNvSpPr>
            <a:spLocks noGrp="1"/>
          </p:cNvSpPr>
          <p:nvPr>
            <p:ph type="sldNum" sz="quarter" idx="5"/>
          </p:nvPr>
        </p:nvSpPr>
        <p:spPr/>
        <p:txBody>
          <a:bodyPr/>
          <a:lstStyle/>
          <a:p>
            <a:fld id="{25FC8A2B-14B3-4AB7-B945-4222430686C6}" type="slidenum">
              <a:rPr lang="LID4096" smtClean="0"/>
              <a:t>18</a:t>
            </a:fld>
            <a:endParaRPr lang="LID4096"/>
          </a:p>
        </p:txBody>
      </p:sp>
    </p:spTree>
    <p:extLst>
      <p:ext uri="{BB962C8B-B14F-4D97-AF65-F5344CB8AC3E}">
        <p14:creationId xmlns:p14="http://schemas.microsoft.com/office/powerpoint/2010/main" val="392490106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C22C41-2165-9488-CE8E-2F58E66D9EF4}"/>
            </a:ext>
          </a:extLst>
        </p:cNvPr>
        <p:cNvGrpSpPr/>
        <p:nvPr/>
      </p:nvGrpSpPr>
      <p:grpSpPr>
        <a:xfrm>
          <a:off x="0" y="0"/>
          <a:ext cx="0" cy="0"/>
          <a:chOff x="0" y="0"/>
          <a:chExt cx="0" cy="0"/>
        </a:xfrm>
      </p:grpSpPr>
      <p:sp>
        <p:nvSpPr>
          <p:cNvPr id="2" name="מציין מיקום של תמונת שקופית 1">
            <a:extLst>
              <a:ext uri="{FF2B5EF4-FFF2-40B4-BE49-F238E27FC236}">
                <a16:creationId xmlns:a16="http://schemas.microsoft.com/office/drawing/2014/main" id="{FA113376-B373-B85B-BA5F-D2C6CB4F4F44}"/>
              </a:ext>
            </a:extLst>
          </p:cNvPr>
          <p:cNvSpPr>
            <a:spLocks noGrp="1" noRot="1" noChangeAspect="1"/>
          </p:cNvSpPr>
          <p:nvPr>
            <p:ph type="sldImg"/>
          </p:nvPr>
        </p:nvSpPr>
        <p:spPr/>
        <p:txBody>
          <a:bodyPr/>
          <a:lstStyle/>
          <a:p>
            <a:endParaRPr lang="he-IL"/>
          </a:p>
        </p:txBody>
      </p:sp>
      <p:sp>
        <p:nvSpPr>
          <p:cNvPr id="3" name="מציין מיקום של הערות 2">
            <a:extLst>
              <a:ext uri="{FF2B5EF4-FFF2-40B4-BE49-F238E27FC236}">
                <a16:creationId xmlns:a16="http://schemas.microsoft.com/office/drawing/2014/main" id="{80526566-CD56-FB1F-6A53-4B82040D5C13}"/>
              </a:ext>
            </a:extLst>
          </p:cNvPr>
          <p:cNvSpPr>
            <a:spLocks noGrp="1"/>
          </p:cNvSpPr>
          <p:nvPr>
            <p:ph type="body" idx="1"/>
          </p:nvPr>
        </p:nvSpPr>
        <p:spPr/>
        <p:txBody>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lang="he-IL"/>
              <a:t>שקף לא בתבנית</a:t>
            </a:r>
            <a:endParaRPr lang="he-IL">
              <a:solidFill>
                <a:schemeClr val="tx1"/>
              </a:solidFill>
            </a:endParaRPr>
          </a:p>
        </p:txBody>
      </p:sp>
      <p:sp>
        <p:nvSpPr>
          <p:cNvPr id="4" name="מציין מיקום של מספר שקופית 3">
            <a:extLst>
              <a:ext uri="{FF2B5EF4-FFF2-40B4-BE49-F238E27FC236}">
                <a16:creationId xmlns:a16="http://schemas.microsoft.com/office/drawing/2014/main" id="{4449900C-5A96-30C5-0F6A-6129290C9379}"/>
              </a:ext>
            </a:extLst>
          </p:cNvPr>
          <p:cNvSpPr>
            <a:spLocks noGrp="1"/>
          </p:cNvSpPr>
          <p:nvPr>
            <p:ph type="sldNum" sz="quarter" idx="5"/>
          </p:nvPr>
        </p:nvSpPr>
        <p:spPr/>
        <p:txBody>
          <a:bodyPr/>
          <a:lstStyle/>
          <a:p>
            <a:fld id="{25FC8A2B-14B3-4AB7-B945-4222430686C6}" type="slidenum">
              <a:rPr lang="LID4096" smtClean="0"/>
              <a:t>19</a:t>
            </a:fld>
            <a:endParaRPr lang="LID4096"/>
          </a:p>
        </p:txBody>
      </p:sp>
    </p:spTree>
    <p:extLst>
      <p:ext uri="{BB962C8B-B14F-4D97-AF65-F5344CB8AC3E}">
        <p14:creationId xmlns:p14="http://schemas.microsoft.com/office/powerpoint/2010/main" val="113916098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2EF0E8-DB57-1A26-7BA3-1760C70BA6EC}"/>
            </a:ext>
          </a:extLst>
        </p:cNvPr>
        <p:cNvGrpSpPr/>
        <p:nvPr/>
      </p:nvGrpSpPr>
      <p:grpSpPr>
        <a:xfrm>
          <a:off x="0" y="0"/>
          <a:ext cx="0" cy="0"/>
          <a:chOff x="0" y="0"/>
          <a:chExt cx="0" cy="0"/>
        </a:xfrm>
      </p:grpSpPr>
      <p:sp>
        <p:nvSpPr>
          <p:cNvPr id="2" name="מציין מיקום של תמונת שקופית 1">
            <a:extLst>
              <a:ext uri="{FF2B5EF4-FFF2-40B4-BE49-F238E27FC236}">
                <a16:creationId xmlns:a16="http://schemas.microsoft.com/office/drawing/2014/main" id="{DD0859B4-0F60-E350-7F8D-1749E0280011}"/>
              </a:ext>
            </a:extLst>
          </p:cNvPr>
          <p:cNvSpPr>
            <a:spLocks noGrp="1" noRot="1" noChangeAspect="1"/>
          </p:cNvSpPr>
          <p:nvPr>
            <p:ph type="sldImg"/>
          </p:nvPr>
        </p:nvSpPr>
        <p:spPr/>
        <p:txBody>
          <a:bodyPr/>
          <a:lstStyle/>
          <a:p>
            <a:endParaRPr lang="he-IL"/>
          </a:p>
        </p:txBody>
      </p:sp>
      <p:sp>
        <p:nvSpPr>
          <p:cNvPr id="3" name="מציין מיקום של הערות 2">
            <a:extLst>
              <a:ext uri="{FF2B5EF4-FFF2-40B4-BE49-F238E27FC236}">
                <a16:creationId xmlns:a16="http://schemas.microsoft.com/office/drawing/2014/main" id="{89E28CF9-D1A4-A520-174A-A24AF0C77F7D}"/>
              </a:ext>
            </a:extLst>
          </p:cNvPr>
          <p:cNvSpPr>
            <a:spLocks noGrp="1"/>
          </p:cNvSpPr>
          <p:nvPr>
            <p:ph type="body" idx="1"/>
          </p:nvPr>
        </p:nvSpPr>
        <p:spPr/>
        <p:txBody>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lang="he-IL"/>
              <a:t>שקף לא בתבנית</a:t>
            </a:r>
            <a:endParaRPr lang="he-IL">
              <a:solidFill>
                <a:schemeClr val="tx1"/>
              </a:solidFill>
            </a:endParaRPr>
          </a:p>
        </p:txBody>
      </p:sp>
      <p:sp>
        <p:nvSpPr>
          <p:cNvPr id="4" name="מציין מיקום של מספר שקופית 3">
            <a:extLst>
              <a:ext uri="{FF2B5EF4-FFF2-40B4-BE49-F238E27FC236}">
                <a16:creationId xmlns:a16="http://schemas.microsoft.com/office/drawing/2014/main" id="{49EE7D76-614F-5237-7E0C-A356DA915723}"/>
              </a:ext>
            </a:extLst>
          </p:cNvPr>
          <p:cNvSpPr>
            <a:spLocks noGrp="1"/>
          </p:cNvSpPr>
          <p:nvPr>
            <p:ph type="sldNum" sz="quarter" idx="5"/>
          </p:nvPr>
        </p:nvSpPr>
        <p:spPr/>
        <p:txBody>
          <a:bodyPr/>
          <a:lstStyle/>
          <a:p>
            <a:fld id="{25FC8A2B-14B3-4AB7-B945-4222430686C6}" type="slidenum">
              <a:rPr lang="LID4096" smtClean="0"/>
              <a:t>20</a:t>
            </a:fld>
            <a:endParaRPr lang="LID4096"/>
          </a:p>
        </p:txBody>
      </p:sp>
    </p:spTree>
    <p:extLst>
      <p:ext uri="{BB962C8B-B14F-4D97-AF65-F5344CB8AC3E}">
        <p14:creationId xmlns:p14="http://schemas.microsoft.com/office/powerpoint/2010/main" val="11525751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B44D5A-C2B3-C6AF-44F2-6040AFEF48B5}"/>
            </a:ext>
          </a:extLst>
        </p:cNvPr>
        <p:cNvGrpSpPr/>
        <p:nvPr/>
      </p:nvGrpSpPr>
      <p:grpSpPr>
        <a:xfrm>
          <a:off x="0" y="0"/>
          <a:ext cx="0" cy="0"/>
          <a:chOff x="0" y="0"/>
          <a:chExt cx="0" cy="0"/>
        </a:xfrm>
      </p:grpSpPr>
      <p:sp>
        <p:nvSpPr>
          <p:cNvPr id="2" name="מציין מיקום של תמונת שקופית 1">
            <a:extLst>
              <a:ext uri="{FF2B5EF4-FFF2-40B4-BE49-F238E27FC236}">
                <a16:creationId xmlns:a16="http://schemas.microsoft.com/office/drawing/2014/main" id="{300CE5BA-99C0-D11B-1770-33F8E547331C}"/>
              </a:ext>
            </a:extLst>
          </p:cNvPr>
          <p:cNvSpPr>
            <a:spLocks noGrp="1" noRot="1" noChangeAspect="1"/>
          </p:cNvSpPr>
          <p:nvPr>
            <p:ph type="sldImg"/>
          </p:nvPr>
        </p:nvSpPr>
        <p:spPr/>
        <p:txBody>
          <a:bodyPr/>
          <a:lstStyle/>
          <a:p>
            <a:endParaRPr lang="he-IL"/>
          </a:p>
        </p:txBody>
      </p:sp>
      <p:sp>
        <p:nvSpPr>
          <p:cNvPr id="3" name="מציין מיקום של הערות 2">
            <a:extLst>
              <a:ext uri="{FF2B5EF4-FFF2-40B4-BE49-F238E27FC236}">
                <a16:creationId xmlns:a16="http://schemas.microsoft.com/office/drawing/2014/main" id="{DF875F06-0360-9943-3619-28F87A1C0D46}"/>
              </a:ext>
            </a:extLst>
          </p:cNvPr>
          <p:cNvSpPr>
            <a:spLocks noGrp="1"/>
          </p:cNvSpPr>
          <p:nvPr>
            <p:ph type="body" idx="1"/>
          </p:nvPr>
        </p:nvSpPr>
        <p:spPr/>
        <p:txBody>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lang="he-IL"/>
              <a:t>שקף לא בתבנית</a:t>
            </a:r>
            <a:endParaRPr lang="he-IL">
              <a:solidFill>
                <a:schemeClr val="tx1"/>
              </a:solidFill>
            </a:endParaRPr>
          </a:p>
        </p:txBody>
      </p:sp>
      <p:sp>
        <p:nvSpPr>
          <p:cNvPr id="4" name="מציין מיקום של מספר שקופית 3">
            <a:extLst>
              <a:ext uri="{FF2B5EF4-FFF2-40B4-BE49-F238E27FC236}">
                <a16:creationId xmlns:a16="http://schemas.microsoft.com/office/drawing/2014/main" id="{6B1237B5-97DC-C350-1C87-F615A7C97C47}"/>
              </a:ext>
            </a:extLst>
          </p:cNvPr>
          <p:cNvSpPr>
            <a:spLocks noGrp="1"/>
          </p:cNvSpPr>
          <p:nvPr>
            <p:ph type="sldNum" sz="quarter" idx="5"/>
          </p:nvPr>
        </p:nvSpPr>
        <p:spPr/>
        <p:txBody>
          <a:bodyPr/>
          <a:lstStyle/>
          <a:p>
            <a:fld id="{25FC8A2B-14B3-4AB7-B945-4222430686C6}" type="slidenum">
              <a:rPr lang="LID4096" smtClean="0"/>
              <a:t>21</a:t>
            </a:fld>
            <a:endParaRPr lang="LID4096"/>
          </a:p>
        </p:txBody>
      </p:sp>
    </p:spTree>
    <p:extLst>
      <p:ext uri="{BB962C8B-B14F-4D97-AF65-F5344CB8AC3E}">
        <p14:creationId xmlns:p14="http://schemas.microsoft.com/office/powerpoint/2010/main" val="276170312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770B02-AA65-6410-9D2C-EFDA164991D8}"/>
            </a:ext>
          </a:extLst>
        </p:cNvPr>
        <p:cNvGrpSpPr/>
        <p:nvPr/>
      </p:nvGrpSpPr>
      <p:grpSpPr>
        <a:xfrm>
          <a:off x="0" y="0"/>
          <a:ext cx="0" cy="0"/>
          <a:chOff x="0" y="0"/>
          <a:chExt cx="0" cy="0"/>
        </a:xfrm>
      </p:grpSpPr>
      <p:sp>
        <p:nvSpPr>
          <p:cNvPr id="2" name="מציין מיקום של תמונת שקופית 1">
            <a:extLst>
              <a:ext uri="{FF2B5EF4-FFF2-40B4-BE49-F238E27FC236}">
                <a16:creationId xmlns:a16="http://schemas.microsoft.com/office/drawing/2014/main" id="{BDC66F32-2EFF-2F39-F730-823485A02F1F}"/>
              </a:ext>
            </a:extLst>
          </p:cNvPr>
          <p:cNvSpPr>
            <a:spLocks noGrp="1" noRot="1" noChangeAspect="1"/>
          </p:cNvSpPr>
          <p:nvPr>
            <p:ph type="sldImg"/>
          </p:nvPr>
        </p:nvSpPr>
        <p:spPr/>
        <p:txBody>
          <a:bodyPr/>
          <a:lstStyle/>
          <a:p>
            <a:endParaRPr lang="he-IL"/>
          </a:p>
        </p:txBody>
      </p:sp>
      <p:sp>
        <p:nvSpPr>
          <p:cNvPr id="3" name="מציין מיקום של הערות 2">
            <a:extLst>
              <a:ext uri="{FF2B5EF4-FFF2-40B4-BE49-F238E27FC236}">
                <a16:creationId xmlns:a16="http://schemas.microsoft.com/office/drawing/2014/main" id="{D6BD4CAE-DC19-99C5-34F2-C147C6AF1F17}"/>
              </a:ext>
            </a:extLst>
          </p:cNvPr>
          <p:cNvSpPr>
            <a:spLocks noGrp="1"/>
          </p:cNvSpPr>
          <p:nvPr>
            <p:ph type="body" idx="1"/>
          </p:nvPr>
        </p:nvSpPr>
        <p:spPr/>
        <p:txBody>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lang="he-IL"/>
              <a:t>שקף לא בתבנית</a:t>
            </a:r>
            <a:endParaRPr lang="he-IL">
              <a:solidFill>
                <a:schemeClr val="tx1"/>
              </a:solidFill>
            </a:endParaRPr>
          </a:p>
        </p:txBody>
      </p:sp>
      <p:sp>
        <p:nvSpPr>
          <p:cNvPr id="4" name="מציין מיקום של מספר שקופית 3">
            <a:extLst>
              <a:ext uri="{FF2B5EF4-FFF2-40B4-BE49-F238E27FC236}">
                <a16:creationId xmlns:a16="http://schemas.microsoft.com/office/drawing/2014/main" id="{80093EAB-C91F-542E-B7E2-470D4A152891}"/>
              </a:ext>
            </a:extLst>
          </p:cNvPr>
          <p:cNvSpPr>
            <a:spLocks noGrp="1"/>
          </p:cNvSpPr>
          <p:nvPr>
            <p:ph type="sldNum" sz="quarter" idx="5"/>
          </p:nvPr>
        </p:nvSpPr>
        <p:spPr/>
        <p:txBody>
          <a:bodyPr/>
          <a:lstStyle/>
          <a:p>
            <a:fld id="{25FC8A2B-14B3-4AB7-B945-4222430686C6}" type="slidenum">
              <a:rPr lang="LID4096" smtClean="0"/>
              <a:t>22</a:t>
            </a:fld>
            <a:endParaRPr lang="LID4096"/>
          </a:p>
        </p:txBody>
      </p:sp>
    </p:spTree>
    <p:extLst>
      <p:ext uri="{BB962C8B-B14F-4D97-AF65-F5344CB8AC3E}">
        <p14:creationId xmlns:p14="http://schemas.microsoft.com/office/powerpoint/2010/main" val="218974517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he-IL"/>
              <a:t>מסך הזנקה </a:t>
            </a:r>
          </a:p>
          <a:p>
            <a:endParaRPr lang="he-IL"/>
          </a:p>
          <a:p>
            <a:r>
              <a:rPr lang="he-IL" b="1"/>
              <a:t>הנחיות הפקה: </a:t>
            </a:r>
            <a:endParaRPr lang="en-US">
              <a:solidFill>
                <a:srgbClr val="444444"/>
              </a:solidFill>
            </a:endParaRPr>
          </a:p>
          <a:p>
            <a:r>
              <a:rPr lang="he-IL"/>
              <a:t>שם המסך בפיגמה: </a:t>
            </a:r>
            <a:r>
              <a:rPr lang="en-US" err="1"/>
              <a:t>TransitionScreen</a:t>
            </a:r>
            <a:endParaRPr lang="en-US" err="1">
              <a:solidFill>
                <a:srgbClr val="444444"/>
              </a:solidFill>
            </a:endParaRPr>
          </a:p>
          <a:p>
            <a:endParaRPr lang="he-IL"/>
          </a:p>
        </p:txBody>
      </p:sp>
      <p:sp>
        <p:nvSpPr>
          <p:cNvPr id="4" name="Slide Number Placeholder 3"/>
          <p:cNvSpPr>
            <a:spLocks noGrp="1"/>
          </p:cNvSpPr>
          <p:nvPr>
            <p:ph type="sldNum" sz="quarter" idx="5"/>
          </p:nvPr>
        </p:nvSpPr>
        <p:spPr/>
        <p:txBody>
          <a:bodyPr/>
          <a:lstStyle/>
          <a:p>
            <a:fld id="{25FC8A2B-14B3-4AB7-B945-4222430686C6}" type="slidenum">
              <a:rPr lang="LID4096" smtClean="0"/>
              <a:t>23</a:t>
            </a:fld>
            <a:endParaRPr lang="LID4096"/>
          </a:p>
        </p:txBody>
      </p:sp>
    </p:spTree>
    <p:extLst>
      <p:ext uri="{BB962C8B-B14F-4D97-AF65-F5344CB8AC3E}">
        <p14:creationId xmlns:p14="http://schemas.microsoft.com/office/powerpoint/2010/main" val="394198742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של תמונת שקופית 1"/>
          <p:cNvSpPr>
            <a:spLocks noGrp="1" noRot="1" noChangeAspect="1"/>
          </p:cNvSpPr>
          <p:nvPr>
            <p:ph type="sldImg"/>
          </p:nvPr>
        </p:nvSpPr>
        <p:spPr/>
      </p:sp>
      <p:sp>
        <p:nvSpPr>
          <p:cNvPr id="3" name="מציין מיקום של הערות 2"/>
          <p:cNvSpPr>
            <a:spLocks noGrp="1"/>
          </p:cNvSpPr>
          <p:nvPr>
            <p:ph type="body" idx="1"/>
          </p:nvPr>
        </p:nvSpPr>
        <p:spPr/>
        <p:txBody>
          <a:bodyPr/>
          <a:lstStyle/>
          <a:p>
            <a:r>
              <a:rPr lang="he-IL" b="1"/>
              <a:t>הנחיות הפקה: </a:t>
            </a:r>
          </a:p>
          <a:p>
            <a:r>
              <a:rPr lang="he-IL"/>
              <a:t>שם המסך בפיגמה:</a:t>
            </a:r>
            <a:r>
              <a:rPr lang="" sz="1200" kern="1200">
                <a:solidFill>
                  <a:schemeClr val="tx1"/>
                </a:solidFill>
                <a:effectLst/>
                <a:latin typeface="+mn-lt"/>
                <a:ea typeface="+mn-ea"/>
                <a:cs typeface="+mn-cs"/>
              </a:rPr>
              <a:t>ValueInputQuestion</a:t>
            </a:r>
            <a:endParaRPr lang="he-IL" sz="1200" kern="1200">
              <a:solidFill>
                <a:schemeClr val="tx1"/>
              </a:solidFill>
              <a:effectLst/>
              <a:latin typeface="+mn-lt"/>
              <a:ea typeface="+mn-ea"/>
              <a:cs typeface="+mn-cs"/>
            </a:endParaRPr>
          </a:p>
          <a:p>
            <a:r>
              <a:rPr lang="he-IL" sz="1200" kern="1200">
                <a:solidFill>
                  <a:schemeClr val="tx1"/>
                </a:solidFill>
                <a:effectLst/>
                <a:latin typeface="+mn-lt"/>
                <a:ea typeface="+mn-ea"/>
                <a:cs typeface="+mn-cs"/>
              </a:rPr>
              <a:t>תיווך מעבר לתרגול – שאלה 1 מתוך 2</a:t>
            </a:r>
          </a:p>
          <a:p>
            <a:r>
              <a:rPr lang="he-IL" sz="1200" kern="1200">
                <a:solidFill>
                  <a:schemeClr val="tx1"/>
                </a:solidFill>
                <a:effectLst/>
                <a:latin typeface="+mn-lt"/>
                <a:ea typeface="+mn-ea"/>
                <a:cs typeface="+mn-cs"/>
              </a:rPr>
              <a:t>במקרה של טעות – להציג את התשובות הנכונות</a:t>
            </a:r>
          </a:p>
          <a:p>
            <a:r>
              <a:rPr lang="he-IL" sz="1200" kern="1200">
                <a:solidFill>
                  <a:schemeClr val="tx1"/>
                </a:solidFill>
                <a:effectLst/>
                <a:latin typeface="+mn-lt"/>
                <a:ea typeface="+mn-ea"/>
                <a:cs typeface="+mn-cs"/>
              </a:rPr>
              <a:t>השאלה תופיע בגלילה</a:t>
            </a:r>
          </a:p>
          <a:p>
            <a:r>
              <a:rPr lang="he-IL" b="1"/>
              <a:t>הנחיות ליישומון: (תמונה להמחשה, יש להפיק מאפס)</a:t>
            </a:r>
          </a:p>
          <a:p>
            <a:r>
              <a:rPr lang="he-IL" sz="1200" b="0" kern="1200">
                <a:solidFill>
                  <a:schemeClr val="tx1"/>
                </a:solidFill>
                <a:effectLst/>
                <a:latin typeface="+mn-lt"/>
                <a:ea typeface="+mn-ea"/>
                <a:cs typeface="+mn-cs"/>
              </a:rPr>
              <a:t>יישומון שיש בו בקבוקי שתייה משני סוגים (תות ומנגו) וכמות כללית של </a:t>
            </a:r>
            <a:r>
              <a:rPr lang="en-US" sz="1200" b="0" kern="1200">
                <a:solidFill>
                  <a:schemeClr val="tx1"/>
                </a:solidFill>
                <a:effectLst/>
                <a:latin typeface="+mn-lt"/>
                <a:ea typeface="+mn-ea"/>
                <a:cs typeface="+mn-cs"/>
              </a:rPr>
              <a:t>60</a:t>
            </a:r>
            <a:r>
              <a:rPr lang="he-IL" sz="1200" b="0" kern="1200">
                <a:solidFill>
                  <a:schemeClr val="tx1"/>
                </a:solidFill>
                <a:effectLst/>
                <a:latin typeface="+mn-lt"/>
                <a:ea typeface="+mn-ea"/>
                <a:cs typeface="+mn-cs"/>
              </a:rPr>
              <a:t> בקבוקים.</a:t>
            </a:r>
          </a:p>
          <a:p>
            <a:r>
              <a:rPr lang="he-IL" sz="1200" b="0" kern="1200">
                <a:solidFill>
                  <a:schemeClr val="tx1"/>
                </a:solidFill>
                <a:effectLst/>
                <a:latin typeface="+mn-lt"/>
                <a:ea typeface="+mn-ea"/>
                <a:cs typeface="+mn-cs"/>
              </a:rPr>
              <a:t>התלמידים גוררים את הבקבוקים למדפים, היישומון מראה להם כמה גררו מכל סוג וכמה נשאר להם, והם יכולים גם להחזיר ולגרור שוב. </a:t>
            </a:r>
            <a:endParaRPr lang="LID4096" b="0"/>
          </a:p>
        </p:txBody>
      </p:sp>
      <p:sp>
        <p:nvSpPr>
          <p:cNvPr id="4" name="מציין מיקום של מספר שקופית 3"/>
          <p:cNvSpPr>
            <a:spLocks noGrp="1"/>
          </p:cNvSpPr>
          <p:nvPr>
            <p:ph type="sldNum" sz="quarter" idx="5"/>
          </p:nvPr>
        </p:nvSpPr>
        <p:spPr/>
        <p:txBody>
          <a:bodyPr/>
          <a:lstStyle/>
          <a:p>
            <a:fld id="{25FC8A2B-14B3-4AB7-B945-4222430686C6}" type="slidenum">
              <a:rPr lang="LID4096" smtClean="0"/>
              <a:t>24</a:t>
            </a:fld>
            <a:endParaRPr lang="LID4096"/>
          </a:p>
        </p:txBody>
      </p:sp>
    </p:spTree>
    <p:extLst>
      <p:ext uri="{BB962C8B-B14F-4D97-AF65-F5344CB8AC3E}">
        <p14:creationId xmlns:p14="http://schemas.microsoft.com/office/powerpoint/2010/main" val="39086347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DED97D-7DC4-52EE-4734-13783F61088B}"/>
            </a:ext>
          </a:extLst>
        </p:cNvPr>
        <p:cNvGrpSpPr/>
        <p:nvPr/>
      </p:nvGrpSpPr>
      <p:grpSpPr>
        <a:xfrm>
          <a:off x="0" y="0"/>
          <a:ext cx="0" cy="0"/>
          <a:chOff x="0" y="0"/>
          <a:chExt cx="0" cy="0"/>
        </a:xfrm>
      </p:grpSpPr>
      <p:sp>
        <p:nvSpPr>
          <p:cNvPr id="2" name="מציין מיקום של תמונת שקופית 1">
            <a:extLst>
              <a:ext uri="{FF2B5EF4-FFF2-40B4-BE49-F238E27FC236}">
                <a16:creationId xmlns:a16="http://schemas.microsoft.com/office/drawing/2014/main" id="{179D1FB5-5984-6933-9FFC-5FC96C4BDFFF}"/>
              </a:ext>
            </a:extLst>
          </p:cNvPr>
          <p:cNvSpPr>
            <a:spLocks noGrp="1" noRot="1" noChangeAspect="1"/>
          </p:cNvSpPr>
          <p:nvPr>
            <p:ph type="sldImg"/>
          </p:nvPr>
        </p:nvSpPr>
        <p:spPr/>
      </p:sp>
      <p:sp>
        <p:nvSpPr>
          <p:cNvPr id="3" name="מציין מיקום של הערות 2">
            <a:extLst>
              <a:ext uri="{FF2B5EF4-FFF2-40B4-BE49-F238E27FC236}">
                <a16:creationId xmlns:a16="http://schemas.microsoft.com/office/drawing/2014/main" id="{C0C654B1-8C57-0673-91F4-50599CC3B06D}"/>
              </a:ext>
            </a:extLst>
          </p:cNvPr>
          <p:cNvSpPr>
            <a:spLocks noGrp="1"/>
          </p:cNvSpPr>
          <p:nvPr>
            <p:ph type="body" idx="1"/>
          </p:nvPr>
        </p:nvSpPr>
        <p:spPr/>
        <p:txBody>
          <a:bodyPr/>
          <a:lstStyle/>
          <a:p>
            <a:r>
              <a:rPr lang="he-IL" b="1"/>
              <a:t>הנחיות הפקה: </a:t>
            </a:r>
          </a:p>
          <a:p>
            <a:r>
              <a:rPr lang="he-IL"/>
              <a:t>שם המסך בפיגמה:</a:t>
            </a:r>
            <a:r>
              <a:rPr lang="" sz="1200" kern="1200">
                <a:solidFill>
                  <a:schemeClr val="tx1"/>
                </a:solidFill>
                <a:effectLst/>
                <a:latin typeface="+mn-lt"/>
                <a:ea typeface="+mn-ea"/>
                <a:cs typeface="+mn-cs"/>
              </a:rPr>
              <a:t>ValueInputQuestion</a:t>
            </a:r>
            <a:endParaRPr lang="he-IL" sz="1200" kern="1200">
              <a:solidFill>
                <a:schemeClr val="tx1"/>
              </a:solidFill>
              <a:effectLst/>
              <a:latin typeface="+mn-lt"/>
              <a:ea typeface="+mn-ea"/>
              <a:cs typeface="+mn-cs"/>
            </a:endParaRPr>
          </a:p>
          <a:p>
            <a:r>
              <a:rPr lang="he-IL" sz="1200" kern="1200">
                <a:solidFill>
                  <a:schemeClr val="tx1"/>
                </a:solidFill>
                <a:effectLst/>
                <a:latin typeface="+mn-lt"/>
                <a:ea typeface="+mn-ea"/>
                <a:cs typeface="+mn-cs"/>
              </a:rPr>
              <a:t>תיווך מעבר לתרגול – שאלה 1 מתוך 2</a:t>
            </a:r>
          </a:p>
          <a:p>
            <a:r>
              <a:rPr lang="he-IL" sz="1200" kern="1200">
                <a:solidFill>
                  <a:schemeClr val="tx1"/>
                </a:solidFill>
                <a:effectLst/>
                <a:latin typeface="+mn-lt"/>
                <a:ea typeface="+mn-ea"/>
                <a:cs typeface="+mn-cs"/>
              </a:rPr>
              <a:t>במקרה של טעות – להציג את התשובות הנכונות</a:t>
            </a:r>
          </a:p>
          <a:p>
            <a:r>
              <a:rPr lang="he-IL" b="1"/>
              <a:t>הנחיות ליישומון:</a:t>
            </a:r>
          </a:p>
          <a:p>
            <a:r>
              <a:rPr lang="he-IL" sz="1200" b="0" kern="1200">
                <a:solidFill>
                  <a:schemeClr val="tx1"/>
                </a:solidFill>
                <a:effectLst/>
                <a:latin typeface="+mn-lt"/>
                <a:ea typeface="+mn-ea"/>
                <a:cs typeface="+mn-cs"/>
              </a:rPr>
              <a:t>יישומון שיש בו בקבוקי שתייה משני סוגים (תות ומנגו) וכמות כללית של </a:t>
            </a:r>
            <a:r>
              <a:rPr lang="en-US" sz="1200" b="0" kern="1200">
                <a:solidFill>
                  <a:schemeClr val="tx1"/>
                </a:solidFill>
                <a:effectLst/>
                <a:latin typeface="+mn-lt"/>
                <a:ea typeface="+mn-ea"/>
                <a:cs typeface="+mn-cs"/>
              </a:rPr>
              <a:t>60</a:t>
            </a:r>
            <a:r>
              <a:rPr lang="he-IL" sz="1200" b="0" kern="1200">
                <a:solidFill>
                  <a:schemeClr val="tx1"/>
                </a:solidFill>
                <a:effectLst/>
                <a:latin typeface="+mn-lt"/>
                <a:ea typeface="+mn-ea"/>
                <a:cs typeface="+mn-cs"/>
              </a:rPr>
              <a:t> בקבוקים.</a:t>
            </a:r>
          </a:p>
          <a:p>
            <a:r>
              <a:rPr lang="he-IL" sz="1200" b="0" kern="1200">
                <a:solidFill>
                  <a:schemeClr val="tx1"/>
                </a:solidFill>
                <a:effectLst/>
                <a:latin typeface="+mn-lt"/>
                <a:ea typeface="+mn-ea"/>
                <a:cs typeface="+mn-cs"/>
              </a:rPr>
              <a:t>התלמידים גוררים את הבקבוקים למדפים, היישומון מראה להם כמה גררו מכל סוג וכמה נשאר להם, והם יכולים גם להחזיר ולגרור שוב. </a:t>
            </a:r>
            <a:endParaRPr lang="LID4096" b="0"/>
          </a:p>
        </p:txBody>
      </p:sp>
      <p:sp>
        <p:nvSpPr>
          <p:cNvPr id="4" name="מציין מיקום של מספר שקופית 3">
            <a:extLst>
              <a:ext uri="{FF2B5EF4-FFF2-40B4-BE49-F238E27FC236}">
                <a16:creationId xmlns:a16="http://schemas.microsoft.com/office/drawing/2014/main" id="{1D34E9B0-0A3F-BCE3-03AF-3632116B6331}"/>
              </a:ext>
            </a:extLst>
          </p:cNvPr>
          <p:cNvSpPr>
            <a:spLocks noGrp="1"/>
          </p:cNvSpPr>
          <p:nvPr>
            <p:ph type="sldNum" sz="quarter" idx="5"/>
          </p:nvPr>
        </p:nvSpPr>
        <p:spPr/>
        <p:txBody>
          <a:bodyPr/>
          <a:lstStyle/>
          <a:p>
            <a:fld id="{25FC8A2B-14B3-4AB7-B945-4222430686C6}" type="slidenum">
              <a:rPr lang="LID4096" smtClean="0"/>
              <a:t>25</a:t>
            </a:fld>
            <a:endParaRPr lang="LID4096"/>
          </a:p>
        </p:txBody>
      </p:sp>
    </p:spTree>
    <p:extLst>
      <p:ext uri="{BB962C8B-B14F-4D97-AF65-F5344CB8AC3E}">
        <p14:creationId xmlns:p14="http://schemas.microsoft.com/office/powerpoint/2010/main" val="114890918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6212D9-83BB-C9AD-D45F-DC247A73546F}"/>
            </a:ext>
          </a:extLst>
        </p:cNvPr>
        <p:cNvGrpSpPr/>
        <p:nvPr/>
      </p:nvGrpSpPr>
      <p:grpSpPr>
        <a:xfrm>
          <a:off x="0" y="0"/>
          <a:ext cx="0" cy="0"/>
          <a:chOff x="0" y="0"/>
          <a:chExt cx="0" cy="0"/>
        </a:xfrm>
      </p:grpSpPr>
      <p:sp>
        <p:nvSpPr>
          <p:cNvPr id="2" name="מציין מיקום של תמונת שקופית 1">
            <a:extLst>
              <a:ext uri="{FF2B5EF4-FFF2-40B4-BE49-F238E27FC236}">
                <a16:creationId xmlns:a16="http://schemas.microsoft.com/office/drawing/2014/main" id="{41A083E5-DE5F-ECA0-92CD-ED2590CA8F68}"/>
              </a:ext>
            </a:extLst>
          </p:cNvPr>
          <p:cNvSpPr>
            <a:spLocks noGrp="1" noRot="1" noChangeAspect="1"/>
          </p:cNvSpPr>
          <p:nvPr>
            <p:ph type="sldImg"/>
          </p:nvPr>
        </p:nvSpPr>
        <p:spPr/>
      </p:sp>
      <p:sp>
        <p:nvSpPr>
          <p:cNvPr id="3" name="מציין מיקום של הערות 2">
            <a:extLst>
              <a:ext uri="{FF2B5EF4-FFF2-40B4-BE49-F238E27FC236}">
                <a16:creationId xmlns:a16="http://schemas.microsoft.com/office/drawing/2014/main" id="{AB56C9B6-9798-F3D8-898D-201C78C55A18}"/>
              </a:ext>
            </a:extLst>
          </p:cNvPr>
          <p:cNvSpPr>
            <a:spLocks noGrp="1"/>
          </p:cNvSpPr>
          <p:nvPr>
            <p:ph type="body" idx="1"/>
          </p:nvPr>
        </p:nvSpPr>
        <p:spPr/>
        <p:txBody>
          <a:bodyPr/>
          <a:lstStyle/>
          <a:p>
            <a:r>
              <a:rPr lang="he-IL" b="1"/>
              <a:t>הנחיות הפקה: </a:t>
            </a:r>
          </a:p>
          <a:p>
            <a:r>
              <a:rPr lang="he-IL"/>
              <a:t>שם המסך בפיגמה:</a:t>
            </a:r>
            <a:r>
              <a:rPr lang="" sz="1200" kern="1200">
                <a:solidFill>
                  <a:schemeClr val="tx1"/>
                </a:solidFill>
                <a:effectLst/>
                <a:latin typeface="+mn-lt"/>
                <a:ea typeface="+mn-ea"/>
                <a:cs typeface="+mn-cs"/>
              </a:rPr>
              <a:t>ValueInputQuestion</a:t>
            </a:r>
            <a:endParaRPr lang="he-IL" sz="1200" kern="1200">
              <a:solidFill>
                <a:schemeClr val="tx1"/>
              </a:solidFill>
              <a:effectLst/>
              <a:latin typeface="+mn-lt"/>
              <a:ea typeface="+mn-ea"/>
              <a:cs typeface="+mn-cs"/>
            </a:endParaRPr>
          </a:p>
          <a:p>
            <a:r>
              <a:rPr lang="he-IL" sz="1200" kern="1200">
                <a:solidFill>
                  <a:schemeClr val="tx1"/>
                </a:solidFill>
                <a:effectLst/>
                <a:latin typeface="+mn-lt"/>
                <a:ea typeface="+mn-ea"/>
                <a:cs typeface="+mn-cs"/>
              </a:rPr>
              <a:t>תיווך מעבר לתרגול – שאלה 2 מתוך 2</a:t>
            </a:r>
          </a:p>
          <a:p>
            <a:r>
              <a:rPr lang="he-IL" sz="1200" kern="1200">
                <a:solidFill>
                  <a:schemeClr val="tx1"/>
                </a:solidFill>
                <a:effectLst/>
                <a:latin typeface="+mn-lt"/>
                <a:ea typeface="+mn-ea"/>
                <a:cs typeface="+mn-cs"/>
              </a:rPr>
              <a:t>במקרה של טעות – להציג את התשובות הנכונות</a:t>
            </a:r>
          </a:p>
          <a:p>
            <a:endParaRPr lang="LID4096"/>
          </a:p>
        </p:txBody>
      </p:sp>
      <p:sp>
        <p:nvSpPr>
          <p:cNvPr id="4" name="מציין מיקום של מספר שקופית 3">
            <a:extLst>
              <a:ext uri="{FF2B5EF4-FFF2-40B4-BE49-F238E27FC236}">
                <a16:creationId xmlns:a16="http://schemas.microsoft.com/office/drawing/2014/main" id="{AF21DC30-0B9F-7377-FFAA-450919EA2F45}"/>
              </a:ext>
            </a:extLst>
          </p:cNvPr>
          <p:cNvSpPr>
            <a:spLocks noGrp="1"/>
          </p:cNvSpPr>
          <p:nvPr>
            <p:ph type="sldNum" sz="quarter" idx="5"/>
          </p:nvPr>
        </p:nvSpPr>
        <p:spPr/>
        <p:txBody>
          <a:bodyPr/>
          <a:lstStyle/>
          <a:p>
            <a:fld id="{25FC8A2B-14B3-4AB7-B945-4222430686C6}" type="slidenum">
              <a:rPr lang="LID4096" smtClean="0"/>
              <a:t>26</a:t>
            </a:fld>
            <a:endParaRPr lang="LID4096"/>
          </a:p>
        </p:txBody>
      </p:sp>
    </p:spTree>
    <p:extLst>
      <p:ext uri="{BB962C8B-B14F-4D97-AF65-F5344CB8AC3E}">
        <p14:creationId xmlns:p14="http://schemas.microsoft.com/office/powerpoint/2010/main" val="39195924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D20B73-A5DB-B0A5-60B9-568A940FB4B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C9A6BBB-CF5D-F802-2AB1-36A999B1D75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5CACFE9-5DD8-3A3D-7342-0E5631C75D21}"/>
              </a:ext>
            </a:extLst>
          </p:cNvPr>
          <p:cNvSpPr>
            <a:spLocks noGrp="1"/>
          </p:cNvSpPr>
          <p:nvPr>
            <p:ph type="body" idx="1"/>
          </p:nvPr>
        </p:nvSpPr>
        <p:spPr/>
        <p:txBody>
          <a:bodyPr/>
          <a:lstStyle/>
          <a:p>
            <a:r>
              <a:rPr lang="he-IL"/>
              <a:t>מסך הזנקה </a:t>
            </a:r>
            <a:endParaRPr lang="en-US"/>
          </a:p>
        </p:txBody>
      </p:sp>
      <p:sp>
        <p:nvSpPr>
          <p:cNvPr id="4" name="Slide Number Placeholder 3">
            <a:extLst>
              <a:ext uri="{FF2B5EF4-FFF2-40B4-BE49-F238E27FC236}">
                <a16:creationId xmlns:a16="http://schemas.microsoft.com/office/drawing/2014/main" id="{69B7C9AB-48A5-2FA0-D618-31DA1ECAC9A8}"/>
              </a:ext>
            </a:extLst>
          </p:cNvPr>
          <p:cNvSpPr>
            <a:spLocks noGrp="1"/>
          </p:cNvSpPr>
          <p:nvPr>
            <p:ph type="sldNum" sz="quarter" idx="5"/>
          </p:nvPr>
        </p:nvSpPr>
        <p:spPr/>
        <p:txBody>
          <a:bodyPr/>
          <a:lstStyle/>
          <a:p>
            <a:fld id="{25FC8A2B-14B3-4AB7-B945-4222430686C6}" type="slidenum">
              <a:rPr lang="LID4096" smtClean="0"/>
              <a:t>28</a:t>
            </a:fld>
            <a:endParaRPr lang="LID4096"/>
          </a:p>
        </p:txBody>
      </p:sp>
    </p:spTree>
    <p:extLst>
      <p:ext uri="{BB962C8B-B14F-4D97-AF65-F5344CB8AC3E}">
        <p14:creationId xmlns:p14="http://schemas.microsoft.com/office/powerpoint/2010/main" val="11685332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F0EB9F-945C-CE80-FFFA-990158B0E58B}"/>
            </a:ext>
          </a:extLst>
        </p:cNvPr>
        <p:cNvGrpSpPr/>
        <p:nvPr/>
      </p:nvGrpSpPr>
      <p:grpSpPr>
        <a:xfrm>
          <a:off x="0" y="0"/>
          <a:ext cx="0" cy="0"/>
          <a:chOff x="0" y="0"/>
          <a:chExt cx="0" cy="0"/>
        </a:xfrm>
      </p:grpSpPr>
      <p:sp>
        <p:nvSpPr>
          <p:cNvPr id="2" name="מציין מיקום של תמונת שקופית 1">
            <a:extLst>
              <a:ext uri="{FF2B5EF4-FFF2-40B4-BE49-F238E27FC236}">
                <a16:creationId xmlns:a16="http://schemas.microsoft.com/office/drawing/2014/main" id="{B6BB57E9-D33E-82AA-FAFC-9BC0877FE7EA}"/>
              </a:ext>
            </a:extLst>
          </p:cNvPr>
          <p:cNvSpPr>
            <a:spLocks noGrp="1" noRot="1" noChangeAspect="1"/>
          </p:cNvSpPr>
          <p:nvPr>
            <p:ph type="sldImg"/>
          </p:nvPr>
        </p:nvSpPr>
        <p:spPr/>
      </p:sp>
      <p:sp>
        <p:nvSpPr>
          <p:cNvPr id="3" name="מציין מיקום של הערות 2">
            <a:extLst>
              <a:ext uri="{FF2B5EF4-FFF2-40B4-BE49-F238E27FC236}">
                <a16:creationId xmlns:a16="http://schemas.microsoft.com/office/drawing/2014/main" id="{B6B9125D-5F61-E35A-67A9-6E7C2DA6CBAE}"/>
              </a:ext>
            </a:extLst>
          </p:cNvPr>
          <p:cNvSpPr>
            <a:spLocks noGrp="1"/>
          </p:cNvSpPr>
          <p:nvPr>
            <p:ph type="body" idx="1"/>
          </p:nvPr>
        </p:nvSpPr>
        <p:spPr/>
        <p:txBody>
          <a:bodyPr/>
          <a:lstStyle/>
          <a:p>
            <a:r>
              <a:rPr lang="he-IL" b="1"/>
              <a:t>תרגול סטנדרטי – שאלה 1 (סעיפים א'+ב) מתוך 4</a:t>
            </a:r>
          </a:p>
          <a:p>
            <a:r>
              <a:rPr lang="he-IL"/>
              <a:t>עיצוב תמונה בהתאם לרפרנס</a:t>
            </a:r>
            <a:endParaRPr lang="LID4096"/>
          </a:p>
        </p:txBody>
      </p:sp>
      <p:sp>
        <p:nvSpPr>
          <p:cNvPr id="4" name="מציין מיקום של מספר שקופית 3">
            <a:extLst>
              <a:ext uri="{FF2B5EF4-FFF2-40B4-BE49-F238E27FC236}">
                <a16:creationId xmlns:a16="http://schemas.microsoft.com/office/drawing/2014/main" id="{A5EE3831-DB53-B5F4-A193-713153AFACA6}"/>
              </a:ext>
            </a:extLst>
          </p:cNvPr>
          <p:cNvSpPr>
            <a:spLocks noGrp="1"/>
          </p:cNvSpPr>
          <p:nvPr>
            <p:ph type="sldNum" sz="quarter" idx="5"/>
          </p:nvPr>
        </p:nvSpPr>
        <p:spPr/>
        <p:txBody>
          <a:bodyPr/>
          <a:lstStyle/>
          <a:p>
            <a:fld id="{25FC8A2B-14B3-4AB7-B945-4222430686C6}" type="slidenum">
              <a:rPr lang="LID4096" smtClean="0"/>
              <a:t>29</a:t>
            </a:fld>
            <a:endParaRPr lang="LID4096"/>
          </a:p>
        </p:txBody>
      </p:sp>
    </p:spTree>
    <p:extLst>
      <p:ext uri="{BB962C8B-B14F-4D97-AF65-F5344CB8AC3E}">
        <p14:creationId xmlns:p14="http://schemas.microsoft.com/office/powerpoint/2010/main" val="20673238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5A5708-52A1-F953-1D08-6ED65BCC0BD2}"/>
            </a:ext>
          </a:extLst>
        </p:cNvPr>
        <p:cNvGrpSpPr/>
        <p:nvPr/>
      </p:nvGrpSpPr>
      <p:grpSpPr>
        <a:xfrm>
          <a:off x="0" y="0"/>
          <a:ext cx="0" cy="0"/>
          <a:chOff x="0" y="0"/>
          <a:chExt cx="0" cy="0"/>
        </a:xfrm>
      </p:grpSpPr>
      <p:sp>
        <p:nvSpPr>
          <p:cNvPr id="2" name="מציין מיקום של תמונת שקופית 1">
            <a:extLst>
              <a:ext uri="{FF2B5EF4-FFF2-40B4-BE49-F238E27FC236}">
                <a16:creationId xmlns:a16="http://schemas.microsoft.com/office/drawing/2014/main" id="{39D412A3-9A26-0D13-F295-2FFCE768D915}"/>
              </a:ext>
            </a:extLst>
          </p:cNvPr>
          <p:cNvSpPr>
            <a:spLocks noGrp="1" noRot="1" noChangeAspect="1"/>
          </p:cNvSpPr>
          <p:nvPr>
            <p:ph type="sldImg"/>
          </p:nvPr>
        </p:nvSpPr>
        <p:spPr/>
      </p:sp>
      <p:sp>
        <p:nvSpPr>
          <p:cNvPr id="3" name="מציין מיקום של הערות 2">
            <a:extLst>
              <a:ext uri="{FF2B5EF4-FFF2-40B4-BE49-F238E27FC236}">
                <a16:creationId xmlns:a16="http://schemas.microsoft.com/office/drawing/2014/main" id="{980E438B-9046-9204-2401-575A421E80F1}"/>
              </a:ext>
            </a:extLst>
          </p:cNvPr>
          <p:cNvSpPr>
            <a:spLocks noGrp="1"/>
          </p:cNvSpPr>
          <p:nvPr>
            <p:ph type="body" idx="1"/>
          </p:nvPr>
        </p:nvSpPr>
        <p:spPr/>
        <p:txBody>
          <a:bodyPr/>
          <a:lstStyle/>
          <a:p>
            <a:r>
              <a:rPr lang="he-IL" b="1"/>
              <a:t>תרגול סטנדרטי – שאלה 2 מתוך 4</a:t>
            </a:r>
          </a:p>
          <a:p>
            <a:r>
              <a:rPr lang="he-IL" b="1"/>
              <a:t>הפקה – לשים מקום למילוי בתוך הסוגריים (ל 5 / 25)</a:t>
            </a:r>
          </a:p>
        </p:txBody>
      </p:sp>
      <p:sp>
        <p:nvSpPr>
          <p:cNvPr id="4" name="מציין מיקום של מספר שקופית 3">
            <a:extLst>
              <a:ext uri="{FF2B5EF4-FFF2-40B4-BE49-F238E27FC236}">
                <a16:creationId xmlns:a16="http://schemas.microsoft.com/office/drawing/2014/main" id="{0B08AADA-6521-2E21-A1C5-1A86629092AE}"/>
              </a:ext>
            </a:extLst>
          </p:cNvPr>
          <p:cNvSpPr>
            <a:spLocks noGrp="1"/>
          </p:cNvSpPr>
          <p:nvPr>
            <p:ph type="sldNum" sz="quarter" idx="5"/>
          </p:nvPr>
        </p:nvSpPr>
        <p:spPr/>
        <p:txBody>
          <a:bodyPr/>
          <a:lstStyle/>
          <a:p>
            <a:fld id="{25FC8A2B-14B3-4AB7-B945-4222430686C6}" type="slidenum">
              <a:rPr lang="LID4096" smtClean="0"/>
              <a:t>30</a:t>
            </a:fld>
            <a:endParaRPr lang="LID4096"/>
          </a:p>
        </p:txBody>
      </p:sp>
    </p:spTree>
    <p:extLst>
      <p:ext uri="{BB962C8B-B14F-4D97-AF65-F5344CB8AC3E}">
        <p14:creationId xmlns:p14="http://schemas.microsoft.com/office/powerpoint/2010/main" val="12455715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1DC99D-A652-095B-BB6F-DCBA8FDD318E}"/>
            </a:ext>
          </a:extLst>
        </p:cNvPr>
        <p:cNvGrpSpPr/>
        <p:nvPr/>
      </p:nvGrpSpPr>
      <p:grpSpPr>
        <a:xfrm>
          <a:off x="0" y="0"/>
          <a:ext cx="0" cy="0"/>
          <a:chOff x="0" y="0"/>
          <a:chExt cx="0" cy="0"/>
        </a:xfrm>
      </p:grpSpPr>
      <p:sp>
        <p:nvSpPr>
          <p:cNvPr id="2" name="מציין מיקום של תמונת שקופית 1">
            <a:extLst>
              <a:ext uri="{FF2B5EF4-FFF2-40B4-BE49-F238E27FC236}">
                <a16:creationId xmlns:a16="http://schemas.microsoft.com/office/drawing/2014/main" id="{54B6D214-F390-FCDD-D313-C9C41B864A06}"/>
              </a:ext>
            </a:extLst>
          </p:cNvPr>
          <p:cNvSpPr>
            <a:spLocks noGrp="1" noRot="1" noChangeAspect="1"/>
          </p:cNvSpPr>
          <p:nvPr>
            <p:ph type="sldImg"/>
          </p:nvPr>
        </p:nvSpPr>
        <p:spPr/>
      </p:sp>
      <p:sp>
        <p:nvSpPr>
          <p:cNvPr id="3" name="מציין מיקום של הערות 2">
            <a:extLst>
              <a:ext uri="{FF2B5EF4-FFF2-40B4-BE49-F238E27FC236}">
                <a16:creationId xmlns:a16="http://schemas.microsoft.com/office/drawing/2014/main" id="{BAE56FB1-4DCE-250C-E841-624699F110E6}"/>
              </a:ext>
            </a:extLst>
          </p:cNvPr>
          <p:cNvSpPr>
            <a:spLocks noGrp="1"/>
          </p:cNvSpPr>
          <p:nvPr>
            <p:ph type="body" idx="1"/>
          </p:nvPr>
        </p:nvSpPr>
        <p:spPr/>
        <p:txBody>
          <a:bodyPr/>
          <a:lstStyle/>
          <a:p>
            <a:r>
              <a:rPr lang="he-IL" b="1"/>
              <a:t>תרגול סטנדרטי – שאלה 3 (סעיף א') מתוך 4</a:t>
            </a:r>
          </a:p>
          <a:p>
            <a:endParaRPr lang="he-IL" b="1"/>
          </a:p>
        </p:txBody>
      </p:sp>
      <p:sp>
        <p:nvSpPr>
          <p:cNvPr id="4" name="מציין מיקום של מספר שקופית 3">
            <a:extLst>
              <a:ext uri="{FF2B5EF4-FFF2-40B4-BE49-F238E27FC236}">
                <a16:creationId xmlns:a16="http://schemas.microsoft.com/office/drawing/2014/main" id="{64769F4C-8572-1812-7CA3-691A6F3CCA66}"/>
              </a:ext>
            </a:extLst>
          </p:cNvPr>
          <p:cNvSpPr>
            <a:spLocks noGrp="1"/>
          </p:cNvSpPr>
          <p:nvPr>
            <p:ph type="sldNum" sz="quarter" idx="5"/>
          </p:nvPr>
        </p:nvSpPr>
        <p:spPr/>
        <p:txBody>
          <a:bodyPr/>
          <a:lstStyle/>
          <a:p>
            <a:fld id="{25FC8A2B-14B3-4AB7-B945-4222430686C6}" type="slidenum">
              <a:rPr lang="LID4096" smtClean="0"/>
              <a:t>31</a:t>
            </a:fld>
            <a:endParaRPr lang="LID4096"/>
          </a:p>
        </p:txBody>
      </p:sp>
    </p:spTree>
    <p:extLst>
      <p:ext uri="{BB962C8B-B14F-4D97-AF65-F5344CB8AC3E}">
        <p14:creationId xmlns:p14="http://schemas.microsoft.com/office/powerpoint/2010/main" val="3893602804"/>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B82ED6-6F04-632E-06FE-2A45C10DE734}"/>
            </a:ext>
          </a:extLst>
        </p:cNvPr>
        <p:cNvGrpSpPr/>
        <p:nvPr/>
      </p:nvGrpSpPr>
      <p:grpSpPr>
        <a:xfrm>
          <a:off x="0" y="0"/>
          <a:ext cx="0" cy="0"/>
          <a:chOff x="0" y="0"/>
          <a:chExt cx="0" cy="0"/>
        </a:xfrm>
      </p:grpSpPr>
      <p:sp>
        <p:nvSpPr>
          <p:cNvPr id="2" name="מציין מיקום של תמונת שקופית 1">
            <a:extLst>
              <a:ext uri="{FF2B5EF4-FFF2-40B4-BE49-F238E27FC236}">
                <a16:creationId xmlns:a16="http://schemas.microsoft.com/office/drawing/2014/main" id="{92955EB3-EE3D-9C60-6FF2-8C0349CD7BC3}"/>
              </a:ext>
            </a:extLst>
          </p:cNvPr>
          <p:cNvSpPr>
            <a:spLocks noGrp="1" noRot="1" noChangeAspect="1"/>
          </p:cNvSpPr>
          <p:nvPr>
            <p:ph type="sldImg"/>
          </p:nvPr>
        </p:nvSpPr>
        <p:spPr/>
      </p:sp>
      <p:sp>
        <p:nvSpPr>
          <p:cNvPr id="3" name="מציין מיקום של הערות 2">
            <a:extLst>
              <a:ext uri="{FF2B5EF4-FFF2-40B4-BE49-F238E27FC236}">
                <a16:creationId xmlns:a16="http://schemas.microsoft.com/office/drawing/2014/main" id="{D0FEB4C5-257A-0BAD-2618-243C313D16B1}"/>
              </a:ext>
            </a:extLst>
          </p:cNvPr>
          <p:cNvSpPr>
            <a:spLocks noGrp="1"/>
          </p:cNvSpPr>
          <p:nvPr>
            <p:ph type="body" idx="1"/>
          </p:nvPr>
        </p:nvSpPr>
        <p:spPr/>
        <p:txBody>
          <a:bodyPr/>
          <a:lstStyle/>
          <a:p>
            <a:r>
              <a:rPr lang="he-IL" b="1"/>
              <a:t>תרגול סטנדרטי – שאלה 3 (סעיף א') מתוך 4</a:t>
            </a:r>
          </a:p>
        </p:txBody>
      </p:sp>
      <p:sp>
        <p:nvSpPr>
          <p:cNvPr id="4" name="מציין מיקום של מספר שקופית 3">
            <a:extLst>
              <a:ext uri="{FF2B5EF4-FFF2-40B4-BE49-F238E27FC236}">
                <a16:creationId xmlns:a16="http://schemas.microsoft.com/office/drawing/2014/main" id="{AE81A89C-470E-EA05-FC31-F38B511D22D1}"/>
              </a:ext>
            </a:extLst>
          </p:cNvPr>
          <p:cNvSpPr>
            <a:spLocks noGrp="1"/>
          </p:cNvSpPr>
          <p:nvPr>
            <p:ph type="sldNum" sz="quarter" idx="5"/>
          </p:nvPr>
        </p:nvSpPr>
        <p:spPr/>
        <p:txBody>
          <a:bodyPr/>
          <a:lstStyle/>
          <a:p>
            <a:fld id="{25FC8A2B-14B3-4AB7-B945-4222430686C6}" type="slidenum">
              <a:rPr lang="LID4096" smtClean="0"/>
              <a:t>32</a:t>
            </a:fld>
            <a:endParaRPr lang="LID4096"/>
          </a:p>
        </p:txBody>
      </p:sp>
    </p:spTree>
    <p:extLst>
      <p:ext uri="{BB962C8B-B14F-4D97-AF65-F5344CB8AC3E}">
        <p14:creationId xmlns:p14="http://schemas.microsoft.com/office/powerpoint/2010/main" val="3505490717"/>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243CC5-AE65-8491-8824-F16E91CD5A68}"/>
            </a:ext>
          </a:extLst>
        </p:cNvPr>
        <p:cNvGrpSpPr/>
        <p:nvPr/>
      </p:nvGrpSpPr>
      <p:grpSpPr>
        <a:xfrm>
          <a:off x="0" y="0"/>
          <a:ext cx="0" cy="0"/>
          <a:chOff x="0" y="0"/>
          <a:chExt cx="0" cy="0"/>
        </a:xfrm>
      </p:grpSpPr>
      <p:sp>
        <p:nvSpPr>
          <p:cNvPr id="2" name="מציין מיקום של תמונת שקופית 1">
            <a:extLst>
              <a:ext uri="{FF2B5EF4-FFF2-40B4-BE49-F238E27FC236}">
                <a16:creationId xmlns:a16="http://schemas.microsoft.com/office/drawing/2014/main" id="{B1C8B4E5-C858-8DAE-D741-E141FC0DAF26}"/>
              </a:ext>
            </a:extLst>
          </p:cNvPr>
          <p:cNvSpPr>
            <a:spLocks noGrp="1" noRot="1" noChangeAspect="1"/>
          </p:cNvSpPr>
          <p:nvPr>
            <p:ph type="sldImg"/>
          </p:nvPr>
        </p:nvSpPr>
        <p:spPr/>
      </p:sp>
      <p:sp>
        <p:nvSpPr>
          <p:cNvPr id="3" name="מציין מיקום של הערות 2">
            <a:extLst>
              <a:ext uri="{FF2B5EF4-FFF2-40B4-BE49-F238E27FC236}">
                <a16:creationId xmlns:a16="http://schemas.microsoft.com/office/drawing/2014/main" id="{190F594E-8B9D-BDB6-EAFF-9A08CF54CC99}"/>
              </a:ext>
            </a:extLst>
          </p:cNvPr>
          <p:cNvSpPr>
            <a:spLocks noGrp="1"/>
          </p:cNvSpPr>
          <p:nvPr>
            <p:ph type="body" idx="1"/>
          </p:nvPr>
        </p:nvSpPr>
        <p:spPr/>
        <p:txBody>
          <a:bodyPr/>
          <a:lstStyle/>
          <a:p>
            <a:r>
              <a:rPr lang="he-IL" b="1"/>
              <a:t>תרגול סטנדרטי – שאלה 3 (סעיף ב') מתוך 4</a:t>
            </a:r>
          </a:p>
        </p:txBody>
      </p:sp>
      <p:sp>
        <p:nvSpPr>
          <p:cNvPr id="4" name="מציין מיקום של מספר שקופית 3">
            <a:extLst>
              <a:ext uri="{FF2B5EF4-FFF2-40B4-BE49-F238E27FC236}">
                <a16:creationId xmlns:a16="http://schemas.microsoft.com/office/drawing/2014/main" id="{0471015A-7B4F-B449-5C7C-24460E5DF854}"/>
              </a:ext>
            </a:extLst>
          </p:cNvPr>
          <p:cNvSpPr>
            <a:spLocks noGrp="1"/>
          </p:cNvSpPr>
          <p:nvPr>
            <p:ph type="sldNum" sz="quarter" idx="5"/>
          </p:nvPr>
        </p:nvSpPr>
        <p:spPr/>
        <p:txBody>
          <a:bodyPr/>
          <a:lstStyle/>
          <a:p>
            <a:fld id="{25FC8A2B-14B3-4AB7-B945-4222430686C6}" type="slidenum">
              <a:rPr lang="LID4096" smtClean="0"/>
              <a:t>33</a:t>
            </a:fld>
            <a:endParaRPr lang="LID4096"/>
          </a:p>
        </p:txBody>
      </p:sp>
    </p:spTree>
    <p:extLst>
      <p:ext uri="{BB962C8B-B14F-4D97-AF65-F5344CB8AC3E}">
        <p14:creationId xmlns:p14="http://schemas.microsoft.com/office/powerpoint/2010/main" val="3034866529"/>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של תמונת שקופית 1"/>
          <p:cNvSpPr>
            <a:spLocks noGrp="1" noRot="1" noChangeAspect="1"/>
          </p:cNvSpPr>
          <p:nvPr>
            <p:ph type="sldImg"/>
          </p:nvPr>
        </p:nvSpPr>
        <p:spPr/>
      </p:sp>
      <p:sp>
        <p:nvSpPr>
          <p:cNvPr id="3" name="מציין מיקום של הערות 2"/>
          <p:cNvSpPr>
            <a:spLocks noGrp="1"/>
          </p:cNvSpPr>
          <p:nvPr>
            <p:ph type="body" idx="1"/>
          </p:nvPr>
        </p:nvSpPr>
        <p:spPr/>
        <p:txBody>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lang="he-IL" b="1"/>
              <a:t>תרגול סטנדרטי – שאלה 4 מתוך 4</a:t>
            </a:r>
          </a:p>
          <a:p>
            <a:endParaRPr lang="he-IL"/>
          </a:p>
        </p:txBody>
      </p:sp>
      <p:sp>
        <p:nvSpPr>
          <p:cNvPr id="4" name="מציין מיקום של מספר שקופית 3"/>
          <p:cNvSpPr>
            <a:spLocks noGrp="1"/>
          </p:cNvSpPr>
          <p:nvPr>
            <p:ph type="sldNum" sz="quarter" idx="5"/>
          </p:nvPr>
        </p:nvSpPr>
        <p:spPr/>
        <p:txBody>
          <a:bodyPr/>
          <a:lstStyle/>
          <a:p>
            <a:fld id="{25FC8A2B-14B3-4AB7-B945-4222430686C6}" type="slidenum">
              <a:rPr lang="LID4096" smtClean="0"/>
              <a:t>34</a:t>
            </a:fld>
            <a:endParaRPr lang="LID4096"/>
          </a:p>
        </p:txBody>
      </p:sp>
    </p:spTree>
    <p:extLst>
      <p:ext uri="{BB962C8B-B14F-4D97-AF65-F5344CB8AC3E}">
        <p14:creationId xmlns:p14="http://schemas.microsoft.com/office/powerpoint/2010/main" val="3377830217"/>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3C0F01-B90F-60AF-1AAA-7F55EB3129B7}"/>
            </a:ext>
          </a:extLst>
        </p:cNvPr>
        <p:cNvGrpSpPr/>
        <p:nvPr/>
      </p:nvGrpSpPr>
      <p:grpSpPr>
        <a:xfrm>
          <a:off x="0" y="0"/>
          <a:ext cx="0" cy="0"/>
          <a:chOff x="0" y="0"/>
          <a:chExt cx="0" cy="0"/>
        </a:xfrm>
      </p:grpSpPr>
      <p:sp>
        <p:nvSpPr>
          <p:cNvPr id="2" name="מציין מיקום של תמונת שקופית 1">
            <a:extLst>
              <a:ext uri="{FF2B5EF4-FFF2-40B4-BE49-F238E27FC236}">
                <a16:creationId xmlns:a16="http://schemas.microsoft.com/office/drawing/2014/main" id="{E2656EA1-5D7A-29A7-D846-C706971228FC}"/>
              </a:ext>
            </a:extLst>
          </p:cNvPr>
          <p:cNvSpPr>
            <a:spLocks noGrp="1" noRot="1" noChangeAspect="1"/>
          </p:cNvSpPr>
          <p:nvPr>
            <p:ph type="sldImg"/>
          </p:nvPr>
        </p:nvSpPr>
        <p:spPr/>
      </p:sp>
      <p:sp>
        <p:nvSpPr>
          <p:cNvPr id="3" name="מציין מיקום של הערות 2">
            <a:extLst>
              <a:ext uri="{FF2B5EF4-FFF2-40B4-BE49-F238E27FC236}">
                <a16:creationId xmlns:a16="http://schemas.microsoft.com/office/drawing/2014/main" id="{419FD4A3-8412-B48C-A40A-B206627299D2}"/>
              </a:ext>
            </a:extLst>
          </p:cNvPr>
          <p:cNvSpPr>
            <a:spLocks noGrp="1"/>
          </p:cNvSpPr>
          <p:nvPr>
            <p:ph type="body" idx="1"/>
          </p:nvPr>
        </p:nvSpPr>
        <p:spPr/>
        <p:txBody>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lang="he-IL" b="1"/>
              <a:t>תרגול סטנדרטי – שאלה 4 מתוך 4</a:t>
            </a:r>
          </a:p>
          <a:p>
            <a:endParaRPr lang="he-IL"/>
          </a:p>
        </p:txBody>
      </p:sp>
      <p:sp>
        <p:nvSpPr>
          <p:cNvPr id="4" name="מציין מיקום של מספר שקופית 3">
            <a:extLst>
              <a:ext uri="{FF2B5EF4-FFF2-40B4-BE49-F238E27FC236}">
                <a16:creationId xmlns:a16="http://schemas.microsoft.com/office/drawing/2014/main" id="{FC5774D4-AB14-F477-49EC-E4D1F93F6C69}"/>
              </a:ext>
            </a:extLst>
          </p:cNvPr>
          <p:cNvSpPr>
            <a:spLocks noGrp="1"/>
          </p:cNvSpPr>
          <p:nvPr>
            <p:ph type="sldNum" sz="quarter" idx="5"/>
          </p:nvPr>
        </p:nvSpPr>
        <p:spPr/>
        <p:txBody>
          <a:bodyPr/>
          <a:lstStyle/>
          <a:p>
            <a:fld id="{25FC8A2B-14B3-4AB7-B945-4222430686C6}" type="slidenum">
              <a:rPr lang="LID4096" smtClean="0"/>
              <a:t>35</a:t>
            </a:fld>
            <a:endParaRPr lang="LID4096"/>
          </a:p>
        </p:txBody>
      </p:sp>
    </p:spTree>
    <p:extLst>
      <p:ext uri="{BB962C8B-B14F-4D97-AF65-F5344CB8AC3E}">
        <p14:creationId xmlns:p14="http://schemas.microsoft.com/office/powerpoint/2010/main" val="1625772266"/>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8E208B-8D9B-0500-F919-09015654047C}"/>
            </a:ext>
          </a:extLst>
        </p:cNvPr>
        <p:cNvGrpSpPr/>
        <p:nvPr/>
      </p:nvGrpSpPr>
      <p:grpSpPr>
        <a:xfrm>
          <a:off x="0" y="0"/>
          <a:ext cx="0" cy="0"/>
          <a:chOff x="0" y="0"/>
          <a:chExt cx="0" cy="0"/>
        </a:xfrm>
      </p:grpSpPr>
      <p:sp>
        <p:nvSpPr>
          <p:cNvPr id="2" name="מציין מיקום של תמונת שקופית 1">
            <a:extLst>
              <a:ext uri="{FF2B5EF4-FFF2-40B4-BE49-F238E27FC236}">
                <a16:creationId xmlns:a16="http://schemas.microsoft.com/office/drawing/2014/main" id="{B3D406E4-ED8E-8EC2-4298-F0134BBF0553}"/>
              </a:ext>
            </a:extLst>
          </p:cNvPr>
          <p:cNvSpPr>
            <a:spLocks noGrp="1" noRot="1" noChangeAspect="1"/>
          </p:cNvSpPr>
          <p:nvPr>
            <p:ph type="sldImg"/>
          </p:nvPr>
        </p:nvSpPr>
        <p:spPr/>
      </p:sp>
      <p:sp>
        <p:nvSpPr>
          <p:cNvPr id="3" name="מציין מיקום של הערות 2">
            <a:extLst>
              <a:ext uri="{FF2B5EF4-FFF2-40B4-BE49-F238E27FC236}">
                <a16:creationId xmlns:a16="http://schemas.microsoft.com/office/drawing/2014/main" id="{F19631D1-D153-FDB4-A7DC-8FADE44761F8}"/>
              </a:ext>
            </a:extLst>
          </p:cNvPr>
          <p:cNvSpPr>
            <a:spLocks noGrp="1"/>
          </p:cNvSpPr>
          <p:nvPr>
            <p:ph type="body" idx="1"/>
          </p:nvPr>
        </p:nvSpPr>
        <p:spPr/>
        <p:txBody>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lang="he-IL" b="1"/>
              <a:t>תרגול סטנדרטי – שאלה 4 מתוך 4</a:t>
            </a:r>
          </a:p>
          <a:p>
            <a:pPr marL="0" marR="0" lvl="0" indent="0" algn="r" defTabSz="914400" rtl="1" eaLnBrk="1" fontAlgn="auto" latinLnBrk="0" hangingPunct="1">
              <a:lnSpc>
                <a:spcPct val="100000"/>
              </a:lnSpc>
              <a:spcBef>
                <a:spcPts val="0"/>
              </a:spcBef>
              <a:spcAft>
                <a:spcPts val="0"/>
              </a:spcAft>
              <a:buClrTx/>
              <a:buSzTx/>
              <a:buFontTx/>
              <a:buNone/>
              <a:tabLst/>
              <a:defRPr/>
            </a:pPr>
            <a:r>
              <a:rPr lang="he-IL" b="0"/>
              <a:t>תשובה נכונה:</a:t>
            </a:r>
          </a:p>
          <a:p>
            <a:pPr marL="0" marR="0" lvl="0" indent="0" algn="r" defTabSz="914400" rtl="1" eaLnBrk="1" fontAlgn="auto" latinLnBrk="0" hangingPunct="1">
              <a:lnSpc>
                <a:spcPct val="100000"/>
              </a:lnSpc>
              <a:spcBef>
                <a:spcPts val="0"/>
              </a:spcBef>
              <a:spcAft>
                <a:spcPts val="0"/>
              </a:spcAft>
              <a:buClrTx/>
              <a:buSzTx/>
              <a:buFontTx/>
              <a:buNone/>
              <a:tabLst/>
              <a:defRPr/>
            </a:pPr>
            <a:r>
              <a:rPr lang="he-IL" b="0"/>
              <a:t>דניאל – 20</a:t>
            </a:r>
          </a:p>
          <a:p>
            <a:pPr marL="0" marR="0" lvl="0" indent="0" algn="r" defTabSz="914400" rtl="1" eaLnBrk="1" fontAlgn="auto" latinLnBrk="0" hangingPunct="1">
              <a:lnSpc>
                <a:spcPct val="100000"/>
              </a:lnSpc>
              <a:spcBef>
                <a:spcPts val="0"/>
              </a:spcBef>
              <a:spcAft>
                <a:spcPts val="0"/>
              </a:spcAft>
              <a:buClrTx/>
              <a:buSzTx/>
              <a:buFontTx/>
              <a:buNone/>
              <a:tabLst/>
              <a:defRPr/>
            </a:pPr>
            <a:r>
              <a:rPr lang="he-IL" b="0"/>
              <a:t>נופר - 32</a:t>
            </a:r>
          </a:p>
          <a:p>
            <a:endParaRPr lang="he-IL"/>
          </a:p>
        </p:txBody>
      </p:sp>
      <p:sp>
        <p:nvSpPr>
          <p:cNvPr id="4" name="מציין מיקום של מספר שקופית 3">
            <a:extLst>
              <a:ext uri="{FF2B5EF4-FFF2-40B4-BE49-F238E27FC236}">
                <a16:creationId xmlns:a16="http://schemas.microsoft.com/office/drawing/2014/main" id="{2D8F2919-9A05-1B6A-2339-75BD3A43C52F}"/>
              </a:ext>
            </a:extLst>
          </p:cNvPr>
          <p:cNvSpPr>
            <a:spLocks noGrp="1"/>
          </p:cNvSpPr>
          <p:nvPr>
            <p:ph type="sldNum" sz="quarter" idx="5"/>
          </p:nvPr>
        </p:nvSpPr>
        <p:spPr/>
        <p:txBody>
          <a:bodyPr/>
          <a:lstStyle/>
          <a:p>
            <a:fld id="{25FC8A2B-14B3-4AB7-B945-4222430686C6}" type="slidenum">
              <a:rPr lang="LID4096" smtClean="0"/>
              <a:t>36</a:t>
            </a:fld>
            <a:endParaRPr lang="LID4096"/>
          </a:p>
        </p:txBody>
      </p:sp>
    </p:spTree>
    <p:extLst>
      <p:ext uri="{BB962C8B-B14F-4D97-AF65-F5344CB8AC3E}">
        <p14:creationId xmlns:p14="http://schemas.microsoft.com/office/powerpoint/2010/main" val="1089641526"/>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he-IL"/>
          </a:p>
        </p:txBody>
      </p:sp>
      <p:sp>
        <p:nvSpPr>
          <p:cNvPr id="3" name="Notes Placeholder 2"/>
          <p:cNvSpPr>
            <a:spLocks noGrp="1"/>
          </p:cNvSpPr>
          <p:nvPr>
            <p:ph type="body" idx="1"/>
          </p:nvPr>
        </p:nvSpPr>
        <p:spPr/>
        <p:txBody>
          <a:bodyPr/>
          <a:lstStyle/>
          <a:p>
            <a:r>
              <a:rPr lang="he-IL" b="1"/>
              <a:t>הנחיות הפקה: </a:t>
            </a:r>
          </a:p>
          <a:p>
            <a:pPr marL="171450" indent="-171450">
              <a:buFont typeface="Arial" panose="020B0604020202020204" pitchFamily="34" charset="0"/>
              <a:buChar char="•"/>
            </a:pPr>
            <a:r>
              <a:rPr lang="he-IL" b="1"/>
              <a:t>מסך הזנקה תרגול בסיסי</a:t>
            </a:r>
          </a:p>
          <a:p>
            <a:pPr marL="171450" indent="-171450">
              <a:buFont typeface="Arial" panose="020B0604020202020204" pitchFamily="34" charset="0"/>
              <a:buChar char="•"/>
            </a:pPr>
            <a:r>
              <a:rPr lang="he-IL"/>
              <a:t>שם המסך בפיגמה: </a:t>
            </a:r>
            <a:r>
              <a:rPr lang="en-US" sz="1200" kern="1200" err="1">
                <a:solidFill>
                  <a:schemeClr val="tx1"/>
                </a:solidFill>
                <a:effectLst/>
                <a:latin typeface="+mn-lt"/>
                <a:ea typeface="+mn-ea"/>
                <a:cs typeface="+mn-cs"/>
              </a:rPr>
              <a:t>TransitionScreen</a:t>
            </a:r>
            <a:endParaRPr lang="he-IL" sz="1200" kern="1200">
              <a:solidFill>
                <a:schemeClr val="tx1"/>
              </a:solidFill>
              <a:effectLst/>
              <a:latin typeface="+mn-lt"/>
              <a:ea typeface="+mn-ea"/>
              <a:cs typeface="+mn-cs"/>
            </a:endParaRPr>
          </a:p>
          <a:p>
            <a:pPr marL="171450" indent="-171450">
              <a:buFont typeface="Arial" panose="020B0604020202020204" pitchFamily="34" charset="0"/>
              <a:buChar char="•"/>
            </a:pPr>
            <a:r>
              <a:rPr lang="he-IL" sz="1200" kern="1200">
                <a:solidFill>
                  <a:schemeClr val="tx1"/>
                </a:solidFill>
                <a:effectLst/>
                <a:latin typeface="+mn-lt"/>
                <a:ea typeface="+mn-ea"/>
                <a:cs typeface="+mn-cs"/>
              </a:rPr>
              <a:t>שם התמונה במאגר: ילד חכם</a:t>
            </a:r>
            <a:endParaRPr lang="he-IL"/>
          </a:p>
          <a:p>
            <a:endParaRPr lang="he-IL"/>
          </a:p>
        </p:txBody>
      </p:sp>
      <p:sp>
        <p:nvSpPr>
          <p:cNvPr id="4" name="Slide Number Placeholder 3"/>
          <p:cNvSpPr>
            <a:spLocks noGrp="1"/>
          </p:cNvSpPr>
          <p:nvPr>
            <p:ph type="sldNum" sz="quarter" idx="5"/>
          </p:nvPr>
        </p:nvSpPr>
        <p:spPr/>
        <p:txBody>
          <a:bodyPr/>
          <a:lstStyle/>
          <a:p>
            <a:fld id="{25FC8A2B-14B3-4AB7-B945-4222430686C6}" type="slidenum">
              <a:rPr lang="LID4096" smtClean="0"/>
              <a:t>38</a:t>
            </a:fld>
            <a:endParaRPr lang="LID4096"/>
          </a:p>
        </p:txBody>
      </p:sp>
    </p:spTree>
    <p:extLst>
      <p:ext uri="{BB962C8B-B14F-4D97-AF65-F5344CB8AC3E}">
        <p14:creationId xmlns:p14="http://schemas.microsoft.com/office/powerpoint/2010/main" val="208175432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9F657D-0BF4-5FF8-3493-F7C76E2D1E8A}"/>
            </a:ext>
          </a:extLst>
        </p:cNvPr>
        <p:cNvGrpSpPr/>
        <p:nvPr/>
      </p:nvGrpSpPr>
      <p:grpSpPr>
        <a:xfrm>
          <a:off x="0" y="0"/>
          <a:ext cx="0" cy="0"/>
          <a:chOff x="0" y="0"/>
          <a:chExt cx="0" cy="0"/>
        </a:xfrm>
      </p:grpSpPr>
      <p:sp>
        <p:nvSpPr>
          <p:cNvPr id="2" name="מציין מיקום של תמונת שקופית 1">
            <a:extLst>
              <a:ext uri="{FF2B5EF4-FFF2-40B4-BE49-F238E27FC236}">
                <a16:creationId xmlns:a16="http://schemas.microsoft.com/office/drawing/2014/main" id="{391686FB-9DCF-DAE5-4133-830A53896E05}"/>
              </a:ext>
            </a:extLst>
          </p:cNvPr>
          <p:cNvSpPr>
            <a:spLocks noGrp="1" noRot="1" noChangeAspect="1"/>
          </p:cNvSpPr>
          <p:nvPr>
            <p:ph type="sldImg"/>
          </p:nvPr>
        </p:nvSpPr>
        <p:spPr/>
      </p:sp>
      <p:sp>
        <p:nvSpPr>
          <p:cNvPr id="3" name="מציין מיקום של הערות 2">
            <a:extLst>
              <a:ext uri="{FF2B5EF4-FFF2-40B4-BE49-F238E27FC236}">
                <a16:creationId xmlns:a16="http://schemas.microsoft.com/office/drawing/2014/main" id="{3F9749DE-D09C-192E-6FB7-F183C512193C}"/>
              </a:ext>
            </a:extLst>
          </p:cNvPr>
          <p:cNvSpPr>
            <a:spLocks noGrp="1"/>
          </p:cNvSpPr>
          <p:nvPr>
            <p:ph type="body" idx="1"/>
          </p:nvPr>
        </p:nvSpPr>
        <p:spPr/>
        <p:txBody>
          <a:bodyPr/>
          <a:lstStyle/>
          <a:p>
            <a:r>
              <a:rPr lang="he-IL" b="1"/>
              <a:t>תרגול בסיסי, שאלה </a:t>
            </a:r>
            <a:r>
              <a:rPr lang="en-US" b="1"/>
              <a:t>1</a:t>
            </a:r>
            <a:r>
              <a:rPr lang="he-IL" b="1"/>
              <a:t> סעיף א' מתוך </a:t>
            </a:r>
            <a:r>
              <a:rPr lang="en-US" b="1"/>
              <a:t>3</a:t>
            </a:r>
          </a:p>
          <a:p>
            <a:r>
              <a:rPr lang="he-IL" b="1"/>
              <a:t>הנחיות ליישומון: </a:t>
            </a:r>
            <a:r>
              <a:rPr lang="he-IL" b="0"/>
              <a:t>על המסך 50 משבצות. התלמיד יבחר סוג שוקולד ויסמן משבצות. </a:t>
            </a:r>
          </a:p>
          <a:p>
            <a:r>
              <a:rPr lang="he-IL" b="0"/>
              <a:t>כל משבצת שתסומן תצבע בצבע המתאים </a:t>
            </a:r>
          </a:p>
          <a:p>
            <a:r>
              <a:rPr lang="he-IL" b="0"/>
              <a:t>מספר פרחי השוקולד יתעדכן בהתאם בשדות מתחת לתבנית.</a:t>
            </a:r>
          </a:p>
          <a:p>
            <a:r>
              <a:rPr lang="he-IL" b="0"/>
              <a:t>שמות השדות: פרחי שוקולד לבנים, פרחי שוקולד מריר, תבניות ריקות. </a:t>
            </a:r>
          </a:p>
          <a:p>
            <a:r>
              <a:rPr lang="he-IL" b="0"/>
              <a:t>כפתור "מחק" יאפס את הסימון. </a:t>
            </a:r>
          </a:p>
        </p:txBody>
      </p:sp>
      <p:sp>
        <p:nvSpPr>
          <p:cNvPr id="4" name="מציין מיקום של מספר שקופית 3">
            <a:extLst>
              <a:ext uri="{FF2B5EF4-FFF2-40B4-BE49-F238E27FC236}">
                <a16:creationId xmlns:a16="http://schemas.microsoft.com/office/drawing/2014/main" id="{6F945BDE-7041-57BD-349D-EF732CAD9B0C}"/>
              </a:ext>
            </a:extLst>
          </p:cNvPr>
          <p:cNvSpPr>
            <a:spLocks noGrp="1"/>
          </p:cNvSpPr>
          <p:nvPr>
            <p:ph type="sldNum" sz="quarter" idx="5"/>
          </p:nvPr>
        </p:nvSpPr>
        <p:spPr/>
        <p:txBody>
          <a:bodyPr/>
          <a:lstStyle/>
          <a:p>
            <a:fld id="{25FC8A2B-14B3-4AB7-B945-4222430686C6}" type="slidenum">
              <a:rPr lang="LID4096" smtClean="0"/>
              <a:t>39</a:t>
            </a:fld>
            <a:endParaRPr lang="LID4096"/>
          </a:p>
        </p:txBody>
      </p:sp>
    </p:spTree>
    <p:extLst>
      <p:ext uri="{BB962C8B-B14F-4D97-AF65-F5344CB8AC3E}">
        <p14:creationId xmlns:p14="http://schemas.microsoft.com/office/powerpoint/2010/main" val="2916246962"/>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86DCC0-B1C2-260F-E400-321AAD0F15BC}"/>
            </a:ext>
          </a:extLst>
        </p:cNvPr>
        <p:cNvGrpSpPr/>
        <p:nvPr/>
      </p:nvGrpSpPr>
      <p:grpSpPr>
        <a:xfrm>
          <a:off x="0" y="0"/>
          <a:ext cx="0" cy="0"/>
          <a:chOff x="0" y="0"/>
          <a:chExt cx="0" cy="0"/>
        </a:xfrm>
      </p:grpSpPr>
      <p:sp>
        <p:nvSpPr>
          <p:cNvPr id="2" name="מציין מיקום של תמונת שקופית 1">
            <a:extLst>
              <a:ext uri="{FF2B5EF4-FFF2-40B4-BE49-F238E27FC236}">
                <a16:creationId xmlns:a16="http://schemas.microsoft.com/office/drawing/2014/main" id="{AC545D28-2DE3-7D9A-687F-40DC9D5F73B1}"/>
              </a:ext>
            </a:extLst>
          </p:cNvPr>
          <p:cNvSpPr>
            <a:spLocks noGrp="1" noRot="1" noChangeAspect="1"/>
          </p:cNvSpPr>
          <p:nvPr>
            <p:ph type="sldImg"/>
          </p:nvPr>
        </p:nvSpPr>
        <p:spPr/>
      </p:sp>
      <p:sp>
        <p:nvSpPr>
          <p:cNvPr id="3" name="מציין מיקום של הערות 2">
            <a:extLst>
              <a:ext uri="{FF2B5EF4-FFF2-40B4-BE49-F238E27FC236}">
                <a16:creationId xmlns:a16="http://schemas.microsoft.com/office/drawing/2014/main" id="{E61BE36D-2F64-91CC-AA5F-E05660B93F32}"/>
              </a:ext>
            </a:extLst>
          </p:cNvPr>
          <p:cNvSpPr>
            <a:spLocks noGrp="1"/>
          </p:cNvSpPr>
          <p:nvPr>
            <p:ph type="body" idx="1"/>
          </p:nvPr>
        </p:nvSpPr>
        <p:spPr/>
        <p:txBody>
          <a:bodyPr/>
          <a:lstStyle/>
          <a:p>
            <a:r>
              <a:rPr lang="he-IL" b="1"/>
              <a:t>תרגול בסיסי, שאלה </a:t>
            </a:r>
            <a:r>
              <a:rPr lang="en-US" b="1"/>
              <a:t>1</a:t>
            </a:r>
            <a:r>
              <a:rPr lang="he-IL" b="1"/>
              <a:t> סעיף ב' מתוך </a:t>
            </a:r>
            <a:r>
              <a:rPr lang="en-US" b="1"/>
              <a:t>3</a:t>
            </a:r>
          </a:p>
        </p:txBody>
      </p:sp>
      <p:sp>
        <p:nvSpPr>
          <p:cNvPr id="4" name="מציין מיקום של מספר שקופית 3">
            <a:extLst>
              <a:ext uri="{FF2B5EF4-FFF2-40B4-BE49-F238E27FC236}">
                <a16:creationId xmlns:a16="http://schemas.microsoft.com/office/drawing/2014/main" id="{601377B3-D73A-72C0-DC3F-215D48CC473B}"/>
              </a:ext>
            </a:extLst>
          </p:cNvPr>
          <p:cNvSpPr>
            <a:spLocks noGrp="1"/>
          </p:cNvSpPr>
          <p:nvPr>
            <p:ph type="sldNum" sz="quarter" idx="5"/>
          </p:nvPr>
        </p:nvSpPr>
        <p:spPr/>
        <p:txBody>
          <a:bodyPr/>
          <a:lstStyle/>
          <a:p>
            <a:fld id="{25FC8A2B-14B3-4AB7-B945-4222430686C6}" type="slidenum">
              <a:rPr lang="LID4096" smtClean="0"/>
              <a:t>40</a:t>
            </a:fld>
            <a:endParaRPr lang="LID4096"/>
          </a:p>
        </p:txBody>
      </p:sp>
    </p:spTree>
    <p:extLst>
      <p:ext uri="{BB962C8B-B14F-4D97-AF65-F5344CB8AC3E}">
        <p14:creationId xmlns:p14="http://schemas.microsoft.com/office/powerpoint/2010/main" val="2240196716"/>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6E8776-0870-EACA-FD97-1C3FBD5A5B1F}"/>
            </a:ext>
          </a:extLst>
        </p:cNvPr>
        <p:cNvGrpSpPr/>
        <p:nvPr/>
      </p:nvGrpSpPr>
      <p:grpSpPr>
        <a:xfrm>
          <a:off x="0" y="0"/>
          <a:ext cx="0" cy="0"/>
          <a:chOff x="0" y="0"/>
          <a:chExt cx="0" cy="0"/>
        </a:xfrm>
      </p:grpSpPr>
      <p:sp>
        <p:nvSpPr>
          <p:cNvPr id="2" name="מציין מיקום של תמונת שקופית 1">
            <a:extLst>
              <a:ext uri="{FF2B5EF4-FFF2-40B4-BE49-F238E27FC236}">
                <a16:creationId xmlns:a16="http://schemas.microsoft.com/office/drawing/2014/main" id="{0A75F009-7445-900A-46C1-4D5D5D0B0A9A}"/>
              </a:ext>
            </a:extLst>
          </p:cNvPr>
          <p:cNvSpPr>
            <a:spLocks noGrp="1" noRot="1" noChangeAspect="1"/>
          </p:cNvSpPr>
          <p:nvPr>
            <p:ph type="sldImg"/>
          </p:nvPr>
        </p:nvSpPr>
        <p:spPr/>
      </p:sp>
      <p:sp>
        <p:nvSpPr>
          <p:cNvPr id="3" name="מציין מיקום של הערות 2">
            <a:extLst>
              <a:ext uri="{FF2B5EF4-FFF2-40B4-BE49-F238E27FC236}">
                <a16:creationId xmlns:a16="http://schemas.microsoft.com/office/drawing/2014/main" id="{964B0EC3-D247-3EAF-17F6-35EEE3E27BD6}"/>
              </a:ext>
            </a:extLst>
          </p:cNvPr>
          <p:cNvSpPr>
            <a:spLocks noGrp="1"/>
          </p:cNvSpPr>
          <p:nvPr>
            <p:ph type="body" idx="1"/>
          </p:nvPr>
        </p:nvSpPr>
        <p:spPr/>
        <p:txBody>
          <a:bodyPr/>
          <a:lstStyle/>
          <a:p>
            <a:r>
              <a:rPr lang="he-IL" b="1"/>
              <a:t>תרגול בסיסי, שאלה 2 סעיף ג' מתוך 4</a:t>
            </a:r>
          </a:p>
        </p:txBody>
      </p:sp>
      <p:sp>
        <p:nvSpPr>
          <p:cNvPr id="4" name="מציין מיקום של מספר שקופית 3">
            <a:extLst>
              <a:ext uri="{FF2B5EF4-FFF2-40B4-BE49-F238E27FC236}">
                <a16:creationId xmlns:a16="http://schemas.microsoft.com/office/drawing/2014/main" id="{9A584164-EFBB-6179-CA8E-FEA6D7ED9FB4}"/>
              </a:ext>
            </a:extLst>
          </p:cNvPr>
          <p:cNvSpPr>
            <a:spLocks noGrp="1"/>
          </p:cNvSpPr>
          <p:nvPr>
            <p:ph type="sldNum" sz="quarter" idx="5"/>
          </p:nvPr>
        </p:nvSpPr>
        <p:spPr/>
        <p:txBody>
          <a:bodyPr/>
          <a:lstStyle/>
          <a:p>
            <a:fld id="{25FC8A2B-14B3-4AB7-B945-4222430686C6}" type="slidenum">
              <a:rPr lang="LID4096" smtClean="0"/>
              <a:t>41</a:t>
            </a:fld>
            <a:endParaRPr lang="LID4096"/>
          </a:p>
        </p:txBody>
      </p:sp>
    </p:spTree>
    <p:extLst>
      <p:ext uri="{BB962C8B-B14F-4D97-AF65-F5344CB8AC3E}">
        <p14:creationId xmlns:p14="http://schemas.microsoft.com/office/powerpoint/2010/main" val="1821683482"/>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983781-67B0-4DDD-5849-E843483251B0}"/>
            </a:ext>
          </a:extLst>
        </p:cNvPr>
        <p:cNvGrpSpPr/>
        <p:nvPr/>
      </p:nvGrpSpPr>
      <p:grpSpPr>
        <a:xfrm>
          <a:off x="0" y="0"/>
          <a:ext cx="0" cy="0"/>
          <a:chOff x="0" y="0"/>
          <a:chExt cx="0" cy="0"/>
        </a:xfrm>
      </p:grpSpPr>
      <p:sp>
        <p:nvSpPr>
          <p:cNvPr id="2" name="מציין מיקום של תמונת שקופית 1">
            <a:extLst>
              <a:ext uri="{FF2B5EF4-FFF2-40B4-BE49-F238E27FC236}">
                <a16:creationId xmlns:a16="http://schemas.microsoft.com/office/drawing/2014/main" id="{ACF74FBF-244D-EEFE-D31B-5BE62CCC47E8}"/>
              </a:ext>
            </a:extLst>
          </p:cNvPr>
          <p:cNvSpPr>
            <a:spLocks noGrp="1" noRot="1" noChangeAspect="1"/>
          </p:cNvSpPr>
          <p:nvPr>
            <p:ph type="sldImg"/>
          </p:nvPr>
        </p:nvSpPr>
        <p:spPr/>
      </p:sp>
      <p:sp>
        <p:nvSpPr>
          <p:cNvPr id="3" name="מציין מיקום של הערות 2">
            <a:extLst>
              <a:ext uri="{FF2B5EF4-FFF2-40B4-BE49-F238E27FC236}">
                <a16:creationId xmlns:a16="http://schemas.microsoft.com/office/drawing/2014/main" id="{EF5DEDE5-C1BD-1A53-4E4D-D1623DFCC1A8}"/>
              </a:ext>
            </a:extLst>
          </p:cNvPr>
          <p:cNvSpPr>
            <a:spLocks noGrp="1"/>
          </p:cNvSpPr>
          <p:nvPr>
            <p:ph type="body" idx="1"/>
          </p:nvPr>
        </p:nvSpPr>
        <p:spPr/>
        <p:txBody>
          <a:bodyPr/>
          <a:lstStyle/>
          <a:p>
            <a:r>
              <a:rPr lang="he-IL" b="1"/>
              <a:t>תרגול בסיסי, שאלה 2 מתוך 3</a:t>
            </a:r>
          </a:p>
        </p:txBody>
      </p:sp>
      <p:sp>
        <p:nvSpPr>
          <p:cNvPr id="4" name="מציין מיקום של מספר שקופית 3">
            <a:extLst>
              <a:ext uri="{FF2B5EF4-FFF2-40B4-BE49-F238E27FC236}">
                <a16:creationId xmlns:a16="http://schemas.microsoft.com/office/drawing/2014/main" id="{152A18AB-1EB0-9CC6-9326-38F4E7BB41F1}"/>
              </a:ext>
            </a:extLst>
          </p:cNvPr>
          <p:cNvSpPr>
            <a:spLocks noGrp="1"/>
          </p:cNvSpPr>
          <p:nvPr>
            <p:ph type="sldNum" sz="quarter" idx="5"/>
          </p:nvPr>
        </p:nvSpPr>
        <p:spPr/>
        <p:txBody>
          <a:bodyPr/>
          <a:lstStyle/>
          <a:p>
            <a:fld id="{25FC8A2B-14B3-4AB7-B945-4222430686C6}" type="slidenum">
              <a:rPr lang="LID4096" smtClean="0"/>
              <a:t>42</a:t>
            </a:fld>
            <a:endParaRPr lang="LID4096"/>
          </a:p>
        </p:txBody>
      </p:sp>
    </p:spTree>
    <p:extLst>
      <p:ext uri="{BB962C8B-B14F-4D97-AF65-F5344CB8AC3E}">
        <p14:creationId xmlns:p14="http://schemas.microsoft.com/office/powerpoint/2010/main" val="1746637388"/>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9A7711-8C31-C733-4AFB-295C9910A9AC}"/>
            </a:ext>
          </a:extLst>
        </p:cNvPr>
        <p:cNvGrpSpPr/>
        <p:nvPr/>
      </p:nvGrpSpPr>
      <p:grpSpPr>
        <a:xfrm>
          <a:off x="0" y="0"/>
          <a:ext cx="0" cy="0"/>
          <a:chOff x="0" y="0"/>
          <a:chExt cx="0" cy="0"/>
        </a:xfrm>
      </p:grpSpPr>
      <p:sp>
        <p:nvSpPr>
          <p:cNvPr id="2" name="מציין מיקום של תמונת שקופית 1">
            <a:extLst>
              <a:ext uri="{FF2B5EF4-FFF2-40B4-BE49-F238E27FC236}">
                <a16:creationId xmlns:a16="http://schemas.microsoft.com/office/drawing/2014/main" id="{9FF49179-C438-D3E4-4B16-5889EFC68396}"/>
              </a:ext>
            </a:extLst>
          </p:cNvPr>
          <p:cNvSpPr>
            <a:spLocks noGrp="1" noRot="1" noChangeAspect="1"/>
          </p:cNvSpPr>
          <p:nvPr>
            <p:ph type="sldImg"/>
          </p:nvPr>
        </p:nvSpPr>
        <p:spPr/>
      </p:sp>
      <p:sp>
        <p:nvSpPr>
          <p:cNvPr id="3" name="מציין מיקום של הערות 2">
            <a:extLst>
              <a:ext uri="{FF2B5EF4-FFF2-40B4-BE49-F238E27FC236}">
                <a16:creationId xmlns:a16="http://schemas.microsoft.com/office/drawing/2014/main" id="{84E4A78E-4488-37E0-F940-BA9B0A71F6D0}"/>
              </a:ext>
            </a:extLst>
          </p:cNvPr>
          <p:cNvSpPr>
            <a:spLocks noGrp="1"/>
          </p:cNvSpPr>
          <p:nvPr>
            <p:ph type="body" idx="1"/>
          </p:nvPr>
        </p:nvSpPr>
        <p:spPr/>
        <p:txBody>
          <a:bodyPr/>
          <a:lstStyle/>
          <a:p>
            <a:r>
              <a:rPr lang="he-IL" b="1"/>
              <a:t>תרגול בסיסי, שאלה 4 (סעיף א') מתוך 4</a:t>
            </a:r>
          </a:p>
          <a:p>
            <a:r>
              <a:rPr lang="he-IL" b="0"/>
              <a:t>תמונה בתיקיית האלמנטים – מסיבת פורים</a:t>
            </a:r>
          </a:p>
        </p:txBody>
      </p:sp>
      <p:sp>
        <p:nvSpPr>
          <p:cNvPr id="4" name="מציין מיקום של מספר שקופית 3">
            <a:extLst>
              <a:ext uri="{FF2B5EF4-FFF2-40B4-BE49-F238E27FC236}">
                <a16:creationId xmlns:a16="http://schemas.microsoft.com/office/drawing/2014/main" id="{EECA079B-7EF2-EB15-A716-066779BE4070}"/>
              </a:ext>
            </a:extLst>
          </p:cNvPr>
          <p:cNvSpPr>
            <a:spLocks noGrp="1"/>
          </p:cNvSpPr>
          <p:nvPr>
            <p:ph type="sldNum" sz="quarter" idx="5"/>
          </p:nvPr>
        </p:nvSpPr>
        <p:spPr/>
        <p:txBody>
          <a:bodyPr/>
          <a:lstStyle/>
          <a:p>
            <a:fld id="{25FC8A2B-14B3-4AB7-B945-4222430686C6}" type="slidenum">
              <a:rPr lang="LID4096" smtClean="0"/>
              <a:t>43</a:t>
            </a:fld>
            <a:endParaRPr lang="LID4096"/>
          </a:p>
        </p:txBody>
      </p:sp>
    </p:spTree>
    <p:extLst>
      <p:ext uri="{BB962C8B-B14F-4D97-AF65-F5344CB8AC3E}">
        <p14:creationId xmlns:p14="http://schemas.microsoft.com/office/powerpoint/2010/main" val="187821623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CCB2BC-84A5-522D-96B8-77458A966D0D}"/>
            </a:ext>
          </a:extLst>
        </p:cNvPr>
        <p:cNvGrpSpPr/>
        <p:nvPr/>
      </p:nvGrpSpPr>
      <p:grpSpPr>
        <a:xfrm>
          <a:off x="0" y="0"/>
          <a:ext cx="0" cy="0"/>
          <a:chOff x="0" y="0"/>
          <a:chExt cx="0" cy="0"/>
        </a:xfrm>
      </p:grpSpPr>
      <p:sp>
        <p:nvSpPr>
          <p:cNvPr id="2" name="מציין מיקום של תמונת שקופית 1">
            <a:extLst>
              <a:ext uri="{FF2B5EF4-FFF2-40B4-BE49-F238E27FC236}">
                <a16:creationId xmlns:a16="http://schemas.microsoft.com/office/drawing/2014/main" id="{9B811204-EC84-40E2-AD94-65A6422B2431}"/>
              </a:ext>
            </a:extLst>
          </p:cNvPr>
          <p:cNvSpPr>
            <a:spLocks noGrp="1" noRot="1" noChangeAspect="1"/>
          </p:cNvSpPr>
          <p:nvPr>
            <p:ph type="sldImg"/>
          </p:nvPr>
        </p:nvSpPr>
        <p:spPr/>
      </p:sp>
      <p:sp>
        <p:nvSpPr>
          <p:cNvPr id="3" name="מציין מיקום של הערות 2">
            <a:extLst>
              <a:ext uri="{FF2B5EF4-FFF2-40B4-BE49-F238E27FC236}">
                <a16:creationId xmlns:a16="http://schemas.microsoft.com/office/drawing/2014/main" id="{14D0EDAA-2EED-1099-FCF9-BAF29A2F8BB6}"/>
              </a:ext>
            </a:extLst>
          </p:cNvPr>
          <p:cNvSpPr>
            <a:spLocks noGrp="1"/>
          </p:cNvSpPr>
          <p:nvPr>
            <p:ph type="body" idx="1"/>
          </p:nvPr>
        </p:nvSpPr>
        <p:spPr/>
        <p:txBody>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lang="he-IL"/>
              <a:t>שם המסך בפיגמה:</a:t>
            </a:r>
            <a:r>
              <a:rPr lang="" sz="1200" kern="1200">
                <a:solidFill>
                  <a:schemeClr val="tx1"/>
                </a:solidFill>
                <a:effectLst/>
                <a:latin typeface="+mn-lt"/>
                <a:ea typeface="+mn-ea"/>
                <a:cs typeface="+mn-cs"/>
              </a:rPr>
              <a:t>SingleChoiceQuestionImage</a:t>
            </a:r>
            <a:endParaRPr lang="he-IL" sz="1200" kern="1200">
              <a:solidFill>
                <a:schemeClr val="tx1"/>
              </a:solidFill>
              <a:effectLst/>
              <a:latin typeface="+mn-lt"/>
              <a:ea typeface="+mn-ea"/>
              <a:cs typeface="+mn-cs"/>
            </a:endParaRPr>
          </a:p>
          <a:p>
            <a:r>
              <a:rPr lang="he-IL" b="1"/>
              <a:t>תרגול בסיסי, שאלה 4 סעיף ב' מתוך 4</a:t>
            </a:r>
          </a:p>
        </p:txBody>
      </p:sp>
      <p:sp>
        <p:nvSpPr>
          <p:cNvPr id="4" name="מציין מיקום של מספר שקופית 3">
            <a:extLst>
              <a:ext uri="{FF2B5EF4-FFF2-40B4-BE49-F238E27FC236}">
                <a16:creationId xmlns:a16="http://schemas.microsoft.com/office/drawing/2014/main" id="{0414A51F-6DCD-0C36-A401-9EC3C2B4B85B}"/>
              </a:ext>
            </a:extLst>
          </p:cNvPr>
          <p:cNvSpPr>
            <a:spLocks noGrp="1"/>
          </p:cNvSpPr>
          <p:nvPr>
            <p:ph type="sldNum" sz="quarter" idx="5"/>
          </p:nvPr>
        </p:nvSpPr>
        <p:spPr/>
        <p:txBody>
          <a:bodyPr/>
          <a:lstStyle/>
          <a:p>
            <a:fld id="{25FC8A2B-14B3-4AB7-B945-4222430686C6}" type="slidenum">
              <a:rPr lang="LID4096" smtClean="0"/>
              <a:t>44</a:t>
            </a:fld>
            <a:endParaRPr lang="LID4096"/>
          </a:p>
        </p:txBody>
      </p:sp>
    </p:spTree>
    <p:extLst>
      <p:ext uri="{BB962C8B-B14F-4D97-AF65-F5344CB8AC3E}">
        <p14:creationId xmlns:p14="http://schemas.microsoft.com/office/powerpoint/2010/main" val="899427215"/>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FA81FB-7DBE-A239-38BB-F709B4F3C2F7}"/>
            </a:ext>
          </a:extLst>
        </p:cNvPr>
        <p:cNvGrpSpPr/>
        <p:nvPr/>
      </p:nvGrpSpPr>
      <p:grpSpPr>
        <a:xfrm>
          <a:off x="0" y="0"/>
          <a:ext cx="0" cy="0"/>
          <a:chOff x="0" y="0"/>
          <a:chExt cx="0" cy="0"/>
        </a:xfrm>
      </p:grpSpPr>
      <p:sp>
        <p:nvSpPr>
          <p:cNvPr id="2" name="מציין מיקום של תמונת שקופית 1">
            <a:extLst>
              <a:ext uri="{FF2B5EF4-FFF2-40B4-BE49-F238E27FC236}">
                <a16:creationId xmlns:a16="http://schemas.microsoft.com/office/drawing/2014/main" id="{B61F8770-9D45-1DB9-3E62-0E6555DE3CC7}"/>
              </a:ext>
            </a:extLst>
          </p:cNvPr>
          <p:cNvSpPr>
            <a:spLocks noGrp="1" noRot="1" noChangeAspect="1"/>
          </p:cNvSpPr>
          <p:nvPr>
            <p:ph type="sldImg"/>
          </p:nvPr>
        </p:nvSpPr>
        <p:spPr/>
      </p:sp>
      <p:sp>
        <p:nvSpPr>
          <p:cNvPr id="3" name="מציין מיקום של הערות 2">
            <a:extLst>
              <a:ext uri="{FF2B5EF4-FFF2-40B4-BE49-F238E27FC236}">
                <a16:creationId xmlns:a16="http://schemas.microsoft.com/office/drawing/2014/main" id="{9A18F583-86A5-B059-DEBA-239BA81B837C}"/>
              </a:ext>
            </a:extLst>
          </p:cNvPr>
          <p:cNvSpPr>
            <a:spLocks noGrp="1"/>
          </p:cNvSpPr>
          <p:nvPr>
            <p:ph type="body" idx="1"/>
          </p:nvPr>
        </p:nvSpPr>
        <p:spPr/>
        <p:txBody>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lang="he-IL"/>
              <a:t>שם המסך בפיגמה:</a:t>
            </a:r>
            <a:r>
              <a:rPr lang="" sz="1200" kern="1200">
                <a:solidFill>
                  <a:schemeClr val="tx1"/>
                </a:solidFill>
                <a:effectLst/>
                <a:latin typeface="+mn-lt"/>
                <a:ea typeface="+mn-ea"/>
                <a:cs typeface="+mn-cs"/>
              </a:rPr>
              <a:t>SingleChoiceQuestionImage</a:t>
            </a:r>
            <a:endParaRPr lang="he-IL" sz="1200" kern="1200">
              <a:solidFill>
                <a:schemeClr val="tx1"/>
              </a:solidFill>
              <a:effectLst/>
              <a:latin typeface="+mn-lt"/>
              <a:ea typeface="+mn-ea"/>
              <a:cs typeface="+mn-cs"/>
            </a:endParaRPr>
          </a:p>
          <a:p>
            <a:r>
              <a:rPr lang="he-IL" b="1"/>
              <a:t>תרגול בסיסי, שאלה 4 סעיף ג' מתוך 4</a:t>
            </a:r>
          </a:p>
        </p:txBody>
      </p:sp>
      <p:sp>
        <p:nvSpPr>
          <p:cNvPr id="4" name="מציין מיקום של מספר שקופית 3">
            <a:extLst>
              <a:ext uri="{FF2B5EF4-FFF2-40B4-BE49-F238E27FC236}">
                <a16:creationId xmlns:a16="http://schemas.microsoft.com/office/drawing/2014/main" id="{68E67F91-5DF3-B96A-76E3-A5BC2EBA609D}"/>
              </a:ext>
            </a:extLst>
          </p:cNvPr>
          <p:cNvSpPr>
            <a:spLocks noGrp="1"/>
          </p:cNvSpPr>
          <p:nvPr>
            <p:ph type="sldNum" sz="quarter" idx="5"/>
          </p:nvPr>
        </p:nvSpPr>
        <p:spPr/>
        <p:txBody>
          <a:bodyPr/>
          <a:lstStyle/>
          <a:p>
            <a:fld id="{25FC8A2B-14B3-4AB7-B945-4222430686C6}" type="slidenum">
              <a:rPr lang="LID4096" smtClean="0"/>
              <a:t>45</a:t>
            </a:fld>
            <a:endParaRPr lang="LID4096"/>
          </a:p>
        </p:txBody>
      </p:sp>
    </p:spTree>
    <p:extLst>
      <p:ext uri="{BB962C8B-B14F-4D97-AF65-F5344CB8AC3E}">
        <p14:creationId xmlns:p14="http://schemas.microsoft.com/office/powerpoint/2010/main" val="2764152674"/>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he-IL" b="1"/>
              <a:t>הנחיות הפקה: </a:t>
            </a:r>
          </a:p>
          <a:p>
            <a:pPr marL="171450" indent="-171450">
              <a:buFont typeface="Arial" panose="020B0604020202020204" pitchFamily="34" charset="0"/>
              <a:buChar char="•"/>
            </a:pPr>
            <a:r>
              <a:rPr lang="he-IL" b="1"/>
              <a:t>מסך הזנקה תרגול סטנדרטי ב</a:t>
            </a:r>
          </a:p>
          <a:p>
            <a:pPr marL="171450" indent="-171450">
              <a:buFont typeface="Arial" panose="020B0604020202020204" pitchFamily="34" charset="0"/>
              <a:buChar char="•"/>
            </a:pPr>
            <a:r>
              <a:rPr lang="he-IL"/>
              <a:t>שם המסך בפיגמה: </a:t>
            </a:r>
            <a:r>
              <a:rPr lang="en-US" sz="1200" kern="1200" err="1">
                <a:solidFill>
                  <a:schemeClr val="tx1"/>
                </a:solidFill>
                <a:effectLst/>
                <a:latin typeface="+mn-lt"/>
                <a:ea typeface="+mn-ea"/>
                <a:cs typeface="+mn-cs"/>
              </a:rPr>
              <a:t>TransitionScreen</a:t>
            </a:r>
            <a:endParaRPr lang="he-IL" sz="1200" kern="1200">
              <a:solidFill>
                <a:schemeClr val="tx1"/>
              </a:solidFill>
              <a:effectLst/>
              <a:latin typeface="+mn-lt"/>
              <a:ea typeface="+mn-ea"/>
              <a:cs typeface="+mn-cs"/>
            </a:endParaRPr>
          </a:p>
          <a:p>
            <a:pPr marL="171450" indent="-171450">
              <a:buFont typeface="Arial" panose="020B0604020202020204" pitchFamily="34" charset="0"/>
              <a:buChar char="•"/>
            </a:pPr>
            <a:r>
              <a:rPr lang="he-IL" sz="1200" kern="1200">
                <a:solidFill>
                  <a:schemeClr val="tx1"/>
                </a:solidFill>
                <a:effectLst/>
                <a:latin typeface="+mn-lt"/>
                <a:ea typeface="+mn-ea"/>
                <a:cs typeface="+mn-cs"/>
              </a:rPr>
              <a:t>הדמות עושה תנועה של שריר עם היד</a:t>
            </a:r>
            <a:endParaRPr lang="he-IL"/>
          </a:p>
          <a:p>
            <a:endParaRPr lang="he-IL"/>
          </a:p>
        </p:txBody>
      </p:sp>
      <p:sp>
        <p:nvSpPr>
          <p:cNvPr id="4" name="Slide Number Placeholder 3"/>
          <p:cNvSpPr>
            <a:spLocks noGrp="1"/>
          </p:cNvSpPr>
          <p:nvPr>
            <p:ph type="sldNum" sz="quarter" idx="5"/>
          </p:nvPr>
        </p:nvSpPr>
        <p:spPr/>
        <p:txBody>
          <a:bodyPr/>
          <a:lstStyle/>
          <a:p>
            <a:fld id="{25FC8A2B-14B3-4AB7-B945-4222430686C6}" type="slidenum">
              <a:rPr lang="LID4096" smtClean="0"/>
              <a:t>46</a:t>
            </a:fld>
            <a:endParaRPr lang="LID4096"/>
          </a:p>
        </p:txBody>
      </p:sp>
    </p:spTree>
    <p:extLst>
      <p:ext uri="{BB962C8B-B14F-4D97-AF65-F5344CB8AC3E}">
        <p14:creationId xmlns:p14="http://schemas.microsoft.com/office/powerpoint/2010/main" val="3517181602"/>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656EBF-12C6-AAA5-F1F6-0ACF123A42F4}"/>
            </a:ext>
          </a:extLst>
        </p:cNvPr>
        <p:cNvGrpSpPr/>
        <p:nvPr/>
      </p:nvGrpSpPr>
      <p:grpSpPr>
        <a:xfrm>
          <a:off x="0" y="0"/>
          <a:ext cx="0" cy="0"/>
          <a:chOff x="0" y="0"/>
          <a:chExt cx="0" cy="0"/>
        </a:xfrm>
      </p:grpSpPr>
      <p:sp>
        <p:nvSpPr>
          <p:cNvPr id="2" name="מציין מיקום של תמונת שקופית 1">
            <a:extLst>
              <a:ext uri="{FF2B5EF4-FFF2-40B4-BE49-F238E27FC236}">
                <a16:creationId xmlns:a16="http://schemas.microsoft.com/office/drawing/2014/main" id="{F08E7CDE-DB25-246B-4666-0CDFEF84BAD3}"/>
              </a:ext>
            </a:extLst>
          </p:cNvPr>
          <p:cNvSpPr>
            <a:spLocks noGrp="1" noRot="1" noChangeAspect="1"/>
          </p:cNvSpPr>
          <p:nvPr>
            <p:ph type="sldImg"/>
          </p:nvPr>
        </p:nvSpPr>
        <p:spPr/>
      </p:sp>
      <p:sp>
        <p:nvSpPr>
          <p:cNvPr id="3" name="מציין מיקום של הערות 2">
            <a:extLst>
              <a:ext uri="{FF2B5EF4-FFF2-40B4-BE49-F238E27FC236}">
                <a16:creationId xmlns:a16="http://schemas.microsoft.com/office/drawing/2014/main" id="{5D823E1C-2BC0-22FA-5B50-BF4D516A643B}"/>
              </a:ext>
            </a:extLst>
          </p:cNvPr>
          <p:cNvSpPr>
            <a:spLocks noGrp="1"/>
          </p:cNvSpPr>
          <p:nvPr>
            <p:ph type="body" idx="1"/>
          </p:nvPr>
        </p:nvSpPr>
        <p:spPr/>
        <p:txBody>
          <a:bodyPr/>
          <a:lstStyle/>
          <a:p>
            <a:r>
              <a:rPr lang="he-IL" sz="1200" b="1">
                <a:latin typeface="Assistant" pitchFamily="2" charset="-79"/>
                <a:cs typeface="Assistant" pitchFamily="2" charset="-79"/>
              </a:rPr>
              <a:t>מקטע זה מלווה בסרגל שאלה, שאלה 1 סעיף א' מתוך 2 </a:t>
            </a:r>
          </a:p>
        </p:txBody>
      </p:sp>
      <p:sp>
        <p:nvSpPr>
          <p:cNvPr id="4" name="מציין מיקום של מספר שקופית 3">
            <a:extLst>
              <a:ext uri="{FF2B5EF4-FFF2-40B4-BE49-F238E27FC236}">
                <a16:creationId xmlns:a16="http://schemas.microsoft.com/office/drawing/2014/main" id="{A6CB8095-BB7D-B437-A6D3-18879BB2DC00}"/>
              </a:ext>
            </a:extLst>
          </p:cNvPr>
          <p:cNvSpPr>
            <a:spLocks noGrp="1"/>
          </p:cNvSpPr>
          <p:nvPr>
            <p:ph type="sldNum" sz="quarter" idx="5"/>
          </p:nvPr>
        </p:nvSpPr>
        <p:spPr/>
        <p:txBody>
          <a:bodyPr/>
          <a:lstStyle/>
          <a:p>
            <a:fld id="{25FC8A2B-14B3-4AB7-B945-4222430686C6}" type="slidenum">
              <a:rPr lang="LID4096" smtClean="0"/>
              <a:t>47</a:t>
            </a:fld>
            <a:endParaRPr lang="LID4096"/>
          </a:p>
        </p:txBody>
      </p:sp>
    </p:spTree>
    <p:extLst>
      <p:ext uri="{BB962C8B-B14F-4D97-AF65-F5344CB8AC3E}">
        <p14:creationId xmlns:p14="http://schemas.microsoft.com/office/powerpoint/2010/main" val="204578195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18186C-CFEE-F906-ADFC-9BF21058EAA7}"/>
            </a:ext>
          </a:extLst>
        </p:cNvPr>
        <p:cNvGrpSpPr/>
        <p:nvPr/>
      </p:nvGrpSpPr>
      <p:grpSpPr>
        <a:xfrm>
          <a:off x="0" y="0"/>
          <a:ext cx="0" cy="0"/>
          <a:chOff x="0" y="0"/>
          <a:chExt cx="0" cy="0"/>
        </a:xfrm>
      </p:grpSpPr>
      <p:sp>
        <p:nvSpPr>
          <p:cNvPr id="2" name="מציין מיקום של תמונת שקופית 1">
            <a:extLst>
              <a:ext uri="{FF2B5EF4-FFF2-40B4-BE49-F238E27FC236}">
                <a16:creationId xmlns:a16="http://schemas.microsoft.com/office/drawing/2014/main" id="{12907DD3-ED3F-01EF-A985-B12CC789C115}"/>
              </a:ext>
            </a:extLst>
          </p:cNvPr>
          <p:cNvSpPr>
            <a:spLocks noGrp="1" noRot="1" noChangeAspect="1"/>
          </p:cNvSpPr>
          <p:nvPr>
            <p:ph type="sldImg"/>
          </p:nvPr>
        </p:nvSpPr>
        <p:spPr/>
      </p:sp>
      <p:sp>
        <p:nvSpPr>
          <p:cNvPr id="3" name="מציין מיקום של הערות 2">
            <a:extLst>
              <a:ext uri="{FF2B5EF4-FFF2-40B4-BE49-F238E27FC236}">
                <a16:creationId xmlns:a16="http://schemas.microsoft.com/office/drawing/2014/main" id="{9C18AF01-68AC-A927-DDE0-DA2BBB0A9AB1}"/>
              </a:ext>
            </a:extLst>
          </p:cNvPr>
          <p:cNvSpPr>
            <a:spLocks noGrp="1"/>
          </p:cNvSpPr>
          <p:nvPr>
            <p:ph type="body" idx="1"/>
          </p:nvPr>
        </p:nvSpPr>
        <p:spPr/>
        <p:txBody>
          <a:bodyPr/>
          <a:lstStyle/>
          <a:p>
            <a:r>
              <a:rPr lang="he-IL"/>
              <a:t>שם המסך בפיגמה:</a:t>
            </a:r>
            <a:r>
              <a:rPr lang="" sz="1200" kern="1200">
                <a:solidFill>
                  <a:schemeClr val="tx1"/>
                </a:solidFill>
                <a:effectLst/>
                <a:latin typeface="+mn-lt"/>
                <a:ea typeface="+mn-ea"/>
                <a:cs typeface="+mn-cs"/>
              </a:rPr>
              <a:t>SingleChoiceQuestionImage</a:t>
            </a:r>
            <a:endParaRPr lang="he-IL" sz="1200" kern="1200">
              <a:solidFill>
                <a:schemeClr val="tx1"/>
              </a:solidFill>
              <a:effectLst/>
              <a:latin typeface="+mn-lt"/>
              <a:ea typeface="+mn-ea"/>
              <a:cs typeface="+mn-cs"/>
            </a:endParaRPr>
          </a:p>
          <a:p>
            <a:r>
              <a:rPr lang="he-IL" sz="1200" b="1">
                <a:latin typeface="Assistant" pitchFamily="2" charset="-79"/>
                <a:cs typeface="Assistant" pitchFamily="2" charset="-79"/>
              </a:rPr>
              <a:t>מקטע זה מלווה בסרגל שאלה, שאלה 1 סעיף א' מתוך 2 </a:t>
            </a:r>
          </a:p>
        </p:txBody>
      </p:sp>
      <p:sp>
        <p:nvSpPr>
          <p:cNvPr id="4" name="מציין מיקום של מספר שקופית 3">
            <a:extLst>
              <a:ext uri="{FF2B5EF4-FFF2-40B4-BE49-F238E27FC236}">
                <a16:creationId xmlns:a16="http://schemas.microsoft.com/office/drawing/2014/main" id="{6F8398C5-A372-11E8-3F31-91F463099A8D}"/>
              </a:ext>
            </a:extLst>
          </p:cNvPr>
          <p:cNvSpPr>
            <a:spLocks noGrp="1"/>
          </p:cNvSpPr>
          <p:nvPr>
            <p:ph type="sldNum" sz="quarter" idx="5"/>
          </p:nvPr>
        </p:nvSpPr>
        <p:spPr/>
        <p:txBody>
          <a:bodyPr/>
          <a:lstStyle/>
          <a:p>
            <a:fld id="{25FC8A2B-14B3-4AB7-B945-4222430686C6}" type="slidenum">
              <a:rPr lang="LID4096" smtClean="0"/>
              <a:t>48</a:t>
            </a:fld>
            <a:endParaRPr lang="LID4096"/>
          </a:p>
        </p:txBody>
      </p:sp>
    </p:spTree>
    <p:extLst>
      <p:ext uri="{BB962C8B-B14F-4D97-AF65-F5344CB8AC3E}">
        <p14:creationId xmlns:p14="http://schemas.microsoft.com/office/powerpoint/2010/main" val="1950106744"/>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FF04AE-8F34-4F4B-E71D-C4034B014773}"/>
            </a:ext>
          </a:extLst>
        </p:cNvPr>
        <p:cNvGrpSpPr/>
        <p:nvPr/>
      </p:nvGrpSpPr>
      <p:grpSpPr>
        <a:xfrm>
          <a:off x="0" y="0"/>
          <a:ext cx="0" cy="0"/>
          <a:chOff x="0" y="0"/>
          <a:chExt cx="0" cy="0"/>
        </a:xfrm>
      </p:grpSpPr>
      <p:sp>
        <p:nvSpPr>
          <p:cNvPr id="2" name="מציין מיקום של תמונת שקופית 1">
            <a:extLst>
              <a:ext uri="{FF2B5EF4-FFF2-40B4-BE49-F238E27FC236}">
                <a16:creationId xmlns:a16="http://schemas.microsoft.com/office/drawing/2014/main" id="{25EBDB87-2275-838F-CAEF-468DA86074B8}"/>
              </a:ext>
            </a:extLst>
          </p:cNvPr>
          <p:cNvSpPr>
            <a:spLocks noGrp="1" noRot="1" noChangeAspect="1"/>
          </p:cNvSpPr>
          <p:nvPr>
            <p:ph type="sldImg"/>
          </p:nvPr>
        </p:nvSpPr>
        <p:spPr/>
      </p:sp>
      <p:sp>
        <p:nvSpPr>
          <p:cNvPr id="3" name="מציין מיקום של הערות 2">
            <a:extLst>
              <a:ext uri="{FF2B5EF4-FFF2-40B4-BE49-F238E27FC236}">
                <a16:creationId xmlns:a16="http://schemas.microsoft.com/office/drawing/2014/main" id="{0245BBF6-4245-CE98-5B33-EB6C25F36BD6}"/>
              </a:ext>
            </a:extLst>
          </p:cNvPr>
          <p:cNvSpPr>
            <a:spLocks noGrp="1"/>
          </p:cNvSpPr>
          <p:nvPr>
            <p:ph type="body" idx="1"/>
          </p:nvPr>
        </p:nvSpPr>
        <p:spPr/>
        <p:txBody>
          <a:bodyPr/>
          <a:lstStyle/>
          <a:p>
            <a:r>
              <a:rPr lang="he-IL" sz="1200" b="1">
                <a:latin typeface="Assistant" pitchFamily="2" charset="-79"/>
                <a:cs typeface="Assistant" pitchFamily="2" charset="-79"/>
              </a:rPr>
              <a:t>מקטע זה מלווה בסרגל שאלה, שאלה 1 סעיף ב' מתוך 2 </a:t>
            </a:r>
          </a:p>
          <a:p>
            <a:r>
              <a:rPr lang="he-IL" sz="1200" b="0">
                <a:latin typeface="Assistant" pitchFamily="2" charset="-79"/>
                <a:cs typeface="Assistant" pitchFamily="2" charset="-79"/>
              </a:rPr>
              <a:t>תמונה בתיקיית אלמנטים</a:t>
            </a:r>
          </a:p>
        </p:txBody>
      </p:sp>
      <p:sp>
        <p:nvSpPr>
          <p:cNvPr id="4" name="מציין מיקום של מספר שקופית 3">
            <a:extLst>
              <a:ext uri="{FF2B5EF4-FFF2-40B4-BE49-F238E27FC236}">
                <a16:creationId xmlns:a16="http://schemas.microsoft.com/office/drawing/2014/main" id="{3D865554-72E1-93F5-7A6C-7A1E8F7DBE9B}"/>
              </a:ext>
            </a:extLst>
          </p:cNvPr>
          <p:cNvSpPr>
            <a:spLocks noGrp="1"/>
          </p:cNvSpPr>
          <p:nvPr>
            <p:ph type="sldNum" sz="quarter" idx="5"/>
          </p:nvPr>
        </p:nvSpPr>
        <p:spPr/>
        <p:txBody>
          <a:bodyPr/>
          <a:lstStyle/>
          <a:p>
            <a:fld id="{25FC8A2B-14B3-4AB7-B945-4222430686C6}" type="slidenum">
              <a:rPr lang="LID4096" smtClean="0"/>
              <a:t>49</a:t>
            </a:fld>
            <a:endParaRPr lang="LID4096"/>
          </a:p>
        </p:txBody>
      </p:sp>
    </p:spTree>
    <p:extLst>
      <p:ext uri="{BB962C8B-B14F-4D97-AF65-F5344CB8AC3E}">
        <p14:creationId xmlns:p14="http://schemas.microsoft.com/office/powerpoint/2010/main" val="363686798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he-IL"/>
          </a:p>
        </p:txBody>
      </p:sp>
      <p:sp>
        <p:nvSpPr>
          <p:cNvPr id="3" name="Notes Placeholder 2"/>
          <p:cNvSpPr>
            <a:spLocks noGrp="1"/>
          </p:cNvSpPr>
          <p:nvPr>
            <p:ph type="body" idx="1"/>
          </p:nvPr>
        </p:nvSpPr>
        <p:spPr/>
        <p:txBody>
          <a:bodyPr/>
          <a:lstStyle/>
          <a:p>
            <a:r>
              <a:rPr lang="he-IL"/>
              <a:t>שקף לא בתבנית</a:t>
            </a:r>
          </a:p>
        </p:txBody>
      </p:sp>
      <p:sp>
        <p:nvSpPr>
          <p:cNvPr id="4" name="Slide Number Placeholder 3"/>
          <p:cNvSpPr>
            <a:spLocks noGrp="1"/>
          </p:cNvSpPr>
          <p:nvPr>
            <p:ph type="sldNum" sz="quarter" idx="5"/>
          </p:nvPr>
        </p:nvSpPr>
        <p:spPr/>
        <p:txBody>
          <a:bodyPr/>
          <a:lstStyle/>
          <a:p>
            <a:fld id="{25FC8A2B-14B3-4AB7-B945-4222430686C6}" type="slidenum">
              <a:rPr lang="LID4096" smtClean="0"/>
              <a:t>51</a:t>
            </a:fld>
            <a:endParaRPr lang="LID4096"/>
          </a:p>
        </p:txBody>
      </p:sp>
    </p:spTree>
    <p:extLst>
      <p:ext uri="{BB962C8B-B14F-4D97-AF65-F5344CB8AC3E}">
        <p14:creationId xmlns:p14="http://schemas.microsoft.com/office/powerpoint/2010/main" val="142844018"/>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EFB95D-120A-F389-F59F-2D4BFD69CA8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4C5D686-A14F-95EB-5622-F6490267A285}"/>
              </a:ext>
            </a:extLst>
          </p:cNvPr>
          <p:cNvSpPr>
            <a:spLocks noGrp="1" noRot="1" noChangeAspect="1"/>
          </p:cNvSpPr>
          <p:nvPr>
            <p:ph type="sldImg"/>
          </p:nvPr>
        </p:nvSpPr>
        <p:spPr/>
        <p:txBody>
          <a:bodyPr/>
          <a:lstStyle/>
          <a:p>
            <a:endParaRPr lang="he-IL"/>
          </a:p>
        </p:txBody>
      </p:sp>
      <p:sp>
        <p:nvSpPr>
          <p:cNvPr id="3" name="Notes Placeholder 2">
            <a:extLst>
              <a:ext uri="{FF2B5EF4-FFF2-40B4-BE49-F238E27FC236}">
                <a16:creationId xmlns:a16="http://schemas.microsoft.com/office/drawing/2014/main" id="{FB7008A2-34B8-8116-22FE-2B065125964F}"/>
              </a:ext>
            </a:extLst>
          </p:cNvPr>
          <p:cNvSpPr>
            <a:spLocks noGrp="1"/>
          </p:cNvSpPr>
          <p:nvPr>
            <p:ph type="body" idx="1"/>
          </p:nvPr>
        </p:nvSpPr>
        <p:spPr/>
        <p:txBody>
          <a:bodyPr/>
          <a:lstStyle/>
          <a:p>
            <a:r>
              <a:rPr lang="he-IL"/>
              <a:t>שקף לא בתבנית</a:t>
            </a:r>
          </a:p>
        </p:txBody>
      </p:sp>
      <p:sp>
        <p:nvSpPr>
          <p:cNvPr id="4" name="Slide Number Placeholder 3">
            <a:extLst>
              <a:ext uri="{FF2B5EF4-FFF2-40B4-BE49-F238E27FC236}">
                <a16:creationId xmlns:a16="http://schemas.microsoft.com/office/drawing/2014/main" id="{A65558CE-D487-4ACE-14AE-CCFABAA885D4}"/>
              </a:ext>
            </a:extLst>
          </p:cNvPr>
          <p:cNvSpPr>
            <a:spLocks noGrp="1"/>
          </p:cNvSpPr>
          <p:nvPr>
            <p:ph type="sldNum" sz="quarter" idx="5"/>
          </p:nvPr>
        </p:nvSpPr>
        <p:spPr/>
        <p:txBody>
          <a:bodyPr/>
          <a:lstStyle/>
          <a:p>
            <a:fld id="{25FC8A2B-14B3-4AB7-B945-4222430686C6}" type="slidenum">
              <a:rPr lang="LID4096" smtClean="0"/>
              <a:t>52</a:t>
            </a:fld>
            <a:endParaRPr lang="LID4096"/>
          </a:p>
        </p:txBody>
      </p:sp>
    </p:spTree>
    <p:extLst>
      <p:ext uri="{BB962C8B-B14F-4D97-AF65-F5344CB8AC3E}">
        <p14:creationId xmlns:p14="http://schemas.microsoft.com/office/powerpoint/2010/main" val="1237193345"/>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50C0E5-1BBD-C85E-B434-F9143738463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C691236-FBC7-8C11-FE52-10672DD055C6}"/>
              </a:ext>
            </a:extLst>
          </p:cNvPr>
          <p:cNvSpPr>
            <a:spLocks noGrp="1" noRot="1" noChangeAspect="1"/>
          </p:cNvSpPr>
          <p:nvPr>
            <p:ph type="sldImg"/>
          </p:nvPr>
        </p:nvSpPr>
        <p:spPr/>
        <p:txBody>
          <a:bodyPr/>
          <a:lstStyle/>
          <a:p>
            <a:endParaRPr lang="he-IL"/>
          </a:p>
        </p:txBody>
      </p:sp>
      <p:sp>
        <p:nvSpPr>
          <p:cNvPr id="3" name="Notes Placeholder 2">
            <a:extLst>
              <a:ext uri="{FF2B5EF4-FFF2-40B4-BE49-F238E27FC236}">
                <a16:creationId xmlns:a16="http://schemas.microsoft.com/office/drawing/2014/main" id="{E0EEB4D2-7022-806F-EAE9-6A0D5BAD76A5}"/>
              </a:ext>
            </a:extLst>
          </p:cNvPr>
          <p:cNvSpPr>
            <a:spLocks noGrp="1"/>
          </p:cNvSpPr>
          <p:nvPr>
            <p:ph type="body" idx="1"/>
          </p:nvPr>
        </p:nvSpPr>
        <p:spPr/>
        <p:txBody>
          <a:bodyPr/>
          <a:lstStyle/>
          <a:p>
            <a:r>
              <a:rPr lang="he-IL"/>
              <a:t>שקף לא בתבנית</a:t>
            </a:r>
          </a:p>
          <a:p>
            <a:r>
              <a:rPr lang="he-IL"/>
              <a:t>בועית הדיבור של הדמות עולה אחרי הזנת שני השדות הראשונים. </a:t>
            </a:r>
          </a:p>
          <a:p>
            <a:r>
              <a:rPr lang="he-IL"/>
              <a:t>כפתור המשך זמין רק לאחר הזנת כל השדות </a:t>
            </a:r>
          </a:p>
        </p:txBody>
      </p:sp>
      <p:sp>
        <p:nvSpPr>
          <p:cNvPr id="4" name="Slide Number Placeholder 3">
            <a:extLst>
              <a:ext uri="{FF2B5EF4-FFF2-40B4-BE49-F238E27FC236}">
                <a16:creationId xmlns:a16="http://schemas.microsoft.com/office/drawing/2014/main" id="{A8267B6B-BFE4-89F0-06D8-038FBF38AE26}"/>
              </a:ext>
            </a:extLst>
          </p:cNvPr>
          <p:cNvSpPr>
            <a:spLocks noGrp="1"/>
          </p:cNvSpPr>
          <p:nvPr>
            <p:ph type="sldNum" sz="quarter" idx="5"/>
          </p:nvPr>
        </p:nvSpPr>
        <p:spPr/>
        <p:txBody>
          <a:bodyPr/>
          <a:lstStyle/>
          <a:p>
            <a:fld id="{25FC8A2B-14B3-4AB7-B945-4222430686C6}" type="slidenum">
              <a:rPr lang="LID4096" smtClean="0"/>
              <a:t>53</a:t>
            </a:fld>
            <a:endParaRPr lang="LID4096"/>
          </a:p>
        </p:txBody>
      </p:sp>
    </p:spTree>
    <p:extLst>
      <p:ext uri="{BB962C8B-B14F-4D97-AF65-F5344CB8AC3E}">
        <p14:creationId xmlns:p14="http://schemas.microsoft.com/office/powerpoint/2010/main" val="1499828435"/>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he-IL"/>
          </a:p>
        </p:txBody>
      </p:sp>
      <p:sp>
        <p:nvSpPr>
          <p:cNvPr id="3" name="Notes Placeholder 2"/>
          <p:cNvSpPr>
            <a:spLocks noGrp="1"/>
          </p:cNvSpPr>
          <p:nvPr>
            <p:ph type="body" idx="1"/>
          </p:nvPr>
        </p:nvSpPr>
        <p:spPr/>
        <p:txBody>
          <a:bodyPr/>
          <a:lstStyle/>
          <a:p>
            <a:r>
              <a:rPr lang="he-IL" b="1"/>
              <a:t>הנחיות הפקה: </a:t>
            </a:r>
          </a:p>
          <a:p>
            <a:pPr marL="171450" indent="-171450">
              <a:buFont typeface="Arial" panose="020B0604020202020204" pitchFamily="34" charset="0"/>
              <a:buChar char="•"/>
            </a:pPr>
            <a:r>
              <a:rPr lang="he-IL" b="1"/>
              <a:t>מסך הזנקה תרגול מתקדם</a:t>
            </a:r>
          </a:p>
          <a:p>
            <a:pPr marL="171450" indent="-171450">
              <a:buFont typeface="Arial" panose="020B0604020202020204" pitchFamily="34" charset="0"/>
              <a:buChar char="•"/>
            </a:pPr>
            <a:r>
              <a:rPr lang="he-IL"/>
              <a:t>שם המסך בפיגמה: </a:t>
            </a:r>
            <a:r>
              <a:rPr lang="en-US" sz="1200" kern="1200" err="1">
                <a:solidFill>
                  <a:schemeClr val="tx1"/>
                </a:solidFill>
                <a:effectLst/>
                <a:latin typeface="+mn-lt"/>
                <a:ea typeface="+mn-ea"/>
                <a:cs typeface="+mn-cs"/>
              </a:rPr>
              <a:t>TransitionScreen</a:t>
            </a:r>
            <a:endParaRPr lang="he-IL"/>
          </a:p>
          <a:p>
            <a:endParaRPr lang="he-IL"/>
          </a:p>
        </p:txBody>
      </p:sp>
      <p:sp>
        <p:nvSpPr>
          <p:cNvPr id="4" name="Slide Number Placeholder 3"/>
          <p:cNvSpPr>
            <a:spLocks noGrp="1"/>
          </p:cNvSpPr>
          <p:nvPr>
            <p:ph type="sldNum" sz="quarter" idx="5"/>
          </p:nvPr>
        </p:nvSpPr>
        <p:spPr/>
        <p:txBody>
          <a:bodyPr/>
          <a:lstStyle/>
          <a:p>
            <a:fld id="{25FC8A2B-14B3-4AB7-B945-4222430686C6}" type="slidenum">
              <a:rPr lang="LID4096" smtClean="0"/>
              <a:t>55</a:t>
            </a:fld>
            <a:endParaRPr lang="LID4096"/>
          </a:p>
        </p:txBody>
      </p:sp>
    </p:spTree>
    <p:extLst>
      <p:ext uri="{BB962C8B-B14F-4D97-AF65-F5344CB8AC3E}">
        <p14:creationId xmlns:p14="http://schemas.microsoft.com/office/powerpoint/2010/main" val="418469176"/>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63541C-AD3C-370D-75D1-59FE0B8C4EF9}"/>
            </a:ext>
          </a:extLst>
        </p:cNvPr>
        <p:cNvGrpSpPr/>
        <p:nvPr/>
      </p:nvGrpSpPr>
      <p:grpSpPr>
        <a:xfrm>
          <a:off x="0" y="0"/>
          <a:ext cx="0" cy="0"/>
          <a:chOff x="0" y="0"/>
          <a:chExt cx="0" cy="0"/>
        </a:xfrm>
      </p:grpSpPr>
      <p:sp>
        <p:nvSpPr>
          <p:cNvPr id="2" name="מציין מיקום של תמונת שקופית 1">
            <a:extLst>
              <a:ext uri="{FF2B5EF4-FFF2-40B4-BE49-F238E27FC236}">
                <a16:creationId xmlns:a16="http://schemas.microsoft.com/office/drawing/2014/main" id="{18D0EA5E-335A-8DF6-9E61-9B40BB2EAC2D}"/>
              </a:ext>
            </a:extLst>
          </p:cNvPr>
          <p:cNvSpPr>
            <a:spLocks noGrp="1" noRot="1" noChangeAspect="1"/>
          </p:cNvSpPr>
          <p:nvPr>
            <p:ph type="sldImg"/>
          </p:nvPr>
        </p:nvSpPr>
        <p:spPr/>
      </p:sp>
      <p:sp>
        <p:nvSpPr>
          <p:cNvPr id="3" name="מציין מיקום של הערות 2">
            <a:extLst>
              <a:ext uri="{FF2B5EF4-FFF2-40B4-BE49-F238E27FC236}">
                <a16:creationId xmlns:a16="http://schemas.microsoft.com/office/drawing/2014/main" id="{2EE2B7DA-2B93-CD05-193A-420E2F5745BC}"/>
              </a:ext>
            </a:extLst>
          </p:cNvPr>
          <p:cNvSpPr>
            <a:spLocks noGrp="1"/>
          </p:cNvSpPr>
          <p:nvPr>
            <p:ph type="body" idx="1"/>
          </p:nvPr>
        </p:nvSpPr>
        <p:spPr/>
        <p:txBody>
          <a:bodyPr/>
          <a:lstStyle/>
          <a:p>
            <a:r>
              <a:rPr lang="he-IL" b="1"/>
              <a:t>תרגול מתקדם, שאלה 1 מתוך 4</a:t>
            </a:r>
          </a:p>
        </p:txBody>
      </p:sp>
      <p:sp>
        <p:nvSpPr>
          <p:cNvPr id="4" name="מציין מיקום של מספר שקופית 3">
            <a:extLst>
              <a:ext uri="{FF2B5EF4-FFF2-40B4-BE49-F238E27FC236}">
                <a16:creationId xmlns:a16="http://schemas.microsoft.com/office/drawing/2014/main" id="{67E16917-A2AF-6366-FEF4-AC4E4FED848C}"/>
              </a:ext>
            </a:extLst>
          </p:cNvPr>
          <p:cNvSpPr>
            <a:spLocks noGrp="1"/>
          </p:cNvSpPr>
          <p:nvPr>
            <p:ph type="sldNum" sz="quarter" idx="5"/>
          </p:nvPr>
        </p:nvSpPr>
        <p:spPr/>
        <p:txBody>
          <a:bodyPr/>
          <a:lstStyle/>
          <a:p>
            <a:fld id="{25FC8A2B-14B3-4AB7-B945-4222430686C6}" type="slidenum">
              <a:rPr lang="LID4096" smtClean="0"/>
              <a:t>56</a:t>
            </a:fld>
            <a:endParaRPr lang="LID4096"/>
          </a:p>
        </p:txBody>
      </p:sp>
    </p:spTree>
    <p:extLst>
      <p:ext uri="{BB962C8B-B14F-4D97-AF65-F5344CB8AC3E}">
        <p14:creationId xmlns:p14="http://schemas.microsoft.com/office/powerpoint/2010/main" val="2253198404"/>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0E3BD8-865E-9982-13C9-0678827A9373}"/>
            </a:ext>
          </a:extLst>
        </p:cNvPr>
        <p:cNvGrpSpPr/>
        <p:nvPr/>
      </p:nvGrpSpPr>
      <p:grpSpPr>
        <a:xfrm>
          <a:off x="0" y="0"/>
          <a:ext cx="0" cy="0"/>
          <a:chOff x="0" y="0"/>
          <a:chExt cx="0" cy="0"/>
        </a:xfrm>
      </p:grpSpPr>
      <p:sp>
        <p:nvSpPr>
          <p:cNvPr id="2" name="מציין מיקום של תמונת שקופית 1">
            <a:extLst>
              <a:ext uri="{FF2B5EF4-FFF2-40B4-BE49-F238E27FC236}">
                <a16:creationId xmlns:a16="http://schemas.microsoft.com/office/drawing/2014/main" id="{9C922818-0572-0405-FA0C-8AD088329471}"/>
              </a:ext>
            </a:extLst>
          </p:cNvPr>
          <p:cNvSpPr>
            <a:spLocks noGrp="1" noRot="1" noChangeAspect="1"/>
          </p:cNvSpPr>
          <p:nvPr>
            <p:ph type="sldImg"/>
          </p:nvPr>
        </p:nvSpPr>
        <p:spPr/>
      </p:sp>
      <p:sp>
        <p:nvSpPr>
          <p:cNvPr id="3" name="מציין מיקום של הערות 2">
            <a:extLst>
              <a:ext uri="{FF2B5EF4-FFF2-40B4-BE49-F238E27FC236}">
                <a16:creationId xmlns:a16="http://schemas.microsoft.com/office/drawing/2014/main" id="{63AC57E7-E557-5769-835B-7C0637E2865C}"/>
              </a:ext>
            </a:extLst>
          </p:cNvPr>
          <p:cNvSpPr>
            <a:spLocks noGrp="1"/>
          </p:cNvSpPr>
          <p:nvPr>
            <p:ph type="body" idx="1"/>
          </p:nvPr>
        </p:nvSpPr>
        <p:spPr/>
        <p:txBody>
          <a:bodyPr/>
          <a:lstStyle/>
          <a:p>
            <a:r>
              <a:rPr lang="he-IL" b="1"/>
              <a:t>תרגול מתקדם, שאלה 1 מתוך 4</a:t>
            </a:r>
          </a:p>
        </p:txBody>
      </p:sp>
      <p:sp>
        <p:nvSpPr>
          <p:cNvPr id="4" name="מציין מיקום של מספר שקופית 3">
            <a:extLst>
              <a:ext uri="{FF2B5EF4-FFF2-40B4-BE49-F238E27FC236}">
                <a16:creationId xmlns:a16="http://schemas.microsoft.com/office/drawing/2014/main" id="{C701F914-A85D-2E87-6CA3-34AFC2A846F3}"/>
              </a:ext>
            </a:extLst>
          </p:cNvPr>
          <p:cNvSpPr>
            <a:spLocks noGrp="1"/>
          </p:cNvSpPr>
          <p:nvPr>
            <p:ph type="sldNum" sz="quarter" idx="5"/>
          </p:nvPr>
        </p:nvSpPr>
        <p:spPr/>
        <p:txBody>
          <a:bodyPr/>
          <a:lstStyle/>
          <a:p>
            <a:fld id="{25FC8A2B-14B3-4AB7-B945-4222430686C6}" type="slidenum">
              <a:rPr lang="LID4096" smtClean="0"/>
              <a:t>57</a:t>
            </a:fld>
            <a:endParaRPr lang="LID4096"/>
          </a:p>
        </p:txBody>
      </p:sp>
    </p:spTree>
    <p:extLst>
      <p:ext uri="{BB962C8B-B14F-4D97-AF65-F5344CB8AC3E}">
        <p14:creationId xmlns:p14="http://schemas.microsoft.com/office/powerpoint/2010/main" val="532537992"/>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B5F62A-D416-369A-23A0-F66F4C5D3028}"/>
            </a:ext>
          </a:extLst>
        </p:cNvPr>
        <p:cNvGrpSpPr/>
        <p:nvPr/>
      </p:nvGrpSpPr>
      <p:grpSpPr>
        <a:xfrm>
          <a:off x="0" y="0"/>
          <a:ext cx="0" cy="0"/>
          <a:chOff x="0" y="0"/>
          <a:chExt cx="0" cy="0"/>
        </a:xfrm>
      </p:grpSpPr>
      <p:sp>
        <p:nvSpPr>
          <p:cNvPr id="2" name="מציין מיקום של תמונת שקופית 1">
            <a:extLst>
              <a:ext uri="{FF2B5EF4-FFF2-40B4-BE49-F238E27FC236}">
                <a16:creationId xmlns:a16="http://schemas.microsoft.com/office/drawing/2014/main" id="{F81D1481-4239-7B8F-76A4-C49C99B52363}"/>
              </a:ext>
            </a:extLst>
          </p:cNvPr>
          <p:cNvSpPr>
            <a:spLocks noGrp="1" noRot="1" noChangeAspect="1"/>
          </p:cNvSpPr>
          <p:nvPr>
            <p:ph type="sldImg"/>
          </p:nvPr>
        </p:nvSpPr>
        <p:spPr/>
      </p:sp>
      <p:sp>
        <p:nvSpPr>
          <p:cNvPr id="3" name="מציין מיקום של הערות 2">
            <a:extLst>
              <a:ext uri="{FF2B5EF4-FFF2-40B4-BE49-F238E27FC236}">
                <a16:creationId xmlns:a16="http://schemas.microsoft.com/office/drawing/2014/main" id="{F62A7F56-6395-52C8-37E6-9A09B40E0213}"/>
              </a:ext>
            </a:extLst>
          </p:cNvPr>
          <p:cNvSpPr>
            <a:spLocks noGrp="1"/>
          </p:cNvSpPr>
          <p:nvPr>
            <p:ph type="body" idx="1"/>
          </p:nvPr>
        </p:nvSpPr>
        <p:spPr/>
        <p:txBody>
          <a:bodyPr/>
          <a:lstStyle/>
          <a:p>
            <a:r>
              <a:rPr lang="he-IL" b="1"/>
              <a:t>תרגול מתקדם, שאלה </a:t>
            </a:r>
            <a:r>
              <a:rPr lang="en-US" b="1"/>
              <a:t>2</a:t>
            </a:r>
            <a:r>
              <a:rPr lang="he-IL" b="1"/>
              <a:t> מתוך 4</a:t>
            </a:r>
          </a:p>
        </p:txBody>
      </p:sp>
      <p:sp>
        <p:nvSpPr>
          <p:cNvPr id="4" name="מציין מיקום של מספר שקופית 3">
            <a:extLst>
              <a:ext uri="{FF2B5EF4-FFF2-40B4-BE49-F238E27FC236}">
                <a16:creationId xmlns:a16="http://schemas.microsoft.com/office/drawing/2014/main" id="{E56ACF6D-864E-3F3C-A72E-4E7CD7016992}"/>
              </a:ext>
            </a:extLst>
          </p:cNvPr>
          <p:cNvSpPr>
            <a:spLocks noGrp="1"/>
          </p:cNvSpPr>
          <p:nvPr>
            <p:ph type="sldNum" sz="quarter" idx="5"/>
          </p:nvPr>
        </p:nvSpPr>
        <p:spPr/>
        <p:txBody>
          <a:bodyPr/>
          <a:lstStyle/>
          <a:p>
            <a:fld id="{25FC8A2B-14B3-4AB7-B945-4222430686C6}" type="slidenum">
              <a:rPr lang="LID4096" smtClean="0"/>
              <a:t>58</a:t>
            </a:fld>
            <a:endParaRPr lang="LID4096"/>
          </a:p>
        </p:txBody>
      </p:sp>
    </p:spTree>
    <p:extLst>
      <p:ext uri="{BB962C8B-B14F-4D97-AF65-F5344CB8AC3E}">
        <p14:creationId xmlns:p14="http://schemas.microsoft.com/office/powerpoint/2010/main" val="323132138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של תמונת שקופית 1"/>
          <p:cNvSpPr>
            <a:spLocks noGrp="1" noRot="1" noChangeAspect="1"/>
          </p:cNvSpPr>
          <p:nvPr>
            <p:ph type="sldImg"/>
          </p:nvPr>
        </p:nvSpPr>
        <p:spPr/>
      </p:sp>
      <p:sp>
        <p:nvSpPr>
          <p:cNvPr id="3" name="מציין מיקום של הערות 2"/>
          <p:cNvSpPr>
            <a:spLocks noGrp="1"/>
          </p:cNvSpPr>
          <p:nvPr>
            <p:ph type="body" idx="1"/>
          </p:nvPr>
        </p:nvSpPr>
        <p:spPr/>
        <p:txBody>
          <a:bodyPr/>
          <a:lstStyle/>
          <a:p>
            <a:r>
              <a:rPr lang="he-IL"/>
              <a:t>שם התמונה: מפעל צבעים </a:t>
            </a:r>
          </a:p>
        </p:txBody>
      </p:sp>
      <p:sp>
        <p:nvSpPr>
          <p:cNvPr id="4" name="מציין מיקום של מספר שקופית 3"/>
          <p:cNvSpPr>
            <a:spLocks noGrp="1"/>
          </p:cNvSpPr>
          <p:nvPr>
            <p:ph type="sldNum" sz="quarter" idx="5"/>
          </p:nvPr>
        </p:nvSpPr>
        <p:spPr/>
        <p:txBody>
          <a:bodyPr/>
          <a:lstStyle/>
          <a:p>
            <a:fld id="{25FC8A2B-14B3-4AB7-B945-4222430686C6}" type="slidenum">
              <a:rPr lang="LID4096" smtClean="0"/>
              <a:t>59</a:t>
            </a:fld>
            <a:endParaRPr lang="LID4096"/>
          </a:p>
        </p:txBody>
      </p:sp>
    </p:spTree>
    <p:extLst>
      <p:ext uri="{BB962C8B-B14F-4D97-AF65-F5344CB8AC3E}">
        <p14:creationId xmlns:p14="http://schemas.microsoft.com/office/powerpoint/2010/main" val="2720850877"/>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571910-6BE5-9F8B-2B0D-92176FADD9DC}"/>
            </a:ext>
          </a:extLst>
        </p:cNvPr>
        <p:cNvGrpSpPr/>
        <p:nvPr/>
      </p:nvGrpSpPr>
      <p:grpSpPr>
        <a:xfrm>
          <a:off x="0" y="0"/>
          <a:ext cx="0" cy="0"/>
          <a:chOff x="0" y="0"/>
          <a:chExt cx="0" cy="0"/>
        </a:xfrm>
      </p:grpSpPr>
      <p:sp>
        <p:nvSpPr>
          <p:cNvPr id="2" name="מציין מיקום של תמונת שקופית 1">
            <a:extLst>
              <a:ext uri="{FF2B5EF4-FFF2-40B4-BE49-F238E27FC236}">
                <a16:creationId xmlns:a16="http://schemas.microsoft.com/office/drawing/2014/main" id="{136D8133-C78E-9D08-D944-2CFC5EBB276E}"/>
              </a:ext>
            </a:extLst>
          </p:cNvPr>
          <p:cNvSpPr>
            <a:spLocks noGrp="1" noRot="1" noChangeAspect="1"/>
          </p:cNvSpPr>
          <p:nvPr>
            <p:ph type="sldImg"/>
          </p:nvPr>
        </p:nvSpPr>
        <p:spPr/>
      </p:sp>
      <p:sp>
        <p:nvSpPr>
          <p:cNvPr id="3" name="מציין מיקום של הערות 2">
            <a:extLst>
              <a:ext uri="{FF2B5EF4-FFF2-40B4-BE49-F238E27FC236}">
                <a16:creationId xmlns:a16="http://schemas.microsoft.com/office/drawing/2014/main" id="{A23F570B-0360-77A6-6A6C-875A09B30DC0}"/>
              </a:ext>
            </a:extLst>
          </p:cNvPr>
          <p:cNvSpPr>
            <a:spLocks noGrp="1"/>
          </p:cNvSpPr>
          <p:nvPr>
            <p:ph type="body" idx="1"/>
          </p:nvPr>
        </p:nvSpPr>
        <p:spPr/>
        <p:txBody>
          <a:bodyPr/>
          <a:lstStyle/>
          <a:p>
            <a:endParaRPr lang="he-IL"/>
          </a:p>
        </p:txBody>
      </p:sp>
      <p:sp>
        <p:nvSpPr>
          <p:cNvPr id="4" name="מציין מיקום של מספר שקופית 3">
            <a:extLst>
              <a:ext uri="{FF2B5EF4-FFF2-40B4-BE49-F238E27FC236}">
                <a16:creationId xmlns:a16="http://schemas.microsoft.com/office/drawing/2014/main" id="{E772D785-CDB6-9BC3-F704-683891820524}"/>
              </a:ext>
            </a:extLst>
          </p:cNvPr>
          <p:cNvSpPr>
            <a:spLocks noGrp="1"/>
          </p:cNvSpPr>
          <p:nvPr>
            <p:ph type="sldNum" sz="quarter" idx="5"/>
          </p:nvPr>
        </p:nvSpPr>
        <p:spPr/>
        <p:txBody>
          <a:bodyPr/>
          <a:lstStyle/>
          <a:p>
            <a:fld id="{25FC8A2B-14B3-4AB7-B945-4222430686C6}" type="slidenum">
              <a:rPr lang="LID4096" smtClean="0"/>
              <a:t>60</a:t>
            </a:fld>
            <a:endParaRPr lang="LID4096"/>
          </a:p>
        </p:txBody>
      </p:sp>
    </p:spTree>
    <p:extLst>
      <p:ext uri="{BB962C8B-B14F-4D97-AF65-F5344CB8AC3E}">
        <p14:creationId xmlns:p14="http://schemas.microsoft.com/office/powerpoint/2010/main" val="782711938"/>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של תמונת שקופית 1"/>
          <p:cNvSpPr>
            <a:spLocks noGrp="1" noRot="1" noChangeAspect="1"/>
          </p:cNvSpPr>
          <p:nvPr>
            <p:ph type="sldImg"/>
          </p:nvPr>
        </p:nvSpPr>
        <p:spPr/>
        <p:txBody>
          <a:bodyPr/>
          <a:lstStyle/>
          <a:p>
            <a:endParaRPr lang="he-IL"/>
          </a:p>
        </p:txBody>
      </p:sp>
      <p:sp>
        <p:nvSpPr>
          <p:cNvPr id="3" name="מציין מיקום של הערות 2"/>
          <p:cNvSpPr>
            <a:spLocks noGrp="1"/>
          </p:cNvSpPr>
          <p:nvPr>
            <p:ph type="body" idx="1"/>
          </p:nvPr>
        </p:nvSpPr>
        <p:spPr/>
        <p:txBody>
          <a:bodyPr/>
          <a:lstStyle/>
          <a:p>
            <a:r>
              <a:rPr lang="he-IL" b="1"/>
              <a:t>הנחיות הפקה: </a:t>
            </a:r>
          </a:p>
          <a:p>
            <a:pPr marL="171450" indent="-171450">
              <a:buFont typeface="Arial" panose="020B0604020202020204" pitchFamily="34" charset="0"/>
              <a:buChar char="•"/>
            </a:pPr>
            <a:r>
              <a:rPr lang="he-IL" b="1"/>
              <a:t>מסך הזנקה שאלת שיא </a:t>
            </a:r>
          </a:p>
          <a:p>
            <a:pPr marL="171450" indent="-171450">
              <a:buFont typeface="Arial" panose="020B0604020202020204" pitchFamily="34" charset="0"/>
              <a:buChar char="•"/>
            </a:pPr>
            <a:r>
              <a:rPr lang="he-IL"/>
              <a:t>שם המסך בפיגמה: </a:t>
            </a:r>
            <a:r>
              <a:rPr lang="he-IL" sz="1200" kern="1200" noProof="0">
                <a:solidFill>
                  <a:schemeClr val="tx1"/>
                </a:solidFill>
                <a:effectLst/>
                <a:latin typeface="+mn-lt"/>
                <a:ea typeface="+mn-ea"/>
                <a:cs typeface="+mn-cs"/>
              </a:rPr>
              <a:t>TransitionScreen</a:t>
            </a:r>
            <a:endParaRPr lang="he-IL"/>
          </a:p>
          <a:p>
            <a:endParaRPr lang="LID4096"/>
          </a:p>
        </p:txBody>
      </p:sp>
      <p:sp>
        <p:nvSpPr>
          <p:cNvPr id="4" name="מציין מיקום של מספר שקופית 3"/>
          <p:cNvSpPr>
            <a:spLocks noGrp="1"/>
          </p:cNvSpPr>
          <p:nvPr>
            <p:ph type="sldNum" sz="quarter" idx="5"/>
          </p:nvPr>
        </p:nvSpPr>
        <p:spPr/>
        <p:txBody>
          <a:bodyPr/>
          <a:lstStyle/>
          <a:p>
            <a:fld id="{25FC8A2B-14B3-4AB7-B945-4222430686C6}" type="slidenum">
              <a:rPr lang="LID4096" smtClean="0"/>
              <a:t>62</a:t>
            </a:fld>
            <a:endParaRPr lang="LID4096"/>
          </a:p>
        </p:txBody>
      </p:sp>
    </p:spTree>
    <p:extLst>
      <p:ext uri="{BB962C8B-B14F-4D97-AF65-F5344CB8AC3E}">
        <p14:creationId xmlns:p14="http://schemas.microsoft.com/office/powerpoint/2010/main" val="116037894"/>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B13896-9D1F-075F-E411-4AEB8672777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4C32173-4526-71CB-4622-4DBA0869EF7F}"/>
              </a:ext>
            </a:extLst>
          </p:cNvPr>
          <p:cNvSpPr>
            <a:spLocks noGrp="1" noRot="1" noChangeAspect="1"/>
          </p:cNvSpPr>
          <p:nvPr>
            <p:ph type="sldImg"/>
          </p:nvPr>
        </p:nvSpPr>
        <p:spPr/>
        <p:txBody>
          <a:bodyPr/>
          <a:lstStyle/>
          <a:p>
            <a:endParaRPr lang="he-IL"/>
          </a:p>
        </p:txBody>
      </p:sp>
      <p:sp>
        <p:nvSpPr>
          <p:cNvPr id="3" name="Notes Placeholder 2">
            <a:extLst>
              <a:ext uri="{FF2B5EF4-FFF2-40B4-BE49-F238E27FC236}">
                <a16:creationId xmlns:a16="http://schemas.microsoft.com/office/drawing/2014/main" id="{28F07E64-8D18-C80A-FA29-696323BFEEC8}"/>
              </a:ext>
            </a:extLst>
          </p:cNvPr>
          <p:cNvSpPr>
            <a:spLocks noGrp="1"/>
          </p:cNvSpPr>
          <p:nvPr>
            <p:ph type="body" idx="1"/>
          </p:nvPr>
        </p:nvSpPr>
        <p:spPr/>
        <p:txBody>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lang="he-IL"/>
              <a:t>שאלת שיא. </a:t>
            </a:r>
          </a:p>
          <a:p>
            <a:pPr marL="0" marR="0" lvl="0" indent="0" algn="r" defTabSz="914400" rtl="1" eaLnBrk="1" fontAlgn="auto" latinLnBrk="0" hangingPunct="1">
              <a:lnSpc>
                <a:spcPct val="100000"/>
              </a:lnSpc>
              <a:spcBef>
                <a:spcPts val="0"/>
              </a:spcBef>
              <a:spcAft>
                <a:spcPts val="0"/>
              </a:spcAft>
              <a:buClrTx/>
              <a:buSzTx/>
              <a:buFontTx/>
              <a:buNone/>
              <a:tabLst/>
              <a:defRPr/>
            </a:pPr>
            <a:r>
              <a:rPr lang="he-IL"/>
              <a:t>תמונה ועליה טקסט</a:t>
            </a:r>
          </a:p>
          <a:p>
            <a:pPr marL="0" marR="0" lvl="0" indent="0" algn="r" defTabSz="914400" rtl="1" eaLnBrk="1" fontAlgn="auto" latinLnBrk="0" hangingPunct="1">
              <a:lnSpc>
                <a:spcPct val="100000"/>
              </a:lnSpc>
              <a:spcBef>
                <a:spcPts val="0"/>
              </a:spcBef>
              <a:spcAft>
                <a:spcPts val="0"/>
              </a:spcAft>
              <a:buClrTx/>
              <a:buSzTx/>
              <a:buFontTx/>
              <a:buNone/>
              <a:tabLst/>
              <a:defRPr/>
            </a:pPr>
            <a:r>
              <a:rPr lang="he-IL"/>
              <a:t>תמונה בתיקיית אלמנטים</a:t>
            </a:r>
          </a:p>
          <a:p>
            <a:pPr marL="0" marR="0" lvl="0" indent="0" algn="r" defTabSz="914400" rtl="1" eaLnBrk="1" fontAlgn="auto" latinLnBrk="0" hangingPunct="1">
              <a:lnSpc>
                <a:spcPct val="100000"/>
              </a:lnSpc>
              <a:spcBef>
                <a:spcPts val="0"/>
              </a:spcBef>
              <a:spcAft>
                <a:spcPts val="0"/>
              </a:spcAft>
              <a:buClrTx/>
              <a:buSzTx/>
              <a:buFontTx/>
              <a:buNone/>
              <a:tabLst/>
              <a:defRPr/>
            </a:pPr>
            <a:endParaRPr lang="he-IL"/>
          </a:p>
        </p:txBody>
      </p:sp>
      <p:sp>
        <p:nvSpPr>
          <p:cNvPr id="4" name="Slide Number Placeholder 3">
            <a:extLst>
              <a:ext uri="{FF2B5EF4-FFF2-40B4-BE49-F238E27FC236}">
                <a16:creationId xmlns:a16="http://schemas.microsoft.com/office/drawing/2014/main" id="{7535EE17-FF9A-C414-A942-B729B3CE6B0D}"/>
              </a:ext>
            </a:extLst>
          </p:cNvPr>
          <p:cNvSpPr>
            <a:spLocks noGrp="1"/>
          </p:cNvSpPr>
          <p:nvPr>
            <p:ph type="sldNum" sz="quarter" idx="5"/>
          </p:nvPr>
        </p:nvSpPr>
        <p:spPr/>
        <p:txBody>
          <a:bodyPr/>
          <a:lstStyle/>
          <a:p>
            <a:fld id="{25FC8A2B-14B3-4AB7-B945-4222430686C6}" type="slidenum">
              <a:rPr lang="LID4096" smtClean="0"/>
              <a:t>63</a:t>
            </a:fld>
            <a:endParaRPr lang="LID4096"/>
          </a:p>
        </p:txBody>
      </p:sp>
    </p:spTree>
    <p:extLst>
      <p:ext uri="{BB962C8B-B14F-4D97-AF65-F5344CB8AC3E}">
        <p14:creationId xmlns:p14="http://schemas.microsoft.com/office/powerpoint/2010/main" val="2311116292"/>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905019-E19B-BD3C-B359-83C53619ABFF}"/>
            </a:ext>
          </a:extLst>
        </p:cNvPr>
        <p:cNvGrpSpPr/>
        <p:nvPr/>
      </p:nvGrpSpPr>
      <p:grpSpPr>
        <a:xfrm>
          <a:off x="0" y="0"/>
          <a:ext cx="0" cy="0"/>
          <a:chOff x="0" y="0"/>
          <a:chExt cx="0" cy="0"/>
        </a:xfrm>
      </p:grpSpPr>
      <p:sp>
        <p:nvSpPr>
          <p:cNvPr id="2" name="מציין מיקום של תמונת שקופית 1">
            <a:extLst>
              <a:ext uri="{FF2B5EF4-FFF2-40B4-BE49-F238E27FC236}">
                <a16:creationId xmlns:a16="http://schemas.microsoft.com/office/drawing/2014/main" id="{BA5A782E-D887-5581-7D61-213D9599B9F6}"/>
              </a:ext>
            </a:extLst>
          </p:cNvPr>
          <p:cNvSpPr>
            <a:spLocks noGrp="1" noRot="1" noChangeAspect="1"/>
          </p:cNvSpPr>
          <p:nvPr>
            <p:ph type="sldImg"/>
          </p:nvPr>
        </p:nvSpPr>
        <p:spPr/>
        <p:txBody>
          <a:bodyPr/>
          <a:lstStyle/>
          <a:p>
            <a:endParaRPr lang="he-IL"/>
          </a:p>
        </p:txBody>
      </p:sp>
      <p:sp>
        <p:nvSpPr>
          <p:cNvPr id="3" name="מציין מיקום של הערות 2">
            <a:extLst>
              <a:ext uri="{FF2B5EF4-FFF2-40B4-BE49-F238E27FC236}">
                <a16:creationId xmlns:a16="http://schemas.microsoft.com/office/drawing/2014/main" id="{6A0BA5A1-935C-7FFF-688A-AAE1F21F4D06}"/>
              </a:ext>
            </a:extLst>
          </p:cNvPr>
          <p:cNvSpPr>
            <a:spLocks noGrp="1"/>
          </p:cNvSpPr>
          <p:nvPr>
            <p:ph type="body" idx="1"/>
          </p:nvPr>
        </p:nvSpPr>
        <p:spPr/>
        <p:txBody>
          <a:bodyPr/>
          <a:lstStyle/>
          <a:p>
            <a:r>
              <a:rPr lang="he-IL"/>
              <a:t>שאלת שיא סעיף א</a:t>
            </a:r>
            <a:endParaRPr lang="en-US" sz="1200" b="0" kern="1200">
              <a:solidFill>
                <a:schemeClr val="tx1"/>
              </a:solidFill>
              <a:effectLst/>
              <a:latin typeface="+mn-lt"/>
              <a:ea typeface="+mn-ea"/>
              <a:cs typeface="+mn-cs"/>
            </a:endParaRPr>
          </a:p>
          <a:p>
            <a:endParaRPr lang="LID4096"/>
          </a:p>
        </p:txBody>
      </p:sp>
      <p:sp>
        <p:nvSpPr>
          <p:cNvPr id="4" name="מציין מיקום של מספר שקופית 3">
            <a:extLst>
              <a:ext uri="{FF2B5EF4-FFF2-40B4-BE49-F238E27FC236}">
                <a16:creationId xmlns:a16="http://schemas.microsoft.com/office/drawing/2014/main" id="{07621430-A982-8AA6-93B3-620AAA70BE94}"/>
              </a:ext>
            </a:extLst>
          </p:cNvPr>
          <p:cNvSpPr>
            <a:spLocks noGrp="1"/>
          </p:cNvSpPr>
          <p:nvPr>
            <p:ph type="sldNum" sz="quarter" idx="5"/>
          </p:nvPr>
        </p:nvSpPr>
        <p:spPr/>
        <p:txBody>
          <a:bodyPr/>
          <a:lstStyle/>
          <a:p>
            <a:fld id="{25FC8A2B-14B3-4AB7-B945-4222430686C6}" type="slidenum">
              <a:rPr lang="LID4096" smtClean="0"/>
              <a:t>64</a:t>
            </a:fld>
            <a:endParaRPr lang="LID4096"/>
          </a:p>
        </p:txBody>
      </p:sp>
    </p:spTree>
    <p:extLst>
      <p:ext uri="{BB962C8B-B14F-4D97-AF65-F5344CB8AC3E}">
        <p14:creationId xmlns:p14="http://schemas.microsoft.com/office/powerpoint/2010/main" val="3883536703"/>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C53CED-657C-4EBC-1248-7FD4C55D25EA}"/>
            </a:ext>
          </a:extLst>
        </p:cNvPr>
        <p:cNvGrpSpPr/>
        <p:nvPr/>
      </p:nvGrpSpPr>
      <p:grpSpPr>
        <a:xfrm>
          <a:off x="0" y="0"/>
          <a:ext cx="0" cy="0"/>
          <a:chOff x="0" y="0"/>
          <a:chExt cx="0" cy="0"/>
        </a:xfrm>
      </p:grpSpPr>
      <p:sp>
        <p:nvSpPr>
          <p:cNvPr id="2" name="מציין מיקום של תמונת שקופית 1">
            <a:extLst>
              <a:ext uri="{FF2B5EF4-FFF2-40B4-BE49-F238E27FC236}">
                <a16:creationId xmlns:a16="http://schemas.microsoft.com/office/drawing/2014/main" id="{F2D14520-98CF-3DC7-EEB8-3DC671E61C79}"/>
              </a:ext>
            </a:extLst>
          </p:cNvPr>
          <p:cNvSpPr>
            <a:spLocks noGrp="1" noRot="1" noChangeAspect="1"/>
          </p:cNvSpPr>
          <p:nvPr>
            <p:ph type="sldImg"/>
          </p:nvPr>
        </p:nvSpPr>
        <p:spPr/>
        <p:txBody>
          <a:bodyPr/>
          <a:lstStyle/>
          <a:p>
            <a:endParaRPr lang="he-IL"/>
          </a:p>
        </p:txBody>
      </p:sp>
      <p:sp>
        <p:nvSpPr>
          <p:cNvPr id="3" name="מציין מיקום של הערות 2">
            <a:extLst>
              <a:ext uri="{FF2B5EF4-FFF2-40B4-BE49-F238E27FC236}">
                <a16:creationId xmlns:a16="http://schemas.microsoft.com/office/drawing/2014/main" id="{FADC33AC-0535-B76F-161B-256A4AD23A97}"/>
              </a:ext>
            </a:extLst>
          </p:cNvPr>
          <p:cNvSpPr>
            <a:spLocks noGrp="1"/>
          </p:cNvSpPr>
          <p:nvPr>
            <p:ph type="body" idx="1"/>
          </p:nvPr>
        </p:nvSpPr>
        <p:spPr/>
        <p:txBody>
          <a:bodyPr/>
          <a:lstStyle/>
          <a:p>
            <a:r>
              <a:rPr lang="he-IL"/>
              <a:t>שאלת שיא סעיף ב'</a:t>
            </a:r>
            <a:endParaRPr lang="en-US" sz="1200" b="0" kern="1200">
              <a:solidFill>
                <a:schemeClr val="tx1"/>
              </a:solidFill>
              <a:effectLst/>
              <a:latin typeface="+mn-lt"/>
              <a:ea typeface="+mn-ea"/>
              <a:cs typeface="+mn-cs"/>
            </a:endParaRPr>
          </a:p>
        </p:txBody>
      </p:sp>
      <p:sp>
        <p:nvSpPr>
          <p:cNvPr id="4" name="מציין מיקום של מספר שקופית 3">
            <a:extLst>
              <a:ext uri="{FF2B5EF4-FFF2-40B4-BE49-F238E27FC236}">
                <a16:creationId xmlns:a16="http://schemas.microsoft.com/office/drawing/2014/main" id="{EFDD424A-131E-2F69-4BF1-3FAE7152DC8A}"/>
              </a:ext>
            </a:extLst>
          </p:cNvPr>
          <p:cNvSpPr>
            <a:spLocks noGrp="1"/>
          </p:cNvSpPr>
          <p:nvPr>
            <p:ph type="sldNum" sz="quarter" idx="5"/>
          </p:nvPr>
        </p:nvSpPr>
        <p:spPr/>
        <p:txBody>
          <a:bodyPr/>
          <a:lstStyle/>
          <a:p>
            <a:fld id="{25FC8A2B-14B3-4AB7-B945-4222430686C6}" type="slidenum">
              <a:rPr lang="LID4096" smtClean="0"/>
              <a:t>65</a:t>
            </a:fld>
            <a:endParaRPr lang="LID4096"/>
          </a:p>
        </p:txBody>
      </p:sp>
    </p:spTree>
    <p:extLst>
      <p:ext uri="{BB962C8B-B14F-4D97-AF65-F5344CB8AC3E}">
        <p14:creationId xmlns:p14="http://schemas.microsoft.com/office/powerpoint/2010/main" val="651835752"/>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FA6F80-9812-651F-09C7-D04EA1DC446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8D549CB-0308-C201-51B4-D8E61E1B9910}"/>
              </a:ext>
            </a:extLst>
          </p:cNvPr>
          <p:cNvSpPr>
            <a:spLocks noGrp="1" noRot="1" noChangeAspect="1"/>
          </p:cNvSpPr>
          <p:nvPr>
            <p:ph type="sldImg"/>
          </p:nvPr>
        </p:nvSpPr>
        <p:spPr/>
        <p:txBody>
          <a:bodyPr/>
          <a:lstStyle/>
          <a:p>
            <a:endParaRPr lang="he-IL"/>
          </a:p>
        </p:txBody>
      </p:sp>
      <p:sp>
        <p:nvSpPr>
          <p:cNvPr id="3" name="Notes Placeholder 2">
            <a:extLst>
              <a:ext uri="{FF2B5EF4-FFF2-40B4-BE49-F238E27FC236}">
                <a16:creationId xmlns:a16="http://schemas.microsoft.com/office/drawing/2014/main" id="{EBF2D3EB-8BDF-9E81-0A3F-E2D95AD77CD7}"/>
              </a:ext>
            </a:extLst>
          </p:cNvPr>
          <p:cNvSpPr>
            <a:spLocks noGrp="1"/>
          </p:cNvSpPr>
          <p:nvPr>
            <p:ph type="body" idx="1"/>
          </p:nvPr>
        </p:nvSpPr>
        <p:spPr/>
        <p:txBody>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lang="he-IL"/>
              <a:t>שאלת שיא – תופיע בגלילה</a:t>
            </a:r>
          </a:p>
          <a:p>
            <a:pPr marL="0" marR="0" lvl="0" indent="0" algn="r" defTabSz="914400" rtl="1" eaLnBrk="1" fontAlgn="auto" latinLnBrk="0" hangingPunct="1">
              <a:lnSpc>
                <a:spcPct val="100000"/>
              </a:lnSpc>
              <a:spcBef>
                <a:spcPts val="0"/>
              </a:spcBef>
              <a:spcAft>
                <a:spcPts val="0"/>
              </a:spcAft>
              <a:buClrTx/>
              <a:buSzTx/>
              <a:buFontTx/>
              <a:buNone/>
              <a:tabLst/>
              <a:defRPr/>
            </a:pPr>
            <a:r>
              <a:rPr lang="he-IL"/>
              <a:t>תמונה ועליה טקסט</a:t>
            </a:r>
          </a:p>
          <a:p>
            <a:pPr marL="0" marR="0" lvl="0" indent="0" algn="r" defTabSz="914400" rtl="1" eaLnBrk="1" fontAlgn="auto" latinLnBrk="0" hangingPunct="1">
              <a:lnSpc>
                <a:spcPct val="100000"/>
              </a:lnSpc>
              <a:spcBef>
                <a:spcPts val="0"/>
              </a:spcBef>
              <a:spcAft>
                <a:spcPts val="0"/>
              </a:spcAft>
              <a:buClrTx/>
              <a:buSzTx/>
              <a:buFontTx/>
              <a:buNone/>
              <a:tabLst/>
              <a:defRPr/>
            </a:pPr>
            <a:r>
              <a:rPr lang="he-IL"/>
              <a:t>תמונה בתיקיית אלמנטים</a:t>
            </a:r>
          </a:p>
          <a:p>
            <a:pPr marL="0" marR="0" lvl="0" indent="0" algn="r" defTabSz="914400" rtl="1" eaLnBrk="1" fontAlgn="auto" latinLnBrk="0" hangingPunct="1">
              <a:lnSpc>
                <a:spcPct val="100000"/>
              </a:lnSpc>
              <a:spcBef>
                <a:spcPts val="0"/>
              </a:spcBef>
              <a:spcAft>
                <a:spcPts val="0"/>
              </a:spcAft>
              <a:buClrTx/>
              <a:buSzTx/>
              <a:buFontTx/>
              <a:buNone/>
              <a:tabLst/>
              <a:defRPr/>
            </a:pPr>
            <a:endParaRPr lang="he-IL"/>
          </a:p>
        </p:txBody>
      </p:sp>
      <p:sp>
        <p:nvSpPr>
          <p:cNvPr id="4" name="Slide Number Placeholder 3">
            <a:extLst>
              <a:ext uri="{FF2B5EF4-FFF2-40B4-BE49-F238E27FC236}">
                <a16:creationId xmlns:a16="http://schemas.microsoft.com/office/drawing/2014/main" id="{76ED1847-E34C-2F29-3AF8-AB2F1B1DC538}"/>
              </a:ext>
            </a:extLst>
          </p:cNvPr>
          <p:cNvSpPr>
            <a:spLocks noGrp="1"/>
          </p:cNvSpPr>
          <p:nvPr>
            <p:ph type="sldNum" sz="quarter" idx="5"/>
          </p:nvPr>
        </p:nvSpPr>
        <p:spPr/>
        <p:txBody>
          <a:bodyPr/>
          <a:lstStyle/>
          <a:p>
            <a:fld id="{25FC8A2B-14B3-4AB7-B945-4222430686C6}" type="slidenum">
              <a:rPr lang="LID4096" smtClean="0"/>
              <a:t>66</a:t>
            </a:fld>
            <a:endParaRPr lang="LID4096"/>
          </a:p>
        </p:txBody>
      </p:sp>
    </p:spTree>
    <p:extLst>
      <p:ext uri="{BB962C8B-B14F-4D97-AF65-F5344CB8AC3E}">
        <p14:creationId xmlns:p14="http://schemas.microsoft.com/office/powerpoint/2010/main" val="683985886"/>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394C41-3C8F-52BE-6070-A7E373D5AA75}"/>
            </a:ext>
          </a:extLst>
        </p:cNvPr>
        <p:cNvGrpSpPr/>
        <p:nvPr/>
      </p:nvGrpSpPr>
      <p:grpSpPr>
        <a:xfrm>
          <a:off x="0" y="0"/>
          <a:ext cx="0" cy="0"/>
          <a:chOff x="0" y="0"/>
          <a:chExt cx="0" cy="0"/>
        </a:xfrm>
      </p:grpSpPr>
      <p:sp>
        <p:nvSpPr>
          <p:cNvPr id="2" name="מציין מיקום של תמונת שקופית 1">
            <a:extLst>
              <a:ext uri="{FF2B5EF4-FFF2-40B4-BE49-F238E27FC236}">
                <a16:creationId xmlns:a16="http://schemas.microsoft.com/office/drawing/2014/main" id="{6A9A41C8-F416-EE1E-77E7-89E7B8A0D60D}"/>
              </a:ext>
            </a:extLst>
          </p:cNvPr>
          <p:cNvSpPr>
            <a:spLocks noGrp="1" noRot="1" noChangeAspect="1"/>
          </p:cNvSpPr>
          <p:nvPr>
            <p:ph type="sldImg"/>
          </p:nvPr>
        </p:nvSpPr>
        <p:spPr/>
        <p:txBody>
          <a:bodyPr/>
          <a:lstStyle/>
          <a:p>
            <a:endParaRPr lang="he-IL"/>
          </a:p>
        </p:txBody>
      </p:sp>
      <p:sp>
        <p:nvSpPr>
          <p:cNvPr id="3" name="מציין מיקום של הערות 2">
            <a:extLst>
              <a:ext uri="{FF2B5EF4-FFF2-40B4-BE49-F238E27FC236}">
                <a16:creationId xmlns:a16="http://schemas.microsoft.com/office/drawing/2014/main" id="{8379B0CC-E271-E4D5-B896-D6B81C9C6EA8}"/>
              </a:ext>
            </a:extLst>
          </p:cNvPr>
          <p:cNvSpPr>
            <a:spLocks noGrp="1"/>
          </p:cNvSpPr>
          <p:nvPr>
            <p:ph type="body" idx="1"/>
          </p:nvPr>
        </p:nvSpPr>
        <p:spPr/>
        <p:txBody>
          <a:bodyPr/>
          <a:lstStyle/>
          <a:p>
            <a:r>
              <a:rPr lang="he-IL"/>
              <a:t>שאלת שיא סעיף ב'</a:t>
            </a:r>
            <a:endParaRPr lang="en-US" sz="1200" b="0" kern="1200">
              <a:solidFill>
                <a:schemeClr val="tx1"/>
              </a:solidFill>
              <a:effectLst/>
              <a:latin typeface="+mn-lt"/>
              <a:ea typeface="+mn-ea"/>
              <a:cs typeface="+mn-cs"/>
            </a:endParaRPr>
          </a:p>
        </p:txBody>
      </p:sp>
      <p:sp>
        <p:nvSpPr>
          <p:cNvPr id="4" name="מציין מיקום של מספר שקופית 3">
            <a:extLst>
              <a:ext uri="{FF2B5EF4-FFF2-40B4-BE49-F238E27FC236}">
                <a16:creationId xmlns:a16="http://schemas.microsoft.com/office/drawing/2014/main" id="{AA9EE146-562F-3031-54B8-1BB323C5AFF1}"/>
              </a:ext>
            </a:extLst>
          </p:cNvPr>
          <p:cNvSpPr>
            <a:spLocks noGrp="1"/>
          </p:cNvSpPr>
          <p:nvPr>
            <p:ph type="sldNum" sz="quarter" idx="5"/>
          </p:nvPr>
        </p:nvSpPr>
        <p:spPr/>
        <p:txBody>
          <a:bodyPr/>
          <a:lstStyle/>
          <a:p>
            <a:fld id="{25FC8A2B-14B3-4AB7-B945-4222430686C6}" type="slidenum">
              <a:rPr lang="LID4096" smtClean="0"/>
              <a:t>67</a:t>
            </a:fld>
            <a:endParaRPr lang="LID4096"/>
          </a:p>
        </p:txBody>
      </p:sp>
    </p:spTree>
    <p:extLst>
      <p:ext uri="{BB962C8B-B14F-4D97-AF65-F5344CB8AC3E}">
        <p14:creationId xmlns:p14="http://schemas.microsoft.com/office/powerpoint/2010/main" val="1121357986"/>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F09955-2F24-DE61-2A00-0E7989356742}"/>
            </a:ext>
          </a:extLst>
        </p:cNvPr>
        <p:cNvGrpSpPr/>
        <p:nvPr/>
      </p:nvGrpSpPr>
      <p:grpSpPr>
        <a:xfrm>
          <a:off x="0" y="0"/>
          <a:ext cx="0" cy="0"/>
          <a:chOff x="0" y="0"/>
          <a:chExt cx="0" cy="0"/>
        </a:xfrm>
      </p:grpSpPr>
      <p:sp>
        <p:nvSpPr>
          <p:cNvPr id="2" name="מציין מיקום של תמונת שקופית 1">
            <a:extLst>
              <a:ext uri="{FF2B5EF4-FFF2-40B4-BE49-F238E27FC236}">
                <a16:creationId xmlns:a16="http://schemas.microsoft.com/office/drawing/2014/main" id="{012BFA2A-0A17-6C71-1219-E9A3D46C5EFD}"/>
              </a:ext>
            </a:extLst>
          </p:cNvPr>
          <p:cNvSpPr>
            <a:spLocks noGrp="1" noRot="1" noChangeAspect="1"/>
          </p:cNvSpPr>
          <p:nvPr>
            <p:ph type="sldImg"/>
          </p:nvPr>
        </p:nvSpPr>
        <p:spPr/>
        <p:txBody>
          <a:bodyPr/>
          <a:lstStyle/>
          <a:p>
            <a:endParaRPr lang="he-IL"/>
          </a:p>
        </p:txBody>
      </p:sp>
      <p:sp>
        <p:nvSpPr>
          <p:cNvPr id="3" name="מציין מיקום של הערות 2">
            <a:extLst>
              <a:ext uri="{FF2B5EF4-FFF2-40B4-BE49-F238E27FC236}">
                <a16:creationId xmlns:a16="http://schemas.microsoft.com/office/drawing/2014/main" id="{B3B76DBF-8B27-5A2F-256C-7AACF1C161EC}"/>
              </a:ext>
            </a:extLst>
          </p:cNvPr>
          <p:cNvSpPr>
            <a:spLocks noGrp="1"/>
          </p:cNvSpPr>
          <p:nvPr>
            <p:ph type="body" idx="1"/>
          </p:nvPr>
        </p:nvSpPr>
        <p:spPr/>
        <p:txBody>
          <a:bodyPr/>
          <a:lstStyle/>
          <a:p>
            <a:r>
              <a:rPr lang="he-IL"/>
              <a:t>שאלת שיא סעיף ד'</a:t>
            </a:r>
            <a:endParaRPr lang="en-US" sz="1200" b="0" kern="1200">
              <a:solidFill>
                <a:schemeClr val="tx1"/>
              </a:solidFill>
              <a:effectLst/>
              <a:latin typeface="+mn-lt"/>
              <a:ea typeface="+mn-ea"/>
              <a:cs typeface="+mn-cs"/>
            </a:endParaRPr>
          </a:p>
        </p:txBody>
      </p:sp>
      <p:sp>
        <p:nvSpPr>
          <p:cNvPr id="4" name="מציין מיקום של מספר שקופית 3">
            <a:extLst>
              <a:ext uri="{FF2B5EF4-FFF2-40B4-BE49-F238E27FC236}">
                <a16:creationId xmlns:a16="http://schemas.microsoft.com/office/drawing/2014/main" id="{A453145B-5B10-57EE-DAA4-B2E08B8F749C}"/>
              </a:ext>
            </a:extLst>
          </p:cNvPr>
          <p:cNvSpPr>
            <a:spLocks noGrp="1"/>
          </p:cNvSpPr>
          <p:nvPr>
            <p:ph type="sldNum" sz="quarter" idx="5"/>
          </p:nvPr>
        </p:nvSpPr>
        <p:spPr/>
        <p:txBody>
          <a:bodyPr/>
          <a:lstStyle/>
          <a:p>
            <a:fld id="{25FC8A2B-14B3-4AB7-B945-4222430686C6}" type="slidenum">
              <a:rPr lang="LID4096" smtClean="0"/>
              <a:t>68</a:t>
            </a:fld>
            <a:endParaRPr lang="LID4096"/>
          </a:p>
        </p:txBody>
      </p:sp>
    </p:spTree>
    <p:extLst>
      <p:ext uri="{BB962C8B-B14F-4D97-AF65-F5344CB8AC3E}">
        <p14:creationId xmlns:p14="http://schemas.microsoft.com/office/powerpoint/2010/main" val="156614131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שקופית כותרת">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B2FD453D-A41E-5C10-0A57-557D6AE76A33}"/>
              </a:ext>
            </a:extLst>
          </p:cNvPr>
          <p:cNvSpPr>
            <a:spLocks noGrp="1"/>
          </p:cNvSpPr>
          <p:nvPr>
            <p:ph type="ctrTitle"/>
          </p:nvPr>
        </p:nvSpPr>
        <p:spPr>
          <a:xfrm>
            <a:off x="1524000" y="1122363"/>
            <a:ext cx="9144000" cy="2387600"/>
          </a:xfrm>
        </p:spPr>
        <p:txBody>
          <a:bodyPr anchor="b"/>
          <a:lstStyle>
            <a:lvl1pPr algn="ctr">
              <a:defRPr sz="6000"/>
            </a:lvl1pPr>
          </a:lstStyle>
          <a:p>
            <a:r>
              <a:rPr lang="he-IL"/>
              <a:t>לחץ כדי לערוך סגנון כותרת של תבנית בסיס</a:t>
            </a:r>
            <a:endParaRPr lang="LID4096"/>
          </a:p>
        </p:txBody>
      </p:sp>
      <p:sp>
        <p:nvSpPr>
          <p:cNvPr id="3" name="כותרת משנה 2">
            <a:extLst>
              <a:ext uri="{FF2B5EF4-FFF2-40B4-BE49-F238E27FC236}">
                <a16:creationId xmlns:a16="http://schemas.microsoft.com/office/drawing/2014/main" id="{DB0BE7A5-A9AF-A366-7E9E-1C75AF6976C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he-IL"/>
              <a:t>לחץ כדי לערוך סגנון כותרת משנה של תבנית בסיס</a:t>
            </a:r>
            <a:endParaRPr lang="LID4096"/>
          </a:p>
        </p:txBody>
      </p:sp>
      <p:sp>
        <p:nvSpPr>
          <p:cNvPr id="4" name="מציין מיקום של תאריך 3">
            <a:extLst>
              <a:ext uri="{FF2B5EF4-FFF2-40B4-BE49-F238E27FC236}">
                <a16:creationId xmlns:a16="http://schemas.microsoft.com/office/drawing/2014/main" id="{9B73E2AE-541E-8FB3-3B5C-48C9FA421BF1}"/>
              </a:ext>
            </a:extLst>
          </p:cNvPr>
          <p:cNvSpPr>
            <a:spLocks noGrp="1"/>
          </p:cNvSpPr>
          <p:nvPr>
            <p:ph type="dt" sz="half" idx="10"/>
          </p:nvPr>
        </p:nvSpPr>
        <p:spPr/>
        <p:txBody>
          <a:bodyPr/>
          <a:lstStyle/>
          <a:p>
            <a:fld id="{894C6EE7-E691-419B-A174-477FF1F1675E}" type="datetimeFigureOut">
              <a:rPr lang="LID4096" smtClean="0"/>
              <a:t>08/17/2026</a:t>
            </a:fld>
            <a:endParaRPr lang="LID4096"/>
          </a:p>
        </p:txBody>
      </p:sp>
      <p:sp>
        <p:nvSpPr>
          <p:cNvPr id="5" name="מציין מיקום של כותרת תחתונה 4">
            <a:extLst>
              <a:ext uri="{FF2B5EF4-FFF2-40B4-BE49-F238E27FC236}">
                <a16:creationId xmlns:a16="http://schemas.microsoft.com/office/drawing/2014/main" id="{627CF0DA-1224-4279-2C44-FF1CDDF417BE}"/>
              </a:ext>
            </a:extLst>
          </p:cNvPr>
          <p:cNvSpPr>
            <a:spLocks noGrp="1"/>
          </p:cNvSpPr>
          <p:nvPr>
            <p:ph type="ftr" sz="quarter" idx="11"/>
          </p:nvPr>
        </p:nvSpPr>
        <p:spPr/>
        <p:txBody>
          <a:bodyPr/>
          <a:lstStyle/>
          <a:p>
            <a:endParaRPr lang="LID4096"/>
          </a:p>
        </p:txBody>
      </p:sp>
      <p:sp>
        <p:nvSpPr>
          <p:cNvPr id="6" name="מציין מיקום של מספר שקופית 5">
            <a:extLst>
              <a:ext uri="{FF2B5EF4-FFF2-40B4-BE49-F238E27FC236}">
                <a16:creationId xmlns:a16="http://schemas.microsoft.com/office/drawing/2014/main" id="{74CFD4C1-47E6-F1DF-AA12-25F66156D7AE}"/>
              </a:ext>
            </a:extLst>
          </p:cNvPr>
          <p:cNvSpPr>
            <a:spLocks noGrp="1"/>
          </p:cNvSpPr>
          <p:nvPr>
            <p:ph type="sldNum" sz="quarter" idx="12"/>
          </p:nvPr>
        </p:nvSpPr>
        <p:spPr/>
        <p:txBody>
          <a:bodyPr/>
          <a:lstStyle/>
          <a:p>
            <a:fld id="{4A164E1D-4C01-42A8-A3A6-C3F4469A18E4}" type="slidenum">
              <a:rPr lang="LID4096" smtClean="0"/>
              <a:t>‹#›</a:t>
            </a:fld>
            <a:endParaRPr lang="LID4096"/>
          </a:p>
        </p:txBody>
      </p:sp>
    </p:spTree>
    <p:extLst>
      <p:ext uri="{BB962C8B-B14F-4D97-AF65-F5344CB8AC3E}">
        <p14:creationId xmlns:p14="http://schemas.microsoft.com/office/powerpoint/2010/main" val="30287244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כותרת ותוכן">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031A8AC2-94FD-88DF-AD0B-FE9DF5F8433E}"/>
              </a:ext>
            </a:extLst>
          </p:cNvPr>
          <p:cNvSpPr>
            <a:spLocks noGrp="1"/>
          </p:cNvSpPr>
          <p:nvPr>
            <p:ph type="title"/>
          </p:nvPr>
        </p:nvSpPr>
        <p:spPr/>
        <p:txBody>
          <a:bodyPr/>
          <a:lstStyle/>
          <a:p>
            <a:r>
              <a:rPr lang="he-IL"/>
              <a:t>לחץ כדי לערוך סגנון כותרת של תבנית בסיס</a:t>
            </a:r>
            <a:endParaRPr lang="LID4096"/>
          </a:p>
        </p:txBody>
      </p:sp>
      <p:sp>
        <p:nvSpPr>
          <p:cNvPr id="3" name="מציין מיקום תוכן 2">
            <a:extLst>
              <a:ext uri="{FF2B5EF4-FFF2-40B4-BE49-F238E27FC236}">
                <a16:creationId xmlns:a16="http://schemas.microsoft.com/office/drawing/2014/main" id="{8EBA66C3-6BF9-6A5B-BFAE-E86A33964A6E}"/>
              </a:ext>
            </a:extLst>
          </p:cNvPr>
          <p:cNvSpPr>
            <a:spLocks noGrp="1"/>
          </p:cNvSpPr>
          <p:nvPr>
            <p:ph idx="1"/>
          </p:nvPr>
        </p:nvSpPr>
        <p:spPr/>
        <p:txBody>
          <a:body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endParaRPr lang="LID4096"/>
          </a:p>
        </p:txBody>
      </p:sp>
      <p:sp>
        <p:nvSpPr>
          <p:cNvPr id="4" name="מציין מיקום של תאריך 3">
            <a:extLst>
              <a:ext uri="{FF2B5EF4-FFF2-40B4-BE49-F238E27FC236}">
                <a16:creationId xmlns:a16="http://schemas.microsoft.com/office/drawing/2014/main" id="{54544EE3-8CC2-38F2-7644-730FE646C2C7}"/>
              </a:ext>
            </a:extLst>
          </p:cNvPr>
          <p:cNvSpPr>
            <a:spLocks noGrp="1"/>
          </p:cNvSpPr>
          <p:nvPr>
            <p:ph type="dt" sz="half" idx="10"/>
          </p:nvPr>
        </p:nvSpPr>
        <p:spPr/>
        <p:txBody>
          <a:bodyPr/>
          <a:lstStyle/>
          <a:p>
            <a:fld id="{894C6EE7-E691-419B-A174-477FF1F1675E}" type="datetimeFigureOut">
              <a:rPr lang="LID4096" smtClean="0"/>
              <a:t>08/17/2026</a:t>
            </a:fld>
            <a:endParaRPr lang="LID4096"/>
          </a:p>
        </p:txBody>
      </p:sp>
      <p:sp>
        <p:nvSpPr>
          <p:cNvPr id="5" name="מציין מיקום של כותרת תחתונה 4">
            <a:extLst>
              <a:ext uri="{FF2B5EF4-FFF2-40B4-BE49-F238E27FC236}">
                <a16:creationId xmlns:a16="http://schemas.microsoft.com/office/drawing/2014/main" id="{6B30D7A6-DBAD-5BD6-9E27-C38861967183}"/>
              </a:ext>
            </a:extLst>
          </p:cNvPr>
          <p:cNvSpPr>
            <a:spLocks noGrp="1"/>
          </p:cNvSpPr>
          <p:nvPr>
            <p:ph type="ftr" sz="quarter" idx="11"/>
          </p:nvPr>
        </p:nvSpPr>
        <p:spPr/>
        <p:txBody>
          <a:bodyPr/>
          <a:lstStyle/>
          <a:p>
            <a:endParaRPr lang="LID4096"/>
          </a:p>
        </p:txBody>
      </p:sp>
      <p:sp>
        <p:nvSpPr>
          <p:cNvPr id="6" name="מציין מיקום של מספר שקופית 5">
            <a:extLst>
              <a:ext uri="{FF2B5EF4-FFF2-40B4-BE49-F238E27FC236}">
                <a16:creationId xmlns:a16="http://schemas.microsoft.com/office/drawing/2014/main" id="{0922BBA4-A65D-F4BC-CFD8-A2AFA86FF6E0}"/>
              </a:ext>
            </a:extLst>
          </p:cNvPr>
          <p:cNvSpPr>
            <a:spLocks noGrp="1"/>
          </p:cNvSpPr>
          <p:nvPr>
            <p:ph type="sldNum" sz="quarter" idx="12"/>
          </p:nvPr>
        </p:nvSpPr>
        <p:spPr/>
        <p:txBody>
          <a:bodyPr/>
          <a:lstStyle/>
          <a:p>
            <a:fld id="{4A164E1D-4C01-42A8-A3A6-C3F4469A18E4}" type="slidenum">
              <a:rPr lang="LID4096" smtClean="0"/>
              <a:t>‹#›</a:t>
            </a:fld>
            <a:endParaRPr lang="LID4096"/>
          </a:p>
        </p:txBody>
      </p:sp>
    </p:spTree>
    <p:extLst>
      <p:ext uri="{BB962C8B-B14F-4D97-AF65-F5344CB8AC3E}">
        <p14:creationId xmlns:p14="http://schemas.microsoft.com/office/powerpoint/2010/main" val="297110427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כותרת מקטע עליונה">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D4FC7AA9-0E91-A669-F15B-D5597FF1736A}"/>
              </a:ext>
            </a:extLst>
          </p:cNvPr>
          <p:cNvSpPr>
            <a:spLocks noGrp="1"/>
          </p:cNvSpPr>
          <p:nvPr>
            <p:ph type="title"/>
          </p:nvPr>
        </p:nvSpPr>
        <p:spPr>
          <a:xfrm>
            <a:off x="831850" y="1709738"/>
            <a:ext cx="10515600" cy="2852737"/>
          </a:xfrm>
        </p:spPr>
        <p:txBody>
          <a:bodyPr anchor="b"/>
          <a:lstStyle>
            <a:lvl1pPr>
              <a:defRPr sz="6000"/>
            </a:lvl1pPr>
          </a:lstStyle>
          <a:p>
            <a:r>
              <a:rPr lang="he-IL"/>
              <a:t>לחץ כדי לערוך סגנון כותרת של תבנית בסיס</a:t>
            </a:r>
            <a:endParaRPr lang="LID4096"/>
          </a:p>
        </p:txBody>
      </p:sp>
      <p:sp>
        <p:nvSpPr>
          <p:cNvPr id="3" name="מציין מיקום טקסט 2">
            <a:extLst>
              <a:ext uri="{FF2B5EF4-FFF2-40B4-BE49-F238E27FC236}">
                <a16:creationId xmlns:a16="http://schemas.microsoft.com/office/drawing/2014/main" id="{4CF4D832-BFC7-11FE-F657-73954B7C5A83}"/>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he-IL"/>
              <a:t>לחץ כדי לערוך סגנונות טקסט של תבנית בסיס</a:t>
            </a:r>
          </a:p>
        </p:txBody>
      </p:sp>
      <p:sp>
        <p:nvSpPr>
          <p:cNvPr id="4" name="מציין מיקום של תאריך 3">
            <a:extLst>
              <a:ext uri="{FF2B5EF4-FFF2-40B4-BE49-F238E27FC236}">
                <a16:creationId xmlns:a16="http://schemas.microsoft.com/office/drawing/2014/main" id="{A32320D8-6044-F289-88EC-FFA16670E7FE}"/>
              </a:ext>
            </a:extLst>
          </p:cNvPr>
          <p:cNvSpPr>
            <a:spLocks noGrp="1"/>
          </p:cNvSpPr>
          <p:nvPr>
            <p:ph type="dt" sz="half" idx="10"/>
          </p:nvPr>
        </p:nvSpPr>
        <p:spPr/>
        <p:txBody>
          <a:bodyPr/>
          <a:lstStyle/>
          <a:p>
            <a:fld id="{894C6EE7-E691-419B-A174-477FF1F1675E}" type="datetimeFigureOut">
              <a:rPr lang="LID4096" smtClean="0"/>
              <a:t>08/17/2026</a:t>
            </a:fld>
            <a:endParaRPr lang="LID4096"/>
          </a:p>
        </p:txBody>
      </p:sp>
      <p:sp>
        <p:nvSpPr>
          <p:cNvPr id="5" name="מציין מיקום של כותרת תחתונה 4">
            <a:extLst>
              <a:ext uri="{FF2B5EF4-FFF2-40B4-BE49-F238E27FC236}">
                <a16:creationId xmlns:a16="http://schemas.microsoft.com/office/drawing/2014/main" id="{0228B5F6-7037-44CC-57B3-15AD017002B3}"/>
              </a:ext>
            </a:extLst>
          </p:cNvPr>
          <p:cNvSpPr>
            <a:spLocks noGrp="1"/>
          </p:cNvSpPr>
          <p:nvPr>
            <p:ph type="ftr" sz="quarter" idx="11"/>
          </p:nvPr>
        </p:nvSpPr>
        <p:spPr/>
        <p:txBody>
          <a:bodyPr/>
          <a:lstStyle/>
          <a:p>
            <a:endParaRPr lang="LID4096"/>
          </a:p>
        </p:txBody>
      </p:sp>
      <p:sp>
        <p:nvSpPr>
          <p:cNvPr id="6" name="מציין מיקום של מספר שקופית 5">
            <a:extLst>
              <a:ext uri="{FF2B5EF4-FFF2-40B4-BE49-F238E27FC236}">
                <a16:creationId xmlns:a16="http://schemas.microsoft.com/office/drawing/2014/main" id="{4F67DCB7-0959-97AF-6845-105D2BFFBD9F}"/>
              </a:ext>
            </a:extLst>
          </p:cNvPr>
          <p:cNvSpPr>
            <a:spLocks noGrp="1"/>
          </p:cNvSpPr>
          <p:nvPr>
            <p:ph type="sldNum" sz="quarter" idx="12"/>
          </p:nvPr>
        </p:nvSpPr>
        <p:spPr/>
        <p:txBody>
          <a:bodyPr/>
          <a:lstStyle/>
          <a:p>
            <a:fld id="{4A164E1D-4C01-42A8-A3A6-C3F4469A18E4}" type="slidenum">
              <a:rPr lang="LID4096" smtClean="0"/>
              <a:t>‹#›</a:t>
            </a:fld>
            <a:endParaRPr lang="LID4096"/>
          </a:p>
        </p:txBody>
      </p:sp>
    </p:spTree>
    <p:extLst>
      <p:ext uri="{BB962C8B-B14F-4D97-AF65-F5344CB8AC3E}">
        <p14:creationId xmlns:p14="http://schemas.microsoft.com/office/powerpoint/2010/main" val="150826993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שני תכנים">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2F0720C7-B0A7-7693-3195-353D19874971}"/>
              </a:ext>
            </a:extLst>
          </p:cNvPr>
          <p:cNvSpPr>
            <a:spLocks noGrp="1"/>
          </p:cNvSpPr>
          <p:nvPr>
            <p:ph type="title"/>
          </p:nvPr>
        </p:nvSpPr>
        <p:spPr/>
        <p:txBody>
          <a:bodyPr/>
          <a:lstStyle/>
          <a:p>
            <a:r>
              <a:rPr lang="he-IL"/>
              <a:t>לחץ כדי לערוך סגנון כותרת של תבנית בסיס</a:t>
            </a:r>
            <a:endParaRPr lang="LID4096"/>
          </a:p>
        </p:txBody>
      </p:sp>
      <p:sp>
        <p:nvSpPr>
          <p:cNvPr id="3" name="מציין מיקום תוכן 2">
            <a:extLst>
              <a:ext uri="{FF2B5EF4-FFF2-40B4-BE49-F238E27FC236}">
                <a16:creationId xmlns:a16="http://schemas.microsoft.com/office/drawing/2014/main" id="{85D181D5-AAFE-B123-702B-2C2220C0421C}"/>
              </a:ext>
            </a:extLst>
          </p:cNvPr>
          <p:cNvSpPr>
            <a:spLocks noGrp="1"/>
          </p:cNvSpPr>
          <p:nvPr>
            <p:ph sz="half" idx="1"/>
          </p:nvPr>
        </p:nvSpPr>
        <p:spPr>
          <a:xfrm>
            <a:off x="838200" y="1825625"/>
            <a:ext cx="5181600" cy="4351338"/>
          </a:xfrm>
        </p:spPr>
        <p:txBody>
          <a:body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endParaRPr lang="LID4096"/>
          </a:p>
        </p:txBody>
      </p:sp>
      <p:sp>
        <p:nvSpPr>
          <p:cNvPr id="4" name="מציין מיקום תוכן 3">
            <a:extLst>
              <a:ext uri="{FF2B5EF4-FFF2-40B4-BE49-F238E27FC236}">
                <a16:creationId xmlns:a16="http://schemas.microsoft.com/office/drawing/2014/main" id="{4CACA2C5-FFB6-89F7-218E-2F359A4966D6}"/>
              </a:ext>
            </a:extLst>
          </p:cNvPr>
          <p:cNvSpPr>
            <a:spLocks noGrp="1"/>
          </p:cNvSpPr>
          <p:nvPr>
            <p:ph sz="half" idx="2"/>
          </p:nvPr>
        </p:nvSpPr>
        <p:spPr>
          <a:xfrm>
            <a:off x="6172200" y="1825625"/>
            <a:ext cx="5181600" cy="4351338"/>
          </a:xfrm>
        </p:spPr>
        <p:txBody>
          <a:body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endParaRPr lang="LID4096"/>
          </a:p>
        </p:txBody>
      </p:sp>
      <p:sp>
        <p:nvSpPr>
          <p:cNvPr id="5" name="מציין מיקום של תאריך 4">
            <a:extLst>
              <a:ext uri="{FF2B5EF4-FFF2-40B4-BE49-F238E27FC236}">
                <a16:creationId xmlns:a16="http://schemas.microsoft.com/office/drawing/2014/main" id="{FFC94286-E300-48E1-68F5-DEA4C30B8FC6}"/>
              </a:ext>
            </a:extLst>
          </p:cNvPr>
          <p:cNvSpPr>
            <a:spLocks noGrp="1"/>
          </p:cNvSpPr>
          <p:nvPr>
            <p:ph type="dt" sz="half" idx="10"/>
          </p:nvPr>
        </p:nvSpPr>
        <p:spPr/>
        <p:txBody>
          <a:bodyPr/>
          <a:lstStyle/>
          <a:p>
            <a:fld id="{894C6EE7-E691-419B-A174-477FF1F1675E}" type="datetimeFigureOut">
              <a:rPr lang="LID4096" smtClean="0"/>
              <a:t>08/17/2026</a:t>
            </a:fld>
            <a:endParaRPr lang="LID4096"/>
          </a:p>
        </p:txBody>
      </p:sp>
      <p:sp>
        <p:nvSpPr>
          <p:cNvPr id="6" name="מציין מיקום של כותרת תחתונה 5">
            <a:extLst>
              <a:ext uri="{FF2B5EF4-FFF2-40B4-BE49-F238E27FC236}">
                <a16:creationId xmlns:a16="http://schemas.microsoft.com/office/drawing/2014/main" id="{50FF7C86-6CA7-9603-12C7-41B36C9098E4}"/>
              </a:ext>
            </a:extLst>
          </p:cNvPr>
          <p:cNvSpPr>
            <a:spLocks noGrp="1"/>
          </p:cNvSpPr>
          <p:nvPr>
            <p:ph type="ftr" sz="quarter" idx="11"/>
          </p:nvPr>
        </p:nvSpPr>
        <p:spPr/>
        <p:txBody>
          <a:bodyPr/>
          <a:lstStyle/>
          <a:p>
            <a:endParaRPr lang="LID4096"/>
          </a:p>
        </p:txBody>
      </p:sp>
      <p:sp>
        <p:nvSpPr>
          <p:cNvPr id="7" name="מציין מיקום של מספר שקופית 6">
            <a:extLst>
              <a:ext uri="{FF2B5EF4-FFF2-40B4-BE49-F238E27FC236}">
                <a16:creationId xmlns:a16="http://schemas.microsoft.com/office/drawing/2014/main" id="{57EE4AC4-75FF-59C8-2DC9-9B838EEE3750}"/>
              </a:ext>
            </a:extLst>
          </p:cNvPr>
          <p:cNvSpPr>
            <a:spLocks noGrp="1"/>
          </p:cNvSpPr>
          <p:nvPr>
            <p:ph type="sldNum" sz="quarter" idx="12"/>
          </p:nvPr>
        </p:nvSpPr>
        <p:spPr/>
        <p:txBody>
          <a:bodyPr/>
          <a:lstStyle/>
          <a:p>
            <a:fld id="{4A164E1D-4C01-42A8-A3A6-C3F4469A18E4}" type="slidenum">
              <a:rPr lang="LID4096" smtClean="0"/>
              <a:t>‹#›</a:t>
            </a:fld>
            <a:endParaRPr lang="LID4096"/>
          </a:p>
        </p:txBody>
      </p:sp>
    </p:spTree>
    <p:extLst>
      <p:ext uri="{BB962C8B-B14F-4D97-AF65-F5344CB8AC3E}">
        <p14:creationId xmlns:p14="http://schemas.microsoft.com/office/powerpoint/2010/main" val="366577375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השוואה">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24738CE6-23B5-C797-BDE7-8C7E025856D0}"/>
              </a:ext>
            </a:extLst>
          </p:cNvPr>
          <p:cNvSpPr>
            <a:spLocks noGrp="1"/>
          </p:cNvSpPr>
          <p:nvPr>
            <p:ph type="title"/>
          </p:nvPr>
        </p:nvSpPr>
        <p:spPr>
          <a:xfrm>
            <a:off x="839788" y="365125"/>
            <a:ext cx="10515600" cy="1325563"/>
          </a:xfrm>
        </p:spPr>
        <p:txBody>
          <a:bodyPr/>
          <a:lstStyle/>
          <a:p>
            <a:r>
              <a:rPr lang="he-IL"/>
              <a:t>לחץ כדי לערוך סגנון כותרת של תבנית בסיס</a:t>
            </a:r>
            <a:endParaRPr lang="LID4096"/>
          </a:p>
        </p:txBody>
      </p:sp>
      <p:sp>
        <p:nvSpPr>
          <p:cNvPr id="3" name="מציין מיקום טקסט 2">
            <a:extLst>
              <a:ext uri="{FF2B5EF4-FFF2-40B4-BE49-F238E27FC236}">
                <a16:creationId xmlns:a16="http://schemas.microsoft.com/office/drawing/2014/main" id="{B86585E5-3027-ECB5-E82E-6495800785B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he-IL"/>
              <a:t>לחץ כדי לערוך סגנונות טקסט של תבנית בסיס</a:t>
            </a:r>
          </a:p>
        </p:txBody>
      </p:sp>
      <p:sp>
        <p:nvSpPr>
          <p:cNvPr id="4" name="מציין מיקום תוכן 3">
            <a:extLst>
              <a:ext uri="{FF2B5EF4-FFF2-40B4-BE49-F238E27FC236}">
                <a16:creationId xmlns:a16="http://schemas.microsoft.com/office/drawing/2014/main" id="{2E387439-C0CF-2E91-8582-3E935B9E38F1}"/>
              </a:ext>
            </a:extLst>
          </p:cNvPr>
          <p:cNvSpPr>
            <a:spLocks noGrp="1"/>
          </p:cNvSpPr>
          <p:nvPr>
            <p:ph sz="half" idx="2"/>
          </p:nvPr>
        </p:nvSpPr>
        <p:spPr>
          <a:xfrm>
            <a:off x="839788" y="2505075"/>
            <a:ext cx="5157787" cy="3684588"/>
          </a:xfrm>
        </p:spPr>
        <p:txBody>
          <a:body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endParaRPr lang="LID4096"/>
          </a:p>
        </p:txBody>
      </p:sp>
      <p:sp>
        <p:nvSpPr>
          <p:cNvPr id="5" name="מציין מיקום טקסט 4">
            <a:extLst>
              <a:ext uri="{FF2B5EF4-FFF2-40B4-BE49-F238E27FC236}">
                <a16:creationId xmlns:a16="http://schemas.microsoft.com/office/drawing/2014/main" id="{90FB5261-5A9B-19E4-3081-32173A6CA60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he-IL"/>
              <a:t>לחץ כדי לערוך סגנונות טקסט של תבנית בסיס</a:t>
            </a:r>
          </a:p>
        </p:txBody>
      </p:sp>
      <p:sp>
        <p:nvSpPr>
          <p:cNvPr id="6" name="מציין מיקום תוכן 5">
            <a:extLst>
              <a:ext uri="{FF2B5EF4-FFF2-40B4-BE49-F238E27FC236}">
                <a16:creationId xmlns:a16="http://schemas.microsoft.com/office/drawing/2014/main" id="{C395F8D4-8C9E-21ED-AA25-722EBB78EF65}"/>
              </a:ext>
            </a:extLst>
          </p:cNvPr>
          <p:cNvSpPr>
            <a:spLocks noGrp="1"/>
          </p:cNvSpPr>
          <p:nvPr>
            <p:ph sz="quarter" idx="4"/>
          </p:nvPr>
        </p:nvSpPr>
        <p:spPr>
          <a:xfrm>
            <a:off x="6172200" y="2505075"/>
            <a:ext cx="5183188" cy="3684588"/>
          </a:xfrm>
        </p:spPr>
        <p:txBody>
          <a:body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endParaRPr lang="LID4096"/>
          </a:p>
        </p:txBody>
      </p:sp>
      <p:sp>
        <p:nvSpPr>
          <p:cNvPr id="7" name="מציין מיקום של תאריך 6">
            <a:extLst>
              <a:ext uri="{FF2B5EF4-FFF2-40B4-BE49-F238E27FC236}">
                <a16:creationId xmlns:a16="http://schemas.microsoft.com/office/drawing/2014/main" id="{BD11824A-87C6-6A88-CC3A-B9AD217CB1A7}"/>
              </a:ext>
            </a:extLst>
          </p:cNvPr>
          <p:cNvSpPr>
            <a:spLocks noGrp="1"/>
          </p:cNvSpPr>
          <p:nvPr>
            <p:ph type="dt" sz="half" idx="10"/>
          </p:nvPr>
        </p:nvSpPr>
        <p:spPr/>
        <p:txBody>
          <a:bodyPr/>
          <a:lstStyle/>
          <a:p>
            <a:fld id="{894C6EE7-E691-419B-A174-477FF1F1675E}" type="datetimeFigureOut">
              <a:rPr lang="LID4096" smtClean="0"/>
              <a:t>08/17/2026</a:t>
            </a:fld>
            <a:endParaRPr lang="LID4096"/>
          </a:p>
        </p:txBody>
      </p:sp>
      <p:sp>
        <p:nvSpPr>
          <p:cNvPr id="8" name="מציין מיקום של כותרת תחתונה 7">
            <a:extLst>
              <a:ext uri="{FF2B5EF4-FFF2-40B4-BE49-F238E27FC236}">
                <a16:creationId xmlns:a16="http://schemas.microsoft.com/office/drawing/2014/main" id="{08E45803-4B7C-795B-F173-9D9F92BB6E2E}"/>
              </a:ext>
            </a:extLst>
          </p:cNvPr>
          <p:cNvSpPr>
            <a:spLocks noGrp="1"/>
          </p:cNvSpPr>
          <p:nvPr>
            <p:ph type="ftr" sz="quarter" idx="11"/>
          </p:nvPr>
        </p:nvSpPr>
        <p:spPr/>
        <p:txBody>
          <a:bodyPr/>
          <a:lstStyle/>
          <a:p>
            <a:endParaRPr lang="LID4096"/>
          </a:p>
        </p:txBody>
      </p:sp>
      <p:sp>
        <p:nvSpPr>
          <p:cNvPr id="9" name="מציין מיקום של מספר שקופית 8">
            <a:extLst>
              <a:ext uri="{FF2B5EF4-FFF2-40B4-BE49-F238E27FC236}">
                <a16:creationId xmlns:a16="http://schemas.microsoft.com/office/drawing/2014/main" id="{050F7047-3AF2-59BA-8C83-23C348CCC0FC}"/>
              </a:ext>
            </a:extLst>
          </p:cNvPr>
          <p:cNvSpPr>
            <a:spLocks noGrp="1"/>
          </p:cNvSpPr>
          <p:nvPr>
            <p:ph type="sldNum" sz="quarter" idx="12"/>
          </p:nvPr>
        </p:nvSpPr>
        <p:spPr/>
        <p:txBody>
          <a:bodyPr/>
          <a:lstStyle/>
          <a:p>
            <a:fld id="{4A164E1D-4C01-42A8-A3A6-C3F4469A18E4}" type="slidenum">
              <a:rPr lang="LID4096" smtClean="0"/>
              <a:t>‹#›</a:t>
            </a:fld>
            <a:endParaRPr lang="LID4096"/>
          </a:p>
        </p:txBody>
      </p:sp>
    </p:spTree>
    <p:extLst>
      <p:ext uri="{BB962C8B-B14F-4D97-AF65-F5344CB8AC3E}">
        <p14:creationId xmlns:p14="http://schemas.microsoft.com/office/powerpoint/2010/main" val="224018898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כותרת בלבד">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A911B210-1FEE-32E7-0AB9-0F06D255C6C9}"/>
              </a:ext>
            </a:extLst>
          </p:cNvPr>
          <p:cNvSpPr>
            <a:spLocks noGrp="1"/>
          </p:cNvSpPr>
          <p:nvPr>
            <p:ph type="title"/>
          </p:nvPr>
        </p:nvSpPr>
        <p:spPr/>
        <p:txBody>
          <a:bodyPr/>
          <a:lstStyle/>
          <a:p>
            <a:r>
              <a:rPr lang="he-IL"/>
              <a:t>לחץ כדי לערוך סגנון כותרת של תבנית בסיס</a:t>
            </a:r>
            <a:endParaRPr lang="LID4096"/>
          </a:p>
        </p:txBody>
      </p:sp>
      <p:sp>
        <p:nvSpPr>
          <p:cNvPr id="3" name="מציין מיקום של תאריך 2">
            <a:extLst>
              <a:ext uri="{FF2B5EF4-FFF2-40B4-BE49-F238E27FC236}">
                <a16:creationId xmlns:a16="http://schemas.microsoft.com/office/drawing/2014/main" id="{7F2F66AE-07A1-FDC6-0EB3-787F35E4AF45}"/>
              </a:ext>
            </a:extLst>
          </p:cNvPr>
          <p:cNvSpPr>
            <a:spLocks noGrp="1"/>
          </p:cNvSpPr>
          <p:nvPr>
            <p:ph type="dt" sz="half" idx="10"/>
          </p:nvPr>
        </p:nvSpPr>
        <p:spPr/>
        <p:txBody>
          <a:bodyPr/>
          <a:lstStyle/>
          <a:p>
            <a:fld id="{894C6EE7-E691-419B-A174-477FF1F1675E}" type="datetimeFigureOut">
              <a:rPr lang="LID4096" smtClean="0"/>
              <a:t>08/17/2026</a:t>
            </a:fld>
            <a:endParaRPr lang="LID4096"/>
          </a:p>
        </p:txBody>
      </p:sp>
      <p:sp>
        <p:nvSpPr>
          <p:cNvPr id="4" name="מציין מיקום של כותרת תחתונה 3">
            <a:extLst>
              <a:ext uri="{FF2B5EF4-FFF2-40B4-BE49-F238E27FC236}">
                <a16:creationId xmlns:a16="http://schemas.microsoft.com/office/drawing/2014/main" id="{EE7C8A74-C008-D485-737E-7CD7364315D5}"/>
              </a:ext>
            </a:extLst>
          </p:cNvPr>
          <p:cNvSpPr>
            <a:spLocks noGrp="1"/>
          </p:cNvSpPr>
          <p:nvPr>
            <p:ph type="ftr" sz="quarter" idx="11"/>
          </p:nvPr>
        </p:nvSpPr>
        <p:spPr/>
        <p:txBody>
          <a:bodyPr/>
          <a:lstStyle/>
          <a:p>
            <a:endParaRPr lang="LID4096"/>
          </a:p>
        </p:txBody>
      </p:sp>
      <p:sp>
        <p:nvSpPr>
          <p:cNvPr id="5" name="מציין מיקום של מספר שקופית 4">
            <a:extLst>
              <a:ext uri="{FF2B5EF4-FFF2-40B4-BE49-F238E27FC236}">
                <a16:creationId xmlns:a16="http://schemas.microsoft.com/office/drawing/2014/main" id="{50F0D34B-D785-201C-FEE9-04E9B4C27908}"/>
              </a:ext>
            </a:extLst>
          </p:cNvPr>
          <p:cNvSpPr>
            <a:spLocks noGrp="1"/>
          </p:cNvSpPr>
          <p:nvPr>
            <p:ph type="sldNum" sz="quarter" idx="12"/>
          </p:nvPr>
        </p:nvSpPr>
        <p:spPr/>
        <p:txBody>
          <a:bodyPr/>
          <a:lstStyle/>
          <a:p>
            <a:fld id="{4A164E1D-4C01-42A8-A3A6-C3F4469A18E4}" type="slidenum">
              <a:rPr lang="LID4096" smtClean="0"/>
              <a:t>‹#›</a:t>
            </a:fld>
            <a:endParaRPr lang="LID4096"/>
          </a:p>
        </p:txBody>
      </p:sp>
    </p:spTree>
    <p:extLst>
      <p:ext uri="{BB962C8B-B14F-4D97-AF65-F5344CB8AC3E}">
        <p14:creationId xmlns:p14="http://schemas.microsoft.com/office/powerpoint/2010/main" val="42034537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ריק">
    <p:spTree>
      <p:nvGrpSpPr>
        <p:cNvPr id="1" name=""/>
        <p:cNvGrpSpPr/>
        <p:nvPr/>
      </p:nvGrpSpPr>
      <p:grpSpPr>
        <a:xfrm>
          <a:off x="0" y="0"/>
          <a:ext cx="0" cy="0"/>
          <a:chOff x="0" y="0"/>
          <a:chExt cx="0" cy="0"/>
        </a:xfrm>
      </p:grpSpPr>
      <p:sp>
        <p:nvSpPr>
          <p:cNvPr id="2" name="מציין מיקום של תאריך 1">
            <a:extLst>
              <a:ext uri="{FF2B5EF4-FFF2-40B4-BE49-F238E27FC236}">
                <a16:creationId xmlns:a16="http://schemas.microsoft.com/office/drawing/2014/main" id="{CA58F6E2-1240-5483-F6D1-C76C33B8ED80}"/>
              </a:ext>
            </a:extLst>
          </p:cNvPr>
          <p:cNvSpPr>
            <a:spLocks noGrp="1"/>
          </p:cNvSpPr>
          <p:nvPr>
            <p:ph type="dt" sz="half" idx="10"/>
          </p:nvPr>
        </p:nvSpPr>
        <p:spPr/>
        <p:txBody>
          <a:bodyPr/>
          <a:lstStyle/>
          <a:p>
            <a:fld id="{894C6EE7-E691-419B-A174-477FF1F1675E}" type="datetimeFigureOut">
              <a:rPr lang="LID4096" smtClean="0"/>
              <a:t>08/17/2026</a:t>
            </a:fld>
            <a:endParaRPr lang="LID4096"/>
          </a:p>
        </p:txBody>
      </p:sp>
      <p:sp>
        <p:nvSpPr>
          <p:cNvPr id="3" name="מציין מיקום של כותרת תחתונה 2">
            <a:extLst>
              <a:ext uri="{FF2B5EF4-FFF2-40B4-BE49-F238E27FC236}">
                <a16:creationId xmlns:a16="http://schemas.microsoft.com/office/drawing/2014/main" id="{93392A29-DF47-D9CA-3A8B-7AE3FED34EDE}"/>
              </a:ext>
            </a:extLst>
          </p:cNvPr>
          <p:cNvSpPr>
            <a:spLocks noGrp="1"/>
          </p:cNvSpPr>
          <p:nvPr>
            <p:ph type="ftr" sz="quarter" idx="11"/>
          </p:nvPr>
        </p:nvSpPr>
        <p:spPr/>
        <p:txBody>
          <a:bodyPr/>
          <a:lstStyle/>
          <a:p>
            <a:endParaRPr lang="LID4096"/>
          </a:p>
        </p:txBody>
      </p:sp>
      <p:sp>
        <p:nvSpPr>
          <p:cNvPr id="4" name="מציין מיקום של מספר שקופית 3">
            <a:extLst>
              <a:ext uri="{FF2B5EF4-FFF2-40B4-BE49-F238E27FC236}">
                <a16:creationId xmlns:a16="http://schemas.microsoft.com/office/drawing/2014/main" id="{DA790985-75B8-F457-4069-D952F1E455E6}"/>
              </a:ext>
            </a:extLst>
          </p:cNvPr>
          <p:cNvSpPr>
            <a:spLocks noGrp="1"/>
          </p:cNvSpPr>
          <p:nvPr>
            <p:ph type="sldNum" sz="quarter" idx="12"/>
          </p:nvPr>
        </p:nvSpPr>
        <p:spPr/>
        <p:txBody>
          <a:bodyPr/>
          <a:lstStyle/>
          <a:p>
            <a:fld id="{4A164E1D-4C01-42A8-A3A6-C3F4469A18E4}" type="slidenum">
              <a:rPr lang="LID4096" smtClean="0"/>
              <a:t>‹#›</a:t>
            </a:fld>
            <a:endParaRPr lang="LID4096"/>
          </a:p>
        </p:txBody>
      </p:sp>
    </p:spTree>
    <p:extLst>
      <p:ext uri="{BB962C8B-B14F-4D97-AF65-F5344CB8AC3E}">
        <p14:creationId xmlns:p14="http://schemas.microsoft.com/office/powerpoint/2010/main" val="120559184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תוכן עם כיתוב">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F0907E84-142B-646C-05EE-B2CB069C29BD}"/>
              </a:ext>
            </a:extLst>
          </p:cNvPr>
          <p:cNvSpPr>
            <a:spLocks noGrp="1"/>
          </p:cNvSpPr>
          <p:nvPr>
            <p:ph type="title"/>
          </p:nvPr>
        </p:nvSpPr>
        <p:spPr>
          <a:xfrm>
            <a:off x="839788" y="457200"/>
            <a:ext cx="3932237" cy="1600200"/>
          </a:xfrm>
        </p:spPr>
        <p:txBody>
          <a:bodyPr anchor="b"/>
          <a:lstStyle>
            <a:lvl1pPr>
              <a:defRPr sz="3200"/>
            </a:lvl1pPr>
          </a:lstStyle>
          <a:p>
            <a:r>
              <a:rPr lang="he-IL"/>
              <a:t>לחץ כדי לערוך סגנון כותרת של תבנית בסיס</a:t>
            </a:r>
            <a:endParaRPr lang="LID4096"/>
          </a:p>
        </p:txBody>
      </p:sp>
      <p:sp>
        <p:nvSpPr>
          <p:cNvPr id="3" name="מציין מיקום תוכן 2">
            <a:extLst>
              <a:ext uri="{FF2B5EF4-FFF2-40B4-BE49-F238E27FC236}">
                <a16:creationId xmlns:a16="http://schemas.microsoft.com/office/drawing/2014/main" id="{2C3CCE90-A291-E9B9-BED4-3C35269D2CA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endParaRPr lang="LID4096"/>
          </a:p>
        </p:txBody>
      </p:sp>
      <p:sp>
        <p:nvSpPr>
          <p:cNvPr id="4" name="מציין מיקום טקסט 3">
            <a:extLst>
              <a:ext uri="{FF2B5EF4-FFF2-40B4-BE49-F238E27FC236}">
                <a16:creationId xmlns:a16="http://schemas.microsoft.com/office/drawing/2014/main" id="{7C6107B4-F016-8690-320D-682BF2BED15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he-IL"/>
              <a:t>לחץ כדי לערוך סגנונות טקסט של תבנית בסיס</a:t>
            </a:r>
          </a:p>
        </p:txBody>
      </p:sp>
      <p:sp>
        <p:nvSpPr>
          <p:cNvPr id="5" name="מציין מיקום של תאריך 4">
            <a:extLst>
              <a:ext uri="{FF2B5EF4-FFF2-40B4-BE49-F238E27FC236}">
                <a16:creationId xmlns:a16="http://schemas.microsoft.com/office/drawing/2014/main" id="{DBA66E85-1406-D11B-5310-83EC57A41571}"/>
              </a:ext>
            </a:extLst>
          </p:cNvPr>
          <p:cNvSpPr>
            <a:spLocks noGrp="1"/>
          </p:cNvSpPr>
          <p:nvPr>
            <p:ph type="dt" sz="half" idx="10"/>
          </p:nvPr>
        </p:nvSpPr>
        <p:spPr/>
        <p:txBody>
          <a:bodyPr/>
          <a:lstStyle/>
          <a:p>
            <a:fld id="{894C6EE7-E691-419B-A174-477FF1F1675E}" type="datetimeFigureOut">
              <a:rPr lang="LID4096" smtClean="0"/>
              <a:t>08/17/2026</a:t>
            </a:fld>
            <a:endParaRPr lang="LID4096"/>
          </a:p>
        </p:txBody>
      </p:sp>
      <p:sp>
        <p:nvSpPr>
          <p:cNvPr id="6" name="מציין מיקום של כותרת תחתונה 5">
            <a:extLst>
              <a:ext uri="{FF2B5EF4-FFF2-40B4-BE49-F238E27FC236}">
                <a16:creationId xmlns:a16="http://schemas.microsoft.com/office/drawing/2014/main" id="{6B1B34C8-F9DD-761B-E717-99B452E25E0C}"/>
              </a:ext>
            </a:extLst>
          </p:cNvPr>
          <p:cNvSpPr>
            <a:spLocks noGrp="1"/>
          </p:cNvSpPr>
          <p:nvPr>
            <p:ph type="ftr" sz="quarter" idx="11"/>
          </p:nvPr>
        </p:nvSpPr>
        <p:spPr/>
        <p:txBody>
          <a:bodyPr/>
          <a:lstStyle/>
          <a:p>
            <a:endParaRPr lang="LID4096"/>
          </a:p>
        </p:txBody>
      </p:sp>
      <p:sp>
        <p:nvSpPr>
          <p:cNvPr id="7" name="מציין מיקום של מספר שקופית 6">
            <a:extLst>
              <a:ext uri="{FF2B5EF4-FFF2-40B4-BE49-F238E27FC236}">
                <a16:creationId xmlns:a16="http://schemas.microsoft.com/office/drawing/2014/main" id="{7F6A84AF-4764-5AAD-8D28-7C7F96781130}"/>
              </a:ext>
            </a:extLst>
          </p:cNvPr>
          <p:cNvSpPr>
            <a:spLocks noGrp="1"/>
          </p:cNvSpPr>
          <p:nvPr>
            <p:ph type="sldNum" sz="quarter" idx="12"/>
          </p:nvPr>
        </p:nvSpPr>
        <p:spPr/>
        <p:txBody>
          <a:bodyPr/>
          <a:lstStyle/>
          <a:p>
            <a:fld id="{4A164E1D-4C01-42A8-A3A6-C3F4469A18E4}" type="slidenum">
              <a:rPr lang="LID4096" smtClean="0"/>
              <a:t>‹#›</a:t>
            </a:fld>
            <a:endParaRPr lang="LID4096"/>
          </a:p>
        </p:txBody>
      </p:sp>
    </p:spTree>
    <p:extLst>
      <p:ext uri="{BB962C8B-B14F-4D97-AF65-F5344CB8AC3E}">
        <p14:creationId xmlns:p14="http://schemas.microsoft.com/office/powerpoint/2010/main" val="18893332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תמונה עם כיתוב">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F8B781DD-1ADD-861F-402B-9EF7AA756014}"/>
              </a:ext>
            </a:extLst>
          </p:cNvPr>
          <p:cNvSpPr>
            <a:spLocks noGrp="1"/>
          </p:cNvSpPr>
          <p:nvPr>
            <p:ph type="title"/>
          </p:nvPr>
        </p:nvSpPr>
        <p:spPr>
          <a:xfrm>
            <a:off x="839788" y="457200"/>
            <a:ext cx="3932237" cy="1600200"/>
          </a:xfrm>
        </p:spPr>
        <p:txBody>
          <a:bodyPr anchor="b"/>
          <a:lstStyle>
            <a:lvl1pPr>
              <a:defRPr sz="3200"/>
            </a:lvl1pPr>
          </a:lstStyle>
          <a:p>
            <a:r>
              <a:rPr lang="he-IL"/>
              <a:t>לחץ כדי לערוך סגנון כותרת של תבנית בסיס</a:t>
            </a:r>
            <a:endParaRPr lang="LID4096"/>
          </a:p>
        </p:txBody>
      </p:sp>
      <p:sp>
        <p:nvSpPr>
          <p:cNvPr id="3" name="מציין מיקום של תמונה 2">
            <a:extLst>
              <a:ext uri="{FF2B5EF4-FFF2-40B4-BE49-F238E27FC236}">
                <a16:creationId xmlns:a16="http://schemas.microsoft.com/office/drawing/2014/main" id="{D29F9529-E5A0-9760-0B30-44D9188A760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LID4096"/>
          </a:p>
        </p:txBody>
      </p:sp>
      <p:sp>
        <p:nvSpPr>
          <p:cNvPr id="4" name="מציין מיקום טקסט 3">
            <a:extLst>
              <a:ext uri="{FF2B5EF4-FFF2-40B4-BE49-F238E27FC236}">
                <a16:creationId xmlns:a16="http://schemas.microsoft.com/office/drawing/2014/main" id="{21BF2470-D20C-4B45-C5D6-E6D54DBE623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he-IL"/>
              <a:t>לחץ כדי לערוך סגנונות טקסט של תבנית בסיס</a:t>
            </a:r>
          </a:p>
        </p:txBody>
      </p:sp>
      <p:sp>
        <p:nvSpPr>
          <p:cNvPr id="5" name="מציין מיקום של תאריך 4">
            <a:extLst>
              <a:ext uri="{FF2B5EF4-FFF2-40B4-BE49-F238E27FC236}">
                <a16:creationId xmlns:a16="http://schemas.microsoft.com/office/drawing/2014/main" id="{02B854C2-BBD0-ACC5-190A-530DE3E1896C}"/>
              </a:ext>
            </a:extLst>
          </p:cNvPr>
          <p:cNvSpPr>
            <a:spLocks noGrp="1"/>
          </p:cNvSpPr>
          <p:nvPr>
            <p:ph type="dt" sz="half" idx="10"/>
          </p:nvPr>
        </p:nvSpPr>
        <p:spPr/>
        <p:txBody>
          <a:bodyPr/>
          <a:lstStyle/>
          <a:p>
            <a:fld id="{894C6EE7-E691-419B-A174-477FF1F1675E}" type="datetimeFigureOut">
              <a:rPr lang="LID4096" smtClean="0"/>
              <a:t>08/17/2026</a:t>
            </a:fld>
            <a:endParaRPr lang="LID4096"/>
          </a:p>
        </p:txBody>
      </p:sp>
      <p:sp>
        <p:nvSpPr>
          <p:cNvPr id="6" name="מציין מיקום של כותרת תחתונה 5">
            <a:extLst>
              <a:ext uri="{FF2B5EF4-FFF2-40B4-BE49-F238E27FC236}">
                <a16:creationId xmlns:a16="http://schemas.microsoft.com/office/drawing/2014/main" id="{2D2ABF41-18A1-7303-B82B-B9258B44968D}"/>
              </a:ext>
            </a:extLst>
          </p:cNvPr>
          <p:cNvSpPr>
            <a:spLocks noGrp="1"/>
          </p:cNvSpPr>
          <p:nvPr>
            <p:ph type="ftr" sz="quarter" idx="11"/>
          </p:nvPr>
        </p:nvSpPr>
        <p:spPr/>
        <p:txBody>
          <a:bodyPr/>
          <a:lstStyle/>
          <a:p>
            <a:endParaRPr lang="LID4096"/>
          </a:p>
        </p:txBody>
      </p:sp>
      <p:sp>
        <p:nvSpPr>
          <p:cNvPr id="7" name="מציין מיקום של מספר שקופית 6">
            <a:extLst>
              <a:ext uri="{FF2B5EF4-FFF2-40B4-BE49-F238E27FC236}">
                <a16:creationId xmlns:a16="http://schemas.microsoft.com/office/drawing/2014/main" id="{09393744-DA97-3F0B-F3AD-FF7EA3EA9BC5}"/>
              </a:ext>
            </a:extLst>
          </p:cNvPr>
          <p:cNvSpPr>
            <a:spLocks noGrp="1"/>
          </p:cNvSpPr>
          <p:nvPr>
            <p:ph type="sldNum" sz="quarter" idx="12"/>
          </p:nvPr>
        </p:nvSpPr>
        <p:spPr/>
        <p:txBody>
          <a:bodyPr/>
          <a:lstStyle/>
          <a:p>
            <a:fld id="{4A164E1D-4C01-42A8-A3A6-C3F4469A18E4}" type="slidenum">
              <a:rPr lang="LID4096" smtClean="0"/>
              <a:t>‹#›</a:t>
            </a:fld>
            <a:endParaRPr lang="LID4096"/>
          </a:p>
        </p:txBody>
      </p:sp>
    </p:spTree>
    <p:extLst>
      <p:ext uri="{BB962C8B-B14F-4D97-AF65-F5344CB8AC3E}">
        <p14:creationId xmlns:p14="http://schemas.microsoft.com/office/powerpoint/2010/main" val="137515691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כותרת וטקסט אנכי">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A2394F8B-B317-1BDA-540D-31D1DBEBCB97}"/>
              </a:ext>
            </a:extLst>
          </p:cNvPr>
          <p:cNvSpPr>
            <a:spLocks noGrp="1"/>
          </p:cNvSpPr>
          <p:nvPr>
            <p:ph type="title"/>
          </p:nvPr>
        </p:nvSpPr>
        <p:spPr/>
        <p:txBody>
          <a:bodyPr/>
          <a:lstStyle/>
          <a:p>
            <a:r>
              <a:rPr lang="he-IL"/>
              <a:t>לחץ כדי לערוך סגנון כותרת של תבנית בסיס</a:t>
            </a:r>
            <a:endParaRPr lang="LID4096"/>
          </a:p>
        </p:txBody>
      </p:sp>
      <p:sp>
        <p:nvSpPr>
          <p:cNvPr id="3" name="מציין מיקום של טקסט אנכי 2">
            <a:extLst>
              <a:ext uri="{FF2B5EF4-FFF2-40B4-BE49-F238E27FC236}">
                <a16:creationId xmlns:a16="http://schemas.microsoft.com/office/drawing/2014/main" id="{61EE5019-B92E-89D1-4155-42DF0D0144AD}"/>
              </a:ext>
            </a:extLst>
          </p:cNvPr>
          <p:cNvSpPr>
            <a:spLocks noGrp="1"/>
          </p:cNvSpPr>
          <p:nvPr>
            <p:ph type="body" orient="vert" idx="1"/>
          </p:nvPr>
        </p:nvSpPr>
        <p:spPr/>
        <p:txBody>
          <a:bodyPr vert="eaVert"/>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endParaRPr lang="LID4096"/>
          </a:p>
        </p:txBody>
      </p:sp>
      <p:sp>
        <p:nvSpPr>
          <p:cNvPr id="4" name="מציין מיקום של תאריך 3">
            <a:extLst>
              <a:ext uri="{FF2B5EF4-FFF2-40B4-BE49-F238E27FC236}">
                <a16:creationId xmlns:a16="http://schemas.microsoft.com/office/drawing/2014/main" id="{E927A5A0-64FA-C63E-BEF2-A1C076266F91}"/>
              </a:ext>
            </a:extLst>
          </p:cNvPr>
          <p:cNvSpPr>
            <a:spLocks noGrp="1"/>
          </p:cNvSpPr>
          <p:nvPr>
            <p:ph type="dt" sz="half" idx="10"/>
          </p:nvPr>
        </p:nvSpPr>
        <p:spPr/>
        <p:txBody>
          <a:bodyPr/>
          <a:lstStyle/>
          <a:p>
            <a:fld id="{894C6EE7-E691-419B-A174-477FF1F1675E}" type="datetimeFigureOut">
              <a:rPr lang="LID4096" smtClean="0"/>
              <a:t>08/17/2026</a:t>
            </a:fld>
            <a:endParaRPr lang="LID4096"/>
          </a:p>
        </p:txBody>
      </p:sp>
      <p:sp>
        <p:nvSpPr>
          <p:cNvPr id="5" name="מציין מיקום של כותרת תחתונה 4">
            <a:extLst>
              <a:ext uri="{FF2B5EF4-FFF2-40B4-BE49-F238E27FC236}">
                <a16:creationId xmlns:a16="http://schemas.microsoft.com/office/drawing/2014/main" id="{7934F542-D4CB-A50C-5BE7-C3F231ED7193}"/>
              </a:ext>
            </a:extLst>
          </p:cNvPr>
          <p:cNvSpPr>
            <a:spLocks noGrp="1"/>
          </p:cNvSpPr>
          <p:nvPr>
            <p:ph type="ftr" sz="quarter" idx="11"/>
          </p:nvPr>
        </p:nvSpPr>
        <p:spPr/>
        <p:txBody>
          <a:bodyPr/>
          <a:lstStyle/>
          <a:p>
            <a:endParaRPr lang="LID4096"/>
          </a:p>
        </p:txBody>
      </p:sp>
      <p:sp>
        <p:nvSpPr>
          <p:cNvPr id="6" name="מציין מיקום של מספר שקופית 5">
            <a:extLst>
              <a:ext uri="{FF2B5EF4-FFF2-40B4-BE49-F238E27FC236}">
                <a16:creationId xmlns:a16="http://schemas.microsoft.com/office/drawing/2014/main" id="{9F777DB4-4F9B-557E-5677-05055B2DAF0D}"/>
              </a:ext>
            </a:extLst>
          </p:cNvPr>
          <p:cNvSpPr>
            <a:spLocks noGrp="1"/>
          </p:cNvSpPr>
          <p:nvPr>
            <p:ph type="sldNum" sz="quarter" idx="12"/>
          </p:nvPr>
        </p:nvSpPr>
        <p:spPr/>
        <p:txBody>
          <a:bodyPr/>
          <a:lstStyle/>
          <a:p>
            <a:fld id="{4A164E1D-4C01-42A8-A3A6-C3F4469A18E4}" type="slidenum">
              <a:rPr lang="LID4096" smtClean="0"/>
              <a:t>‹#›</a:t>
            </a:fld>
            <a:endParaRPr lang="LID4096"/>
          </a:p>
        </p:txBody>
      </p:sp>
    </p:spTree>
    <p:extLst>
      <p:ext uri="{BB962C8B-B14F-4D97-AF65-F5344CB8AC3E}">
        <p14:creationId xmlns:p14="http://schemas.microsoft.com/office/powerpoint/2010/main" val="2939512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כותרת אנכית וטקסט">
    <p:spTree>
      <p:nvGrpSpPr>
        <p:cNvPr id="1" name=""/>
        <p:cNvGrpSpPr/>
        <p:nvPr/>
      </p:nvGrpSpPr>
      <p:grpSpPr>
        <a:xfrm>
          <a:off x="0" y="0"/>
          <a:ext cx="0" cy="0"/>
          <a:chOff x="0" y="0"/>
          <a:chExt cx="0" cy="0"/>
        </a:xfrm>
      </p:grpSpPr>
      <p:sp>
        <p:nvSpPr>
          <p:cNvPr id="2" name="כותרת אנכית 1">
            <a:extLst>
              <a:ext uri="{FF2B5EF4-FFF2-40B4-BE49-F238E27FC236}">
                <a16:creationId xmlns:a16="http://schemas.microsoft.com/office/drawing/2014/main" id="{9CF71221-9456-881D-5240-A33A8A8F0337}"/>
              </a:ext>
            </a:extLst>
          </p:cNvPr>
          <p:cNvSpPr>
            <a:spLocks noGrp="1"/>
          </p:cNvSpPr>
          <p:nvPr>
            <p:ph type="title" orient="vert"/>
          </p:nvPr>
        </p:nvSpPr>
        <p:spPr>
          <a:xfrm>
            <a:off x="8724900" y="365125"/>
            <a:ext cx="2628900" cy="5811838"/>
          </a:xfrm>
        </p:spPr>
        <p:txBody>
          <a:bodyPr vert="eaVert"/>
          <a:lstStyle/>
          <a:p>
            <a:r>
              <a:rPr lang="he-IL"/>
              <a:t>לחץ כדי לערוך סגנון כותרת של תבנית בסיס</a:t>
            </a:r>
            <a:endParaRPr lang="LID4096"/>
          </a:p>
        </p:txBody>
      </p:sp>
      <p:sp>
        <p:nvSpPr>
          <p:cNvPr id="3" name="מציין מיקום של טקסט אנכי 2">
            <a:extLst>
              <a:ext uri="{FF2B5EF4-FFF2-40B4-BE49-F238E27FC236}">
                <a16:creationId xmlns:a16="http://schemas.microsoft.com/office/drawing/2014/main" id="{7C592A11-1C48-BC08-6D20-DE56100017F7}"/>
              </a:ext>
            </a:extLst>
          </p:cNvPr>
          <p:cNvSpPr>
            <a:spLocks noGrp="1"/>
          </p:cNvSpPr>
          <p:nvPr>
            <p:ph type="body" orient="vert" idx="1"/>
          </p:nvPr>
        </p:nvSpPr>
        <p:spPr>
          <a:xfrm>
            <a:off x="838200" y="365125"/>
            <a:ext cx="7734300" cy="5811838"/>
          </a:xfrm>
        </p:spPr>
        <p:txBody>
          <a:bodyPr vert="eaVert"/>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endParaRPr lang="LID4096"/>
          </a:p>
        </p:txBody>
      </p:sp>
      <p:sp>
        <p:nvSpPr>
          <p:cNvPr id="4" name="מציין מיקום של תאריך 3">
            <a:extLst>
              <a:ext uri="{FF2B5EF4-FFF2-40B4-BE49-F238E27FC236}">
                <a16:creationId xmlns:a16="http://schemas.microsoft.com/office/drawing/2014/main" id="{29F1F6DD-2C9D-124C-20C0-D9898AA61405}"/>
              </a:ext>
            </a:extLst>
          </p:cNvPr>
          <p:cNvSpPr>
            <a:spLocks noGrp="1"/>
          </p:cNvSpPr>
          <p:nvPr>
            <p:ph type="dt" sz="half" idx="10"/>
          </p:nvPr>
        </p:nvSpPr>
        <p:spPr/>
        <p:txBody>
          <a:bodyPr/>
          <a:lstStyle/>
          <a:p>
            <a:fld id="{894C6EE7-E691-419B-A174-477FF1F1675E}" type="datetimeFigureOut">
              <a:rPr lang="LID4096" smtClean="0"/>
              <a:t>08/17/2026</a:t>
            </a:fld>
            <a:endParaRPr lang="LID4096"/>
          </a:p>
        </p:txBody>
      </p:sp>
      <p:sp>
        <p:nvSpPr>
          <p:cNvPr id="5" name="מציין מיקום של כותרת תחתונה 4">
            <a:extLst>
              <a:ext uri="{FF2B5EF4-FFF2-40B4-BE49-F238E27FC236}">
                <a16:creationId xmlns:a16="http://schemas.microsoft.com/office/drawing/2014/main" id="{707A3CC2-DFF4-63E1-68DA-F31CDCA434FC}"/>
              </a:ext>
            </a:extLst>
          </p:cNvPr>
          <p:cNvSpPr>
            <a:spLocks noGrp="1"/>
          </p:cNvSpPr>
          <p:nvPr>
            <p:ph type="ftr" sz="quarter" idx="11"/>
          </p:nvPr>
        </p:nvSpPr>
        <p:spPr/>
        <p:txBody>
          <a:bodyPr/>
          <a:lstStyle/>
          <a:p>
            <a:endParaRPr lang="LID4096"/>
          </a:p>
        </p:txBody>
      </p:sp>
      <p:sp>
        <p:nvSpPr>
          <p:cNvPr id="6" name="מציין מיקום של מספר שקופית 5">
            <a:extLst>
              <a:ext uri="{FF2B5EF4-FFF2-40B4-BE49-F238E27FC236}">
                <a16:creationId xmlns:a16="http://schemas.microsoft.com/office/drawing/2014/main" id="{FBE406A0-DA06-C825-FAA1-98B20A548134}"/>
              </a:ext>
            </a:extLst>
          </p:cNvPr>
          <p:cNvSpPr>
            <a:spLocks noGrp="1"/>
          </p:cNvSpPr>
          <p:nvPr>
            <p:ph type="sldNum" sz="quarter" idx="12"/>
          </p:nvPr>
        </p:nvSpPr>
        <p:spPr/>
        <p:txBody>
          <a:bodyPr/>
          <a:lstStyle/>
          <a:p>
            <a:fld id="{4A164E1D-4C01-42A8-A3A6-C3F4469A18E4}" type="slidenum">
              <a:rPr lang="LID4096" smtClean="0"/>
              <a:t>‹#›</a:t>
            </a:fld>
            <a:endParaRPr lang="LID4096"/>
          </a:p>
        </p:txBody>
      </p:sp>
    </p:spTree>
    <p:extLst>
      <p:ext uri="{BB962C8B-B14F-4D97-AF65-F5344CB8AC3E}">
        <p14:creationId xmlns:p14="http://schemas.microsoft.com/office/powerpoint/2010/main" val="34830316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מציין מיקום של כותרת 1">
            <a:extLst>
              <a:ext uri="{FF2B5EF4-FFF2-40B4-BE49-F238E27FC236}">
                <a16:creationId xmlns:a16="http://schemas.microsoft.com/office/drawing/2014/main" id="{58C7A81D-2A82-5559-B57B-EB88A6A8076F}"/>
              </a:ext>
            </a:extLst>
          </p:cNvPr>
          <p:cNvSpPr>
            <a:spLocks noGrp="1"/>
          </p:cNvSpPr>
          <p:nvPr>
            <p:ph type="title"/>
          </p:nvPr>
        </p:nvSpPr>
        <p:spPr>
          <a:xfrm>
            <a:off x="838200" y="365125"/>
            <a:ext cx="10515600" cy="1325563"/>
          </a:xfrm>
          <a:prstGeom prst="rect">
            <a:avLst/>
          </a:prstGeom>
        </p:spPr>
        <p:txBody>
          <a:bodyPr vert="horz" lIns="91440" tIns="45720" rIns="91440" bIns="45720" rtlCol="1" anchor="ctr">
            <a:normAutofit/>
          </a:bodyPr>
          <a:lstStyle/>
          <a:p>
            <a:r>
              <a:rPr lang="he-IL"/>
              <a:t>לחץ כדי לערוך סגנון כותרת של תבנית בסיס</a:t>
            </a:r>
            <a:endParaRPr lang="LID4096"/>
          </a:p>
        </p:txBody>
      </p:sp>
      <p:sp>
        <p:nvSpPr>
          <p:cNvPr id="3" name="מציין מיקום טקסט 2">
            <a:extLst>
              <a:ext uri="{FF2B5EF4-FFF2-40B4-BE49-F238E27FC236}">
                <a16:creationId xmlns:a16="http://schemas.microsoft.com/office/drawing/2014/main" id="{FE45D03E-1B35-B68C-9F76-F56A57FF6776}"/>
              </a:ext>
            </a:extLst>
          </p:cNvPr>
          <p:cNvSpPr>
            <a:spLocks noGrp="1"/>
          </p:cNvSpPr>
          <p:nvPr>
            <p:ph type="body" idx="1"/>
          </p:nvPr>
        </p:nvSpPr>
        <p:spPr>
          <a:xfrm>
            <a:off x="838200" y="1825625"/>
            <a:ext cx="10515600" cy="4351338"/>
          </a:xfrm>
          <a:prstGeom prst="rect">
            <a:avLst/>
          </a:prstGeom>
        </p:spPr>
        <p:txBody>
          <a:bodyPr vert="horz" lIns="91440" tIns="45720" rIns="91440" bIns="45720" rtlCol="1">
            <a:normAutofit/>
          </a:body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endParaRPr lang="LID4096"/>
          </a:p>
        </p:txBody>
      </p:sp>
      <p:sp>
        <p:nvSpPr>
          <p:cNvPr id="4" name="מציין מיקום של תאריך 3">
            <a:extLst>
              <a:ext uri="{FF2B5EF4-FFF2-40B4-BE49-F238E27FC236}">
                <a16:creationId xmlns:a16="http://schemas.microsoft.com/office/drawing/2014/main" id="{2AC69A28-9AF7-05B8-0838-2D78499C1FB9}"/>
              </a:ext>
            </a:extLst>
          </p:cNvPr>
          <p:cNvSpPr>
            <a:spLocks noGrp="1"/>
          </p:cNvSpPr>
          <p:nvPr>
            <p:ph type="dt" sz="half" idx="2"/>
          </p:nvPr>
        </p:nvSpPr>
        <p:spPr>
          <a:xfrm>
            <a:off x="8610600" y="6356350"/>
            <a:ext cx="2743200" cy="365125"/>
          </a:xfrm>
          <a:prstGeom prst="rect">
            <a:avLst/>
          </a:prstGeom>
        </p:spPr>
        <p:txBody>
          <a:bodyPr vert="horz" lIns="91440" tIns="45720" rIns="91440" bIns="45720" rtlCol="1" anchor="ctr"/>
          <a:lstStyle>
            <a:lvl1pPr algn="l">
              <a:defRPr sz="1200">
                <a:solidFill>
                  <a:schemeClr val="tx1">
                    <a:tint val="82000"/>
                  </a:schemeClr>
                </a:solidFill>
              </a:defRPr>
            </a:lvl1pPr>
          </a:lstStyle>
          <a:p>
            <a:fld id="{894C6EE7-E691-419B-A174-477FF1F1675E}" type="datetimeFigureOut">
              <a:rPr lang="LID4096" smtClean="0"/>
              <a:t>08/17/2026</a:t>
            </a:fld>
            <a:endParaRPr lang="LID4096"/>
          </a:p>
        </p:txBody>
      </p:sp>
      <p:sp>
        <p:nvSpPr>
          <p:cNvPr id="5" name="מציין מיקום של כותרת תחתונה 4">
            <a:extLst>
              <a:ext uri="{FF2B5EF4-FFF2-40B4-BE49-F238E27FC236}">
                <a16:creationId xmlns:a16="http://schemas.microsoft.com/office/drawing/2014/main" id="{EBD2EDA5-A2AF-9F84-9F2A-14919152B21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1" anchor="ctr"/>
          <a:lstStyle>
            <a:lvl1pPr algn="ctr">
              <a:defRPr sz="1200">
                <a:solidFill>
                  <a:schemeClr val="tx1">
                    <a:tint val="82000"/>
                  </a:schemeClr>
                </a:solidFill>
              </a:defRPr>
            </a:lvl1pPr>
          </a:lstStyle>
          <a:p>
            <a:endParaRPr lang="LID4096"/>
          </a:p>
        </p:txBody>
      </p:sp>
      <p:sp>
        <p:nvSpPr>
          <p:cNvPr id="6" name="מציין מיקום של מספר שקופית 5">
            <a:extLst>
              <a:ext uri="{FF2B5EF4-FFF2-40B4-BE49-F238E27FC236}">
                <a16:creationId xmlns:a16="http://schemas.microsoft.com/office/drawing/2014/main" id="{96B9F22E-8986-0796-6D82-E62FC3DE6356}"/>
              </a:ext>
            </a:extLst>
          </p:cNvPr>
          <p:cNvSpPr>
            <a:spLocks noGrp="1"/>
          </p:cNvSpPr>
          <p:nvPr>
            <p:ph type="sldNum" sz="quarter" idx="4"/>
          </p:nvPr>
        </p:nvSpPr>
        <p:spPr>
          <a:xfrm>
            <a:off x="838200" y="6356350"/>
            <a:ext cx="2743200" cy="365125"/>
          </a:xfrm>
          <a:prstGeom prst="rect">
            <a:avLst/>
          </a:prstGeom>
        </p:spPr>
        <p:txBody>
          <a:bodyPr vert="horz" lIns="91440" tIns="45720" rIns="91440" bIns="45720" rtlCol="1" anchor="ctr"/>
          <a:lstStyle>
            <a:lvl1pPr algn="r">
              <a:defRPr sz="1200">
                <a:solidFill>
                  <a:schemeClr val="tx1">
                    <a:tint val="82000"/>
                  </a:schemeClr>
                </a:solidFill>
              </a:defRPr>
            </a:lvl1pPr>
          </a:lstStyle>
          <a:p>
            <a:fld id="{4A164E1D-4C01-42A8-A3A6-C3F4469A18E4}" type="slidenum">
              <a:rPr lang="LID4096" smtClean="0"/>
              <a:t>‹#›</a:t>
            </a:fld>
            <a:endParaRPr lang="LID4096"/>
          </a:p>
        </p:txBody>
      </p:sp>
    </p:spTree>
    <p:extLst>
      <p:ext uri="{BB962C8B-B14F-4D97-AF65-F5344CB8AC3E}">
        <p14:creationId xmlns:p14="http://schemas.microsoft.com/office/powerpoint/2010/main" val="371423440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r" defTabSz="914400" rtl="1"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r" defTabSz="914400" rtl="1"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r" defTabSz="914400" rtl="1"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r" defTabSz="914400" rtl="1"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LID4096"/>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2.xml"/><Relationship Id="rId1" Type="http://schemas.openxmlformats.org/officeDocument/2006/relationships/tags" Target="../tags/tag3.xml"/><Relationship Id="rId6" Type="http://schemas.openxmlformats.org/officeDocument/2006/relationships/image" Target="../media/image3.png"/><Relationship Id="rId5" Type="http://schemas.openxmlformats.org/officeDocument/2006/relationships/image" Target="../media/image2.png"/><Relationship Id="rId4" Type="http://schemas.openxmlformats.org/officeDocument/2006/relationships/image" Target="../media/image1.png"/></Relationships>
</file>

<file path=ppt/slides/_rels/slide4.xml.rels><?xml version="1.0" encoding="UTF-8" standalone="yes"?>
<Relationships xmlns="http://schemas.openxmlformats.org/package/2006/relationships"><Relationship Id="rId3" Type="http://schemas.microsoft.com/office/2018/10/relationships/comments" Target="../comments/modernComment_2F3_E6B03D3F.xml"/><Relationship Id="rId7" Type="http://schemas.openxmlformats.org/officeDocument/2006/relationships/image" Target="../media/image7.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8" Type="http://schemas.openxmlformats.org/officeDocument/2006/relationships/image" Target="../media/image9.png"/><Relationship Id="rId3" Type="http://schemas.microsoft.com/office/2018/10/relationships/comments" Target="../comments/modernComment_2FC_15E13E9D.xml"/><Relationship Id="rId7" Type="http://schemas.openxmlformats.org/officeDocument/2006/relationships/image" Target="../media/image8.pn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7" Type="http://schemas.openxmlformats.org/officeDocument/2006/relationships/image" Target="../media/image9.pn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3.png"/><Relationship Id="rId5" Type="http://schemas.openxmlformats.org/officeDocument/2006/relationships/image" Target="../media/image10.png"/><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6.xml"/><Relationship Id="rId7" Type="http://schemas.openxmlformats.org/officeDocument/2006/relationships/image" Target="../media/image11.jpeg"/><Relationship Id="rId2" Type="http://schemas.openxmlformats.org/officeDocument/2006/relationships/slideLayout" Target="../slideLayouts/slideLayout2.xml"/><Relationship Id="rId1" Type="http://schemas.openxmlformats.org/officeDocument/2006/relationships/tags" Target="../tags/tag4.xml"/><Relationship Id="rId6" Type="http://schemas.openxmlformats.org/officeDocument/2006/relationships/image" Target="../media/image3.png"/><Relationship Id="rId5" Type="http://schemas.openxmlformats.org/officeDocument/2006/relationships/image" Target="../media/image5.png"/><Relationship Id="rId4" Type="http://schemas.microsoft.com/office/2018/10/relationships/comments" Target="../comments/modernComment_29A_753116BF.xml"/></Relationships>
</file>

<file path=ppt/slides/_rels/slide9.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notesSlide" Target="../notesSlides/notesSlide7.xml"/><Relationship Id="rId7" Type="http://schemas.openxmlformats.org/officeDocument/2006/relationships/image" Target="../media/image12.png"/><Relationship Id="rId2" Type="http://schemas.openxmlformats.org/officeDocument/2006/relationships/slideLayout" Target="../slideLayouts/slideLayout2.xml"/><Relationship Id="rId1" Type="http://schemas.openxmlformats.org/officeDocument/2006/relationships/tags" Target="../tags/tag5.xml"/><Relationship Id="rId6" Type="http://schemas.openxmlformats.org/officeDocument/2006/relationships/image" Target="../media/image3.png"/><Relationship Id="rId5" Type="http://schemas.openxmlformats.org/officeDocument/2006/relationships/image" Target="../media/image5.png"/><Relationship Id="rId4" Type="http://schemas.microsoft.com/office/2018/10/relationships/comments" Target="../comments/modernComment_2DF_59597A36.xml"/><Relationship Id="rId9" Type="http://schemas.openxmlformats.org/officeDocument/2006/relationships/image" Target="../media/image14.jpeg"/></Relationships>
</file>

<file path=ppt/slides/_rels/slide1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2.xml"/><Relationship Id="rId1" Type="http://schemas.openxmlformats.org/officeDocument/2006/relationships/tags" Target="../tags/tag6.xml"/><Relationship Id="rId6" Type="http://schemas.openxmlformats.org/officeDocument/2006/relationships/image" Target="../media/image3.png"/><Relationship Id="rId5" Type="http://schemas.openxmlformats.org/officeDocument/2006/relationships/image" Target="../media/image5.png"/><Relationship Id="rId4" Type="http://schemas.openxmlformats.org/officeDocument/2006/relationships/image" Target="../media/image1.png"/></Relationships>
</file>

<file path=ppt/slides/_rels/slide12.xml.rels><?xml version="1.0" encoding="UTF-8" standalone="yes"?>
<Relationships xmlns="http://schemas.openxmlformats.org/package/2006/relationships"><Relationship Id="rId8" Type="http://schemas.openxmlformats.org/officeDocument/2006/relationships/image" Target="../media/image17.svg"/><Relationship Id="rId3" Type="http://schemas.openxmlformats.org/officeDocument/2006/relationships/notesSlide" Target="../notesSlides/notesSlide9.xml"/><Relationship Id="rId7" Type="http://schemas.openxmlformats.org/officeDocument/2006/relationships/image" Target="../media/image16.svg"/><Relationship Id="rId2" Type="http://schemas.openxmlformats.org/officeDocument/2006/relationships/slideLayout" Target="../slideLayouts/slideLayout2.xml"/><Relationship Id="rId1" Type="http://schemas.openxmlformats.org/officeDocument/2006/relationships/tags" Target="../tags/tag7.xml"/><Relationship Id="rId6" Type="http://schemas.openxmlformats.org/officeDocument/2006/relationships/image" Target="../media/image16.png"/><Relationship Id="rId5" Type="http://schemas.openxmlformats.org/officeDocument/2006/relationships/image" Target="../media/image3.png"/><Relationship Id="rId10" Type="http://schemas.openxmlformats.org/officeDocument/2006/relationships/image" Target="../media/image14.jpeg"/><Relationship Id="rId4" Type="http://schemas.openxmlformats.org/officeDocument/2006/relationships/image" Target="../media/image5.png"/><Relationship Id="rId9" Type="http://schemas.openxmlformats.org/officeDocument/2006/relationships/image" Target="../media/image18.png"/></Relationships>
</file>

<file path=ppt/slides/_rels/slide13.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notesSlide" Target="../notesSlides/notesSlide10.xml"/><Relationship Id="rId7" Type="http://schemas.openxmlformats.org/officeDocument/2006/relationships/image" Target="../media/image21.png"/><Relationship Id="rId2" Type="http://schemas.openxmlformats.org/officeDocument/2006/relationships/slideLayout" Target="../slideLayouts/slideLayout2.xml"/><Relationship Id="rId1" Type="http://schemas.openxmlformats.org/officeDocument/2006/relationships/tags" Target="../tags/tag8.xml"/><Relationship Id="rId6" Type="http://schemas.openxmlformats.org/officeDocument/2006/relationships/image" Target="../media/image19.jpeg"/><Relationship Id="rId5" Type="http://schemas.openxmlformats.org/officeDocument/2006/relationships/image" Target="../media/image3.png"/><Relationship Id="rId4" Type="http://schemas.openxmlformats.org/officeDocument/2006/relationships/image" Target="../media/image5.png"/></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1.xml"/><Relationship Id="rId7" Type="http://schemas.openxmlformats.org/officeDocument/2006/relationships/image" Target="../media/image16.svg"/><Relationship Id="rId2" Type="http://schemas.openxmlformats.org/officeDocument/2006/relationships/slideLayout" Target="../slideLayouts/slideLayout2.xml"/><Relationship Id="rId1" Type="http://schemas.openxmlformats.org/officeDocument/2006/relationships/tags" Target="../tags/tag9.xml"/><Relationship Id="rId6" Type="http://schemas.openxmlformats.org/officeDocument/2006/relationships/image" Target="../media/image22.png"/><Relationship Id="rId5" Type="http://schemas.openxmlformats.org/officeDocument/2006/relationships/image" Target="../media/image3.png"/><Relationship Id="rId4" Type="http://schemas.openxmlformats.org/officeDocument/2006/relationships/image" Target="../media/image5.png"/></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2.xml"/><Relationship Id="rId1" Type="http://schemas.openxmlformats.org/officeDocument/2006/relationships/tags" Target="../tags/tag10.xml"/><Relationship Id="rId6" Type="http://schemas.openxmlformats.org/officeDocument/2006/relationships/image" Target="../media/image20.png"/><Relationship Id="rId5" Type="http://schemas.openxmlformats.org/officeDocument/2006/relationships/image" Target="../media/image5.png"/><Relationship Id="rId4" Type="http://schemas.openxmlformats.org/officeDocument/2006/relationships/image" Target="../media/image10.png"/></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2.xml"/><Relationship Id="rId1" Type="http://schemas.openxmlformats.org/officeDocument/2006/relationships/tags" Target="../tags/tag11.xml"/><Relationship Id="rId5" Type="http://schemas.openxmlformats.org/officeDocument/2006/relationships/image" Target="../media/image10.png"/><Relationship Id="rId4" Type="http://schemas.openxmlformats.org/officeDocument/2006/relationships/image" Target="../media/image23.png"/></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4.xml"/><Relationship Id="rId7" Type="http://schemas.openxmlformats.org/officeDocument/2006/relationships/image" Target="../media/image24.svg"/><Relationship Id="rId2" Type="http://schemas.openxmlformats.org/officeDocument/2006/relationships/slideLayout" Target="../slideLayouts/slideLayout2.xml"/><Relationship Id="rId1" Type="http://schemas.openxmlformats.org/officeDocument/2006/relationships/tags" Target="../tags/tag12.xml"/><Relationship Id="rId6" Type="http://schemas.openxmlformats.org/officeDocument/2006/relationships/image" Target="../media/image25.png"/><Relationship Id="rId5" Type="http://schemas.openxmlformats.org/officeDocument/2006/relationships/image" Target="../media/image10.png"/><Relationship Id="rId4" Type="http://schemas.microsoft.com/office/2018/10/relationships/comments" Target="../comments/modernComment_2C8_BD02B5E2.xml"/></Relationships>
</file>

<file path=ppt/slides/_rels/slide18.xml.rels><?xml version="1.0" encoding="UTF-8" standalone="yes"?>
<Relationships xmlns="http://schemas.openxmlformats.org/package/2006/relationships"><Relationship Id="rId8" Type="http://schemas.openxmlformats.org/officeDocument/2006/relationships/image" Target="../media/image24.svg"/><Relationship Id="rId3" Type="http://schemas.openxmlformats.org/officeDocument/2006/relationships/notesSlide" Target="../notesSlides/notesSlide15.xml"/><Relationship Id="rId7" Type="http://schemas.openxmlformats.org/officeDocument/2006/relationships/image" Target="../media/image29.png"/><Relationship Id="rId2" Type="http://schemas.openxmlformats.org/officeDocument/2006/relationships/slideLayout" Target="../slideLayouts/slideLayout2.xml"/><Relationship Id="rId1" Type="http://schemas.openxmlformats.org/officeDocument/2006/relationships/tags" Target="../tags/tag13.xml"/><Relationship Id="rId6" Type="http://schemas.openxmlformats.org/officeDocument/2006/relationships/image" Target="../media/image28.png"/><Relationship Id="rId5" Type="http://schemas.openxmlformats.org/officeDocument/2006/relationships/image" Target="../media/image27.png"/><Relationship Id="rId10" Type="http://schemas.openxmlformats.org/officeDocument/2006/relationships/image" Target="../media/image31.png"/><Relationship Id="rId4" Type="http://schemas.openxmlformats.org/officeDocument/2006/relationships/image" Target="../media/image10.png"/><Relationship Id="rId9" Type="http://schemas.openxmlformats.org/officeDocument/2006/relationships/image" Target="../media/image30.png"/></Relationships>
</file>

<file path=ppt/slides/_rels/slide19.xml.rels><?xml version="1.0" encoding="UTF-8" standalone="yes"?>
<Relationships xmlns="http://schemas.openxmlformats.org/package/2006/relationships"><Relationship Id="rId8" Type="http://schemas.openxmlformats.org/officeDocument/2006/relationships/image" Target="../media/image24.svg"/><Relationship Id="rId3" Type="http://schemas.openxmlformats.org/officeDocument/2006/relationships/notesSlide" Target="../notesSlides/notesSlide16.xml"/><Relationship Id="rId7" Type="http://schemas.openxmlformats.org/officeDocument/2006/relationships/image" Target="../media/image33.png"/><Relationship Id="rId2" Type="http://schemas.openxmlformats.org/officeDocument/2006/relationships/slideLayout" Target="../slideLayouts/slideLayout2.xml"/><Relationship Id="rId1" Type="http://schemas.openxmlformats.org/officeDocument/2006/relationships/tags" Target="../tags/tag14.xml"/><Relationship Id="rId6" Type="http://schemas.openxmlformats.org/officeDocument/2006/relationships/image" Target="../media/image32.png"/><Relationship Id="rId5" Type="http://schemas.openxmlformats.org/officeDocument/2006/relationships/image" Target="../media/image27.png"/><Relationship Id="rId4" Type="http://schemas.openxmlformats.org/officeDocument/2006/relationships/image" Target="../media/image10.png"/></Relationships>
</file>

<file path=ppt/slides/_rels/slide20.xml.rels><?xml version="1.0" encoding="UTF-8" standalone="yes"?>
<Relationships xmlns="http://schemas.openxmlformats.org/package/2006/relationships"><Relationship Id="rId8" Type="http://schemas.openxmlformats.org/officeDocument/2006/relationships/image" Target="../media/image24.svg"/><Relationship Id="rId3" Type="http://schemas.openxmlformats.org/officeDocument/2006/relationships/notesSlide" Target="../notesSlides/notesSlide17.xml"/><Relationship Id="rId7" Type="http://schemas.openxmlformats.org/officeDocument/2006/relationships/image" Target="../media/image33.png"/><Relationship Id="rId2" Type="http://schemas.openxmlformats.org/officeDocument/2006/relationships/slideLayout" Target="../slideLayouts/slideLayout2.xml"/><Relationship Id="rId1" Type="http://schemas.openxmlformats.org/officeDocument/2006/relationships/tags" Target="../tags/tag15.xml"/><Relationship Id="rId6" Type="http://schemas.openxmlformats.org/officeDocument/2006/relationships/image" Target="../media/image34.png"/><Relationship Id="rId5" Type="http://schemas.openxmlformats.org/officeDocument/2006/relationships/image" Target="../media/image27.png"/><Relationship Id="rId4" Type="http://schemas.openxmlformats.org/officeDocument/2006/relationships/image" Target="../media/image10.png"/></Relationships>
</file>

<file path=ppt/slides/_rels/slide21.xml.rels><?xml version="1.0" encoding="UTF-8" standalone="yes"?>
<Relationships xmlns="http://schemas.openxmlformats.org/package/2006/relationships"><Relationship Id="rId8" Type="http://schemas.openxmlformats.org/officeDocument/2006/relationships/image" Target="../media/image24.svg"/><Relationship Id="rId3" Type="http://schemas.openxmlformats.org/officeDocument/2006/relationships/notesSlide" Target="../notesSlides/notesSlide18.xml"/><Relationship Id="rId7" Type="http://schemas.openxmlformats.org/officeDocument/2006/relationships/image" Target="../media/image33.png"/><Relationship Id="rId2" Type="http://schemas.openxmlformats.org/officeDocument/2006/relationships/slideLayout" Target="../slideLayouts/slideLayout2.xml"/><Relationship Id="rId1" Type="http://schemas.openxmlformats.org/officeDocument/2006/relationships/tags" Target="../tags/tag16.xml"/><Relationship Id="rId6" Type="http://schemas.openxmlformats.org/officeDocument/2006/relationships/image" Target="../media/image35.png"/><Relationship Id="rId5" Type="http://schemas.openxmlformats.org/officeDocument/2006/relationships/image" Target="../media/image27.png"/><Relationship Id="rId4" Type="http://schemas.openxmlformats.org/officeDocument/2006/relationships/image" Target="../media/image10.png"/></Relationships>
</file>

<file path=ppt/slides/_rels/slide22.xml.rels><?xml version="1.0" encoding="UTF-8" standalone="yes"?>
<Relationships xmlns="http://schemas.openxmlformats.org/package/2006/relationships"><Relationship Id="rId8" Type="http://schemas.openxmlformats.org/officeDocument/2006/relationships/image" Target="../media/image26.png"/><Relationship Id="rId3" Type="http://schemas.openxmlformats.org/officeDocument/2006/relationships/notesSlide" Target="../notesSlides/notesSlide19.xml"/><Relationship Id="rId7" Type="http://schemas.openxmlformats.org/officeDocument/2006/relationships/image" Target="../media/image33.png"/><Relationship Id="rId2" Type="http://schemas.openxmlformats.org/officeDocument/2006/relationships/slideLayout" Target="../slideLayouts/slideLayout2.xml"/><Relationship Id="rId1" Type="http://schemas.openxmlformats.org/officeDocument/2006/relationships/tags" Target="../tags/tag17.xml"/><Relationship Id="rId6" Type="http://schemas.openxmlformats.org/officeDocument/2006/relationships/image" Target="../media/image36.png"/><Relationship Id="rId5" Type="http://schemas.openxmlformats.org/officeDocument/2006/relationships/image" Target="../media/image27.png"/><Relationship Id="rId4" Type="http://schemas.openxmlformats.org/officeDocument/2006/relationships/image" Target="../media/image10.png"/></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20.xml"/><Relationship Id="rId7" Type="http://schemas.openxmlformats.org/officeDocument/2006/relationships/image" Target="../media/image37.png"/><Relationship Id="rId2" Type="http://schemas.openxmlformats.org/officeDocument/2006/relationships/slideLayout" Target="../slideLayouts/slideLayout2.xml"/><Relationship Id="rId1" Type="http://schemas.openxmlformats.org/officeDocument/2006/relationships/tags" Target="../tags/tag18.xml"/><Relationship Id="rId6" Type="http://schemas.openxmlformats.org/officeDocument/2006/relationships/image" Target="../media/image3.png"/><Relationship Id="rId5" Type="http://schemas.openxmlformats.org/officeDocument/2006/relationships/image" Target="../media/image5.png"/><Relationship Id="rId4" Type="http://schemas.openxmlformats.org/officeDocument/2006/relationships/image" Target="../media/image10.png"/></Relationships>
</file>

<file path=ppt/slides/_rels/slide24.xml.rels><?xml version="1.0" encoding="UTF-8" standalone="yes"?>
<Relationships xmlns="http://schemas.openxmlformats.org/package/2006/relationships"><Relationship Id="rId3" Type="http://schemas.openxmlformats.org/officeDocument/2006/relationships/notesSlide" Target="../notesSlides/notesSlide21.xml"/><Relationship Id="rId7" Type="http://schemas.openxmlformats.org/officeDocument/2006/relationships/image" Target="../media/image39.png"/><Relationship Id="rId2" Type="http://schemas.openxmlformats.org/officeDocument/2006/relationships/slideLayout" Target="../slideLayouts/slideLayout2.xml"/><Relationship Id="rId1" Type="http://schemas.openxmlformats.org/officeDocument/2006/relationships/tags" Target="../tags/tag19.xml"/><Relationship Id="rId6" Type="http://schemas.openxmlformats.org/officeDocument/2006/relationships/image" Target="../media/image38.png"/><Relationship Id="rId5" Type="http://schemas.openxmlformats.org/officeDocument/2006/relationships/image" Target="../media/image3.png"/><Relationship Id="rId4" Type="http://schemas.microsoft.com/office/2018/10/relationships/comments" Target="../comments/modernComment_12C_1651563B.xml"/></Relationships>
</file>

<file path=ppt/slides/_rels/slide25.xml.rels><?xml version="1.0" encoding="UTF-8" standalone="yes"?>
<Relationships xmlns="http://schemas.openxmlformats.org/package/2006/relationships"><Relationship Id="rId8" Type="http://schemas.openxmlformats.org/officeDocument/2006/relationships/image" Target="../media/image42.png"/><Relationship Id="rId3" Type="http://schemas.openxmlformats.org/officeDocument/2006/relationships/notesSlide" Target="../notesSlides/notesSlide22.xml"/><Relationship Id="rId7" Type="http://schemas.openxmlformats.org/officeDocument/2006/relationships/image" Target="../media/image41.png"/><Relationship Id="rId2" Type="http://schemas.openxmlformats.org/officeDocument/2006/relationships/slideLayout" Target="../slideLayouts/slideLayout2.xml"/><Relationship Id="rId1" Type="http://schemas.openxmlformats.org/officeDocument/2006/relationships/tags" Target="../tags/tag20.xml"/><Relationship Id="rId6" Type="http://schemas.openxmlformats.org/officeDocument/2006/relationships/hyperlink" Target="https://drive.google.com/file/d/1vNMg1-cEW8Ela72TfWAWW-BhqGtg5Myq/view" TargetMode="External"/><Relationship Id="rId5" Type="http://schemas.openxmlformats.org/officeDocument/2006/relationships/image" Target="../media/image38.png"/><Relationship Id="rId4" Type="http://schemas.openxmlformats.org/officeDocument/2006/relationships/image" Target="../media/image3.png"/></Relationships>
</file>

<file path=ppt/slides/_rels/slide26.xml.rels><?xml version="1.0" encoding="UTF-8" standalone="yes"?>
<Relationships xmlns="http://schemas.openxmlformats.org/package/2006/relationships"><Relationship Id="rId8" Type="http://schemas.openxmlformats.org/officeDocument/2006/relationships/hyperlink" Target="https://drive.google.com/file/d/1vNMg1-cEW8Ela72TfWAWW-BhqGtg5Myq/view" TargetMode="External"/><Relationship Id="rId13" Type="http://schemas.openxmlformats.org/officeDocument/2006/relationships/image" Target="../media/image49.png"/><Relationship Id="rId3" Type="http://schemas.openxmlformats.org/officeDocument/2006/relationships/notesSlide" Target="../notesSlides/notesSlide23.xml"/><Relationship Id="rId7" Type="http://schemas.openxmlformats.org/officeDocument/2006/relationships/image" Target="../media/image38.png"/><Relationship Id="rId12" Type="http://schemas.openxmlformats.org/officeDocument/2006/relationships/image" Target="../media/image47.png"/><Relationship Id="rId2" Type="http://schemas.openxmlformats.org/officeDocument/2006/relationships/slideLayout" Target="../slideLayouts/slideLayout2.xml"/><Relationship Id="rId1" Type="http://schemas.openxmlformats.org/officeDocument/2006/relationships/tags" Target="../tags/tag21.xml"/><Relationship Id="rId6" Type="http://schemas.openxmlformats.org/officeDocument/2006/relationships/image" Target="../media/image3.png"/><Relationship Id="rId11" Type="http://schemas.openxmlformats.org/officeDocument/2006/relationships/image" Target="../media/image40.png"/><Relationship Id="rId5" Type="http://schemas.openxmlformats.org/officeDocument/2006/relationships/image" Target="../media/image44.png"/><Relationship Id="rId15" Type="http://schemas.openxmlformats.org/officeDocument/2006/relationships/image" Target="../media/image48.svg"/><Relationship Id="rId10" Type="http://schemas.openxmlformats.org/officeDocument/2006/relationships/image" Target="../media/image46.png"/><Relationship Id="rId4" Type="http://schemas.openxmlformats.org/officeDocument/2006/relationships/image" Target="../media/image43.png"/><Relationship Id="rId9" Type="http://schemas.openxmlformats.org/officeDocument/2006/relationships/image" Target="../media/image45.png"/><Relationship Id="rId14" Type="http://schemas.openxmlformats.org/officeDocument/2006/relationships/image" Target="../media/image50.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3" Type="http://schemas.openxmlformats.org/officeDocument/2006/relationships/notesSlide" Target="../notesSlides/notesSlide24.xml"/><Relationship Id="rId7" Type="http://schemas.openxmlformats.org/officeDocument/2006/relationships/image" Target="../media/image51.png"/><Relationship Id="rId2" Type="http://schemas.openxmlformats.org/officeDocument/2006/relationships/slideLayout" Target="../slideLayouts/slideLayout2.xml"/><Relationship Id="rId1" Type="http://schemas.openxmlformats.org/officeDocument/2006/relationships/tags" Target="../tags/tag22.xml"/><Relationship Id="rId6" Type="http://schemas.openxmlformats.org/officeDocument/2006/relationships/image" Target="../media/image3.png"/><Relationship Id="rId5" Type="http://schemas.openxmlformats.org/officeDocument/2006/relationships/image" Target="../media/image5.png"/><Relationship Id="rId4" Type="http://schemas.openxmlformats.org/officeDocument/2006/relationships/image" Target="../media/image10.png"/></Relationships>
</file>

<file path=ppt/slides/_rels/slide29.xml.rels><?xml version="1.0" encoding="UTF-8" standalone="yes"?>
<Relationships xmlns="http://schemas.openxmlformats.org/package/2006/relationships"><Relationship Id="rId8" Type="http://schemas.openxmlformats.org/officeDocument/2006/relationships/hyperlink" Target="https://drive.google.com/file/d/1vNMg1-cEW8Ela72TfWAWW-BhqGtg5Myq/view" TargetMode="External"/><Relationship Id="rId3" Type="http://schemas.openxmlformats.org/officeDocument/2006/relationships/notesSlide" Target="../notesSlides/notesSlide25.xml"/><Relationship Id="rId7" Type="http://schemas.openxmlformats.org/officeDocument/2006/relationships/image" Target="../media/image54.png"/><Relationship Id="rId2" Type="http://schemas.openxmlformats.org/officeDocument/2006/relationships/slideLayout" Target="../slideLayouts/slideLayout2.xml"/><Relationship Id="rId1" Type="http://schemas.openxmlformats.org/officeDocument/2006/relationships/tags" Target="../tags/tag23.xml"/><Relationship Id="rId6" Type="http://schemas.openxmlformats.org/officeDocument/2006/relationships/image" Target="../media/image38.png"/><Relationship Id="rId5" Type="http://schemas.openxmlformats.org/officeDocument/2006/relationships/image" Target="../media/image3.png"/><Relationship Id="rId10" Type="http://schemas.openxmlformats.org/officeDocument/2006/relationships/image" Target="../media/image53.jpeg"/><Relationship Id="rId4" Type="http://schemas.openxmlformats.org/officeDocument/2006/relationships/image" Target="../media/image52.svg"/><Relationship Id="rId9" Type="http://schemas.openxmlformats.org/officeDocument/2006/relationships/image" Target="../media/image48.svg"/></Relationships>
</file>

<file path=ppt/slides/_rels/slide30.xml.rels><?xml version="1.0" encoding="UTF-8" standalone="yes"?>
<Relationships xmlns="http://schemas.openxmlformats.org/package/2006/relationships"><Relationship Id="rId8" Type="http://schemas.openxmlformats.org/officeDocument/2006/relationships/image" Target="../media/image48.svg"/><Relationship Id="rId3" Type="http://schemas.openxmlformats.org/officeDocument/2006/relationships/notesSlide" Target="../notesSlides/notesSlide26.xml"/><Relationship Id="rId7" Type="http://schemas.openxmlformats.org/officeDocument/2006/relationships/hyperlink" Target="https://drive.google.com/file/d/1vNMg1-cEW8Ela72TfWAWW-BhqGtg5Myq/view" TargetMode="External"/><Relationship Id="rId2" Type="http://schemas.openxmlformats.org/officeDocument/2006/relationships/slideLayout" Target="../slideLayouts/slideLayout2.xml"/><Relationship Id="rId1" Type="http://schemas.openxmlformats.org/officeDocument/2006/relationships/tags" Target="../tags/tag24.xml"/><Relationship Id="rId6" Type="http://schemas.openxmlformats.org/officeDocument/2006/relationships/image" Target="../media/image38.png"/><Relationship Id="rId5" Type="http://schemas.openxmlformats.org/officeDocument/2006/relationships/image" Target="../media/image3.png"/><Relationship Id="rId10" Type="http://schemas.openxmlformats.org/officeDocument/2006/relationships/image" Target="../media/image55.png"/><Relationship Id="rId4" Type="http://schemas.openxmlformats.org/officeDocument/2006/relationships/image" Target="../media/image52.svg"/><Relationship Id="rId9" Type="http://schemas.openxmlformats.org/officeDocument/2006/relationships/image" Target="../media/image56.png"/></Relationships>
</file>

<file path=ppt/slides/_rels/slide31.xml.rels><?xml version="1.0" encoding="UTF-8" standalone="yes"?>
<Relationships xmlns="http://schemas.openxmlformats.org/package/2006/relationships"><Relationship Id="rId3" Type="http://schemas.openxmlformats.org/officeDocument/2006/relationships/notesSlide" Target="../notesSlides/notesSlide27.xml"/><Relationship Id="rId7" Type="http://schemas.openxmlformats.org/officeDocument/2006/relationships/image" Target="../media/image56.jpeg"/><Relationship Id="rId2" Type="http://schemas.openxmlformats.org/officeDocument/2006/relationships/slideLayout" Target="../slideLayouts/slideLayout2.xml"/><Relationship Id="rId1" Type="http://schemas.openxmlformats.org/officeDocument/2006/relationships/tags" Target="../tags/tag25.xml"/><Relationship Id="rId6" Type="http://schemas.openxmlformats.org/officeDocument/2006/relationships/hyperlink" Target="https://drive.google.com/file/d/1vNMg1-cEW8Ela72TfWAWW-BhqGtg5Myq/view" TargetMode="External"/><Relationship Id="rId5" Type="http://schemas.openxmlformats.org/officeDocument/2006/relationships/image" Target="../media/image38.png"/><Relationship Id="rId4" Type="http://schemas.openxmlformats.org/officeDocument/2006/relationships/image" Target="../media/image3.png"/></Relationships>
</file>

<file path=ppt/slides/_rels/slide32.xml.rels><?xml version="1.0" encoding="UTF-8" standalone="yes"?>
<Relationships xmlns="http://schemas.openxmlformats.org/package/2006/relationships"><Relationship Id="rId8" Type="http://schemas.openxmlformats.org/officeDocument/2006/relationships/image" Target="../media/image48.svg"/><Relationship Id="rId13" Type="http://schemas.openxmlformats.org/officeDocument/2006/relationships/image" Target="../media/image63.png"/><Relationship Id="rId3" Type="http://schemas.openxmlformats.org/officeDocument/2006/relationships/notesSlide" Target="../notesSlides/notesSlide28.xml"/><Relationship Id="rId7" Type="http://schemas.openxmlformats.org/officeDocument/2006/relationships/hyperlink" Target="https://drive.google.com/file/d/1vNMg1-cEW8Ela72TfWAWW-BhqGtg5Myq/view" TargetMode="External"/><Relationship Id="rId12" Type="http://schemas.openxmlformats.org/officeDocument/2006/relationships/image" Target="../media/image62.png"/><Relationship Id="rId2" Type="http://schemas.openxmlformats.org/officeDocument/2006/relationships/slideLayout" Target="../slideLayouts/slideLayout2.xml"/><Relationship Id="rId1" Type="http://schemas.openxmlformats.org/officeDocument/2006/relationships/tags" Target="../tags/tag26.xml"/><Relationship Id="rId6" Type="http://schemas.openxmlformats.org/officeDocument/2006/relationships/image" Target="../media/image38.png"/><Relationship Id="rId11" Type="http://schemas.openxmlformats.org/officeDocument/2006/relationships/image" Target="../media/image61.png"/><Relationship Id="rId5" Type="http://schemas.openxmlformats.org/officeDocument/2006/relationships/image" Target="../media/image3.png"/><Relationship Id="rId10" Type="http://schemas.openxmlformats.org/officeDocument/2006/relationships/image" Target="../media/image60.png"/><Relationship Id="rId4" Type="http://schemas.openxmlformats.org/officeDocument/2006/relationships/image" Target="../media/image52.svg"/><Relationship Id="rId9" Type="http://schemas.openxmlformats.org/officeDocument/2006/relationships/image" Target="../media/image59.png"/><Relationship Id="rId14" Type="http://schemas.openxmlformats.org/officeDocument/2006/relationships/image" Target="../media/image56.jpeg"/></Relationships>
</file>

<file path=ppt/slides/_rels/slide33.xml.rels><?xml version="1.0" encoding="UTF-8" standalone="yes"?>
<Relationships xmlns="http://schemas.openxmlformats.org/package/2006/relationships"><Relationship Id="rId8" Type="http://schemas.openxmlformats.org/officeDocument/2006/relationships/image" Target="../media/image48.svg"/><Relationship Id="rId3" Type="http://schemas.openxmlformats.org/officeDocument/2006/relationships/notesSlide" Target="../notesSlides/notesSlide29.xml"/><Relationship Id="rId7" Type="http://schemas.openxmlformats.org/officeDocument/2006/relationships/hyperlink" Target="https://drive.google.com/file/d/1vNMg1-cEW8Ela72TfWAWW-BhqGtg5Myq/view" TargetMode="External"/><Relationship Id="rId2" Type="http://schemas.openxmlformats.org/officeDocument/2006/relationships/slideLayout" Target="../slideLayouts/slideLayout2.xml"/><Relationship Id="rId1" Type="http://schemas.openxmlformats.org/officeDocument/2006/relationships/tags" Target="../tags/tag27.xml"/><Relationship Id="rId6" Type="http://schemas.openxmlformats.org/officeDocument/2006/relationships/image" Target="../media/image38.png"/><Relationship Id="rId11" Type="http://schemas.openxmlformats.org/officeDocument/2006/relationships/image" Target="../media/image66.png"/><Relationship Id="rId5" Type="http://schemas.openxmlformats.org/officeDocument/2006/relationships/image" Target="../media/image3.png"/><Relationship Id="rId10" Type="http://schemas.openxmlformats.org/officeDocument/2006/relationships/image" Target="../media/image65.png"/><Relationship Id="rId4" Type="http://schemas.openxmlformats.org/officeDocument/2006/relationships/image" Target="../media/image52.svg"/><Relationship Id="rId9" Type="http://schemas.openxmlformats.org/officeDocument/2006/relationships/image" Target="../media/image64.png"/></Relationships>
</file>

<file path=ppt/slides/_rels/slide34.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notesSlide" Target="../notesSlides/notesSlide30.xml"/><Relationship Id="rId1" Type="http://schemas.openxmlformats.org/officeDocument/2006/relationships/slideLayout" Target="../slideLayouts/slideLayout2.xml"/><Relationship Id="rId5" Type="http://schemas.openxmlformats.org/officeDocument/2006/relationships/image" Target="../media/image38.png"/><Relationship Id="rId4" Type="http://schemas.openxmlformats.org/officeDocument/2006/relationships/image" Target="../media/image57.png"/></Relationships>
</file>

<file path=ppt/slides/_rels/slide35.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notesSlide" Target="../notesSlides/notesSlide31.xml"/><Relationship Id="rId1" Type="http://schemas.openxmlformats.org/officeDocument/2006/relationships/slideLayout" Target="../slideLayouts/slideLayout2.xml"/><Relationship Id="rId5" Type="http://schemas.openxmlformats.org/officeDocument/2006/relationships/image" Target="../media/image38.png"/><Relationship Id="rId4" Type="http://schemas.openxmlformats.org/officeDocument/2006/relationships/image" Target="../media/image57.png"/></Relationships>
</file>

<file path=ppt/slides/_rels/slide36.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notesSlide" Target="../notesSlides/notesSlide32.xml"/><Relationship Id="rId1" Type="http://schemas.openxmlformats.org/officeDocument/2006/relationships/slideLayout" Target="../slideLayouts/slideLayout2.xml"/><Relationship Id="rId6" Type="http://schemas.openxmlformats.org/officeDocument/2006/relationships/image" Target="../media/image71.png"/><Relationship Id="rId5" Type="http://schemas.openxmlformats.org/officeDocument/2006/relationships/image" Target="../media/image38.png"/><Relationship Id="rId4" Type="http://schemas.openxmlformats.org/officeDocument/2006/relationships/image" Target="../media/image57.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3" Type="http://schemas.openxmlformats.org/officeDocument/2006/relationships/notesSlide" Target="../notesSlides/notesSlide33.xml"/><Relationship Id="rId2" Type="http://schemas.openxmlformats.org/officeDocument/2006/relationships/slideLayout" Target="../slideLayouts/slideLayout2.xml"/><Relationship Id="rId1" Type="http://schemas.openxmlformats.org/officeDocument/2006/relationships/tags" Target="../tags/tag28.xml"/><Relationship Id="rId6" Type="http://schemas.openxmlformats.org/officeDocument/2006/relationships/image" Target="../media/image58.png"/><Relationship Id="rId5" Type="http://schemas.openxmlformats.org/officeDocument/2006/relationships/image" Target="../media/image5.png"/><Relationship Id="rId4" Type="http://schemas.openxmlformats.org/officeDocument/2006/relationships/image" Target="../media/image10.png"/></Relationships>
</file>

<file path=ppt/slides/_rels/slide39.xml.rels><?xml version="1.0" encoding="UTF-8" standalone="yes"?>
<Relationships xmlns="http://schemas.openxmlformats.org/package/2006/relationships"><Relationship Id="rId8" Type="http://schemas.openxmlformats.org/officeDocument/2006/relationships/hyperlink" Target="https://drive.google.com/file/d/1vNMg1-cEW8Ela72TfWAWW-BhqGtg5Myq/view" TargetMode="External"/><Relationship Id="rId3" Type="http://schemas.openxmlformats.org/officeDocument/2006/relationships/notesSlide" Target="../notesSlides/notesSlide34.xml"/><Relationship Id="rId7" Type="http://schemas.openxmlformats.org/officeDocument/2006/relationships/image" Target="../media/image73.png"/><Relationship Id="rId2" Type="http://schemas.openxmlformats.org/officeDocument/2006/relationships/slideLayout" Target="../slideLayouts/slideLayout2.xml"/><Relationship Id="rId1" Type="http://schemas.openxmlformats.org/officeDocument/2006/relationships/tags" Target="../tags/tag29.xml"/><Relationship Id="rId6" Type="http://schemas.openxmlformats.org/officeDocument/2006/relationships/image" Target="../media/image38.png"/><Relationship Id="rId11" Type="http://schemas.openxmlformats.org/officeDocument/2006/relationships/image" Target="../media/image72.png"/><Relationship Id="rId5" Type="http://schemas.openxmlformats.org/officeDocument/2006/relationships/image" Target="../media/image3.png"/><Relationship Id="rId10" Type="http://schemas.openxmlformats.org/officeDocument/2006/relationships/image" Target="../media/image68.png"/><Relationship Id="rId4" Type="http://schemas.openxmlformats.org/officeDocument/2006/relationships/image" Target="../media/image52.svg"/><Relationship Id="rId9" Type="http://schemas.openxmlformats.org/officeDocument/2006/relationships/image" Target="../media/image48.svg"/></Relationships>
</file>

<file path=ppt/slides/_rels/slide40.xml.rels><?xml version="1.0" encoding="UTF-8" standalone="yes"?>
<Relationships xmlns="http://schemas.openxmlformats.org/package/2006/relationships"><Relationship Id="rId8" Type="http://schemas.openxmlformats.org/officeDocument/2006/relationships/image" Target="../media/image48.svg"/><Relationship Id="rId3" Type="http://schemas.openxmlformats.org/officeDocument/2006/relationships/notesSlide" Target="../notesSlides/notesSlide35.xml"/><Relationship Id="rId7" Type="http://schemas.openxmlformats.org/officeDocument/2006/relationships/image" Target="../media/image38.png"/><Relationship Id="rId2" Type="http://schemas.openxmlformats.org/officeDocument/2006/relationships/slideLayout" Target="../slideLayouts/slideLayout2.xml"/><Relationship Id="rId1" Type="http://schemas.openxmlformats.org/officeDocument/2006/relationships/tags" Target="../tags/tag30.xml"/><Relationship Id="rId6" Type="http://schemas.openxmlformats.org/officeDocument/2006/relationships/image" Target="../media/image3.png"/><Relationship Id="rId5" Type="http://schemas.openxmlformats.org/officeDocument/2006/relationships/image" Target="../media/image52.svg"/><Relationship Id="rId10" Type="http://schemas.openxmlformats.org/officeDocument/2006/relationships/image" Target="../media/image74.png"/><Relationship Id="rId4" Type="http://schemas.microsoft.com/office/2018/10/relationships/comments" Target="../comments/modernComment_2E5_44FA5E12.xml"/><Relationship Id="rId9" Type="http://schemas.openxmlformats.org/officeDocument/2006/relationships/image" Target="../media/image68.png"/></Relationships>
</file>

<file path=ppt/slides/_rels/slide41.xml.rels><?xml version="1.0" encoding="UTF-8" standalone="yes"?>
<Relationships xmlns="http://schemas.openxmlformats.org/package/2006/relationships"><Relationship Id="rId8" Type="http://schemas.openxmlformats.org/officeDocument/2006/relationships/hyperlink" Target="https://drive.google.com/file/d/1vNMg1-cEW8Ela72TfWAWW-BhqGtg5Myq/view" TargetMode="External"/><Relationship Id="rId3" Type="http://schemas.openxmlformats.org/officeDocument/2006/relationships/notesSlide" Target="../notesSlides/notesSlide36.xml"/><Relationship Id="rId7" Type="http://schemas.openxmlformats.org/officeDocument/2006/relationships/image" Target="../media/image38.png"/><Relationship Id="rId2" Type="http://schemas.openxmlformats.org/officeDocument/2006/relationships/slideLayout" Target="../slideLayouts/slideLayout2.xml"/><Relationship Id="rId1" Type="http://schemas.openxmlformats.org/officeDocument/2006/relationships/tags" Target="../tags/tag31.xml"/><Relationship Id="rId6" Type="http://schemas.openxmlformats.org/officeDocument/2006/relationships/image" Target="../media/image3.png"/><Relationship Id="rId5" Type="http://schemas.openxmlformats.org/officeDocument/2006/relationships/image" Target="../media/image77.png"/><Relationship Id="rId4" Type="http://schemas.microsoft.com/office/2018/10/relationships/comments" Target="../comments/modernComment_2E6_82D90E9E.xml"/></Relationships>
</file>

<file path=ppt/slides/_rels/slide42.xml.rels><?xml version="1.0" encoding="UTF-8" standalone="yes"?>
<Relationships xmlns="http://schemas.openxmlformats.org/package/2006/relationships"><Relationship Id="rId8" Type="http://schemas.openxmlformats.org/officeDocument/2006/relationships/image" Target="../media/image79.png"/><Relationship Id="rId13" Type="http://schemas.openxmlformats.org/officeDocument/2006/relationships/image" Target="../media/image82.png"/><Relationship Id="rId3" Type="http://schemas.openxmlformats.org/officeDocument/2006/relationships/notesSlide" Target="../notesSlides/notesSlide37.xml"/><Relationship Id="rId7" Type="http://schemas.openxmlformats.org/officeDocument/2006/relationships/image" Target="../media/image38.png"/><Relationship Id="rId12" Type="http://schemas.openxmlformats.org/officeDocument/2006/relationships/image" Target="../media/image76.png"/><Relationship Id="rId2" Type="http://schemas.openxmlformats.org/officeDocument/2006/relationships/slideLayout" Target="../slideLayouts/slideLayout2.xml"/><Relationship Id="rId16" Type="http://schemas.openxmlformats.org/officeDocument/2006/relationships/image" Target="../media/image85.png"/><Relationship Id="rId1" Type="http://schemas.openxmlformats.org/officeDocument/2006/relationships/tags" Target="../tags/tag32.xml"/><Relationship Id="rId6" Type="http://schemas.openxmlformats.org/officeDocument/2006/relationships/image" Target="../media/image3.png"/><Relationship Id="rId11" Type="http://schemas.openxmlformats.org/officeDocument/2006/relationships/image" Target="../media/image75.png"/><Relationship Id="rId5" Type="http://schemas.openxmlformats.org/officeDocument/2006/relationships/image" Target="../media/image52.svg"/><Relationship Id="rId15" Type="http://schemas.openxmlformats.org/officeDocument/2006/relationships/image" Target="../media/image84.png"/><Relationship Id="rId10" Type="http://schemas.openxmlformats.org/officeDocument/2006/relationships/image" Target="../media/image48.svg"/><Relationship Id="rId4" Type="http://schemas.openxmlformats.org/officeDocument/2006/relationships/image" Target="../media/image78.png"/><Relationship Id="rId9" Type="http://schemas.openxmlformats.org/officeDocument/2006/relationships/hyperlink" Target="https://drive.google.com/file/d/1vNMg1-cEW8Ela72TfWAWW-BhqGtg5Myq/view" TargetMode="External"/><Relationship Id="rId14" Type="http://schemas.openxmlformats.org/officeDocument/2006/relationships/image" Target="../media/image83.png"/></Relationships>
</file>

<file path=ppt/slides/_rels/slide43.xml.rels><?xml version="1.0" encoding="UTF-8" standalone="yes"?>
<Relationships xmlns="http://schemas.openxmlformats.org/package/2006/relationships"><Relationship Id="rId8" Type="http://schemas.openxmlformats.org/officeDocument/2006/relationships/image" Target="../media/image77.jpeg"/><Relationship Id="rId3" Type="http://schemas.openxmlformats.org/officeDocument/2006/relationships/notesSlide" Target="../notesSlides/notesSlide38.xml"/><Relationship Id="rId7" Type="http://schemas.openxmlformats.org/officeDocument/2006/relationships/image" Target="../media/image38.png"/><Relationship Id="rId2" Type="http://schemas.openxmlformats.org/officeDocument/2006/relationships/slideLayout" Target="../slideLayouts/slideLayout2.xml"/><Relationship Id="rId1" Type="http://schemas.openxmlformats.org/officeDocument/2006/relationships/tags" Target="../tags/tag33.xml"/><Relationship Id="rId6" Type="http://schemas.openxmlformats.org/officeDocument/2006/relationships/image" Target="../media/image3.png"/><Relationship Id="rId5" Type="http://schemas.openxmlformats.org/officeDocument/2006/relationships/image" Target="../media/image52.svg"/><Relationship Id="rId4" Type="http://schemas.microsoft.com/office/2018/10/relationships/comments" Target="../comments/modernComment_2D9_57274BED.xml"/><Relationship Id="rId9" Type="http://schemas.openxmlformats.org/officeDocument/2006/relationships/image" Target="../media/image48.svg"/></Relationships>
</file>

<file path=ppt/slides/_rels/slide44.xml.rels><?xml version="1.0" encoding="UTF-8" standalone="yes"?>
<Relationships xmlns="http://schemas.openxmlformats.org/package/2006/relationships"><Relationship Id="rId8" Type="http://schemas.openxmlformats.org/officeDocument/2006/relationships/hyperlink" Target="https://drive.google.com/file/d/1vNMg1-cEW8Ela72TfWAWW-BhqGtg5Myq/view" TargetMode="External"/><Relationship Id="rId3" Type="http://schemas.openxmlformats.org/officeDocument/2006/relationships/notesSlide" Target="../notesSlides/notesSlide39.xml"/><Relationship Id="rId7" Type="http://schemas.openxmlformats.org/officeDocument/2006/relationships/image" Target="../media/image87.png"/><Relationship Id="rId2" Type="http://schemas.openxmlformats.org/officeDocument/2006/relationships/slideLayout" Target="../slideLayouts/slideLayout2.xml"/><Relationship Id="rId1" Type="http://schemas.openxmlformats.org/officeDocument/2006/relationships/tags" Target="../tags/tag34.xml"/><Relationship Id="rId6" Type="http://schemas.openxmlformats.org/officeDocument/2006/relationships/image" Target="../media/image38.png"/><Relationship Id="rId5" Type="http://schemas.openxmlformats.org/officeDocument/2006/relationships/image" Target="../media/image3.png"/><Relationship Id="rId10" Type="http://schemas.openxmlformats.org/officeDocument/2006/relationships/image" Target="../media/image48.svg"/><Relationship Id="rId4" Type="http://schemas.openxmlformats.org/officeDocument/2006/relationships/image" Target="../media/image52.svg"/><Relationship Id="rId9" Type="http://schemas.openxmlformats.org/officeDocument/2006/relationships/image" Target="../media/image77.jpeg"/></Relationships>
</file>

<file path=ppt/slides/_rels/slide45.xml.rels><?xml version="1.0" encoding="UTF-8" standalone="yes"?>
<Relationships xmlns="http://schemas.openxmlformats.org/package/2006/relationships"><Relationship Id="rId8" Type="http://schemas.openxmlformats.org/officeDocument/2006/relationships/image" Target="../media/image48.svg"/><Relationship Id="rId3" Type="http://schemas.openxmlformats.org/officeDocument/2006/relationships/notesSlide" Target="../notesSlides/notesSlide40.xml"/><Relationship Id="rId7" Type="http://schemas.openxmlformats.org/officeDocument/2006/relationships/hyperlink" Target="https://drive.google.com/file/d/1vNMg1-cEW8Ela72TfWAWW-BhqGtg5Myq/view" TargetMode="External"/><Relationship Id="rId2" Type="http://schemas.openxmlformats.org/officeDocument/2006/relationships/slideLayout" Target="../slideLayouts/slideLayout2.xml"/><Relationship Id="rId1" Type="http://schemas.openxmlformats.org/officeDocument/2006/relationships/tags" Target="../tags/tag35.xml"/><Relationship Id="rId6" Type="http://schemas.openxmlformats.org/officeDocument/2006/relationships/image" Target="../media/image38.png"/><Relationship Id="rId5" Type="http://schemas.openxmlformats.org/officeDocument/2006/relationships/image" Target="../media/image3.png"/><Relationship Id="rId4" Type="http://schemas.openxmlformats.org/officeDocument/2006/relationships/image" Target="../media/image52.svg"/></Relationships>
</file>

<file path=ppt/slides/_rels/slide46.xml.rels><?xml version="1.0" encoding="UTF-8" standalone="yes"?>
<Relationships xmlns="http://schemas.openxmlformats.org/package/2006/relationships"><Relationship Id="rId3" Type="http://schemas.openxmlformats.org/officeDocument/2006/relationships/notesSlide" Target="../notesSlides/notesSlide41.xml"/><Relationship Id="rId2" Type="http://schemas.openxmlformats.org/officeDocument/2006/relationships/slideLayout" Target="../slideLayouts/slideLayout2.xml"/><Relationship Id="rId1" Type="http://schemas.openxmlformats.org/officeDocument/2006/relationships/tags" Target="../tags/tag36.xml"/><Relationship Id="rId6" Type="http://schemas.openxmlformats.org/officeDocument/2006/relationships/image" Target="../media/image80.png"/><Relationship Id="rId5" Type="http://schemas.openxmlformats.org/officeDocument/2006/relationships/image" Target="../media/image5.png"/><Relationship Id="rId4" Type="http://schemas.openxmlformats.org/officeDocument/2006/relationships/image" Target="../media/image10.png"/></Relationships>
</file>

<file path=ppt/slides/_rels/slide47.xml.rels><?xml version="1.0" encoding="UTF-8" standalone="yes"?>
<Relationships xmlns="http://schemas.openxmlformats.org/package/2006/relationships"><Relationship Id="rId8" Type="http://schemas.openxmlformats.org/officeDocument/2006/relationships/image" Target="../media/image48.svg"/><Relationship Id="rId3" Type="http://schemas.openxmlformats.org/officeDocument/2006/relationships/notesSlide" Target="../notesSlides/notesSlide42.xml"/><Relationship Id="rId7" Type="http://schemas.openxmlformats.org/officeDocument/2006/relationships/hyperlink" Target="https://drive.google.com/file/d/1vNMg1-cEW8Ela72TfWAWW-BhqGtg5Myq/view" TargetMode="External"/><Relationship Id="rId2" Type="http://schemas.openxmlformats.org/officeDocument/2006/relationships/slideLayout" Target="../slideLayouts/slideLayout2.xml"/><Relationship Id="rId1" Type="http://schemas.openxmlformats.org/officeDocument/2006/relationships/tags" Target="../tags/tag37.xml"/><Relationship Id="rId6" Type="http://schemas.openxmlformats.org/officeDocument/2006/relationships/image" Target="../media/image38.png"/><Relationship Id="rId11" Type="http://schemas.openxmlformats.org/officeDocument/2006/relationships/image" Target="../media/image81.jpeg"/><Relationship Id="rId5" Type="http://schemas.openxmlformats.org/officeDocument/2006/relationships/image" Target="../media/image3.png"/><Relationship Id="rId10" Type="http://schemas.openxmlformats.org/officeDocument/2006/relationships/image" Target="../media/image90.png"/><Relationship Id="rId4" Type="http://schemas.openxmlformats.org/officeDocument/2006/relationships/image" Target="../media/image52.svg"/><Relationship Id="rId9" Type="http://schemas.openxmlformats.org/officeDocument/2006/relationships/image" Target="../media/image89.png"/></Relationships>
</file>

<file path=ppt/slides/_rels/slide48.xml.rels><?xml version="1.0" encoding="UTF-8" standalone="yes"?>
<Relationships xmlns="http://schemas.openxmlformats.org/package/2006/relationships"><Relationship Id="rId8" Type="http://schemas.openxmlformats.org/officeDocument/2006/relationships/image" Target="../media/image48.svg"/><Relationship Id="rId3" Type="http://schemas.openxmlformats.org/officeDocument/2006/relationships/notesSlide" Target="../notesSlides/notesSlide43.xml"/><Relationship Id="rId7" Type="http://schemas.openxmlformats.org/officeDocument/2006/relationships/hyperlink" Target="https://drive.google.com/file/d/1vNMg1-cEW8Ela72TfWAWW-BhqGtg5Myq/view" TargetMode="External"/><Relationship Id="rId2" Type="http://schemas.openxmlformats.org/officeDocument/2006/relationships/slideLayout" Target="../slideLayouts/slideLayout2.xml"/><Relationship Id="rId1" Type="http://schemas.openxmlformats.org/officeDocument/2006/relationships/tags" Target="../tags/tag38.xml"/><Relationship Id="rId6" Type="http://schemas.openxmlformats.org/officeDocument/2006/relationships/image" Target="../media/image38.png"/><Relationship Id="rId5" Type="http://schemas.openxmlformats.org/officeDocument/2006/relationships/image" Target="../media/image3.png"/><Relationship Id="rId10" Type="http://schemas.openxmlformats.org/officeDocument/2006/relationships/image" Target="../media/image82.jpeg"/><Relationship Id="rId4" Type="http://schemas.openxmlformats.org/officeDocument/2006/relationships/image" Target="../media/image52.svg"/><Relationship Id="rId9" Type="http://schemas.openxmlformats.org/officeDocument/2006/relationships/image" Target="../media/image92.png"/></Relationships>
</file>

<file path=ppt/slides/_rels/slide49.xml.rels><?xml version="1.0" encoding="UTF-8" standalone="yes"?>
<Relationships xmlns="http://schemas.openxmlformats.org/package/2006/relationships"><Relationship Id="rId8" Type="http://schemas.openxmlformats.org/officeDocument/2006/relationships/hyperlink" Target="https://drive.google.com/file/d/1vNMg1-cEW8Ela72TfWAWW-BhqGtg5Myq/view" TargetMode="External"/><Relationship Id="rId3" Type="http://schemas.openxmlformats.org/officeDocument/2006/relationships/notesSlide" Target="../notesSlides/notesSlide44.xml"/><Relationship Id="rId7" Type="http://schemas.openxmlformats.org/officeDocument/2006/relationships/image" Target="../media/image94.png"/><Relationship Id="rId2" Type="http://schemas.openxmlformats.org/officeDocument/2006/relationships/slideLayout" Target="../slideLayouts/slideLayout2.xml"/><Relationship Id="rId1" Type="http://schemas.openxmlformats.org/officeDocument/2006/relationships/tags" Target="../tags/tag39.xml"/><Relationship Id="rId6" Type="http://schemas.openxmlformats.org/officeDocument/2006/relationships/image" Target="../media/image38.png"/><Relationship Id="rId5" Type="http://schemas.openxmlformats.org/officeDocument/2006/relationships/image" Target="../media/image3.png"/><Relationship Id="rId10" Type="http://schemas.openxmlformats.org/officeDocument/2006/relationships/image" Target="../media/image83.jpeg"/><Relationship Id="rId4" Type="http://schemas.openxmlformats.org/officeDocument/2006/relationships/image" Target="../media/image52.svg"/><Relationship Id="rId9" Type="http://schemas.openxmlformats.org/officeDocument/2006/relationships/image" Target="../media/image48.sv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5.xml"/><Relationship Id="rId1" Type="http://schemas.openxmlformats.org/officeDocument/2006/relationships/slideLayout" Target="../slideLayouts/slideLayout7.xml"/><Relationship Id="rId5" Type="http://schemas.openxmlformats.org/officeDocument/2006/relationships/image" Target="../media/image86.png"/><Relationship Id="rId4" Type="http://schemas.openxmlformats.org/officeDocument/2006/relationships/image" Target="../media/image5.png"/></Relationships>
</file>

<file path=ppt/slides/_rels/slide5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6.xml"/><Relationship Id="rId1" Type="http://schemas.openxmlformats.org/officeDocument/2006/relationships/slideLayout" Target="../slideLayouts/slideLayout7.xml"/><Relationship Id="rId5" Type="http://schemas.openxmlformats.org/officeDocument/2006/relationships/image" Target="../media/image88.png"/><Relationship Id="rId4" Type="http://schemas.openxmlformats.org/officeDocument/2006/relationships/image" Target="../media/image5.png"/></Relationships>
</file>

<file path=ppt/slides/_rels/slide5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7.xml"/><Relationship Id="rId1" Type="http://schemas.openxmlformats.org/officeDocument/2006/relationships/slideLayout" Target="../slideLayouts/slideLayout7.xml"/><Relationship Id="rId5" Type="http://schemas.openxmlformats.org/officeDocument/2006/relationships/image" Target="../media/image88.png"/><Relationship Id="rId4" Type="http://schemas.openxmlformats.org/officeDocument/2006/relationships/image" Target="../media/image5.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8.xml"/><Relationship Id="rId1" Type="http://schemas.openxmlformats.org/officeDocument/2006/relationships/slideLayout" Target="../slideLayouts/slideLayout7.xml"/><Relationship Id="rId5" Type="http://schemas.openxmlformats.org/officeDocument/2006/relationships/image" Target="../media/image91.png"/><Relationship Id="rId4" Type="http://schemas.openxmlformats.org/officeDocument/2006/relationships/image" Target="../media/image5.png"/></Relationships>
</file>

<file path=ppt/slides/_rels/slide56.xml.rels><?xml version="1.0" encoding="UTF-8" standalone="yes"?>
<Relationships xmlns="http://schemas.openxmlformats.org/package/2006/relationships"><Relationship Id="rId8" Type="http://schemas.openxmlformats.org/officeDocument/2006/relationships/image" Target="../media/image99.png"/><Relationship Id="rId13" Type="http://schemas.openxmlformats.org/officeDocument/2006/relationships/image" Target="../media/image102.png"/><Relationship Id="rId3" Type="http://schemas.openxmlformats.org/officeDocument/2006/relationships/notesSlide" Target="../notesSlides/notesSlide49.xml"/><Relationship Id="rId7" Type="http://schemas.openxmlformats.org/officeDocument/2006/relationships/image" Target="../media/image38.png"/><Relationship Id="rId12" Type="http://schemas.openxmlformats.org/officeDocument/2006/relationships/image" Target="../media/image101.png"/><Relationship Id="rId2" Type="http://schemas.openxmlformats.org/officeDocument/2006/relationships/slideLayout" Target="../slideLayouts/slideLayout2.xml"/><Relationship Id="rId1" Type="http://schemas.openxmlformats.org/officeDocument/2006/relationships/tags" Target="../tags/tag40.xml"/><Relationship Id="rId6" Type="http://schemas.openxmlformats.org/officeDocument/2006/relationships/image" Target="../media/image3.png"/><Relationship Id="rId11" Type="http://schemas.openxmlformats.org/officeDocument/2006/relationships/image" Target="../media/image100.png"/><Relationship Id="rId5" Type="http://schemas.openxmlformats.org/officeDocument/2006/relationships/image" Target="../media/image52.svg"/><Relationship Id="rId10" Type="http://schemas.openxmlformats.org/officeDocument/2006/relationships/image" Target="../media/image48.svg"/><Relationship Id="rId4" Type="http://schemas.microsoft.com/office/2018/10/relationships/comments" Target="../comments/modernComment_2E8_56EF8DB5.xml"/><Relationship Id="rId9" Type="http://schemas.openxmlformats.org/officeDocument/2006/relationships/hyperlink" Target="https://drive.google.com/file/d/1vNMg1-cEW8Ela72TfWAWW-BhqGtg5Myq/view" TargetMode="External"/><Relationship Id="rId14" Type="http://schemas.openxmlformats.org/officeDocument/2006/relationships/image" Target="../media/image103.png"/></Relationships>
</file>

<file path=ppt/slides/_rels/slide57.xml.rels><?xml version="1.0" encoding="UTF-8" standalone="yes"?>
<Relationships xmlns="http://schemas.openxmlformats.org/package/2006/relationships"><Relationship Id="rId8" Type="http://schemas.openxmlformats.org/officeDocument/2006/relationships/image" Target="../media/image104.png"/><Relationship Id="rId3" Type="http://schemas.openxmlformats.org/officeDocument/2006/relationships/notesSlide" Target="../notesSlides/notesSlide50.xml"/><Relationship Id="rId7" Type="http://schemas.openxmlformats.org/officeDocument/2006/relationships/image" Target="../media/image38.png"/><Relationship Id="rId2" Type="http://schemas.openxmlformats.org/officeDocument/2006/relationships/slideLayout" Target="../slideLayouts/slideLayout2.xml"/><Relationship Id="rId1" Type="http://schemas.openxmlformats.org/officeDocument/2006/relationships/tags" Target="../tags/tag41.xml"/><Relationship Id="rId6" Type="http://schemas.openxmlformats.org/officeDocument/2006/relationships/image" Target="../media/image3.png"/><Relationship Id="rId5" Type="http://schemas.openxmlformats.org/officeDocument/2006/relationships/image" Target="../media/image52.svg"/><Relationship Id="rId10" Type="http://schemas.openxmlformats.org/officeDocument/2006/relationships/image" Target="../media/image48.svg"/><Relationship Id="rId4" Type="http://schemas.microsoft.com/office/2018/10/relationships/comments" Target="../comments/modernComment_305_542D2E36.xml"/><Relationship Id="rId9" Type="http://schemas.openxmlformats.org/officeDocument/2006/relationships/hyperlink" Target="https://drive.google.com/file/d/1vNMg1-cEW8Ela72TfWAWW-BhqGtg5Myq/view" TargetMode="External"/></Relationships>
</file>

<file path=ppt/slides/_rels/slide58.xml.rels><?xml version="1.0" encoding="UTF-8" standalone="yes"?>
<Relationships xmlns="http://schemas.openxmlformats.org/package/2006/relationships"><Relationship Id="rId8" Type="http://schemas.openxmlformats.org/officeDocument/2006/relationships/hyperlink" Target="https://drive.google.com/file/d/1vNMg1-cEW8Ela72TfWAWW-BhqGtg5Myq/view" TargetMode="External"/><Relationship Id="rId3" Type="http://schemas.openxmlformats.org/officeDocument/2006/relationships/notesSlide" Target="../notesSlides/notesSlide51.xml"/><Relationship Id="rId7" Type="http://schemas.openxmlformats.org/officeDocument/2006/relationships/image" Target="../media/image38.png"/><Relationship Id="rId2" Type="http://schemas.openxmlformats.org/officeDocument/2006/relationships/slideLayout" Target="../slideLayouts/slideLayout2.xml"/><Relationship Id="rId1" Type="http://schemas.openxmlformats.org/officeDocument/2006/relationships/tags" Target="../tags/tag42.xml"/><Relationship Id="rId6" Type="http://schemas.openxmlformats.org/officeDocument/2006/relationships/image" Target="../media/image3.png"/><Relationship Id="rId11" Type="http://schemas.openxmlformats.org/officeDocument/2006/relationships/image" Target="../media/image106.png"/><Relationship Id="rId5" Type="http://schemas.openxmlformats.org/officeDocument/2006/relationships/image" Target="../media/image52.svg"/><Relationship Id="rId10" Type="http://schemas.openxmlformats.org/officeDocument/2006/relationships/image" Target="../media/image93.png"/><Relationship Id="rId4" Type="http://schemas.microsoft.com/office/2018/10/relationships/comments" Target="../comments/modernComment_2BC_B3237111.xml"/><Relationship Id="rId9" Type="http://schemas.openxmlformats.org/officeDocument/2006/relationships/image" Target="../media/image48.svg"/></Relationships>
</file>

<file path=ppt/slides/_rels/slide59.xml.rels><?xml version="1.0" encoding="UTF-8" standalone="yes"?>
<Relationships xmlns="http://schemas.openxmlformats.org/package/2006/relationships"><Relationship Id="rId8" Type="http://schemas.openxmlformats.org/officeDocument/2006/relationships/image" Target="../media/image110.png"/><Relationship Id="rId3" Type="http://schemas.microsoft.com/office/2018/10/relationships/comments" Target="../comments/modernComment_2F7_5ADD8DEA.xml"/><Relationship Id="rId7" Type="http://schemas.openxmlformats.org/officeDocument/2006/relationships/image" Target="../media/image109.png"/><Relationship Id="rId2" Type="http://schemas.openxmlformats.org/officeDocument/2006/relationships/notesSlide" Target="../notesSlides/notesSlide52.xml"/><Relationship Id="rId1" Type="http://schemas.openxmlformats.org/officeDocument/2006/relationships/slideLayout" Target="../slideLayouts/slideLayout2.xml"/><Relationship Id="rId6" Type="http://schemas.openxmlformats.org/officeDocument/2006/relationships/image" Target="../media/image48.svg"/><Relationship Id="rId5" Type="http://schemas.openxmlformats.org/officeDocument/2006/relationships/image" Target="../media/image108.png"/><Relationship Id="rId10" Type="http://schemas.openxmlformats.org/officeDocument/2006/relationships/image" Target="../media/image94.jpeg"/><Relationship Id="rId4" Type="http://schemas.openxmlformats.org/officeDocument/2006/relationships/image" Target="../media/image107.png"/><Relationship Id="rId9" Type="http://schemas.openxmlformats.org/officeDocument/2006/relationships/image" Target="../media/image111.png"/></Relationships>
</file>

<file path=ppt/slides/_rels/slide60.xml.rels><?xml version="1.0" encoding="UTF-8" standalone="yes"?>
<Relationships xmlns="http://schemas.openxmlformats.org/package/2006/relationships"><Relationship Id="rId3" Type="http://schemas.openxmlformats.org/officeDocument/2006/relationships/image" Target="../media/image48.svg"/><Relationship Id="rId2" Type="http://schemas.openxmlformats.org/officeDocument/2006/relationships/notesSlide" Target="../notesSlides/notesSlide53.xml"/><Relationship Id="rId1" Type="http://schemas.openxmlformats.org/officeDocument/2006/relationships/slideLayout" Target="../slideLayouts/slideLayout2.xml"/><Relationship Id="rId6" Type="http://schemas.openxmlformats.org/officeDocument/2006/relationships/image" Target="../media/image115.png"/><Relationship Id="rId5" Type="http://schemas.openxmlformats.org/officeDocument/2006/relationships/image" Target="../media/image114.png"/><Relationship Id="rId4" Type="http://schemas.openxmlformats.org/officeDocument/2006/relationships/image" Target="../media/image113.pn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3" Type="http://schemas.openxmlformats.org/officeDocument/2006/relationships/notesSlide" Target="../notesSlides/notesSlide54.xml"/><Relationship Id="rId2" Type="http://schemas.openxmlformats.org/officeDocument/2006/relationships/slideLayout" Target="../slideLayouts/slideLayout2.xml"/><Relationship Id="rId1" Type="http://schemas.openxmlformats.org/officeDocument/2006/relationships/tags" Target="../tags/tag43.xml"/><Relationship Id="rId6" Type="http://schemas.openxmlformats.org/officeDocument/2006/relationships/image" Target="../media/image95.png"/><Relationship Id="rId5" Type="http://schemas.openxmlformats.org/officeDocument/2006/relationships/image" Target="../media/image3.png"/><Relationship Id="rId4" Type="http://schemas.openxmlformats.org/officeDocument/2006/relationships/image" Target="../media/image10.png"/></Relationships>
</file>

<file path=ppt/slides/_rels/slide63.xml.rels><?xml version="1.0" encoding="UTF-8" standalone="yes"?>
<Relationships xmlns="http://schemas.openxmlformats.org/package/2006/relationships"><Relationship Id="rId3" Type="http://schemas.openxmlformats.org/officeDocument/2006/relationships/notesSlide" Target="../notesSlides/notesSlide55.xml"/><Relationship Id="rId7" Type="http://schemas.openxmlformats.org/officeDocument/2006/relationships/image" Target="../media/image10.png"/><Relationship Id="rId2" Type="http://schemas.openxmlformats.org/officeDocument/2006/relationships/slideLayout" Target="../slideLayouts/slideLayout2.xml"/><Relationship Id="rId1" Type="http://schemas.openxmlformats.org/officeDocument/2006/relationships/tags" Target="../tags/tag44.xml"/><Relationship Id="rId6" Type="http://schemas.openxmlformats.org/officeDocument/2006/relationships/image" Target="../media/image5.png"/><Relationship Id="rId5" Type="http://schemas.openxmlformats.org/officeDocument/2006/relationships/image" Target="../media/image96.jpeg"/><Relationship Id="rId4" Type="http://schemas.microsoft.com/office/2018/10/relationships/comments" Target="../comments/modernComment_1D6_104D38E8.xml"/></Relationships>
</file>

<file path=ppt/slides/_rels/slide64.xml.rels><?xml version="1.0" encoding="UTF-8" standalone="yes"?>
<Relationships xmlns="http://schemas.openxmlformats.org/package/2006/relationships"><Relationship Id="rId8" Type="http://schemas.openxmlformats.org/officeDocument/2006/relationships/image" Target="../media/image119.png"/><Relationship Id="rId3" Type="http://schemas.openxmlformats.org/officeDocument/2006/relationships/notesSlide" Target="../notesSlides/notesSlide56.xml"/><Relationship Id="rId7" Type="http://schemas.openxmlformats.org/officeDocument/2006/relationships/image" Target="../media/image48.svg"/><Relationship Id="rId2" Type="http://schemas.openxmlformats.org/officeDocument/2006/relationships/slideLayout" Target="../slideLayouts/slideLayout2.xml"/><Relationship Id="rId1" Type="http://schemas.openxmlformats.org/officeDocument/2006/relationships/tags" Target="../tags/tag45.xml"/><Relationship Id="rId6" Type="http://schemas.openxmlformats.org/officeDocument/2006/relationships/image" Target="../media/image52.svg"/><Relationship Id="rId5" Type="http://schemas.openxmlformats.org/officeDocument/2006/relationships/image" Target="../media/image97.png"/><Relationship Id="rId4" Type="http://schemas.openxmlformats.org/officeDocument/2006/relationships/image" Target="../media/image3.png"/></Relationships>
</file>

<file path=ppt/slides/_rels/slide65.xml.rels><?xml version="1.0" encoding="UTF-8" standalone="yes"?>
<Relationships xmlns="http://schemas.openxmlformats.org/package/2006/relationships"><Relationship Id="rId8" Type="http://schemas.openxmlformats.org/officeDocument/2006/relationships/image" Target="../media/image120.png"/><Relationship Id="rId3" Type="http://schemas.openxmlformats.org/officeDocument/2006/relationships/notesSlide" Target="../notesSlides/notesSlide57.xml"/><Relationship Id="rId7" Type="http://schemas.openxmlformats.org/officeDocument/2006/relationships/image" Target="../media/image48.svg"/><Relationship Id="rId2" Type="http://schemas.openxmlformats.org/officeDocument/2006/relationships/slideLayout" Target="../slideLayouts/slideLayout2.xml"/><Relationship Id="rId1" Type="http://schemas.openxmlformats.org/officeDocument/2006/relationships/tags" Target="../tags/tag46.xml"/><Relationship Id="rId6" Type="http://schemas.openxmlformats.org/officeDocument/2006/relationships/image" Target="../media/image52.svg"/><Relationship Id="rId5" Type="http://schemas.openxmlformats.org/officeDocument/2006/relationships/image" Target="../media/image97.png"/><Relationship Id="rId4" Type="http://schemas.openxmlformats.org/officeDocument/2006/relationships/image" Target="../media/image3.png"/></Relationships>
</file>

<file path=ppt/slides/_rels/slide66.xml.rels><?xml version="1.0" encoding="UTF-8" standalone="yes"?>
<Relationships xmlns="http://schemas.openxmlformats.org/package/2006/relationships"><Relationship Id="rId3" Type="http://schemas.openxmlformats.org/officeDocument/2006/relationships/notesSlide" Target="../notesSlides/notesSlide58.xml"/><Relationship Id="rId2" Type="http://schemas.openxmlformats.org/officeDocument/2006/relationships/slideLayout" Target="../slideLayouts/slideLayout2.xml"/><Relationship Id="rId1" Type="http://schemas.openxmlformats.org/officeDocument/2006/relationships/tags" Target="../tags/tag47.xml"/><Relationship Id="rId6" Type="http://schemas.openxmlformats.org/officeDocument/2006/relationships/image" Target="../media/image10.png"/><Relationship Id="rId5" Type="http://schemas.openxmlformats.org/officeDocument/2006/relationships/image" Target="../media/image5.png"/><Relationship Id="rId4" Type="http://schemas.openxmlformats.org/officeDocument/2006/relationships/image" Target="../media/image98.jpeg"/></Relationships>
</file>

<file path=ppt/slides/_rels/slide67.xml.rels><?xml version="1.0" encoding="UTF-8" standalone="yes"?>
<Relationships xmlns="http://schemas.openxmlformats.org/package/2006/relationships"><Relationship Id="rId8" Type="http://schemas.openxmlformats.org/officeDocument/2006/relationships/image" Target="../media/image122.png"/><Relationship Id="rId3" Type="http://schemas.openxmlformats.org/officeDocument/2006/relationships/notesSlide" Target="../notesSlides/notesSlide59.xml"/><Relationship Id="rId7" Type="http://schemas.openxmlformats.org/officeDocument/2006/relationships/image" Target="../media/image48.svg"/><Relationship Id="rId2" Type="http://schemas.openxmlformats.org/officeDocument/2006/relationships/slideLayout" Target="../slideLayouts/slideLayout2.xml"/><Relationship Id="rId1" Type="http://schemas.openxmlformats.org/officeDocument/2006/relationships/tags" Target="../tags/tag48.xml"/><Relationship Id="rId6" Type="http://schemas.openxmlformats.org/officeDocument/2006/relationships/image" Target="../media/image52.svg"/><Relationship Id="rId5" Type="http://schemas.openxmlformats.org/officeDocument/2006/relationships/image" Target="../media/image97.png"/><Relationship Id="rId4" Type="http://schemas.openxmlformats.org/officeDocument/2006/relationships/image" Target="../media/image3.png"/></Relationships>
</file>

<file path=ppt/slides/_rels/slide68.xml.rels><?xml version="1.0" encoding="UTF-8" standalone="yes"?>
<Relationships xmlns="http://schemas.openxmlformats.org/package/2006/relationships"><Relationship Id="rId8" Type="http://schemas.openxmlformats.org/officeDocument/2006/relationships/image" Target="../media/image48.svg"/><Relationship Id="rId3" Type="http://schemas.openxmlformats.org/officeDocument/2006/relationships/notesSlide" Target="../notesSlides/notesSlide60.xml"/><Relationship Id="rId7" Type="http://schemas.openxmlformats.org/officeDocument/2006/relationships/image" Target="../media/image52.svg"/><Relationship Id="rId2" Type="http://schemas.openxmlformats.org/officeDocument/2006/relationships/slideLayout" Target="../slideLayouts/slideLayout2.xml"/><Relationship Id="rId1" Type="http://schemas.openxmlformats.org/officeDocument/2006/relationships/tags" Target="../tags/tag49.xml"/><Relationship Id="rId6" Type="http://schemas.openxmlformats.org/officeDocument/2006/relationships/image" Target="../media/image97.png"/><Relationship Id="rId5" Type="http://schemas.openxmlformats.org/officeDocument/2006/relationships/image" Target="../media/image3.png"/><Relationship Id="rId4" Type="http://schemas.microsoft.com/office/2018/10/relationships/comments" Target="../comments/modernComment_2EF_519780AD.xml"/></Relationships>
</file>

<file path=ppt/slides/slide1.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76898636-9F26-5A6C-56B8-D11963642FE4}"/>
            </a:ext>
          </a:extLst>
        </p:cNvPr>
        <p:cNvGrpSpPr/>
        <p:nvPr/>
      </p:nvGrpSpPr>
      <p:grpSpPr>
        <a:xfrm>
          <a:off x="0" y="0"/>
          <a:ext cx="0" cy="0"/>
          <a:chOff x="0" y="0"/>
          <a:chExt cx="0" cy="0"/>
        </a:xfrm>
      </p:grpSpPr>
      <p:graphicFrame>
        <p:nvGraphicFramePr>
          <p:cNvPr id="2" name="טבלה 1">
            <a:extLst>
              <a:ext uri="{FF2B5EF4-FFF2-40B4-BE49-F238E27FC236}">
                <a16:creationId xmlns:a16="http://schemas.microsoft.com/office/drawing/2014/main" id="{F8CC127B-AA10-5159-174D-62FDD667A016}"/>
              </a:ext>
            </a:extLst>
          </p:cNvPr>
          <p:cNvGraphicFramePr>
            <a:graphicFrameLocks noGrp="1"/>
          </p:cNvGraphicFramePr>
          <p:nvPr>
            <p:extLst>
              <p:ext uri="{D42A27DB-BD31-4B8C-83A1-F6EECF244321}">
                <p14:modId xmlns:p14="http://schemas.microsoft.com/office/powerpoint/2010/main" val="1591976759"/>
              </p:ext>
            </p:extLst>
          </p:nvPr>
        </p:nvGraphicFramePr>
        <p:xfrm>
          <a:off x="1298040" y="1152618"/>
          <a:ext cx="8859650" cy="3578987"/>
        </p:xfrm>
        <a:graphic>
          <a:graphicData uri="http://schemas.openxmlformats.org/drawingml/2006/table">
            <a:tbl>
              <a:tblPr firstRow="1" bandRow="1">
                <a:tableStyleId>{073A0DAA-6AF3-43AB-8588-CEC1D06C72B9}</a:tableStyleId>
              </a:tblPr>
              <a:tblGrid>
                <a:gridCol w="6967186">
                  <a:extLst>
                    <a:ext uri="{9D8B030D-6E8A-4147-A177-3AD203B41FA5}">
                      <a16:colId xmlns:a16="http://schemas.microsoft.com/office/drawing/2014/main" val="656902413"/>
                    </a:ext>
                  </a:extLst>
                </a:gridCol>
                <a:gridCol w="1892464">
                  <a:extLst>
                    <a:ext uri="{9D8B030D-6E8A-4147-A177-3AD203B41FA5}">
                      <a16:colId xmlns:a16="http://schemas.microsoft.com/office/drawing/2014/main" val="320710533"/>
                    </a:ext>
                  </a:extLst>
                </a:gridCol>
              </a:tblGrid>
              <a:tr h="370840">
                <a:tc gridSpan="2">
                  <a:txBody>
                    <a:bodyPr/>
                    <a:lstStyle/>
                    <a:p>
                      <a:r>
                        <a:rPr lang="he-IL">
                          <a:latin typeface="Assistant" pitchFamily="2" charset="-79"/>
                          <a:cs typeface="Assistant" pitchFamily="2" charset="-79"/>
                        </a:rPr>
                        <a:t>פרטים על היעד </a:t>
                      </a:r>
                      <a:endParaRPr lang="LID4096">
                        <a:latin typeface="Assistant" pitchFamily="2" charset="-79"/>
                        <a:cs typeface="Assistant" pitchFamily="2" charset="-79"/>
                      </a:endParaRPr>
                    </a:p>
                  </a:txBody>
                  <a:tcPr/>
                </a:tc>
                <a:tc hMerge="1">
                  <a:txBody>
                    <a:bodyPr/>
                    <a:lstStyle/>
                    <a:p>
                      <a:endParaRPr/>
                    </a:p>
                  </a:txBody>
                  <a:tcPr/>
                </a:tc>
                <a:extLst>
                  <a:ext uri="{0D108BD9-81ED-4DB2-BD59-A6C34878D82A}">
                    <a16:rowId xmlns:a16="http://schemas.microsoft.com/office/drawing/2014/main" val="824510744"/>
                  </a:ext>
                </a:extLst>
              </a:tr>
              <a:tr h="370840">
                <a:tc>
                  <a:txBody>
                    <a:bodyPr/>
                    <a:lstStyle/>
                    <a:p>
                      <a:r>
                        <a:rPr lang="he-IL">
                          <a:latin typeface="Assistant" pitchFamily="2" charset="-79"/>
                          <a:cs typeface="Assistant" pitchFamily="2" charset="-79"/>
                        </a:rPr>
                        <a:t>זיהוי מצבי יחס</a:t>
                      </a:r>
                      <a:endParaRPr lang="LID4096">
                        <a:latin typeface="Assistant" pitchFamily="2" charset="-79"/>
                        <a:cs typeface="Assistant" pitchFamily="2" charset="-79"/>
                      </a:endParaRPr>
                    </a:p>
                  </a:txBody>
                  <a:tcPr/>
                </a:tc>
                <a:tc>
                  <a:txBody>
                    <a:bodyPr/>
                    <a:lstStyle/>
                    <a:p>
                      <a:r>
                        <a:rPr lang="he-IL">
                          <a:latin typeface="Assistant" pitchFamily="2" charset="-79"/>
                          <a:cs typeface="Assistant" pitchFamily="2" charset="-79"/>
                        </a:rPr>
                        <a:t>שם הנושא: </a:t>
                      </a:r>
                      <a:endParaRPr lang="LID4096">
                        <a:latin typeface="Assistant" pitchFamily="2" charset="-79"/>
                        <a:cs typeface="Assistant" pitchFamily="2" charset="-79"/>
                      </a:endParaRPr>
                    </a:p>
                  </a:txBody>
                  <a:tcPr/>
                </a:tc>
                <a:extLst>
                  <a:ext uri="{0D108BD9-81ED-4DB2-BD59-A6C34878D82A}">
                    <a16:rowId xmlns:a16="http://schemas.microsoft.com/office/drawing/2014/main" val="1355907803"/>
                  </a:ext>
                </a:extLst>
              </a:tr>
              <a:tr h="370840">
                <a:tc>
                  <a:txBody>
                    <a:bodyPr/>
                    <a:lstStyle/>
                    <a:p>
                      <a:r>
                        <a:rPr lang="he-IL">
                          <a:latin typeface="Assistant" pitchFamily="2" charset="-79"/>
                          <a:cs typeface="Assistant" pitchFamily="2" charset="-79"/>
                        </a:rPr>
                        <a:t>1.5</a:t>
                      </a:r>
                      <a:endParaRPr lang="LID4096">
                        <a:latin typeface="Assistant" pitchFamily="2" charset="-79"/>
                        <a:cs typeface="Assistant" pitchFamily="2" charset="-79"/>
                      </a:endParaRPr>
                    </a:p>
                  </a:txBody>
                  <a:tcPr/>
                </a:tc>
                <a:tc>
                  <a:txBody>
                    <a:bodyPr/>
                    <a:lstStyle/>
                    <a:p>
                      <a:r>
                        <a:rPr lang="he-IL">
                          <a:latin typeface="Assistant" pitchFamily="2" charset="-79"/>
                          <a:cs typeface="Assistant" pitchFamily="2" charset="-79"/>
                        </a:rPr>
                        <a:t>מספר היעד:</a:t>
                      </a:r>
                      <a:endParaRPr lang="LID4096">
                        <a:latin typeface="Assistant" pitchFamily="2" charset="-79"/>
                        <a:cs typeface="Assistant" pitchFamily="2" charset="-79"/>
                      </a:endParaRPr>
                    </a:p>
                  </a:txBody>
                  <a:tcPr/>
                </a:tc>
                <a:extLst>
                  <a:ext uri="{0D108BD9-81ED-4DB2-BD59-A6C34878D82A}">
                    <a16:rowId xmlns:a16="http://schemas.microsoft.com/office/drawing/2014/main" val="636612604"/>
                  </a:ext>
                </a:extLst>
              </a:tr>
              <a:tr h="370840">
                <a:tc>
                  <a:txBody>
                    <a:bodyPr/>
                    <a:lstStyle/>
                    <a:p>
                      <a:pPr algn="r" rtl="1">
                        <a:lnSpc>
                          <a:spcPct val="115000"/>
                        </a:lnSpc>
                        <a:spcAft>
                          <a:spcPts val="800"/>
                        </a:spcAft>
                        <a:buNone/>
                      </a:pPr>
                      <a:r>
                        <a:rPr lang="he-IL" sz="1200">
                          <a:effectLst/>
                          <a:latin typeface="Aptos" panose="020B0004020202020204" pitchFamily="34" charset="0"/>
                          <a:ea typeface="Assistant" pitchFamily="2" charset="-79"/>
                          <a:cs typeface="Assistant" pitchFamily="2" charset="-79"/>
                        </a:rPr>
                        <a:t> </a:t>
                      </a:r>
                      <a:r>
                        <a:rPr lang="he-IL" sz="1800" kern="1200">
                          <a:solidFill>
                            <a:schemeClr val="dk1"/>
                          </a:solidFill>
                          <a:latin typeface="Assistant" pitchFamily="2" charset="-79"/>
                          <a:ea typeface="+mn-ea"/>
                          <a:cs typeface="Assistant" pitchFamily="2" charset="-79"/>
                        </a:rPr>
                        <a:t>התלמיד יפתח חשיבה העוסקת ביחס (לא רק חישוב אלגוריתמי) – כגון: הערכה/אומדן כמויות בהינתן יחס מסוים ביניהן. </a:t>
                      </a:r>
                      <a:endParaRPr lang="en-US" sz="1800" kern="1200">
                        <a:solidFill>
                          <a:schemeClr val="dk1"/>
                        </a:solidFill>
                        <a:latin typeface="Assistant" pitchFamily="2" charset="-79"/>
                        <a:ea typeface="+mn-ea"/>
                        <a:cs typeface="Assistant" pitchFamily="2" charset="-79"/>
                      </a:endParaRPr>
                    </a:p>
                  </a:txBody>
                  <a:tcPr marL="68580" marR="68580" marT="0" marB="0"/>
                </a:tc>
                <a:tc>
                  <a:txBody>
                    <a:bodyPr/>
                    <a:lstStyle/>
                    <a:p>
                      <a:r>
                        <a:rPr lang="he-IL">
                          <a:latin typeface="Assistant" pitchFamily="2" charset="-79"/>
                          <a:cs typeface="Assistant" pitchFamily="2" charset="-79"/>
                        </a:rPr>
                        <a:t>פירוט היעד:</a:t>
                      </a:r>
                    </a:p>
                  </a:txBody>
                  <a:tcPr/>
                </a:tc>
                <a:extLst>
                  <a:ext uri="{0D108BD9-81ED-4DB2-BD59-A6C34878D82A}">
                    <a16:rowId xmlns:a16="http://schemas.microsoft.com/office/drawing/2014/main" val="1754893551"/>
                  </a:ext>
                </a:extLst>
              </a:tr>
              <a:tr h="370840">
                <a:tc>
                  <a:txBody>
                    <a:bodyPr/>
                    <a:lstStyle/>
                    <a:p>
                      <a:r>
                        <a:rPr lang="en-IL" sz="1800" b="0" i="0" kern="1200">
                          <a:solidFill>
                            <a:schemeClr val="dk1"/>
                          </a:solidFill>
                          <a:effectLst/>
                          <a:latin typeface="+mn-lt"/>
                          <a:ea typeface="+mn-ea"/>
                          <a:cs typeface="+mn-cs"/>
                        </a:rPr>
                        <a:t>methodica-math-ratio-01</a:t>
                      </a:r>
                      <a:endParaRPr lang="LID4096">
                        <a:latin typeface="Assistant" pitchFamily="2" charset="-79"/>
                        <a:cs typeface="Assistant" pitchFamily="2" charset="-79"/>
                      </a:endParaRPr>
                    </a:p>
                  </a:txBody>
                  <a:tcPr/>
                </a:tc>
                <a:tc>
                  <a:txBody>
                    <a:bodyPr/>
                    <a:lstStyle/>
                    <a:p>
                      <a:r>
                        <a:rPr lang="en-US">
                          <a:latin typeface="Assistant" pitchFamily="2" charset="-79"/>
                          <a:cs typeface="Assistant" pitchFamily="2" charset="-79"/>
                        </a:rPr>
                        <a:t>ID</a:t>
                      </a:r>
                      <a:r>
                        <a:rPr lang="he-IL">
                          <a:latin typeface="Assistant" pitchFamily="2" charset="-79"/>
                          <a:cs typeface="Assistant" pitchFamily="2" charset="-79"/>
                        </a:rPr>
                        <a:t> יחידה: </a:t>
                      </a:r>
                    </a:p>
                  </a:txBody>
                  <a:tcPr/>
                </a:tc>
                <a:extLst>
                  <a:ext uri="{0D108BD9-81ED-4DB2-BD59-A6C34878D82A}">
                    <a16:rowId xmlns:a16="http://schemas.microsoft.com/office/drawing/2014/main" val="3691465725"/>
                  </a:ext>
                </a:extLst>
              </a:tr>
              <a:tr h="370840">
                <a:tc>
                  <a:txBody>
                    <a:bodyPr/>
                    <a:lstStyle/>
                    <a:p>
                      <a:r>
                        <a:rPr lang="he-IL">
                          <a:latin typeface="Assistant" pitchFamily="2" charset="-79"/>
                          <a:cs typeface="Assistant" pitchFamily="2" charset="-79"/>
                        </a:rPr>
                        <a:t>אפרת מימון</a:t>
                      </a:r>
                      <a:endParaRPr lang="LID4096">
                        <a:latin typeface="Assistant" pitchFamily="2" charset="-79"/>
                        <a:cs typeface="Assistant" pitchFamily="2" charset="-79"/>
                      </a:endParaRPr>
                    </a:p>
                  </a:txBody>
                  <a:tcPr/>
                </a:tc>
                <a:tc>
                  <a:txBody>
                    <a:bodyPr/>
                    <a:lstStyle/>
                    <a:p>
                      <a:r>
                        <a:rPr lang="he-IL">
                          <a:latin typeface="Assistant" pitchFamily="2" charset="-79"/>
                          <a:cs typeface="Assistant" pitchFamily="2" charset="-79"/>
                        </a:rPr>
                        <a:t>כותבת תוכן:</a:t>
                      </a:r>
                      <a:endParaRPr lang="LID4096">
                        <a:latin typeface="Assistant" pitchFamily="2" charset="-79"/>
                        <a:cs typeface="Assistant" pitchFamily="2" charset="-79"/>
                      </a:endParaRPr>
                    </a:p>
                  </a:txBody>
                  <a:tcPr/>
                </a:tc>
                <a:extLst>
                  <a:ext uri="{0D108BD9-81ED-4DB2-BD59-A6C34878D82A}">
                    <a16:rowId xmlns:a16="http://schemas.microsoft.com/office/drawing/2014/main" val="2148828668"/>
                  </a:ext>
                </a:extLst>
              </a:tr>
              <a:tr h="370840">
                <a:tc>
                  <a:txBody>
                    <a:bodyPr/>
                    <a:lstStyle/>
                    <a:p>
                      <a:r>
                        <a:rPr lang="he-IL">
                          <a:latin typeface="Assistant" pitchFamily="2" charset="-79"/>
                          <a:cs typeface="Assistant" pitchFamily="2" charset="-79"/>
                        </a:rPr>
                        <a:t>גל זדה /עדי גורן</a:t>
                      </a:r>
                      <a:endParaRPr lang="LID4096">
                        <a:latin typeface="Assistant" pitchFamily="2" charset="-79"/>
                        <a:cs typeface="Assistant" pitchFamily="2" charset="-79"/>
                      </a:endParaRPr>
                    </a:p>
                  </a:txBody>
                  <a:tcPr/>
                </a:tc>
                <a:tc>
                  <a:txBody>
                    <a:bodyPr/>
                    <a:lstStyle/>
                    <a:p>
                      <a:r>
                        <a:rPr lang="he-IL">
                          <a:latin typeface="Assistant" pitchFamily="2" charset="-79"/>
                          <a:cs typeface="Assistant" pitchFamily="2" charset="-79"/>
                        </a:rPr>
                        <a:t>מפתחת למידה: </a:t>
                      </a:r>
                      <a:endParaRPr lang="LID4096">
                        <a:latin typeface="Assistant" pitchFamily="2" charset="-79"/>
                        <a:cs typeface="Assistant" pitchFamily="2" charset="-79"/>
                      </a:endParaRPr>
                    </a:p>
                  </a:txBody>
                  <a:tcPr/>
                </a:tc>
                <a:extLst>
                  <a:ext uri="{0D108BD9-81ED-4DB2-BD59-A6C34878D82A}">
                    <a16:rowId xmlns:a16="http://schemas.microsoft.com/office/drawing/2014/main" val="1123629925"/>
                  </a:ext>
                </a:extLst>
              </a:tr>
              <a:tr h="370840">
                <a:tc>
                  <a:txBody>
                    <a:bodyPr/>
                    <a:lstStyle/>
                    <a:p>
                      <a:r>
                        <a:rPr lang="he-IL">
                          <a:latin typeface="Assistant" pitchFamily="2" charset="-79"/>
                          <a:cs typeface="Assistant" pitchFamily="2" charset="-79"/>
                        </a:rPr>
                        <a:t>9.8.26</a:t>
                      </a:r>
                      <a:endParaRPr lang="LID4096">
                        <a:latin typeface="Assistant" pitchFamily="2" charset="-79"/>
                        <a:cs typeface="Assistant" pitchFamily="2" charset="-79"/>
                      </a:endParaRPr>
                    </a:p>
                  </a:txBody>
                  <a:tcPr/>
                </a:tc>
                <a:tc>
                  <a:txBody>
                    <a:bodyPr/>
                    <a:lstStyle/>
                    <a:p>
                      <a:r>
                        <a:rPr lang="he-IL">
                          <a:latin typeface="Assistant" pitchFamily="2" charset="-79"/>
                          <a:cs typeface="Assistant" pitchFamily="2" charset="-79"/>
                        </a:rPr>
                        <a:t>תאריך עדכון אחרון:</a:t>
                      </a:r>
                      <a:endParaRPr lang="LID4096">
                        <a:latin typeface="Assistant" pitchFamily="2" charset="-79"/>
                        <a:cs typeface="Assistant" pitchFamily="2" charset="-79"/>
                      </a:endParaRPr>
                    </a:p>
                  </a:txBody>
                  <a:tcPr/>
                </a:tc>
                <a:extLst>
                  <a:ext uri="{0D108BD9-81ED-4DB2-BD59-A6C34878D82A}">
                    <a16:rowId xmlns:a16="http://schemas.microsoft.com/office/drawing/2014/main" val="2186550378"/>
                  </a:ext>
                </a:extLst>
              </a:tr>
              <a:tr h="370840">
                <a:tc>
                  <a:txBody>
                    <a:bodyPr/>
                    <a:lstStyle/>
                    <a:p>
                      <a:r>
                        <a:rPr lang="he-IL">
                          <a:latin typeface="Assistant" pitchFamily="2" charset="-79"/>
                          <a:cs typeface="Assistant" pitchFamily="2" charset="-79"/>
                        </a:rPr>
                        <a:t>מוכן להפקה</a:t>
                      </a:r>
                      <a:endParaRPr lang="LID4096">
                        <a:latin typeface="Assistant" pitchFamily="2" charset="-79"/>
                        <a:cs typeface="Assistant" pitchFamily="2" charset="-79"/>
                      </a:endParaRPr>
                    </a:p>
                  </a:txBody>
                  <a:tcPr/>
                </a:tc>
                <a:tc>
                  <a:txBody>
                    <a:bodyPr/>
                    <a:lstStyle/>
                    <a:p>
                      <a:r>
                        <a:rPr lang="he-IL">
                          <a:latin typeface="Assistant" pitchFamily="2" charset="-79"/>
                          <a:cs typeface="Assistant" pitchFamily="2" charset="-79"/>
                        </a:rPr>
                        <a:t>סטטוס: </a:t>
                      </a:r>
                      <a:endParaRPr lang="LID4096">
                        <a:latin typeface="Assistant" pitchFamily="2" charset="-79"/>
                        <a:cs typeface="Assistant" pitchFamily="2" charset="-79"/>
                      </a:endParaRPr>
                    </a:p>
                  </a:txBody>
                  <a:tcPr/>
                </a:tc>
                <a:extLst>
                  <a:ext uri="{0D108BD9-81ED-4DB2-BD59-A6C34878D82A}">
                    <a16:rowId xmlns:a16="http://schemas.microsoft.com/office/drawing/2014/main" val="483410797"/>
                  </a:ext>
                </a:extLst>
              </a:tr>
            </a:tbl>
          </a:graphicData>
        </a:graphic>
      </p:graphicFrame>
    </p:spTree>
    <p:custDataLst>
      <p:tags r:id="rId1"/>
    </p:custDataLst>
    <p:extLst>
      <p:ext uri="{BB962C8B-B14F-4D97-AF65-F5344CB8AC3E}">
        <p14:creationId xmlns:p14="http://schemas.microsoft.com/office/powerpoint/2010/main" val="358453469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54D663F-16E0-2E26-00FE-459FB8E6665D}"/>
              </a:ext>
            </a:extLst>
          </p:cNvPr>
          <p:cNvSpPr txBox="1"/>
          <p:nvPr/>
        </p:nvSpPr>
        <p:spPr>
          <a:xfrm>
            <a:off x="2621280" y="3167390"/>
            <a:ext cx="5815584" cy="954107"/>
          </a:xfrm>
          <a:prstGeom prst="rect">
            <a:avLst/>
          </a:prstGeom>
          <a:noFill/>
        </p:spPr>
        <p:txBody>
          <a:bodyPr wrap="square">
            <a:spAutoFit/>
          </a:bodyPr>
          <a:lstStyle/>
          <a:p>
            <a:pPr algn="ctr"/>
            <a:r>
              <a:rPr lang="he-IL" sz="2800" b="0" i="0" kern="1200">
                <a:solidFill>
                  <a:schemeClr val="dk1"/>
                </a:solidFill>
                <a:effectLst/>
                <a:latin typeface="+mn-lt"/>
                <a:ea typeface="+mn-ea"/>
                <a:cs typeface="+mn-cs"/>
              </a:rPr>
              <a:t> רכיב 1</a:t>
            </a:r>
          </a:p>
          <a:p>
            <a:pPr algn="ctr"/>
            <a:r>
              <a:rPr lang="en-IL" sz="2800" b="0" i="0" kern="1200">
                <a:solidFill>
                  <a:schemeClr val="dk1"/>
                </a:solidFill>
                <a:effectLst/>
                <a:latin typeface="+mn-lt"/>
                <a:ea typeface="+mn-ea"/>
                <a:cs typeface="+mn-cs"/>
              </a:rPr>
              <a:t>methodica-math-ratio-01</a:t>
            </a:r>
            <a:r>
              <a:rPr lang="en-US" sz="2800" b="0" i="0" kern="1200">
                <a:solidFill>
                  <a:schemeClr val="dk1"/>
                </a:solidFill>
                <a:effectLst/>
                <a:latin typeface="+mn-lt"/>
                <a:ea typeface="+mn-ea"/>
                <a:cs typeface="+mn-cs"/>
              </a:rPr>
              <a:t>-01</a:t>
            </a:r>
            <a:endParaRPr lang="LID4096" sz="2800">
              <a:latin typeface="Assistant" pitchFamily="2" charset="-79"/>
              <a:cs typeface="Assistant" pitchFamily="2" charset="-79"/>
            </a:endParaRPr>
          </a:p>
        </p:txBody>
      </p:sp>
    </p:spTree>
    <p:extLst>
      <p:ext uri="{BB962C8B-B14F-4D97-AF65-F5344CB8AC3E}">
        <p14:creationId xmlns:p14="http://schemas.microsoft.com/office/powerpoint/2010/main" val="327962526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92BD8E07-B3E0-7488-314C-6393CE78CFA8}"/>
              </a:ext>
            </a:extLst>
          </p:cNvPr>
          <p:cNvPicPr>
            <a:picLocks noChangeAspect="1"/>
          </p:cNvPicPr>
          <p:nvPr/>
        </p:nvPicPr>
        <p:blipFill>
          <a:blip r:embed="rId4" cstate="email">
            <a:extLst>
              <a:ext uri="{28A0092B-C50C-407E-A947-70E740481C1C}">
                <a14:useLocalDpi xmlns:a14="http://schemas.microsoft.com/office/drawing/2010/main"/>
              </a:ext>
            </a:extLst>
          </a:blip>
          <a:srcRect/>
          <a:stretch>
            <a:fillRect/>
          </a:stretch>
        </p:blipFill>
        <p:spPr>
          <a:xfrm>
            <a:off x="3524629" y="2141889"/>
            <a:ext cx="1757666" cy="3047901"/>
          </a:xfrm>
          <a:prstGeom prst="rect">
            <a:avLst/>
          </a:prstGeom>
        </p:spPr>
      </p:pic>
      <p:pic>
        <p:nvPicPr>
          <p:cNvPr id="7" name="Picture 6">
            <a:extLst>
              <a:ext uri="{FF2B5EF4-FFF2-40B4-BE49-F238E27FC236}">
                <a16:creationId xmlns:a16="http://schemas.microsoft.com/office/drawing/2014/main" id="{12DB2E5E-9AF2-31CA-2D83-F5DD025BD634}"/>
              </a:ext>
            </a:extLst>
          </p:cNvPr>
          <p:cNvPicPr>
            <a:picLocks noChangeAspect="1"/>
          </p:cNvPicPr>
          <p:nvPr/>
        </p:nvPicPr>
        <p:blipFill>
          <a:blip r:embed="rId5" cstate="email">
            <a:extLst>
              <a:ext uri="{28A0092B-C50C-407E-A947-70E740481C1C}">
                <a14:useLocalDpi xmlns:a14="http://schemas.microsoft.com/office/drawing/2010/main"/>
              </a:ext>
            </a:extLst>
          </a:blip>
          <a:srcRect/>
          <a:stretch>
            <a:fillRect/>
          </a:stretch>
        </p:blipFill>
        <p:spPr>
          <a:xfrm>
            <a:off x="6707988" y="2361083"/>
            <a:ext cx="2151256" cy="2712909"/>
          </a:xfrm>
          <a:prstGeom prst="rect">
            <a:avLst/>
          </a:prstGeom>
        </p:spPr>
      </p:pic>
      <p:cxnSp>
        <p:nvCxnSpPr>
          <p:cNvPr id="5" name="מחבר ישר 4">
            <a:extLst>
              <a:ext uri="{FF2B5EF4-FFF2-40B4-BE49-F238E27FC236}">
                <a16:creationId xmlns:a16="http://schemas.microsoft.com/office/drawing/2014/main" id="{46AD6538-6068-4B40-0B26-1571F95481DE}"/>
              </a:ext>
            </a:extLst>
          </p:cNvPr>
          <p:cNvCxnSpPr>
            <a:cxnSpLocks/>
          </p:cNvCxnSpPr>
          <p:nvPr/>
        </p:nvCxnSpPr>
        <p:spPr>
          <a:xfrm>
            <a:off x="0" y="6079252"/>
            <a:ext cx="12192000" cy="0"/>
          </a:xfrm>
          <a:prstGeom prst="line">
            <a:avLst/>
          </a:prstGeom>
          <a:ln>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6" name="תיבת טקסט 5">
            <a:extLst>
              <a:ext uri="{FF2B5EF4-FFF2-40B4-BE49-F238E27FC236}">
                <a16:creationId xmlns:a16="http://schemas.microsoft.com/office/drawing/2014/main" id="{05460A47-9E74-EDC1-87C7-BA8CF0AD7162}"/>
              </a:ext>
            </a:extLst>
          </p:cNvPr>
          <p:cNvSpPr txBox="1"/>
          <p:nvPr/>
        </p:nvSpPr>
        <p:spPr>
          <a:xfrm>
            <a:off x="2346420" y="778747"/>
            <a:ext cx="7735614" cy="707886"/>
          </a:xfrm>
          <a:prstGeom prst="rect">
            <a:avLst/>
          </a:prstGeom>
          <a:noFill/>
        </p:spPr>
        <p:txBody>
          <a:bodyPr wrap="square" rtlCol="0">
            <a:spAutoFit/>
          </a:bodyPr>
          <a:lstStyle/>
          <a:p>
            <a:pPr algn="ctr"/>
            <a:r>
              <a:rPr lang="he-IL" sz="4000" b="1">
                <a:latin typeface="Assistant" pitchFamily="2" charset="-79"/>
                <a:cs typeface="Assistant" pitchFamily="2" charset="-79"/>
              </a:rPr>
              <a:t>איזו דמות תרצו שתלווה אתכם?</a:t>
            </a:r>
            <a:endParaRPr lang="LID4096" sz="4000" b="1">
              <a:latin typeface="Assistant" pitchFamily="2" charset="-79"/>
              <a:cs typeface="Assistant" pitchFamily="2" charset="-79"/>
            </a:endParaRPr>
          </a:p>
        </p:txBody>
      </p:sp>
      <p:sp>
        <p:nvSpPr>
          <p:cNvPr id="10" name="תיבת טקסט 9">
            <a:extLst>
              <a:ext uri="{FF2B5EF4-FFF2-40B4-BE49-F238E27FC236}">
                <a16:creationId xmlns:a16="http://schemas.microsoft.com/office/drawing/2014/main" id="{D3646324-29C9-D853-19BB-CCFE029B4EFA}"/>
              </a:ext>
            </a:extLst>
          </p:cNvPr>
          <p:cNvSpPr txBox="1"/>
          <p:nvPr/>
        </p:nvSpPr>
        <p:spPr>
          <a:xfrm>
            <a:off x="6214227" y="4958958"/>
            <a:ext cx="3138778" cy="461665"/>
          </a:xfrm>
          <a:prstGeom prst="rect">
            <a:avLst/>
          </a:prstGeom>
          <a:noFill/>
        </p:spPr>
        <p:txBody>
          <a:bodyPr wrap="square" rtlCol="0">
            <a:spAutoFit/>
          </a:bodyPr>
          <a:lstStyle/>
          <a:p>
            <a:pPr algn="ctr"/>
            <a:endParaRPr lang="LID4096" sz="2400">
              <a:latin typeface="Assistant" pitchFamily="2" charset="-79"/>
              <a:cs typeface="Assistant" pitchFamily="2" charset="-79"/>
            </a:endParaRPr>
          </a:p>
        </p:txBody>
      </p:sp>
      <p:sp>
        <p:nvSpPr>
          <p:cNvPr id="15" name="תיבת טקסט 14">
            <a:extLst>
              <a:ext uri="{FF2B5EF4-FFF2-40B4-BE49-F238E27FC236}">
                <a16:creationId xmlns:a16="http://schemas.microsoft.com/office/drawing/2014/main" id="{010AB48B-9A1F-DC44-C71F-6BBEB7057C74}"/>
              </a:ext>
            </a:extLst>
          </p:cNvPr>
          <p:cNvSpPr txBox="1"/>
          <p:nvPr/>
        </p:nvSpPr>
        <p:spPr>
          <a:xfrm>
            <a:off x="2838995" y="4958958"/>
            <a:ext cx="3138778" cy="461665"/>
          </a:xfrm>
          <a:prstGeom prst="rect">
            <a:avLst/>
          </a:prstGeom>
          <a:noFill/>
        </p:spPr>
        <p:txBody>
          <a:bodyPr wrap="square" rtlCol="0">
            <a:spAutoFit/>
          </a:bodyPr>
          <a:lstStyle/>
          <a:p>
            <a:pPr algn="ctr"/>
            <a:endParaRPr lang="LID4096" sz="2400">
              <a:latin typeface="Assistant" pitchFamily="2" charset="-79"/>
              <a:cs typeface="Assistant" pitchFamily="2" charset="-79"/>
            </a:endParaRPr>
          </a:p>
        </p:txBody>
      </p:sp>
      <p:sp>
        <p:nvSpPr>
          <p:cNvPr id="17" name="מלבן: פינות מעוגלות 16">
            <a:extLst>
              <a:ext uri="{FF2B5EF4-FFF2-40B4-BE49-F238E27FC236}">
                <a16:creationId xmlns:a16="http://schemas.microsoft.com/office/drawing/2014/main" id="{337CCD2C-FEA5-8CB8-AA17-6EDB39692268}"/>
              </a:ext>
            </a:extLst>
          </p:cNvPr>
          <p:cNvSpPr/>
          <p:nvPr/>
        </p:nvSpPr>
        <p:spPr>
          <a:xfrm>
            <a:off x="6577734" y="2521131"/>
            <a:ext cx="2422575" cy="2437827"/>
          </a:xfrm>
          <a:prstGeom prst="roundRect">
            <a:avLst/>
          </a:prstGeom>
          <a:no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LID4096"/>
          </a:p>
        </p:txBody>
      </p:sp>
      <p:sp>
        <p:nvSpPr>
          <p:cNvPr id="18" name="מלבן: פינות מעוגלות 17">
            <a:extLst>
              <a:ext uri="{FF2B5EF4-FFF2-40B4-BE49-F238E27FC236}">
                <a16:creationId xmlns:a16="http://schemas.microsoft.com/office/drawing/2014/main" id="{CF85F7AF-0E5F-281D-C924-027F40DFD143}"/>
              </a:ext>
            </a:extLst>
          </p:cNvPr>
          <p:cNvSpPr/>
          <p:nvPr/>
        </p:nvSpPr>
        <p:spPr>
          <a:xfrm>
            <a:off x="3191692" y="2505951"/>
            <a:ext cx="2422575" cy="2437827"/>
          </a:xfrm>
          <a:prstGeom prst="roundRect">
            <a:avLst/>
          </a:prstGeom>
          <a:no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LID4096"/>
          </a:p>
        </p:txBody>
      </p:sp>
      <p:sp>
        <p:nvSpPr>
          <p:cNvPr id="19" name="מלבן: פינות מעוגלות 18">
            <a:extLst>
              <a:ext uri="{FF2B5EF4-FFF2-40B4-BE49-F238E27FC236}">
                <a16:creationId xmlns:a16="http://schemas.microsoft.com/office/drawing/2014/main" id="{17DDC8AF-E072-C44E-6A2F-39FAA8DBCBF6}"/>
              </a:ext>
            </a:extLst>
          </p:cNvPr>
          <p:cNvSpPr/>
          <p:nvPr/>
        </p:nvSpPr>
        <p:spPr>
          <a:xfrm>
            <a:off x="268356" y="6182143"/>
            <a:ext cx="1798983" cy="506891"/>
          </a:xfrm>
          <a:prstGeom prst="roundRect">
            <a:avLst>
              <a:gd name="adj" fmla="val 50000"/>
            </a:avLst>
          </a:prstGeom>
          <a:solidFill>
            <a:schemeClr val="bg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he-IL">
                <a:latin typeface="Assistant" pitchFamily="2" charset="-79"/>
                <a:cs typeface="Assistant" pitchFamily="2" charset="-79"/>
              </a:rPr>
              <a:t>בחרתי</a:t>
            </a:r>
            <a:endParaRPr lang="LID4096">
              <a:latin typeface="Assistant" pitchFamily="2" charset="-79"/>
              <a:cs typeface="Assistant" pitchFamily="2" charset="-79"/>
            </a:endParaRPr>
          </a:p>
        </p:txBody>
      </p:sp>
      <p:pic>
        <p:nvPicPr>
          <p:cNvPr id="2" name="תמונה 1">
            <a:extLst>
              <a:ext uri="{FF2B5EF4-FFF2-40B4-BE49-F238E27FC236}">
                <a16:creationId xmlns:a16="http://schemas.microsoft.com/office/drawing/2014/main" id="{F982432F-5F7B-24A5-18BD-0B58599FD5E5}"/>
              </a:ext>
            </a:extLst>
          </p:cNvPr>
          <p:cNvPicPr>
            <a:picLocks noChangeAspect="1"/>
          </p:cNvPicPr>
          <p:nvPr/>
        </p:nvPicPr>
        <p:blipFill>
          <a:blip r:embed="rId6">
            <a:extLst>
              <a:ext uri="{28A0092B-C50C-407E-A947-70E740481C1C}">
                <a14:useLocalDpi xmlns:a14="http://schemas.microsoft.com/office/drawing/2010/main"/>
              </a:ext>
            </a:extLst>
          </a:blip>
          <a:stretch>
            <a:fillRect/>
          </a:stretch>
        </p:blipFill>
        <p:spPr>
          <a:xfrm>
            <a:off x="0" y="57121"/>
            <a:ext cx="933869" cy="721626"/>
          </a:xfrm>
          <a:prstGeom prst="rect">
            <a:avLst/>
          </a:prstGeom>
        </p:spPr>
      </p:pic>
      <p:sp>
        <p:nvSpPr>
          <p:cNvPr id="3" name="מלבן: פינות מעוגלות 2">
            <a:extLst>
              <a:ext uri="{FF2B5EF4-FFF2-40B4-BE49-F238E27FC236}">
                <a16:creationId xmlns:a16="http://schemas.microsoft.com/office/drawing/2014/main" id="{FE130690-0DFB-8462-EA93-E8A3B487C1B4}"/>
              </a:ext>
            </a:extLst>
          </p:cNvPr>
          <p:cNvSpPr/>
          <p:nvPr/>
        </p:nvSpPr>
        <p:spPr>
          <a:xfrm>
            <a:off x="10244695" y="6193485"/>
            <a:ext cx="1798983" cy="506891"/>
          </a:xfrm>
          <a:prstGeom prst="roundRect">
            <a:avLst>
              <a:gd name="adj" fmla="val 50000"/>
            </a:avLst>
          </a:prstGeom>
          <a:noFill/>
          <a:ln>
            <a:solidFill>
              <a:srgbClr val="019DE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he-IL">
                <a:solidFill>
                  <a:srgbClr val="019DE5"/>
                </a:solidFill>
                <a:latin typeface="Assistant" pitchFamily="2" charset="-79"/>
                <a:cs typeface="Assistant" pitchFamily="2" charset="-79"/>
              </a:rPr>
              <a:t>חזרה</a:t>
            </a:r>
            <a:endParaRPr lang="LID4096">
              <a:solidFill>
                <a:srgbClr val="019DE5"/>
              </a:solidFill>
              <a:latin typeface="Assistant" pitchFamily="2" charset="-79"/>
              <a:cs typeface="Assistant" pitchFamily="2" charset="-79"/>
            </a:endParaRPr>
          </a:p>
        </p:txBody>
      </p:sp>
    </p:spTree>
    <p:custDataLst>
      <p:tags r:id="rId1"/>
    </p:custDataLst>
    <p:extLst>
      <p:ext uri="{BB962C8B-B14F-4D97-AF65-F5344CB8AC3E}">
        <p14:creationId xmlns:p14="http://schemas.microsoft.com/office/powerpoint/2010/main" val="331892009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BD793E97-51AE-6448-2A32-B73F7F7F5220}"/>
              </a:ext>
            </a:extLst>
          </p:cNvPr>
          <p:cNvSpPr>
            <a:spLocks noGrp="1"/>
          </p:cNvSpPr>
          <p:nvPr>
            <p:ph type="title"/>
          </p:nvPr>
        </p:nvSpPr>
        <p:spPr>
          <a:xfrm>
            <a:off x="1143000" y="139494"/>
            <a:ext cx="10515600" cy="1325563"/>
          </a:xfrm>
        </p:spPr>
        <p:txBody>
          <a:bodyPr/>
          <a:lstStyle/>
          <a:p>
            <a:r>
              <a:rPr lang="he-IL" sz="4000" b="1">
                <a:solidFill>
                  <a:srgbClr val="00B0F0"/>
                </a:solidFill>
                <a:latin typeface="Assistant" pitchFamily="2" charset="-79"/>
                <a:ea typeface="+mn-ea"/>
                <a:cs typeface="Assistant" pitchFamily="2" charset="-79"/>
              </a:rPr>
              <a:t>אולימפיאדת המדעים</a:t>
            </a:r>
          </a:p>
        </p:txBody>
      </p:sp>
      <mc:AlternateContent xmlns:mc="http://schemas.openxmlformats.org/markup-compatibility/2006" xmlns:a14="http://schemas.microsoft.com/office/drawing/2010/main">
        <mc:Choice Requires="a14">
          <p:sp>
            <p:nvSpPr>
              <p:cNvPr id="3" name="מציין מיקום תוכן 2">
                <a:extLst>
                  <a:ext uri="{FF2B5EF4-FFF2-40B4-BE49-F238E27FC236}">
                    <a16:creationId xmlns:a16="http://schemas.microsoft.com/office/drawing/2014/main" id="{189B6678-6B46-8996-60C0-7DAD23D1F4A8}"/>
                  </a:ext>
                </a:extLst>
              </p:cNvPr>
              <p:cNvSpPr>
                <a:spLocks noGrp="1"/>
              </p:cNvSpPr>
              <p:nvPr>
                <p:ph idx="1"/>
              </p:nvPr>
            </p:nvSpPr>
            <p:spPr>
              <a:xfrm>
                <a:off x="2876821" y="1189746"/>
                <a:ext cx="8648903" cy="5164818"/>
              </a:xfrm>
            </p:spPr>
            <p:txBody>
              <a:bodyPr>
                <a:normAutofit/>
              </a:bodyPr>
              <a:lstStyle/>
              <a:p>
                <a:pPr>
                  <a:buNone/>
                </a:pPr>
                <a:r>
                  <a:rPr lang="he-IL" sz="2000">
                    <a:latin typeface="Assistant" pitchFamily="2" charset="-79"/>
                    <a:cs typeface="Assistant" pitchFamily="2" charset="-79"/>
                  </a:rPr>
                  <a:t>שתי משלחות יצאו לאולימפיאדת המדעים</a:t>
                </a:r>
                <a:r>
                  <a:rPr lang="en-US" sz="2000">
                    <a:latin typeface="Assistant" pitchFamily="2" charset="-79"/>
                    <a:cs typeface="Assistant" pitchFamily="2" charset="-79"/>
                  </a:rPr>
                  <a:t> </a:t>
                </a:r>
                <a:r>
                  <a:rPr lang="he-IL" sz="2000">
                    <a:latin typeface="Assistant" pitchFamily="2" charset="-79"/>
                    <a:cs typeface="Assistant" pitchFamily="2" charset="-79"/>
                  </a:rPr>
                  <a:t>וזכו בדיוק באותה כמות של מדליות זהב:</a:t>
                </a:r>
              </a:p>
              <a:p>
                <a:pPr>
                  <a:buNone/>
                </a:pPr>
                <a:endParaRPr lang="he-IL" sz="2000">
                  <a:latin typeface="Assistant" pitchFamily="2" charset="-79"/>
                  <a:cs typeface="Assistant" pitchFamily="2" charset="-79"/>
                </a:endParaRPr>
              </a:p>
              <a:p>
                <a:pPr marL="342900" lvl="0" indent="-342900"/>
                <a:r>
                  <a:rPr lang="he-IL" sz="2000">
                    <a:latin typeface="Assistant" pitchFamily="2" charset="-79"/>
                    <a:cs typeface="Assistant" pitchFamily="2" charset="-79"/>
                  </a:rPr>
                  <a:t>משלחת א': היחס הוא </a:t>
                </a:r>
                <a14:m>
                  <m:oMath xmlns:m="http://schemas.openxmlformats.org/officeDocument/2006/math">
                    <m:r>
                      <a:rPr lang="he-IL" sz="2000" b="0" i="0" smtClean="0">
                        <a:latin typeface="Cambria Math" panose="02040503050406030204" pitchFamily="18" charset="0"/>
                      </a:rPr>
                      <m:t> </m:t>
                    </m:r>
                    <m:r>
                      <a:rPr lang="he-IL" sz="2000" b="0" i="1" smtClean="0">
                        <a:latin typeface="Cambria Math" panose="02040503050406030204" pitchFamily="18" charset="0"/>
                      </a:rPr>
                      <m:t>1</m:t>
                    </m:r>
                    <m:r>
                      <a:rPr lang="he-IL" sz="2000" b="0" smtClean="0">
                        <a:latin typeface="Cambria Math" panose="02040503050406030204" pitchFamily="18" charset="0"/>
                      </a:rPr>
                      <m:t>:</m:t>
                    </m:r>
                    <m:r>
                      <a:rPr lang="he-IL" sz="2000" b="0" i="1">
                        <a:latin typeface="Cambria Math" panose="02040503050406030204" pitchFamily="18" charset="0"/>
                      </a:rPr>
                      <m:t>4</m:t>
                    </m:r>
                  </m:oMath>
                </a14:m>
                <a:r>
                  <a:rPr lang="he-IL" sz="2000">
                    <a:latin typeface="Assistant" pitchFamily="2" charset="-79"/>
                    <a:cs typeface="Assistant" pitchFamily="2" charset="-79"/>
                  </a:rPr>
                  <a:t>(מדליית זהב 1 על כל 4 משתתפים ומשתתפות במשלחת).</a:t>
                </a:r>
              </a:p>
              <a:p>
                <a:pPr marL="342900" lvl="0" indent="-342900"/>
                <a:r>
                  <a:rPr lang="he-IL" sz="2000">
                    <a:latin typeface="Assistant" pitchFamily="2" charset="-79"/>
                    <a:cs typeface="Assistant" pitchFamily="2" charset="-79"/>
                  </a:rPr>
                  <a:t>במשלחת ב': היחס הוא </a:t>
                </a:r>
                <a14:m>
                  <m:oMath xmlns:m="http://schemas.openxmlformats.org/officeDocument/2006/math">
                    <m:r>
                      <a:rPr lang="he-IL" sz="2000" b="0" i="1" smtClean="0">
                        <a:latin typeface="Cambria Math" panose="02040503050406030204" pitchFamily="18" charset="0"/>
                      </a:rPr>
                      <m:t>1</m:t>
                    </m:r>
                    <m:r>
                      <a:rPr lang="he-IL" sz="2000" b="0" smtClean="0">
                        <a:latin typeface="Cambria Math" panose="02040503050406030204" pitchFamily="18" charset="0"/>
                      </a:rPr>
                      <m:t>:</m:t>
                    </m:r>
                    <m:r>
                      <a:rPr lang="he-IL" sz="2000" b="0" i="1">
                        <a:latin typeface="Cambria Math" panose="02040503050406030204" pitchFamily="18" charset="0"/>
                      </a:rPr>
                      <m:t>8</m:t>
                    </m:r>
                  </m:oMath>
                </a14:m>
                <a:r>
                  <a:rPr lang="he-IL" sz="2000">
                    <a:latin typeface="Assistant" pitchFamily="2" charset="-79"/>
                    <a:cs typeface="Assistant" pitchFamily="2" charset="-79"/>
                  </a:rPr>
                  <a:t> (מדליית זהב 1 על כל 8 משתתפים ומשתתפות במשלחת).</a:t>
                </a:r>
              </a:p>
            </p:txBody>
          </p:sp>
        </mc:Choice>
        <mc:Fallback xmlns="">
          <p:sp>
            <p:nvSpPr>
              <p:cNvPr id="3" name="מציין מיקום תוכן 2">
                <a:extLst>
                  <a:ext uri="{FF2B5EF4-FFF2-40B4-BE49-F238E27FC236}">
                    <a16:creationId xmlns:a16="http://schemas.microsoft.com/office/drawing/2014/main" id="{189B6678-6B46-8996-60C0-7DAD23D1F4A8}"/>
                  </a:ext>
                </a:extLst>
              </p:cNvPr>
              <p:cNvSpPr>
                <a:spLocks noGrp="1" noRot="1" noChangeAspect="1" noMove="1" noResize="1" noEditPoints="1" noAdjustHandles="1" noChangeArrowheads="1" noChangeShapeType="1" noTextEdit="1"/>
              </p:cNvSpPr>
              <p:nvPr>
                <p:ph idx="1"/>
              </p:nvPr>
            </p:nvSpPr>
            <p:spPr>
              <a:xfrm>
                <a:off x="2876821" y="1189746"/>
                <a:ext cx="8648903" cy="5164818"/>
              </a:xfrm>
              <a:blipFill>
                <a:blip r:embed="rId4"/>
                <a:stretch>
                  <a:fillRect t="-1181" r="-705"/>
                </a:stretch>
              </a:blipFill>
            </p:spPr>
            <p:txBody>
              <a:bodyPr/>
              <a:lstStyle/>
              <a:p>
                <a:r>
                  <a:rPr lang="en-US">
                    <a:noFill/>
                  </a:rPr>
                  <a:t> </a:t>
                </a:r>
              </a:p>
            </p:txBody>
          </p:sp>
        </mc:Fallback>
      </mc:AlternateContent>
      <p:cxnSp>
        <p:nvCxnSpPr>
          <p:cNvPr id="4" name="מחבר ישר 6">
            <a:extLst>
              <a:ext uri="{FF2B5EF4-FFF2-40B4-BE49-F238E27FC236}">
                <a16:creationId xmlns:a16="http://schemas.microsoft.com/office/drawing/2014/main" id="{4D7BDDF3-EEE6-6DAE-7534-0D8075217774}"/>
              </a:ext>
            </a:extLst>
          </p:cNvPr>
          <p:cNvCxnSpPr>
            <a:cxnSpLocks/>
          </p:cNvCxnSpPr>
          <p:nvPr/>
        </p:nvCxnSpPr>
        <p:spPr>
          <a:xfrm>
            <a:off x="0" y="6079252"/>
            <a:ext cx="12192000" cy="0"/>
          </a:xfrm>
          <a:prstGeom prst="line">
            <a:avLst/>
          </a:prstGeom>
          <a:ln>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6" name="מלבן: פינות מעוגלות 18">
            <a:extLst>
              <a:ext uri="{FF2B5EF4-FFF2-40B4-BE49-F238E27FC236}">
                <a16:creationId xmlns:a16="http://schemas.microsoft.com/office/drawing/2014/main" id="{D9D09A72-0686-928B-5C3E-EF0C0916BD76}"/>
              </a:ext>
            </a:extLst>
          </p:cNvPr>
          <p:cNvSpPr/>
          <p:nvPr/>
        </p:nvSpPr>
        <p:spPr>
          <a:xfrm>
            <a:off x="268356" y="6182143"/>
            <a:ext cx="1798983" cy="506891"/>
          </a:xfrm>
          <a:prstGeom prst="roundRect">
            <a:avLst>
              <a:gd name="adj" fmla="val 50000"/>
            </a:avLst>
          </a:prstGeom>
          <a:solidFill>
            <a:schemeClr val="bg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he-IL">
                <a:latin typeface="Assistant" pitchFamily="2" charset="-79"/>
                <a:cs typeface="Assistant" pitchFamily="2" charset="-79"/>
              </a:rPr>
              <a:t>המשך</a:t>
            </a:r>
            <a:endParaRPr lang="LID4096">
              <a:latin typeface="Assistant" pitchFamily="2" charset="-79"/>
              <a:cs typeface="Assistant" pitchFamily="2" charset="-79"/>
            </a:endParaRPr>
          </a:p>
        </p:txBody>
      </p:sp>
      <p:pic>
        <p:nvPicPr>
          <p:cNvPr id="7" name="Picture 6">
            <a:extLst>
              <a:ext uri="{FF2B5EF4-FFF2-40B4-BE49-F238E27FC236}">
                <a16:creationId xmlns:a16="http://schemas.microsoft.com/office/drawing/2014/main" id="{7B7ADD67-8B8B-F709-40BE-9D0E4081313B}"/>
              </a:ext>
            </a:extLst>
          </p:cNvPr>
          <p:cNvPicPr>
            <a:picLocks noChangeAspect="1"/>
          </p:cNvPicPr>
          <p:nvPr/>
        </p:nvPicPr>
        <p:blipFill>
          <a:blip r:embed="rId5"/>
          <a:stretch>
            <a:fillRect/>
          </a:stretch>
        </p:blipFill>
        <p:spPr>
          <a:xfrm>
            <a:off x="10371417" y="6124170"/>
            <a:ext cx="1820583" cy="622831"/>
          </a:xfrm>
          <a:prstGeom prst="rect">
            <a:avLst/>
          </a:prstGeom>
        </p:spPr>
      </p:pic>
      <p:pic>
        <p:nvPicPr>
          <p:cNvPr id="13" name="Picture 12">
            <a:extLst>
              <a:ext uri="{FF2B5EF4-FFF2-40B4-BE49-F238E27FC236}">
                <a16:creationId xmlns:a16="http://schemas.microsoft.com/office/drawing/2014/main" id="{912EA318-32B1-5DF1-6750-7E19E8C59B99}"/>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2366820" y="3139162"/>
            <a:ext cx="3045277" cy="2437090"/>
          </a:xfrm>
          <a:prstGeom prst="rect">
            <a:avLst/>
          </a:prstGeom>
        </p:spPr>
      </p:pic>
      <p:sp>
        <p:nvSpPr>
          <p:cNvPr id="15" name="TextBox 14">
            <a:extLst>
              <a:ext uri="{FF2B5EF4-FFF2-40B4-BE49-F238E27FC236}">
                <a16:creationId xmlns:a16="http://schemas.microsoft.com/office/drawing/2014/main" id="{5D663BA6-7977-FB05-81A7-019EF63F5C8F}"/>
              </a:ext>
            </a:extLst>
          </p:cNvPr>
          <p:cNvSpPr txBox="1"/>
          <p:nvPr/>
        </p:nvSpPr>
        <p:spPr>
          <a:xfrm>
            <a:off x="7347776" y="5576252"/>
            <a:ext cx="1330036" cy="400110"/>
          </a:xfrm>
          <a:prstGeom prst="rect">
            <a:avLst/>
          </a:prstGeom>
          <a:noFill/>
        </p:spPr>
        <p:txBody>
          <a:bodyPr wrap="square">
            <a:spAutoFit/>
          </a:bodyPr>
          <a:lstStyle/>
          <a:p>
            <a:r>
              <a:rPr lang="he-IL" sz="2000">
                <a:latin typeface="Assistant" pitchFamily="2" charset="-79"/>
                <a:cs typeface="Assistant" pitchFamily="2" charset="-79"/>
              </a:rPr>
              <a:t>משלחת א</a:t>
            </a:r>
            <a:endParaRPr lang="en-US"/>
          </a:p>
        </p:txBody>
      </p:sp>
      <p:sp>
        <p:nvSpPr>
          <p:cNvPr id="17" name="מלבן 7">
            <a:extLst>
              <a:ext uri="{FF2B5EF4-FFF2-40B4-BE49-F238E27FC236}">
                <a16:creationId xmlns:a16="http://schemas.microsoft.com/office/drawing/2014/main" id="{42F147A8-0185-CAD8-5C99-ED7BC2316BBE}"/>
              </a:ext>
            </a:extLst>
          </p:cNvPr>
          <p:cNvSpPr/>
          <p:nvPr/>
        </p:nvSpPr>
        <p:spPr>
          <a:xfrm>
            <a:off x="11896440" y="332438"/>
            <a:ext cx="45719" cy="5474677"/>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LID4096"/>
          </a:p>
        </p:txBody>
      </p:sp>
      <p:sp>
        <p:nvSpPr>
          <p:cNvPr id="19" name="מלבן 8">
            <a:extLst>
              <a:ext uri="{FF2B5EF4-FFF2-40B4-BE49-F238E27FC236}">
                <a16:creationId xmlns:a16="http://schemas.microsoft.com/office/drawing/2014/main" id="{A5266BF7-C75A-810D-6ABF-AF2099E4C583}"/>
              </a:ext>
            </a:extLst>
          </p:cNvPr>
          <p:cNvSpPr/>
          <p:nvPr/>
        </p:nvSpPr>
        <p:spPr>
          <a:xfrm>
            <a:off x="11892023" y="332438"/>
            <a:ext cx="45719" cy="3526971"/>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LID4096"/>
          </a:p>
        </p:txBody>
      </p:sp>
      <p:pic>
        <p:nvPicPr>
          <p:cNvPr id="21" name="Picture 20">
            <a:extLst>
              <a:ext uri="{FF2B5EF4-FFF2-40B4-BE49-F238E27FC236}">
                <a16:creationId xmlns:a16="http://schemas.microsoft.com/office/drawing/2014/main" id="{8604A47A-8998-2B7F-C5AC-3EB2982076E6}"/>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6490156" y="3139162"/>
            <a:ext cx="3045277" cy="2437090"/>
          </a:xfrm>
          <a:prstGeom prst="rect">
            <a:avLst/>
          </a:prstGeom>
        </p:spPr>
      </p:pic>
      <p:sp>
        <p:nvSpPr>
          <p:cNvPr id="23" name="TextBox 22">
            <a:extLst>
              <a:ext uri="{FF2B5EF4-FFF2-40B4-BE49-F238E27FC236}">
                <a16:creationId xmlns:a16="http://schemas.microsoft.com/office/drawing/2014/main" id="{85B6E0D9-C710-6093-95FA-A518C65006F0}"/>
              </a:ext>
            </a:extLst>
          </p:cNvPr>
          <p:cNvSpPr txBox="1"/>
          <p:nvPr/>
        </p:nvSpPr>
        <p:spPr>
          <a:xfrm>
            <a:off x="3056692" y="5571058"/>
            <a:ext cx="1330036" cy="400110"/>
          </a:xfrm>
          <a:prstGeom prst="rect">
            <a:avLst/>
          </a:prstGeom>
          <a:noFill/>
        </p:spPr>
        <p:txBody>
          <a:bodyPr wrap="square">
            <a:spAutoFit/>
          </a:bodyPr>
          <a:lstStyle/>
          <a:p>
            <a:r>
              <a:rPr lang="he-IL" sz="2000">
                <a:latin typeface="Assistant" pitchFamily="2" charset="-79"/>
                <a:cs typeface="Assistant" pitchFamily="2" charset="-79"/>
              </a:rPr>
              <a:t>משלחת ב</a:t>
            </a:r>
            <a:endParaRPr lang="en-US"/>
          </a:p>
        </p:txBody>
      </p:sp>
    </p:spTree>
    <p:extLst>
      <p:ext uri="{BB962C8B-B14F-4D97-AF65-F5344CB8AC3E}">
        <p14:creationId xmlns:p14="http://schemas.microsoft.com/office/powerpoint/2010/main" val="3870309695"/>
      </p:ext>
    </p:extLst>
  </p:cSld>
  <p:clrMapOvr>
    <a:masterClrMapping/>
  </p:clrMapOvr>
  <p:extLst>
    <p:ext uri="{6950BFC3-D8DA-4A85-94F7-54DA5524770B}">
      <p188:commentRel xmlns:p188="http://schemas.microsoft.com/office/powerpoint/2018/8/main" r:id="rId3"/>
    </p:ext>
  </p:extLs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0B09C4-8568-C702-ED99-AF8BA9206D9F}"/>
            </a:ext>
          </a:extLst>
        </p:cNvPr>
        <p:cNvGrpSpPr/>
        <p:nvPr/>
      </p:nvGrpSpPr>
      <p:grpSpPr>
        <a:xfrm>
          <a:off x="0" y="0"/>
          <a:ext cx="0" cy="0"/>
          <a:chOff x="0" y="0"/>
          <a:chExt cx="0" cy="0"/>
        </a:xfrm>
      </p:grpSpPr>
      <p:sp>
        <p:nvSpPr>
          <p:cNvPr id="2" name="כותרת 1">
            <a:extLst>
              <a:ext uri="{FF2B5EF4-FFF2-40B4-BE49-F238E27FC236}">
                <a16:creationId xmlns:a16="http://schemas.microsoft.com/office/drawing/2014/main" id="{A2FCE473-1C04-91D0-1428-40B8053290D8}"/>
              </a:ext>
            </a:extLst>
          </p:cNvPr>
          <p:cNvSpPr>
            <a:spLocks noGrp="1"/>
          </p:cNvSpPr>
          <p:nvPr>
            <p:ph type="title"/>
          </p:nvPr>
        </p:nvSpPr>
        <p:spPr>
          <a:xfrm>
            <a:off x="1143000" y="139494"/>
            <a:ext cx="10515600" cy="1325563"/>
          </a:xfrm>
        </p:spPr>
        <p:txBody>
          <a:bodyPr/>
          <a:lstStyle/>
          <a:p>
            <a:r>
              <a:rPr lang="he-IL" sz="4000" b="1">
                <a:solidFill>
                  <a:srgbClr val="00B0F0"/>
                </a:solidFill>
                <a:latin typeface="Assistant" pitchFamily="2" charset="-79"/>
                <a:ea typeface="+mn-ea"/>
                <a:cs typeface="Assistant" pitchFamily="2" charset="-79"/>
              </a:rPr>
              <a:t>אולימפיאדת המדעים</a:t>
            </a:r>
          </a:p>
        </p:txBody>
      </p:sp>
      <p:sp>
        <p:nvSpPr>
          <p:cNvPr id="3" name="מציין מיקום תוכן 2">
            <a:extLst>
              <a:ext uri="{FF2B5EF4-FFF2-40B4-BE49-F238E27FC236}">
                <a16:creationId xmlns:a16="http://schemas.microsoft.com/office/drawing/2014/main" id="{0DB80003-440C-72AF-4B82-1A8F7D00C9A9}"/>
              </a:ext>
            </a:extLst>
          </p:cNvPr>
          <p:cNvSpPr>
            <a:spLocks noGrp="1"/>
          </p:cNvSpPr>
          <p:nvPr>
            <p:ph idx="1"/>
          </p:nvPr>
        </p:nvSpPr>
        <p:spPr>
          <a:xfrm>
            <a:off x="4616945" y="1647777"/>
            <a:ext cx="6825342" cy="1136924"/>
          </a:xfrm>
        </p:spPr>
        <p:txBody>
          <a:bodyPr>
            <a:normAutofit/>
          </a:bodyPr>
          <a:lstStyle/>
          <a:p>
            <a:pPr>
              <a:buNone/>
            </a:pPr>
            <a:r>
              <a:rPr lang="he-IL" sz="2000" b="1">
                <a:latin typeface="Assistant" pitchFamily="2" charset="-79"/>
                <a:cs typeface="Assistant" pitchFamily="2" charset="-79"/>
              </a:rPr>
              <a:t>א. באיזו משלחת לדעתכם יש יותר משתתפות ומשתתפים ? </a:t>
            </a:r>
          </a:p>
        </p:txBody>
      </p:sp>
      <p:cxnSp>
        <p:nvCxnSpPr>
          <p:cNvPr id="4" name="מחבר ישר 6">
            <a:extLst>
              <a:ext uri="{FF2B5EF4-FFF2-40B4-BE49-F238E27FC236}">
                <a16:creationId xmlns:a16="http://schemas.microsoft.com/office/drawing/2014/main" id="{70854696-628C-356D-B022-3963E350D66C}"/>
              </a:ext>
            </a:extLst>
          </p:cNvPr>
          <p:cNvCxnSpPr>
            <a:cxnSpLocks/>
          </p:cNvCxnSpPr>
          <p:nvPr/>
        </p:nvCxnSpPr>
        <p:spPr>
          <a:xfrm>
            <a:off x="0" y="6079252"/>
            <a:ext cx="12192000" cy="0"/>
          </a:xfrm>
          <a:prstGeom prst="line">
            <a:avLst/>
          </a:prstGeom>
          <a:ln>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6" name="מלבן: פינות מעוגלות 18">
            <a:extLst>
              <a:ext uri="{FF2B5EF4-FFF2-40B4-BE49-F238E27FC236}">
                <a16:creationId xmlns:a16="http://schemas.microsoft.com/office/drawing/2014/main" id="{62D659D1-9977-5F5A-DD7D-0F3B1D024239}"/>
              </a:ext>
            </a:extLst>
          </p:cNvPr>
          <p:cNvSpPr/>
          <p:nvPr/>
        </p:nvSpPr>
        <p:spPr>
          <a:xfrm>
            <a:off x="268356" y="6182143"/>
            <a:ext cx="1798983" cy="506891"/>
          </a:xfrm>
          <a:prstGeom prst="roundRect">
            <a:avLst>
              <a:gd name="adj" fmla="val 50000"/>
            </a:avLst>
          </a:prstGeom>
          <a:solidFill>
            <a:schemeClr val="bg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he-IL">
                <a:latin typeface="Assistant" pitchFamily="2" charset="-79"/>
                <a:cs typeface="Assistant" pitchFamily="2" charset="-79"/>
              </a:rPr>
              <a:t>המשך</a:t>
            </a:r>
            <a:endParaRPr lang="LID4096">
              <a:latin typeface="Assistant" pitchFamily="2" charset="-79"/>
              <a:cs typeface="Assistant" pitchFamily="2" charset="-79"/>
            </a:endParaRPr>
          </a:p>
        </p:txBody>
      </p:sp>
      <p:pic>
        <p:nvPicPr>
          <p:cNvPr id="7" name="Picture 6">
            <a:extLst>
              <a:ext uri="{FF2B5EF4-FFF2-40B4-BE49-F238E27FC236}">
                <a16:creationId xmlns:a16="http://schemas.microsoft.com/office/drawing/2014/main" id="{310B847B-B56E-5E95-33C5-FD14869C88A9}"/>
              </a:ext>
            </a:extLst>
          </p:cNvPr>
          <p:cNvPicPr>
            <a:picLocks noChangeAspect="1"/>
          </p:cNvPicPr>
          <p:nvPr/>
        </p:nvPicPr>
        <p:blipFill>
          <a:blip r:embed="rId4"/>
          <a:stretch>
            <a:fillRect/>
          </a:stretch>
        </p:blipFill>
        <p:spPr>
          <a:xfrm>
            <a:off x="10371417" y="6124170"/>
            <a:ext cx="1820583" cy="622831"/>
          </a:xfrm>
          <a:prstGeom prst="rect">
            <a:avLst/>
          </a:prstGeom>
        </p:spPr>
      </p:pic>
      <p:sp>
        <p:nvSpPr>
          <p:cNvPr id="8" name="מלבן 7">
            <a:extLst>
              <a:ext uri="{FF2B5EF4-FFF2-40B4-BE49-F238E27FC236}">
                <a16:creationId xmlns:a16="http://schemas.microsoft.com/office/drawing/2014/main" id="{8837F578-BC3D-6CE0-EC30-DCA4C0DFE424}"/>
              </a:ext>
            </a:extLst>
          </p:cNvPr>
          <p:cNvSpPr/>
          <p:nvPr/>
        </p:nvSpPr>
        <p:spPr>
          <a:xfrm>
            <a:off x="11896440" y="332438"/>
            <a:ext cx="45719" cy="5474677"/>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LID4096"/>
          </a:p>
        </p:txBody>
      </p:sp>
      <p:sp>
        <p:nvSpPr>
          <p:cNvPr id="10" name="מלבן 8">
            <a:extLst>
              <a:ext uri="{FF2B5EF4-FFF2-40B4-BE49-F238E27FC236}">
                <a16:creationId xmlns:a16="http://schemas.microsoft.com/office/drawing/2014/main" id="{65C1BE12-71F5-BA61-9D89-134D58ED3197}"/>
              </a:ext>
            </a:extLst>
          </p:cNvPr>
          <p:cNvSpPr/>
          <p:nvPr/>
        </p:nvSpPr>
        <p:spPr>
          <a:xfrm>
            <a:off x="11906371" y="970537"/>
            <a:ext cx="45719" cy="3526971"/>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LID4096"/>
          </a:p>
        </p:txBody>
      </p:sp>
      <p:pic>
        <p:nvPicPr>
          <p:cNvPr id="12" name="Picture 11">
            <a:extLst>
              <a:ext uri="{FF2B5EF4-FFF2-40B4-BE49-F238E27FC236}">
                <a16:creationId xmlns:a16="http://schemas.microsoft.com/office/drawing/2014/main" id="{DD834770-E3F7-1149-8F36-1CCAB15C4B5A}"/>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05160" y="3362924"/>
            <a:ext cx="2455557" cy="1965146"/>
          </a:xfrm>
          <a:prstGeom prst="rect">
            <a:avLst/>
          </a:prstGeom>
        </p:spPr>
      </p:pic>
      <p:sp>
        <p:nvSpPr>
          <p:cNvPr id="14" name="TextBox 13">
            <a:extLst>
              <a:ext uri="{FF2B5EF4-FFF2-40B4-BE49-F238E27FC236}">
                <a16:creationId xmlns:a16="http://schemas.microsoft.com/office/drawing/2014/main" id="{179686C5-B709-CA51-B943-2E1E519FC900}"/>
              </a:ext>
            </a:extLst>
          </p:cNvPr>
          <p:cNvSpPr txBox="1"/>
          <p:nvPr/>
        </p:nvSpPr>
        <p:spPr>
          <a:xfrm>
            <a:off x="1580946" y="2442291"/>
            <a:ext cx="1330036" cy="400110"/>
          </a:xfrm>
          <a:prstGeom prst="rect">
            <a:avLst/>
          </a:prstGeom>
          <a:noFill/>
        </p:spPr>
        <p:txBody>
          <a:bodyPr wrap="square">
            <a:spAutoFit/>
          </a:bodyPr>
          <a:lstStyle/>
          <a:p>
            <a:pPr algn="ctr"/>
            <a:r>
              <a:rPr lang="he-IL" sz="2000">
                <a:latin typeface="Assistant" pitchFamily="2" charset="-79"/>
                <a:cs typeface="Assistant" pitchFamily="2" charset="-79"/>
              </a:rPr>
              <a:t>משלחת א</a:t>
            </a:r>
            <a:endParaRPr lang="en-US"/>
          </a:p>
        </p:txBody>
      </p:sp>
      <p:pic>
        <p:nvPicPr>
          <p:cNvPr id="16" name="Picture 15">
            <a:extLst>
              <a:ext uri="{FF2B5EF4-FFF2-40B4-BE49-F238E27FC236}">
                <a16:creationId xmlns:a16="http://schemas.microsoft.com/office/drawing/2014/main" id="{8A3CD1D2-353F-CD21-D170-AEC07AA89281}"/>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905161" y="535828"/>
            <a:ext cx="2455557" cy="1965146"/>
          </a:xfrm>
          <a:prstGeom prst="rect">
            <a:avLst/>
          </a:prstGeom>
        </p:spPr>
      </p:pic>
      <p:sp>
        <p:nvSpPr>
          <p:cNvPr id="18" name="TextBox 17">
            <a:extLst>
              <a:ext uri="{FF2B5EF4-FFF2-40B4-BE49-F238E27FC236}">
                <a16:creationId xmlns:a16="http://schemas.microsoft.com/office/drawing/2014/main" id="{245C2DF5-2CBD-B440-EBEF-EAD86CF4BB11}"/>
              </a:ext>
            </a:extLst>
          </p:cNvPr>
          <p:cNvSpPr txBox="1"/>
          <p:nvPr/>
        </p:nvSpPr>
        <p:spPr>
          <a:xfrm>
            <a:off x="1413490" y="5340777"/>
            <a:ext cx="1330036" cy="400110"/>
          </a:xfrm>
          <a:prstGeom prst="rect">
            <a:avLst/>
          </a:prstGeom>
          <a:noFill/>
        </p:spPr>
        <p:txBody>
          <a:bodyPr wrap="square">
            <a:spAutoFit/>
          </a:bodyPr>
          <a:lstStyle/>
          <a:p>
            <a:pPr algn="ctr"/>
            <a:r>
              <a:rPr lang="he-IL" sz="2000">
                <a:latin typeface="Assistant" pitchFamily="2" charset="-79"/>
                <a:cs typeface="Assistant" pitchFamily="2" charset="-79"/>
              </a:rPr>
              <a:t>משלחת ב</a:t>
            </a:r>
            <a:endParaRPr lang="en-US"/>
          </a:p>
        </p:txBody>
      </p:sp>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id="{A0CFCA8F-32B7-1D2D-2354-977AC298E6FD}"/>
                  </a:ext>
                </a:extLst>
              </p:cNvPr>
              <p:cNvSpPr txBox="1"/>
              <p:nvPr/>
            </p:nvSpPr>
            <p:spPr>
              <a:xfrm>
                <a:off x="1413490" y="2734214"/>
                <a:ext cx="1603169" cy="400110"/>
              </a:xfrm>
              <a:prstGeom prst="rect">
                <a:avLst/>
              </a:prstGeom>
              <a:noFill/>
            </p:spPr>
            <p:txBody>
              <a:bodyPr wrap="square">
                <a:spAutoFit/>
              </a:bodyPr>
              <a:lstStyle/>
              <a:p>
                <a:pPr algn="ctr"/>
                <a:r>
                  <a:rPr lang="he-IL" sz="2000">
                    <a:latin typeface="Assistant" pitchFamily="2" charset="-79"/>
                    <a:cs typeface="Assistant" pitchFamily="2" charset="-79"/>
                  </a:rPr>
                  <a:t>יחס הוא </a:t>
                </a:r>
                <a14:m>
                  <m:oMath xmlns:m="http://schemas.openxmlformats.org/officeDocument/2006/math">
                    <m:r>
                      <a:rPr lang="he-IL" sz="2000" b="0" i="0" smtClean="0">
                        <a:latin typeface="Cambria Math" panose="02040503050406030204" pitchFamily="18" charset="0"/>
                      </a:rPr>
                      <m:t> </m:t>
                    </m:r>
                    <m:r>
                      <a:rPr lang="he-IL" sz="2000" b="0" i="1" smtClean="0">
                        <a:latin typeface="Cambria Math" panose="02040503050406030204" pitchFamily="18" charset="0"/>
                      </a:rPr>
                      <m:t>1</m:t>
                    </m:r>
                    <m:r>
                      <a:rPr lang="he-IL" sz="2000" b="0" smtClean="0">
                        <a:latin typeface="Cambria Math" panose="02040503050406030204" pitchFamily="18" charset="0"/>
                      </a:rPr>
                      <m:t>:</m:t>
                    </m:r>
                    <m:r>
                      <a:rPr lang="he-IL" sz="2000" b="0" i="1">
                        <a:latin typeface="Cambria Math" panose="02040503050406030204" pitchFamily="18" charset="0"/>
                      </a:rPr>
                      <m:t>4</m:t>
                    </m:r>
                  </m:oMath>
                </a14:m>
                <a:endParaRPr lang="en-US"/>
              </a:p>
            </p:txBody>
          </p:sp>
        </mc:Choice>
        <mc:Fallback xmlns="">
          <p:sp>
            <p:nvSpPr>
              <p:cNvPr id="20" name="TextBox 19">
                <a:extLst>
                  <a:ext uri="{FF2B5EF4-FFF2-40B4-BE49-F238E27FC236}">
                    <a16:creationId xmlns:a16="http://schemas.microsoft.com/office/drawing/2014/main" id="{A0CFCA8F-32B7-1D2D-2354-977AC298E6FD}"/>
                  </a:ext>
                </a:extLst>
              </p:cNvPr>
              <p:cNvSpPr txBox="1">
                <a:spLocks noRot="1" noChangeAspect="1" noMove="1" noResize="1" noEditPoints="1" noAdjustHandles="1" noChangeArrowheads="1" noChangeShapeType="1" noTextEdit="1"/>
              </p:cNvSpPr>
              <p:nvPr/>
            </p:nvSpPr>
            <p:spPr>
              <a:xfrm>
                <a:off x="1413490" y="2734214"/>
                <a:ext cx="1603169" cy="400110"/>
              </a:xfrm>
              <a:prstGeom prst="rect">
                <a:avLst/>
              </a:prstGeom>
              <a:blipFill>
                <a:blip r:embed="rId7"/>
                <a:stretch>
                  <a:fillRect t="-9231" b="-2769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id="{C25D4712-6063-2494-8E6E-0DAA90229C34}"/>
                  </a:ext>
                </a:extLst>
              </p:cNvPr>
              <p:cNvSpPr txBox="1"/>
              <p:nvPr/>
            </p:nvSpPr>
            <p:spPr>
              <a:xfrm>
                <a:off x="1167848" y="5634225"/>
                <a:ext cx="1603169" cy="400110"/>
              </a:xfrm>
              <a:prstGeom prst="rect">
                <a:avLst/>
              </a:prstGeom>
              <a:noFill/>
            </p:spPr>
            <p:txBody>
              <a:bodyPr wrap="square">
                <a:spAutoFit/>
              </a:bodyPr>
              <a:lstStyle/>
              <a:p>
                <a:pPr algn="ctr"/>
                <a:r>
                  <a:rPr lang="he-IL" sz="2000">
                    <a:latin typeface="Assistant" pitchFamily="2" charset="-79"/>
                    <a:cs typeface="Assistant" pitchFamily="2" charset="-79"/>
                  </a:rPr>
                  <a:t>יחס הוא </a:t>
                </a:r>
                <a14:m>
                  <m:oMath xmlns:m="http://schemas.openxmlformats.org/officeDocument/2006/math">
                    <m:r>
                      <a:rPr lang="he-IL" sz="2000" b="0" i="0" smtClean="0">
                        <a:latin typeface="Cambria Math" panose="02040503050406030204" pitchFamily="18" charset="0"/>
                      </a:rPr>
                      <m:t> </m:t>
                    </m:r>
                    <m:r>
                      <a:rPr lang="he-IL" sz="2000" b="0" i="1" smtClean="0">
                        <a:latin typeface="Cambria Math" panose="02040503050406030204" pitchFamily="18" charset="0"/>
                      </a:rPr>
                      <m:t>1</m:t>
                    </m:r>
                    <m:r>
                      <a:rPr lang="he-IL" sz="2000" b="0" smtClean="0">
                        <a:latin typeface="Cambria Math" panose="02040503050406030204" pitchFamily="18" charset="0"/>
                      </a:rPr>
                      <m:t>:</m:t>
                    </m:r>
                    <m:r>
                      <a:rPr lang="en-US" sz="2000" b="0" i="1" smtClean="0">
                        <a:latin typeface="Cambria Math" panose="02040503050406030204" pitchFamily="18" charset="0"/>
                      </a:rPr>
                      <m:t>8</m:t>
                    </m:r>
                  </m:oMath>
                </a14:m>
                <a:endParaRPr lang="en-US"/>
              </a:p>
            </p:txBody>
          </p:sp>
        </mc:Choice>
        <mc:Fallback xmlns="">
          <p:sp>
            <p:nvSpPr>
              <p:cNvPr id="22" name="TextBox 21">
                <a:extLst>
                  <a:ext uri="{FF2B5EF4-FFF2-40B4-BE49-F238E27FC236}">
                    <a16:creationId xmlns:a16="http://schemas.microsoft.com/office/drawing/2014/main" id="{C25D4712-6063-2494-8E6E-0DAA90229C34}"/>
                  </a:ext>
                </a:extLst>
              </p:cNvPr>
              <p:cNvSpPr txBox="1">
                <a:spLocks noRot="1" noChangeAspect="1" noMove="1" noResize="1" noEditPoints="1" noAdjustHandles="1" noChangeArrowheads="1" noChangeShapeType="1" noTextEdit="1"/>
              </p:cNvSpPr>
              <p:nvPr/>
            </p:nvSpPr>
            <p:spPr>
              <a:xfrm>
                <a:off x="1167848" y="5634225"/>
                <a:ext cx="1603169" cy="400110"/>
              </a:xfrm>
              <a:prstGeom prst="rect">
                <a:avLst/>
              </a:prstGeom>
              <a:blipFill>
                <a:blip r:embed="rId8"/>
                <a:stretch>
                  <a:fillRect t="-7576" b="-25758"/>
                </a:stretch>
              </a:blipFill>
            </p:spPr>
            <p:txBody>
              <a:bodyPr/>
              <a:lstStyle/>
              <a:p>
                <a:r>
                  <a:rPr lang="en-US">
                    <a:noFill/>
                  </a:rPr>
                  <a:t> </a:t>
                </a:r>
              </a:p>
            </p:txBody>
          </p:sp>
        </mc:Fallback>
      </mc:AlternateContent>
      <p:grpSp>
        <p:nvGrpSpPr>
          <p:cNvPr id="26" name="קבוצה 8">
            <a:extLst>
              <a:ext uri="{FF2B5EF4-FFF2-40B4-BE49-F238E27FC236}">
                <a16:creationId xmlns:a16="http://schemas.microsoft.com/office/drawing/2014/main" id="{599EE3FE-4191-111F-A009-047282646393}"/>
              </a:ext>
            </a:extLst>
          </p:cNvPr>
          <p:cNvGrpSpPr/>
          <p:nvPr/>
        </p:nvGrpSpPr>
        <p:grpSpPr>
          <a:xfrm>
            <a:off x="8663183" y="2471984"/>
            <a:ext cx="2483759" cy="526581"/>
            <a:chOff x="5005379" y="3108471"/>
            <a:chExt cx="6755212" cy="641058"/>
          </a:xfrm>
        </p:grpSpPr>
        <p:sp>
          <p:nvSpPr>
            <p:cNvPr id="28" name="מלבן: פינות מעוגלות 6">
              <a:extLst>
                <a:ext uri="{FF2B5EF4-FFF2-40B4-BE49-F238E27FC236}">
                  <a16:creationId xmlns:a16="http://schemas.microsoft.com/office/drawing/2014/main" id="{1856D431-CFFF-4FEE-0684-C1E92B3D7F9D}"/>
                </a:ext>
              </a:extLst>
            </p:cNvPr>
            <p:cNvSpPr/>
            <p:nvPr/>
          </p:nvSpPr>
          <p:spPr>
            <a:xfrm>
              <a:off x="5247249" y="3108471"/>
              <a:ext cx="6513342" cy="641058"/>
            </a:xfrm>
            <a:prstGeom prst="roundRect">
              <a:avLst>
                <a:gd name="adj" fmla="val 50000"/>
              </a:avLst>
            </a:prstGeom>
            <a:noFill/>
            <a:ln w="12700">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LID4096"/>
            </a:p>
          </p:txBody>
        </p:sp>
        <p:sp>
          <p:nvSpPr>
            <p:cNvPr id="29" name="תיבת טקסט 7">
              <a:extLst>
                <a:ext uri="{FF2B5EF4-FFF2-40B4-BE49-F238E27FC236}">
                  <a16:creationId xmlns:a16="http://schemas.microsoft.com/office/drawing/2014/main" id="{D74663AE-8909-96BE-9B06-A94560A38F4F}"/>
                </a:ext>
              </a:extLst>
            </p:cNvPr>
            <p:cNvSpPr txBox="1"/>
            <p:nvPr/>
          </p:nvSpPr>
          <p:spPr>
            <a:xfrm>
              <a:off x="5005379" y="3185222"/>
              <a:ext cx="5741155" cy="487093"/>
            </a:xfrm>
            <a:prstGeom prst="rect">
              <a:avLst/>
            </a:prstGeom>
            <a:noFill/>
          </p:spPr>
          <p:txBody>
            <a:bodyPr wrap="square" rtlCol="0">
              <a:spAutoFit/>
            </a:bodyPr>
            <a:lstStyle/>
            <a:p>
              <a:r>
                <a:rPr lang="he-IL" sz="2000">
                  <a:latin typeface="Assistant" pitchFamily="2" charset="-79"/>
                  <a:cs typeface="Assistant" pitchFamily="2" charset="-79"/>
                </a:rPr>
                <a:t>משלחת א</a:t>
              </a:r>
              <a:endParaRPr lang="LID4096" sz="2000">
                <a:latin typeface="Assistant" pitchFamily="2" charset="-79"/>
                <a:cs typeface="Assistant" pitchFamily="2" charset="-79"/>
              </a:endParaRPr>
            </a:p>
          </p:txBody>
        </p:sp>
      </p:grpSp>
      <p:sp>
        <p:nvSpPr>
          <p:cNvPr id="36" name="אליפסה 13">
            <a:extLst>
              <a:ext uri="{FF2B5EF4-FFF2-40B4-BE49-F238E27FC236}">
                <a16:creationId xmlns:a16="http://schemas.microsoft.com/office/drawing/2014/main" id="{CF9C4797-EF64-3211-1818-C7AFDEE467B8}"/>
              </a:ext>
            </a:extLst>
          </p:cNvPr>
          <p:cNvSpPr/>
          <p:nvPr/>
        </p:nvSpPr>
        <p:spPr>
          <a:xfrm>
            <a:off x="10754750" y="2613448"/>
            <a:ext cx="252766" cy="261512"/>
          </a:xfrm>
          <a:prstGeom prst="ellipse">
            <a:avLst/>
          </a:prstGeom>
          <a:noFill/>
          <a:ln>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LID4096"/>
          </a:p>
        </p:txBody>
      </p:sp>
      <p:grpSp>
        <p:nvGrpSpPr>
          <p:cNvPr id="37" name="קבוצה 8">
            <a:extLst>
              <a:ext uri="{FF2B5EF4-FFF2-40B4-BE49-F238E27FC236}">
                <a16:creationId xmlns:a16="http://schemas.microsoft.com/office/drawing/2014/main" id="{1431BE05-A69B-D4A0-6B4F-EBA511159113}"/>
              </a:ext>
            </a:extLst>
          </p:cNvPr>
          <p:cNvGrpSpPr/>
          <p:nvPr/>
        </p:nvGrpSpPr>
        <p:grpSpPr>
          <a:xfrm>
            <a:off x="5715340" y="2470923"/>
            <a:ext cx="2483759" cy="526581"/>
            <a:chOff x="5005379" y="3108471"/>
            <a:chExt cx="6755212" cy="641058"/>
          </a:xfrm>
        </p:grpSpPr>
        <p:sp>
          <p:nvSpPr>
            <p:cNvPr id="38" name="מלבן: פינות מעוגלות 6">
              <a:extLst>
                <a:ext uri="{FF2B5EF4-FFF2-40B4-BE49-F238E27FC236}">
                  <a16:creationId xmlns:a16="http://schemas.microsoft.com/office/drawing/2014/main" id="{870730EF-E3F9-4A23-EB4C-E3F59570CCFA}"/>
                </a:ext>
              </a:extLst>
            </p:cNvPr>
            <p:cNvSpPr/>
            <p:nvPr/>
          </p:nvSpPr>
          <p:spPr>
            <a:xfrm>
              <a:off x="5247249" y="3108471"/>
              <a:ext cx="6513342" cy="641058"/>
            </a:xfrm>
            <a:prstGeom prst="roundRect">
              <a:avLst>
                <a:gd name="adj" fmla="val 50000"/>
              </a:avLst>
            </a:prstGeom>
            <a:noFill/>
            <a:ln w="12700">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LID4096"/>
            </a:p>
          </p:txBody>
        </p:sp>
        <p:sp>
          <p:nvSpPr>
            <p:cNvPr id="39" name="תיבת טקסט 7">
              <a:extLst>
                <a:ext uri="{FF2B5EF4-FFF2-40B4-BE49-F238E27FC236}">
                  <a16:creationId xmlns:a16="http://schemas.microsoft.com/office/drawing/2014/main" id="{733DFEF9-A1CD-EA66-2C95-DA93DEAAF04C}"/>
                </a:ext>
              </a:extLst>
            </p:cNvPr>
            <p:cNvSpPr txBox="1"/>
            <p:nvPr/>
          </p:nvSpPr>
          <p:spPr>
            <a:xfrm>
              <a:off x="5005379" y="3185222"/>
              <a:ext cx="5741155" cy="487093"/>
            </a:xfrm>
            <a:prstGeom prst="rect">
              <a:avLst/>
            </a:prstGeom>
            <a:noFill/>
          </p:spPr>
          <p:txBody>
            <a:bodyPr wrap="square" rtlCol="0">
              <a:spAutoFit/>
            </a:bodyPr>
            <a:lstStyle/>
            <a:p>
              <a:r>
                <a:rPr lang="he-IL" sz="2000">
                  <a:latin typeface="Assistant" pitchFamily="2" charset="-79"/>
                  <a:cs typeface="Assistant" pitchFamily="2" charset="-79"/>
                </a:rPr>
                <a:t>משלחת ב</a:t>
              </a:r>
              <a:endParaRPr lang="LID4096" sz="2000">
                <a:latin typeface="Assistant" pitchFamily="2" charset="-79"/>
                <a:cs typeface="Assistant" pitchFamily="2" charset="-79"/>
              </a:endParaRPr>
            </a:p>
          </p:txBody>
        </p:sp>
      </p:grpSp>
      <p:sp>
        <p:nvSpPr>
          <p:cNvPr id="40" name="אליפסה 13">
            <a:extLst>
              <a:ext uri="{FF2B5EF4-FFF2-40B4-BE49-F238E27FC236}">
                <a16:creationId xmlns:a16="http://schemas.microsoft.com/office/drawing/2014/main" id="{137EF27B-DEFB-0373-DBC7-389166E718D1}"/>
              </a:ext>
            </a:extLst>
          </p:cNvPr>
          <p:cNvSpPr/>
          <p:nvPr/>
        </p:nvSpPr>
        <p:spPr>
          <a:xfrm>
            <a:off x="7806907" y="2612387"/>
            <a:ext cx="252766" cy="261512"/>
          </a:xfrm>
          <a:prstGeom prst="ellipse">
            <a:avLst/>
          </a:prstGeom>
          <a:noFill/>
          <a:ln>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LID4096"/>
          </a:p>
        </p:txBody>
      </p:sp>
      <p:sp>
        <p:nvSpPr>
          <p:cNvPr id="42" name="מלבן: פינות מעוגלות 16">
            <a:extLst>
              <a:ext uri="{FF2B5EF4-FFF2-40B4-BE49-F238E27FC236}">
                <a16:creationId xmlns:a16="http://schemas.microsoft.com/office/drawing/2014/main" id="{857A069E-87E4-2027-C83C-82397DA50B97}"/>
              </a:ext>
            </a:extLst>
          </p:cNvPr>
          <p:cNvSpPr/>
          <p:nvPr/>
        </p:nvSpPr>
        <p:spPr>
          <a:xfrm>
            <a:off x="-4345799" y="1277207"/>
            <a:ext cx="4167984" cy="4463680"/>
          </a:xfrm>
          <a:prstGeom prst="roundRect">
            <a:avLst>
              <a:gd name="adj" fmla="val 1647"/>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he-IL" sz="2000" b="1">
                <a:solidFill>
                  <a:schemeClr val="tx1"/>
                </a:solidFill>
                <a:latin typeface="Assistant" pitchFamily="2" charset="-79"/>
                <a:cs typeface="Assistant" pitchFamily="2" charset="-79"/>
              </a:rPr>
              <a:t>נכון! </a:t>
            </a:r>
          </a:p>
          <a:p>
            <a:pPr algn="ctr"/>
            <a:endParaRPr lang="he-IL" sz="2000" b="1">
              <a:solidFill>
                <a:schemeClr val="tx1"/>
              </a:solidFill>
              <a:latin typeface="Assistant" pitchFamily="2" charset="-79"/>
              <a:cs typeface="Assistant" pitchFamily="2" charset="-79"/>
            </a:endParaRPr>
          </a:p>
          <a:p>
            <a:r>
              <a:rPr lang="he-IL" sz="2000">
                <a:solidFill>
                  <a:schemeClr val="tx1"/>
                </a:solidFill>
                <a:latin typeface="Assistant" pitchFamily="2" charset="-79"/>
                <a:cs typeface="Assistant" pitchFamily="2" charset="-79"/>
              </a:rPr>
              <a:t>א. במשלחת ב' ישנם יותר אנשים – כי על כל מדליה יש בה פי 2 יותר אנשים. </a:t>
            </a:r>
          </a:p>
          <a:p>
            <a:endParaRPr lang="he-IL" sz="2000">
              <a:solidFill>
                <a:schemeClr val="tx1"/>
              </a:solidFill>
              <a:latin typeface="Assistant" pitchFamily="2" charset="-79"/>
              <a:cs typeface="Assistant" pitchFamily="2" charset="-79"/>
            </a:endParaRPr>
          </a:p>
          <a:p>
            <a:r>
              <a:rPr lang="he-IL" sz="2000">
                <a:solidFill>
                  <a:schemeClr val="tx1"/>
                </a:solidFill>
                <a:latin typeface="Assistant" pitchFamily="2" charset="-79"/>
                <a:cs typeface="Assistant" pitchFamily="2" charset="-79"/>
              </a:rPr>
              <a:t>ב. במשלחת ב' יש 40 משתתפות ומשתתפים. </a:t>
            </a:r>
          </a:p>
        </p:txBody>
      </p:sp>
      <p:sp>
        <p:nvSpPr>
          <p:cNvPr id="44" name="מלבן: פינות מעוגלות 16">
            <a:extLst>
              <a:ext uri="{FF2B5EF4-FFF2-40B4-BE49-F238E27FC236}">
                <a16:creationId xmlns:a16="http://schemas.microsoft.com/office/drawing/2014/main" id="{390BDBF9-A176-278D-E999-FC459572CBBA}"/>
              </a:ext>
            </a:extLst>
          </p:cNvPr>
          <p:cNvSpPr/>
          <p:nvPr/>
        </p:nvSpPr>
        <p:spPr>
          <a:xfrm>
            <a:off x="-8677098" y="1277207"/>
            <a:ext cx="4167984" cy="4463680"/>
          </a:xfrm>
          <a:prstGeom prst="roundRect">
            <a:avLst>
              <a:gd name="adj" fmla="val 1647"/>
            </a:avLst>
          </a:prstGeom>
          <a:solidFill>
            <a:srgbClr val="FFE5E5"/>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he-IL" sz="2000" b="1">
                <a:solidFill>
                  <a:schemeClr val="tx1"/>
                </a:solidFill>
                <a:latin typeface="Assistant" pitchFamily="2" charset="-79"/>
                <a:cs typeface="Assistant" pitchFamily="2" charset="-79"/>
              </a:rPr>
              <a:t>אופס, לא בדיוק, בואו נסביר</a:t>
            </a:r>
          </a:p>
          <a:p>
            <a:pPr algn="ctr"/>
            <a:endParaRPr lang="he-IL" sz="2000" b="1">
              <a:solidFill>
                <a:schemeClr val="tx1"/>
              </a:solidFill>
              <a:latin typeface="Assistant" pitchFamily="2" charset="-79"/>
              <a:cs typeface="Assistant" pitchFamily="2" charset="-79"/>
            </a:endParaRPr>
          </a:p>
          <a:p>
            <a:pPr algn="ctr"/>
            <a:endParaRPr lang="he-IL" sz="2000" b="1">
              <a:solidFill>
                <a:schemeClr val="tx1"/>
              </a:solidFill>
              <a:latin typeface="Assistant" pitchFamily="2" charset="-79"/>
              <a:cs typeface="Assistant" pitchFamily="2" charset="-79"/>
            </a:endParaRPr>
          </a:p>
          <a:p>
            <a:r>
              <a:rPr lang="he-IL" sz="2000">
                <a:solidFill>
                  <a:schemeClr val="tx1"/>
                </a:solidFill>
                <a:latin typeface="Assistant" pitchFamily="2" charset="-79"/>
                <a:cs typeface="Assistant" pitchFamily="2" charset="-79"/>
              </a:rPr>
              <a:t>א. במשלחת ב' ישנם יותר אנשים – כי על כל מדליה יש בה פי 2 יותר אנשים. </a:t>
            </a:r>
          </a:p>
          <a:p>
            <a:endParaRPr lang="he-IL" sz="2000">
              <a:solidFill>
                <a:schemeClr val="tx1"/>
              </a:solidFill>
              <a:latin typeface="Assistant" pitchFamily="2" charset="-79"/>
              <a:cs typeface="Assistant" pitchFamily="2" charset="-79"/>
            </a:endParaRPr>
          </a:p>
          <a:p>
            <a:r>
              <a:rPr lang="he-IL" sz="2000">
                <a:solidFill>
                  <a:schemeClr val="tx1"/>
                </a:solidFill>
                <a:latin typeface="Assistant" pitchFamily="2" charset="-79"/>
                <a:cs typeface="Assistant" pitchFamily="2" charset="-79"/>
              </a:rPr>
              <a:t>ב. במשלחת ב' יש 40 משתתפות ומשתתפים.</a:t>
            </a:r>
          </a:p>
        </p:txBody>
      </p:sp>
      <p:sp>
        <p:nvSpPr>
          <p:cNvPr id="46" name="TextBox 45">
            <a:extLst>
              <a:ext uri="{FF2B5EF4-FFF2-40B4-BE49-F238E27FC236}">
                <a16:creationId xmlns:a16="http://schemas.microsoft.com/office/drawing/2014/main" id="{29895C8E-7C7A-7148-2690-239C6A25EE7F}"/>
              </a:ext>
            </a:extLst>
          </p:cNvPr>
          <p:cNvSpPr txBox="1"/>
          <p:nvPr/>
        </p:nvSpPr>
        <p:spPr>
          <a:xfrm>
            <a:off x="4105798" y="3932851"/>
            <a:ext cx="7336489" cy="400110"/>
          </a:xfrm>
          <a:prstGeom prst="rect">
            <a:avLst/>
          </a:prstGeom>
          <a:noFill/>
        </p:spPr>
        <p:txBody>
          <a:bodyPr wrap="square">
            <a:spAutoFit/>
          </a:bodyPr>
          <a:lstStyle/>
          <a:p>
            <a:r>
              <a:rPr lang="he-IL" sz="2000" b="1">
                <a:latin typeface="Assistant" pitchFamily="2" charset="-79"/>
                <a:cs typeface="Assistant" pitchFamily="2" charset="-79"/>
              </a:rPr>
              <a:t>ב. אם במשלחת א' זכו ב-5 מדליות זהב, כמה משתתפים יש במשלחת ב'?</a:t>
            </a:r>
            <a:endParaRPr lang="en-US" sz="2000" b="1">
              <a:latin typeface="Assistant" pitchFamily="2" charset="-79"/>
              <a:cs typeface="Assistant" pitchFamily="2" charset="-79"/>
            </a:endParaRPr>
          </a:p>
        </p:txBody>
      </p:sp>
      <p:grpSp>
        <p:nvGrpSpPr>
          <p:cNvPr id="47" name="קבוצה 11">
            <a:extLst>
              <a:ext uri="{FF2B5EF4-FFF2-40B4-BE49-F238E27FC236}">
                <a16:creationId xmlns:a16="http://schemas.microsoft.com/office/drawing/2014/main" id="{D9A157D6-DD81-B580-50D4-0A62EA80126E}"/>
              </a:ext>
            </a:extLst>
          </p:cNvPr>
          <p:cNvGrpSpPr/>
          <p:nvPr/>
        </p:nvGrpSpPr>
        <p:grpSpPr>
          <a:xfrm>
            <a:off x="9347958" y="4605098"/>
            <a:ext cx="1798985" cy="526581"/>
            <a:chOff x="9961605" y="3108471"/>
            <a:chExt cx="1798985" cy="641058"/>
          </a:xfrm>
        </p:grpSpPr>
        <p:grpSp>
          <p:nvGrpSpPr>
            <p:cNvPr id="48" name="קבוצה 12">
              <a:extLst>
                <a:ext uri="{FF2B5EF4-FFF2-40B4-BE49-F238E27FC236}">
                  <a16:creationId xmlns:a16="http://schemas.microsoft.com/office/drawing/2014/main" id="{088FF5DC-8D62-6E00-7FD9-23A57BDD869C}"/>
                </a:ext>
              </a:extLst>
            </p:cNvPr>
            <p:cNvGrpSpPr/>
            <p:nvPr/>
          </p:nvGrpSpPr>
          <p:grpSpPr>
            <a:xfrm>
              <a:off x="9961605" y="3108471"/>
              <a:ext cx="1798985" cy="641058"/>
              <a:chOff x="9961605" y="3108471"/>
              <a:chExt cx="1798985" cy="641058"/>
            </a:xfrm>
          </p:grpSpPr>
          <p:sp>
            <p:nvSpPr>
              <p:cNvPr id="50" name="מלבן: פינות מעוגלות 14">
                <a:extLst>
                  <a:ext uri="{FF2B5EF4-FFF2-40B4-BE49-F238E27FC236}">
                    <a16:creationId xmlns:a16="http://schemas.microsoft.com/office/drawing/2014/main" id="{733FAF3A-C1E6-B746-393B-B193DFCA3939}"/>
                  </a:ext>
                </a:extLst>
              </p:cNvPr>
              <p:cNvSpPr/>
              <p:nvPr/>
            </p:nvSpPr>
            <p:spPr>
              <a:xfrm>
                <a:off x="9961605" y="3108471"/>
                <a:ext cx="1798985" cy="641058"/>
              </a:xfrm>
              <a:prstGeom prst="roundRect">
                <a:avLst>
                  <a:gd name="adj" fmla="val 50000"/>
                </a:avLst>
              </a:prstGeom>
              <a:noFill/>
              <a:ln w="12700">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LID4096"/>
              </a:p>
            </p:txBody>
          </p:sp>
          <p:sp>
            <p:nvSpPr>
              <p:cNvPr id="51" name="תיבת טקסט 17">
                <a:extLst>
                  <a:ext uri="{FF2B5EF4-FFF2-40B4-BE49-F238E27FC236}">
                    <a16:creationId xmlns:a16="http://schemas.microsoft.com/office/drawing/2014/main" id="{764CE221-2DBC-CF09-CA0D-1A2A27828B9C}"/>
                  </a:ext>
                </a:extLst>
              </p:cNvPr>
              <p:cNvSpPr txBox="1"/>
              <p:nvPr/>
            </p:nvSpPr>
            <p:spPr>
              <a:xfrm>
                <a:off x="9961607" y="3228945"/>
                <a:ext cx="1237812" cy="487093"/>
              </a:xfrm>
              <a:prstGeom prst="rect">
                <a:avLst/>
              </a:prstGeom>
              <a:noFill/>
            </p:spPr>
            <p:txBody>
              <a:bodyPr wrap="square" rtlCol="0">
                <a:spAutoFit/>
              </a:bodyPr>
              <a:lstStyle/>
              <a:p>
                <a:r>
                  <a:rPr lang="he-IL" sz="2000">
                    <a:latin typeface="Assistant" pitchFamily="2" charset="-79"/>
                    <a:cs typeface="Assistant" pitchFamily="2" charset="-79"/>
                  </a:rPr>
                  <a:t>20</a:t>
                </a:r>
              </a:p>
            </p:txBody>
          </p:sp>
        </p:grpSp>
        <p:sp>
          <p:nvSpPr>
            <p:cNvPr id="49" name="אליפסה 13">
              <a:extLst>
                <a:ext uri="{FF2B5EF4-FFF2-40B4-BE49-F238E27FC236}">
                  <a16:creationId xmlns:a16="http://schemas.microsoft.com/office/drawing/2014/main" id="{61B039BB-FC2F-8E3B-BB2A-7A6759160F5B}"/>
                </a:ext>
              </a:extLst>
            </p:cNvPr>
            <p:cNvSpPr/>
            <p:nvPr/>
          </p:nvSpPr>
          <p:spPr>
            <a:xfrm>
              <a:off x="11280913" y="3269817"/>
              <a:ext cx="252766" cy="318364"/>
            </a:xfrm>
            <a:prstGeom prst="ellipse">
              <a:avLst/>
            </a:prstGeom>
            <a:noFill/>
            <a:ln>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LID4096"/>
            </a:p>
          </p:txBody>
        </p:sp>
      </p:grpSp>
      <p:grpSp>
        <p:nvGrpSpPr>
          <p:cNvPr id="52" name="קבוצה 11">
            <a:extLst>
              <a:ext uri="{FF2B5EF4-FFF2-40B4-BE49-F238E27FC236}">
                <a16:creationId xmlns:a16="http://schemas.microsoft.com/office/drawing/2014/main" id="{2B5F6836-3C49-0EFF-1F4C-39382EFDB022}"/>
              </a:ext>
            </a:extLst>
          </p:cNvPr>
          <p:cNvGrpSpPr/>
          <p:nvPr/>
        </p:nvGrpSpPr>
        <p:grpSpPr>
          <a:xfrm>
            <a:off x="7130125" y="4589594"/>
            <a:ext cx="1798984" cy="526581"/>
            <a:chOff x="9961607" y="3108471"/>
            <a:chExt cx="1798984" cy="641058"/>
          </a:xfrm>
        </p:grpSpPr>
        <p:grpSp>
          <p:nvGrpSpPr>
            <p:cNvPr id="53" name="קבוצה 12">
              <a:extLst>
                <a:ext uri="{FF2B5EF4-FFF2-40B4-BE49-F238E27FC236}">
                  <a16:creationId xmlns:a16="http://schemas.microsoft.com/office/drawing/2014/main" id="{3034AD71-27A7-FC46-1138-CEFFA77CE5F7}"/>
                </a:ext>
              </a:extLst>
            </p:cNvPr>
            <p:cNvGrpSpPr/>
            <p:nvPr/>
          </p:nvGrpSpPr>
          <p:grpSpPr>
            <a:xfrm>
              <a:off x="9961607" y="3108471"/>
              <a:ext cx="1798984" cy="641058"/>
              <a:chOff x="9961607" y="3108471"/>
              <a:chExt cx="1798984" cy="641058"/>
            </a:xfrm>
          </p:grpSpPr>
          <p:sp>
            <p:nvSpPr>
              <p:cNvPr id="55" name="מלבן: פינות מעוגלות 14">
                <a:extLst>
                  <a:ext uri="{FF2B5EF4-FFF2-40B4-BE49-F238E27FC236}">
                    <a16:creationId xmlns:a16="http://schemas.microsoft.com/office/drawing/2014/main" id="{4CE8175C-BE25-AF62-7165-F6C0E7FC799B}"/>
                  </a:ext>
                </a:extLst>
              </p:cNvPr>
              <p:cNvSpPr/>
              <p:nvPr/>
            </p:nvSpPr>
            <p:spPr>
              <a:xfrm>
                <a:off x="9961607" y="3108471"/>
                <a:ext cx="1798984" cy="641058"/>
              </a:xfrm>
              <a:prstGeom prst="roundRect">
                <a:avLst>
                  <a:gd name="adj" fmla="val 50000"/>
                </a:avLst>
              </a:prstGeom>
              <a:noFill/>
              <a:ln w="12700">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LID4096"/>
              </a:p>
            </p:txBody>
          </p:sp>
          <p:sp>
            <p:nvSpPr>
              <p:cNvPr id="56" name="תיבת טקסט 17">
                <a:extLst>
                  <a:ext uri="{FF2B5EF4-FFF2-40B4-BE49-F238E27FC236}">
                    <a16:creationId xmlns:a16="http://schemas.microsoft.com/office/drawing/2014/main" id="{A2CFD0C3-5E85-910F-A4A8-54EB421D3606}"/>
                  </a:ext>
                </a:extLst>
              </p:cNvPr>
              <p:cNvSpPr txBox="1"/>
              <p:nvPr/>
            </p:nvSpPr>
            <p:spPr>
              <a:xfrm>
                <a:off x="10308290" y="3228945"/>
                <a:ext cx="891129" cy="487093"/>
              </a:xfrm>
              <a:prstGeom prst="rect">
                <a:avLst/>
              </a:prstGeom>
              <a:noFill/>
            </p:spPr>
            <p:txBody>
              <a:bodyPr wrap="square" rtlCol="0">
                <a:spAutoFit/>
              </a:bodyPr>
              <a:lstStyle/>
              <a:p>
                <a:r>
                  <a:rPr lang="he-IL" sz="2000">
                    <a:latin typeface="Assistant" pitchFamily="2" charset="-79"/>
                    <a:cs typeface="Assistant" pitchFamily="2" charset="-79"/>
                  </a:rPr>
                  <a:t>40</a:t>
                </a:r>
              </a:p>
            </p:txBody>
          </p:sp>
        </p:grpSp>
        <p:sp>
          <p:nvSpPr>
            <p:cNvPr id="54" name="אליפסה 13">
              <a:extLst>
                <a:ext uri="{FF2B5EF4-FFF2-40B4-BE49-F238E27FC236}">
                  <a16:creationId xmlns:a16="http://schemas.microsoft.com/office/drawing/2014/main" id="{5BA49FAD-07E5-22A0-8018-1DAB5D17AE0B}"/>
                </a:ext>
              </a:extLst>
            </p:cNvPr>
            <p:cNvSpPr/>
            <p:nvPr/>
          </p:nvSpPr>
          <p:spPr>
            <a:xfrm>
              <a:off x="11280913" y="3269817"/>
              <a:ext cx="252766" cy="318364"/>
            </a:xfrm>
            <a:prstGeom prst="ellipse">
              <a:avLst/>
            </a:prstGeom>
            <a:noFill/>
            <a:ln>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LID4096"/>
            </a:p>
          </p:txBody>
        </p:sp>
      </p:grpSp>
      <p:grpSp>
        <p:nvGrpSpPr>
          <p:cNvPr id="57" name="קבוצה 11">
            <a:extLst>
              <a:ext uri="{FF2B5EF4-FFF2-40B4-BE49-F238E27FC236}">
                <a16:creationId xmlns:a16="http://schemas.microsoft.com/office/drawing/2014/main" id="{FBDDB7EE-BC26-FFD8-DA16-A44A031F1B24}"/>
              </a:ext>
            </a:extLst>
          </p:cNvPr>
          <p:cNvGrpSpPr/>
          <p:nvPr/>
        </p:nvGrpSpPr>
        <p:grpSpPr>
          <a:xfrm>
            <a:off x="4852644" y="4572045"/>
            <a:ext cx="1798984" cy="526581"/>
            <a:chOff x="9961607" y="3108471"/>
            <a:chExt cx="1798984" cy="641058"/>
          </a:xfrm>
        </p:grpSpPr>
        <p:grpSp>
          <p:nvGrpSpPr>
            <p:cNvPr id="58" name="קבוצה 12">
              <a:extLst>
                <a:ext uri="{FF2B5EF4-FFF2-40B4-BE49-F238E27FC236}">
                  <a16:creationId xmlns:a16="http://schemas.microsoft.com/office/drawing/2014/main" id="{C6DF0DE1-8AFB-2112-B074-92881F5E260E}"/>
                </a:ext>
              </a:extLst>
            </p:cNvPr>
            <p:cNvGrpSpPr/>
            <p:nvPr/>
          </p:nvGrpSpPr>
          <p:grpSpPr>
            <a:xfrm>
              <a:off x="9961607" y="3108471"/>
              <a:ext cx="1798984" cy="641058"/>
              <a:chOff x="9961607" y="3108471"/>
              <a:chExt cx="1798984" cy="641058"/>
            </a:xfrm>
          </p:grpSpPr>
          <p:sp>
            <p:nvSpPr>
              <p:cNvPr id="60" name="מלבן: פינות מעוגלות 14">
                <a:extLst>
                  <a:ext uri="{FF2B5EF4-FFF2-40B4-BE49-F238E27FC236}">
                    <a16:creationId xmlns:a16="http://schemas.microsoft.com/office/drawing/2014/main" id="{D77FEA7B-D299-6E61-8545-F8A6807179CF}"/>
                  </a:ext>
                </a:extLst>
              </p:cNvPr>
              <p:cNvSpPr/>
              <p:nvPr/>
            </p:nvSpPr>
            <p:spPr>
              <a:xfrm>
                <a:off x="9961607" y="3108471"/>
                <a:ext cx="1798984" cy="641058"/>
              </a:xfrm>
              <a:prstGeom prst="roundRect">
                <a:avLst>
                  <a:gd name="adj" fmla="val 50000"/>
                </a:avLst>
              </a:prstGeom>
              <a:noFill/>
              <a:ln w="12700">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LID4096"/>
              </a:p>
            </p:txBody>
          </p:sp>
          <p:sp>
            <p:nvSpPr>
              <p:cNvPr id="61" name="תיבת טקסט 17">
                <a:extLst>
                  <a:ext uri="{FF2B5EF4-FFF2-40B4-BE49-F238E27FC236}">
                    <a16:creationId xmlns:a16="http://schemas.microsoft.com/office/drawing/2014/main" id="{6DD33D13-F055-65BD-B943-07E202DCF45B}"/>
                  </a:ext>
                </a:extLst>
              </p:cNvPr>
              <p:cNvSpPr txBox="1"/>
              <p:nvPr/>
            </p:nvSpPr>
            <p:spPr>
              <a:xfrm>
                <a:off x="10308290" y="3228945"/>
                <a:ext cx="891129" cy="487093"/>
              </a:xfrm>
              <a:prstGeom prst="rect">
                <a:avLst/>
              </a:prstGeom>
              <a:noFill/>
            </p:spPr>
            <p:txBody>
              <a:bodyPr wrap="square" rtlCol="0">
                <a:spAutoFit/>
              </a:bodyPr>
              <a:lstStyle/>
              <a:p>
                <a:r>
                  <a:rPr lang="he-IL" sz="2000">
                    <a:latin typeface="Assistant" pitchFamily="2" charset="-79"/>
                    <a:cs typeface="Assistant" pitchFamily="2" charset="-79"/>
                  </a:rPr>
                  <a:t>32</a:t>
                </a:r>
              </a:p>
            </p:txBody>
          </p:sp>
        </p:grpSp>
        <p:sp>
          <p:nvSpPr>
            <p:cNvPr id="59" name="אליפסה 13">
              <a:extLst>
                <a:ext uri="{FF2B5EF4-FFF2-40B4-BE49-F238E27FC236}">
                  <a16:creationId xmlns:a16="http://schemas.microsoft.com/office/drawing/2014/main" id="{921CEC8E-8E3D-8E19-5901-7D7FD708B6B2}"/>
                </a:ext>
              </a:extLst>
            </p:cNvPr>
            <p:cNvSpPr/>
            <p:nvPr/>
          </p:nvSpPr>
          <p:spPr>
            <a:xfrm>
              <a:off x="11280913" y="3269817"/>
              <a:ext cx="252766" cy="318364"/>
            </a:xfrm>
            <a:prstGeom prst="ellipse">
              <a:avLst/>
            </a:prstGeom>
            <a:noFill/>
            <a:ln>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LID4096"/>
            </a:p>
          </p:txBody>
        </p:sp>
      </p:grpSp>
    </p:spTree>
    <p:extLst>
      <p:ext uri="{BB962C8B-B14F-4D97-AF65-F5344CB8AC3E}">
        <p14:creationId xmlns:p14="http://schemas.microsoft.com/office/powerpoint/2010/main" val="367083165"/>
      </p:ext>
    </p:extLst>
  </p:cSld>
  <p:clrMapOvr>
    <a:masterClrMapping/>
  </p:clrMapOvr>
  <p:extLst>
    <p:ext uri="{6950BFC3-D8DA-4A85-94F7-54DA5524770B}">
      <p188:commentRel xmlns:p188="http://schemas.microsoft.com/office/powerpoint/2018/8/main" r:id="rId3"/>
    </p:ext>
  </p:extLs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B106D1-965D-C529-52C2-B3C33B07EEB0}"/>
            </a:ext>
          </a:extLst>
        </p:cNvPr>
        <p:cNvGrpSpPr/>
        <p:nvPr/>
      </p:nvGrpSpPr>
      <p:grpSpPr>
        <a:xfrm>
          <a:off x="0" y="0"/>
          <a:ext cx="0" cy="0"/>
          <a:chOff x="0" y="0"/>
          <a:chExt cx="0" cy="0"/>
        </a:xfrm>
      </p:grpSpPr>
      <p:sp>
        <p:nvSpPr>
          <p:cNvPr id="2" name="כותרת 1">
            <a:extLst>
              <a:ext uri="{FF2B5EF4-FFF2-40B4-BE49-F238E27FC236}">
                <a16:creationId xmlns:a16="http://schemas.microsoft.com/office/drawing/2014/main" id="{B97E0705-F88B-DAAA-6340-873787E90865}"/>
              </a:ext>
            </a:extLst>
          </p:cNvPr>
          <p:cNvSpPr>
            <a:spLocks noGrp="1"/>
          </p:cNvSpPr>
          <p:nvPr>
            <p:ph type="title"/>
          </p:nvPr>
        </p:nvSpPr>
        <p:spPr>
          <a:xfrm>
            <a:off x="1143000" y="139494"/>
            <a:ext cx="10515600" cy="1325563"/>
          </a:xfrm>
        </p:spPr>
        <p:txBody>
          <a:bodyPr/>
          <a:lstStyle/>
          <a:p>
            <a:r>
              <a:rPr lang="he-IL" sz="4000" b="1">
                <a:solidFill>
                  <a:srgbClr val="00B0F0"/>
                </a:solidFill>
                <a:latin typeface="Assistant" pitchFamily="2" charset="-79"/>
                <a:ea typeface="+mn-ea"/>
                <a:cs typeface="Assistant" pitchFamily="2" charset="-79"/>
              </a:rPr>
              <a:t>אולימפיאדת המדעים</a:t>
            </a:r>
          </a:p>
        </p:txBody>
      </p:sp>
      <p:cxnSp>
        <p:nvCxnSpPr>
          <p:cNvPr id="4" name="מחבר ישר 6">
            <a:extLst>
              <a:ext uri="{FF2B5EF4-FFF2-40B4-BE49-F238E27FC236}">
                <a16:creationId xmlns:a16="http://schemas.microsoft.com/office/drawing/2014/main" id="{055B1584-AD35-41EB-DA93-20252CE61B2F}"/>
              </a:ext>
            </a:extLst>
          </p:cNvPr>
          <p:cNvCxnSpPr>
            <a:cxnSpLocks/>
          </p:cNvCxnSpPr>
          <p:nvPr/>
        </p:nvCxnSpPr>
        <p:spPr>
          <a:xfrm>
            <a:off x="0" y="6079252"/>
            <a:ext cx="12192000" cy="0"/>
          </a:xfrm>
          <a:prstGeom prst="line">
            <a:avLst/>
          </a:prstGeom>
          <a:ln>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6" name="מלבן: פינות מעוגלות 18">
            <a:extLst>
              <a:ext uri="{FF2B5EF4-FFF2-40B4-BE49-F238E27FC236}">
                <a16:creationId xmlns:a16="http://schemas.microsoft.com/office/drawing/2014/main" id="{632C1AB6-32FB-06FC-08A1-973BD22032F6}"/>
              </a:ext>
            </a:extLst>
          </p:cNvPr>
          <p:cNvSpPr/>
          <p:nvPr/>
        </p:nvSpPr>
        <p:spPr>
          <a:xfrm>
            <a:off x="268356" y="6182143"/>
            <a:ext cx="1798983" cy="506891"/>
          </a:xfrm>
          <a:prstGeom prst="roundRect">
            <a:avLst>
              <a:gd name="adj" fmla="val 50000"/>
            </a:avLst>
          </a:prstGeom>
          <a:solidFill>
            <a:schemeClr val="bg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he-IL">
                <a:latin typeface="Assistant" pitchFamily="2" charset="-79"/>
                <a:cs typeface="Assistant" pitchFamily="2" charset="-79"/>
              </a:rPr>
              <a:t>המשך</a:t>
            </a:r>
            <a:endParaRPr lang="LID4096">
              <a:latin typeface="Assistant" pitchFamily="2" charset="-79"/>
              <a:cs typeface="Assistant" pitchFamily="2" charset="-79"/>
            </a:endParaRPr>
          </a:p>
        </p:txBody>
      </p:sp>
      <p:pic>
        <p:nvPicPr>
          <p:cNvPr id="7" name="Picture 6">
            <a:extLst>
              <a:ext uri="{FF2B5EF4-FFF2-40B4-BE49-F238E27FC236}">
                <a16:creationId xmlns:a16="http://schemas.microsoft.com/office/drawing/2014/main" id="{250FD240-8475-D0FE-7FB6-CF717B35B551}"/>
              </a:ext>
            </a:extLst>
          </p:cNvPr>
          <p:cNvPicPr>
            <a:picLocks noChangeAspect="1"/>
          </p:cNvPicPr>
          <p:nvPr/>
        </p:nvPicPr>
        <p:blipFill>
          <a:blip r:embed="rId3"/>
          <a:stretch>
            <a:fillRect/>
          </a:stretch>
        </p:blipFill>
        <p:spPr>
          <a:xfrm>
            <a:off x="10371417" y="6124170"/>
            <a:ext cx="1820583" cy="622831"/>
          </a:xfrm>
          <a:prstGeom prst="rect">
            <a:avLst/>
          </a:prstGeom>
        </p:spPr>
      </p:pic>
      <p:sp>
        <p:nvSpPr>
          <p:cNvPr id="8" name="מלבן 7">
            <a:extLst>
              <a:ext uri="{FF2B5EF4-FFF2-40B4-BE49-F238E27FC236}">
                <a16:creationId xmlns:a16="http://schemas.microsoft.com/office/drawing/2014/main" id="{BC0530B1-021C-64DE-71AF-48F6E53C116D}"/>
              </a:ext>
            </a:extLst>
          </p:cNvPr>
          <p:cNvSpPr/>
          <p:nvPr/>
        </p:nvSpPr>
        <p:spPr>
          <a:xfrm>
            <a:off x="11896440" y="332438"/>
            <a:ext cx="45719" cy="5474677"/>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LID4096"/>
          </a:p>
        </p:txBody>
      </p:sp>
      <p:sp>
        <p:nvSpPr>
          <p:cNvPr id="10" name="מלבן 8">
            <a:extLst>
              <a:ext uri="{FF2B5EF4-FFF2-40B4-BE49-F238E27FC236}">
                <a16:creationId xmlns:a16="http://schemas.microsoft.com/office/drawing/2014/main" id="{55E6BDA6-D79D-811F-32F5-B134AD57EBDF}"/>
              </a:ext>
            </a:extLst>
          </p:cNvPr>
          <p:cNvSpPr/>
          <p:nvPr/>
        </p:nvSpPr>
        <p:spPr>
          <a:xfrm>
            <a:off x="11879035" y="2281124"/>
            <a:ext cx="45719" cy="3526971"/>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LID4096"/>
          </a:p>
        </p:txBody>
      </p:sp>
      <p:pic>
        <p:nvPicPr>
          <p:cNvPr id="12" name="Picture 11">
            <a:extLst>
              <a:ext uri="{FF2B5EF4-FFF2-40B4-BE49-F238E27FC236}">
                <a16:creationId xmlns:a16="http://schemas.microsoft.com/office/drawing/2014/main" id="{D4E03973-E0CA-9618-4899-57758BF2B80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05160" y="3362924"/>
            <a:ext cx="2455557" cy="1965146"/>
          </a:xfrm>
          <a:prstGeom prst="rect">
            <a:avLst/>
          </a:prstGeom>
        </p:spPr>
      </p:pic>
      <p:sp>
        <p:nvSpPr>
          <p:cNvPr id="14" name="TextBox 13">
            <a:extLst>
              <a:ext uri="{FF2B5EF4-FFF2-40B4-BE49-F238E27FC236}">
                <a16:creationId xmlns:a16="http://schemas.microsoft.com/office/drawing/2014/main" id="{965D7BC0-3E98-104C-627C-9EFC841B6E56}"/>
              </a:ext>
            </a:extLst>
          </p:cNvPr>
          <p:cNvSpPr txBox="1"/>
          <p:nvPr/>
        </p:nvSpPr>
        <p:spPr>
          <a:xfrm>
            <a:off x="1580946" y="2442291"/>
            <a:ext cx="1330036" cy="400110"/>
          </a:xfrm>
          <a:prstGeom prst="rect">
            <a:avLst/>
          </a:prstGeom>
          <a:noFill/>
        </p:spPr>
        <p:txBody>
          <a:bodyPr wrap="square">
            <a:spAutoFit/>
          </a:bodyPr>
          <a:lstStyle/>
          <a:p>
            <a:pPr algn="ctr"/>
            <a:r>
              <a:rPr lang="he-IL" sz="2000">
                <a:latin typeface="Assistant" pitchFamily="2" charset="-79"/>
                <a:cs typeface="Assistant" pitchFamily="2" charset="-79"/>
              </a:rPr>
              <a:t>משלחת א</a:t>
            </a:r>
            <a:endParaRPr lang="en-US"/>
          </a:p>
        </p:txBody>
      </p:sp>
      <p:pic>
        <p:nvPicPr>
          <p:cNvPr id="16" name="Picture 15">
            <a:extLst>
              <a:ext uri="{FF2B5EF4-FFF2-40B4-BE49-F238E27FC236}">
                <a16:creationId xmlns:a16="http://schemas.microsoft.com/office/drawing/2014/main" id="{E2662E55-5860-8624-2796-008B7E5D14FE}"/>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05161" y="535828"/>
            <a:ext cx="2455557" cy="1965146"/>
          </a:xfrm>
          <a:prstGeom prst="rect">
            <a:avLst/>
          </a:prstGeom>
        </p:spPr>
      </p:pic>
      <p:sp>
        <p:nvSpPr>
          <p:cNvPr id="18" name="TextBox 17">
            <a:extLst>
              <a:ext uri="{FF2B5EF4-FFF2-40B4-BE49-F238E27FC236}">
                <a16:creationId xmlns:a16="http://schemas.microsoft.com/office/drawing/2014/main" id="{4B12B55A-2DC5-8081-B3F9-38AE7758CB53}"/>
              </a:ext>
            </a:extLst>
          </p:cNvPr>
          <p:cNvSpPr txBox="1"/>
          <p:nvPr/>
        </p:nvSpPr>
        <p:spPr>
          <a:xfrm>
            <a:off x="1413490" y="5340777"/>
            <a:ext cx="1330036" cy="400110"/>
          </a:xfrm>
          <a:prstGeom prst="rect">
            <a:avLst/>
          </a:prstGeom>
          <a:noFill/>
        </p:spPr>
        <p:txBody>
          <a:bodyPr wrap="square">
            <a:spAutoFit/>
          </a:bodyPr>
          <a:lstStyle/>
          <a:p>
            <a:pPr algn="ctr"/>
            <a:r>
              <a:rPr lang="he-IL" sz="2000">
                <a:latin typeface="Assistant" pitchFamily="2" charset="-79"/>
                <a:cs typeface="Assistant" pitchFamily="2" charset="-79"/>
              </a:rPr>
              <a:t>משלחת ב</a:t>
            </a:r>
            <a:endParaRPr lang="en-US"/>
          </a:p>
        </p:txBody>
      </p:sp>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id="{7035C1DC-ED56-F862-13E0-26B948E23DA7}"/>
                  </a:ext>
                </a:extLst>
              </p:cNvPr>
              <p:cNvSpPr txBox="1"/>
              <p:nvPr/>
            </p:nvSpPr>
            <p:spPr>
              <a:xfrm>
                <a:off x="1413490" y="2734214"/>
                <a:ext cx="1603169" cy="400110"/>
              </a:xfrm>
              <a:prstGeom prst="rect">
                <a:avLst/>
              </a:prstGeom>
              <a:noFill/>
            </p:spPr>
            <p:txBody>
              <a:bodyPr wrap="square">
                <a:spAutoFit/>
              </a:bodyPr>
              <a:lstStyle/>
              <a:p>
                <a:pPr algn="ctr"/>
                <a:r>
                  <a:rPr lang="he-IL" sz="2000">
                    <a:latin typeface="Assistant" pitchFamily="2" charset="-79"/>
                    <a:cs typeface="Assistant" pitchFamily="2" charset="-79"/>
                  </a:rPr>
                  <a:t>יחס הוא </a:t>
                </a:r>
                <a14:m>
                  <m:oMath xmlns:m="http://schemas.openxmlformats.org/officeDocument/2006/math">
                    <m:r>
                      <a:rPr lang="he-IL" sz="2000" b="0" i="0" smtClean="0">
                        <a:latin typeface="Cambria Math" panose="02040503050406030204" pitchFamily="18" charset="0"/>
                      </a:rPr>
                      <m:t> </m:t>
                    </m:r>
                    <m:r>
                      <a:rPr lang="he-IL" sz="2000" b="0" i="1" smtClean="0">
                        <a:latin typeface="Cambria Math" panose="02040503050406030204" pitchFamily="18" charset="0"/>
                      </a:rPr>
                      <m:t>1</m:t>
                    </m:r>
                    <m:r>
                      <a:rPr lang="he-IL" sz="2000" b="0" smtClean="0">
                        <a:latin typeface="Cambria Math" panose="02040503050406030204" pitchFamily="18" charset="0"/>
                      </a:rPr>
                      <m:t>:</m:t>
                    </m:r>
                    <m:r>
                      <a:rPr lang="he-IL" sz="2000" b="0" i="1">
                        <a:latin typeface="Cambria Math" panose="02040503050406030204" pitchFamily="18" charset="0"/>
                      </a:rPr>
                      <m:t>4</m:t>
                    </m:r>
                  </m:oMath>
                </a14:m>
                <a:endParaRPr lang="en-US"/>
              </a:p>
            </p:txBody>
          </p:sp>
        </mc:Choice>
        <mc:Fallback xmlns="">
          <p:sp>
            <p:nvSpPr>
              <p:cNvPr id="20" name="TextBox 19">
                <a:extLst>
                  <a:ext uri="{FF2B5EF4-FFF2-40B4-BE49-F238E27FC236}">
                    <a16:creationId xmlns:a16="http://schemas.microsoft.com/office/drawing/2014/main" id="{7035C1DC-ED56-F862-13E0-26B948E23DA7}"/>
                  </a:ext>
                </a:extLst>
              </p:cNvPr>
              <p:cNvSpPr txBox="1">
                <a:spLocks noRot="1" noChangeAspect="1" noMove="1" noResize="1" noEditPoints="1" noAdjustHandles="1" noChangeArrowheads="1" noChangeShapeType="1" noTextEdit="1"/>
              </p:cNvSpPr>
              <p:nvPr/>
            </p:nvSpPr>
            <p:spPr>
              <a:xfrm>
                <a:off x="1413490" y="2734214"/>
                <a:ext cx="1603169" cy="400110"/>
              </a:xfrm>
              <a:prstGeom prst="rect">
                <a:avLst/>
              </a:prstGeom>
              <a:blipFill>
                <a:blip r:embed="rId6"/>
                <a:stretch>
                  <a:fillRect t="-9231" b="-2769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id="{9C59FD25-D3FB-6265-3779-FC15A583FAE3}"/>
                  </a:ext>
                </a:extLst>
              </p:cNvPr>
              <p:cNvSpPr txBox="1"/>
              <p:nvPr/>
            </p:nvSpPr>
            <p:spPr>
              <a:xfrm>
                <a:off x="1167848" y="5634225"/>
                <a:ext cx="1603169" cy="400110"/>
              </a:xfrm>
              <a:prstGeom prst="rect">
                <a:avLst/>
              </a:prstGeom>
              <a:noFill/>
            </p:spPr>
            <p:txBody>
              <a:bodyPr wrap="square">
                <a:spAutoFit/>
              </a:bodyPr>
              <a:lstStyle/>
              <a:p>
                <a:pPr algn="ctr"/>
                <a:r>
                  <a:rPr lang="he-IL" sz="2000">
                    <a:latin typeface="Assistant" pitchFamily="2" charset="-79"/>
                    <a:cs typeface="Assistant" pitchFamily="2" charset="-79"/>
                  </a:rPr>
                  <a:t>יחס הוא </a:t>
                </a:r>
                <a14:m>
                  <m:oMath xmlns:m="http://schemas.openxmlformats.org/officeDocument/2006/math">
                    <m:r>
                      <a:rPr lang="he-IL" sz="2000" b="0" i="0" smtClean="0">
                        <a:latin typeface="Cambria Math" panose="02040503050406030204" pitchFamily="18" charset="0"/>
                      </a:rPr>
                      <m:t> </m:t>
                    </m:r>
                    <m:r>
                      <a:rPr lang="he-IL" sz="2000" b="0" i="1" smtClean="0">
                        <a:latin typeface="Cambria Math" panose="02040503050406030204" pitchFamily="18" charset="0"/>
                      </a:rPr>
                      <m:t>1</m:t>
                    </m:r>
                    <m:r>
                      <a:rPr lang="he-IL" sz="2000" b="0" smtClean="0">
                        <a:latin typeface="Cambria Math" panose="02040503050406030204" pitchFamily="18" charset="0"/>
                      </a:rPr>
                      <m:t>:</m:t>
                    </m:r>
                    <m:r>
                      <a:rPr lang="en-US" sz="2000" b="0" i="1" smtClean="0">
                        <a:latin typeface="Cambria Math" panose="02040503050406030204" pitchFamily="18" charset="0"/>
                      </a:rPr>
                      <m:t>8</m:t>
                    </m:r>
                  </m:oMath>
                </a14:m>
                <a:endParaRPr lang="en-US"/>
              </a:p>
            </p:txBody>
          </p:sp>
        </mc:Choice>
        <mc:Fallback xmlns="">
          <p:sp>
            <p:nvSpPr>
              <p:cNvPr id="22" name="TextBox 21">
                <a:extLst>
                  <a:ext uri="{FF2B5EF4-FFF2-40B4-BE49-F238E27FC236}">
                    <a16:creationId xmlns:a16="http://schemas.microsoft.com/office/drawing/2014/main" id="{9C59FD25-D3FB-6265-3779-FC15A583FAE3}"/>
                  </a:ext>
                </a:extLst>
              </p:cNvPr>
              <p:cNvSpPr txBox="1">
                <a:spLocks noRot="1" noChangeAspect="1" noMove="1" noResize="1" noEditPoints="1" noAdjustHandles="1" noChangeArrowheads="1" noChangeShapeType="1" noTextEdit="1"/>
              </p:cNvSpPr>
              <p:nvPr/>
            </p:nvSpPr>
            <p:spPr>
              <a:xfrm>
                <a:off x="1167848" y="5634225"/>
                <a:ext cx="1603169" cy="400110"/>
              </a:xfrm>
              <a:prstGeom prst="rect">
                <a:avLst/>
              </a:prstGeom>
              <a:blipFill>
                <a:blip r:embed="rId7"/>
                <a:stretch>
                  <a:fillRect t="-7576" b="-25758"/>
                </a:stretch>
              </a:blipFill>
            </p:spPr>
            <p:txBody>
              <a:bodyPr/>
              <a:lstStyle/>
              <a:p>
                <a:r>
                  <a:rPr lang="en-US">
                    <a:noFill/>
                  </a:rPr>
                  <a:t> </a:t>
                </a:r>
              </a:p>
            </p:txBody>
          </p:sp>
        </mc:Fallback>
      </mc:AlternateContent>
      <p:sp>
        <p:nvSpPr>
          <p:cNvPr id="42" name="מלבן: פינות מעוגלות 16">
            <a:extLst>
              <a:ext uri="{FF2B5EF4-FFF2-40B4-BE49-F238E27FC236}">
                <a16:creationId xmlns:a16="http://schemas.microsoft.com/office/drawing/2014/main" id="{FABB8082-E8BA-599F-08B7-89032B328882}"/>
              </a:ext>
            </a:extLst>
          </p:cNvPr>
          <p:cNvSpPr/>
          <p:nvPr/>
        </p:nvSpPr>
        <p:spPr>
          <a:xfrm>
            <a:off x="-4345799" y="1277207"/>
            <a:ext cx="4167984" cy="4463680"/>
          </a:xfrm>
          <a:prstGeom prst="roundRect">
            <a:avLst>
              <a:gd name="adj" fmla="val 1647"/>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he-IL" sz="2000" b="1">
                <a:solidFill>
                  <a:schemeClr val="tx1"/>
                </a:solidFill>
                <a:latin typeface="Assistant" pitchFamily="2" charset="-79"/>
                <a:cs typeface="Assistant" pitchFamily="2" charset="-79"/>
              </a:rPr>
              <a:t>נכון! </a:t>
            </a:r>
          </a:p>
          <a:p>
            <a:pPr algn="ctr"/>
            <a:endParaRPr lang="he-IL" sz="2000" b="1">
              <a:solidFill>
                <a:schemeClr val="tx1"/>
              </a:solidFill>
              <a:latin typeface="Assistant" pitchFamily="2" charset="-79"/>
              <a:cs typeface="Assistant" pitchFamily="2" charset="-79"/>
            </a:endParaRPr>
          </a:p>
          <a:p>
            <a:r>
              <a:rPr lang="he-IL" sz="2000">
                <a:solidFill>
                  <a:schemeClr val="tx1"/>
                </a:solidFill>
                <a:latin typeface="Assistant" pitchFamily="2" charset="-79"/>
                <a:cs typeface="Assistant" pitchFamily="2" charset="-79"/>
              </a:rPr>
              <a:t>ג. משלחת א' הציגה אחוז הצלחה גבוה יותר (יותר מדליות ביחס לגודל משלחת)  כי אצלה כל 4 ספורטאים כבר זוכים במדליה (לעומת 8 במשלחת ב')</a:t>
            </a:r>
          </a:p>
          <a:p>
            <a:endParaRPr lang="he-IL" sz="2000">
              <a:solidFill>
                <a:schemeClr val="tx1"/>
              </a:solidFill>
              <a:latin typeface="Assistant" pitchFamily="2" charset="-79"/>
              <a:cs typeface="Assistant" pitchFamily="2" charset="-79"/>
            </a:endParaRPr>
          </a:p>
        </p:txBody>
      </p:sp>
      <p:sp>
        <p:nvSpPr>
          <p:cNvPr id="44" name="מלבן: פינות מעוגלות 16">
            <a:extLst>
              <a:ext uri="{FF2B5EF4-FFF2-40B4-BE49-F238E27FC236}">
                <a16:creationId xmlns:a16="http://schemas.microsoft.com/office/drawing/2014/main" id="{AE2B4CB0-0C10-F232-DD74-3F804371B4EA}"/>
              </a:ext>
            </a:extLst>
          </p:cNvPr>
          <p:cNvSpPr/>
          <p:nvPr/>
        </p:nvSpPr>
        <p:spPr>
          <a:xfrm>
            <a:off x="-8677098" y="1277207"/>
            <a:ext cx="4167984" cy="4463680"/>
          </a:xfrm>
          <a:prstGeom prst="roundRect">
            <a:avLst>
              <a:gd name="adj" fmla="val 1647"/>
            </a:avLst>
          </a:prstGeom>
          <a:solidFill>
            <a:srgbClr val="FFE5E5"/>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he-IL" sz="2000" b="1">
                <a:solidFill>
                  <a:schemeClr val="tx1"/>
                </a:solidFill>
                <a:latin typeface="Assistant" pitchFamily="2" charset="-79"/>
                <a:cs typeface="Assistant" pitchFamily="2" charset="-79"/>
              </a:rPr>
              <a:t>אופס, לא בדיוק, בואו נסביר</a:t>
            </a:r>
          </a:p>
          <a:p>
            <a:pPr algn="ctr"/>
            <a:endParaRPr lang="he-IL" sz="2000" b="1">
              <a:solidFill>
                <a:schemeClr val="tx1"/>
              </a:solidFill>
              <a:latin typeface="Assistant" pitchFamily="2" charset="-79"/>
              <a:cs typeface="Assistant" pitchFamily="2" charset="-79"/>
            </a:endParaRPr>
          </a:p>
          <a:p>
            <a:pPr algn="ctr"/>
            <a:endParaRPr lang="he-IL" sz="2000" b="1">
              <a:solidFill>
                <a:schemeClr val="tx1"/>
              </a:solidFill>
              <a:latin typeface="Assistant" pitchFamily="2" charset="-79"/>
              <a:cs typeface="Assistant" pitchFamily="2" charset="-79"/>
            </a:endParaRPr>
          </a:p>
          <a:p>
            <a:r>
              <a:rPr lang="he-IL" sz="2000">
                <a:solidFill>
                  <a:schemeClr val="tx1"/>
                </a:solidFill>
                <a:latin typeface="Assistant" pitchFamily="2" charset="-79"/>
                <a:cs typeface="Assistant" pitchFamily="2" charset="-79"/>
              </a:rPr>
              <a:t>ג. </a:t>
            </a:r>
            <a:r>
              <a:rPr lang="he-IL" sz="2000" b="1">
                <a:solidFill>
                  <a:schemeClr val="tx1"/>
                </a:solidFill>
                <a:latin typeface="Assistant" pitchFamily="2" charset="-79"/>
                <a:cs typeface="Assistant" pitchFamily="2" charset="-79"/>
              </a:rPr>
              <a:t>משלחת א'</a:t>
            </a:r>
            <a:r>
              <a:rPr lang="he-IL" sz="2000">
                <a:solidFill>
                  <a:schemeClr val="tx1"/>
                </a:solidFill>
                <a:latin typeface="Assistant" pitchFamily="2" charset="-79"/>
                <a:cs typeface="Assistant" pitchFamily="2" charset="-79"/>
              </a:rPr>
              <a:t> הציגה אחוז הצלחה גבוה יותר (יותר מדליות ביחס לגודל משלחת)  כי אצלה כל 4 ספורטאים כבר זוכים במדליה (לעומת 8 במשלחת ב')</a:t>
            </a:r>
          </a:p>
          <a:p>
            <a:endParaRPr lang="he-IL" sz="2000">
              <a:solidFill>
                <a:schemeClr val="tx1"/>
              </a:solidFill>
              <a:latin typeface="Assistant" pitchFamily="2" charset="-79"/>
              <a:cs typeface="Assistant" pitchFamily="2" charset="-79"/>
            </a:endParaRPr>
          </a:p>
        </p:txBody>
      </p:sp>
      <p:sp>
        <p:nvSpPr>
          <p:cNvPr id="13" name="TextBox 12">
            <a:extLst>
              <a:ext uri="{FF2B5EF4-FFF2-40B4-BE49-F238E27FC236}">
                <a16:creationId xmlns:a16="http://schemas.microsoft.com/office/drawing/2014/main" id="{1A4C689B-58C1-0022-2044-559A39B7960E}"/>
              </a:ext>
            </a:extLst>
          </p:cNvPr>
          <p:cNvSpPr txBox="1"/>
          <p:nvPr/>
        </p:nvSpPr>
        <p:spPr>
          <a:xfrm>
            <a:off x="4227573" y="1290606"/>
            <a:ext cx="7347943" cy="2985433"/>
          </a:xfrm>
          <a:prstGeom prst="rect">
            <a:avLst/>
          </a:prstGeom>
          <a:noFill/>
        </p:spPr>
        <p:txBody>
          <a:bodyPr wrap="square">
            <a:spAutoFit/>
          </a:bodyPr>
          <a:lstStyle/>
          <a:p>
            <a:pPr>
              <a:buNone/>
            </a:pPr>
            <a:r>
              <a:rPr lang="he-IL" sz="2000">
                <a:latin typeface="Assistant" pitchFamily="2" charset="-79"/>
                <a:cs typeface="Assistant" pitchFamily="2" charset="-79"/>
              </a:rPr>
              <a:t>ג</a:t>
            </a:r>
            <a:r>
              <a:rPr lang="he-IL" sz="2800">
                <a:latin typeface="Assistant" pitchFamily="2" charset="-79"/>
                <a:cs typeface="Assistant" pitchFamily="2" charset="-79"/>
              </a:rPr>
              <a:t>. </a:t>
            </a:r>
            <a:r>
              <a:rPr lang="he-IL" sz="2000">
                <a:latin typeface="Assistant" pitchFamily="2" charset="-79"/>
                <a:cs typeface="Assistant" pitchFamily="2" charset="-79"/>
              </a:rPr>
              <a:t>חשיבה יחסית: </a:t>
            </a:r>
            <a:r>
              <a:rPr lang="he-IL" sz="2000" b="1">
                <a:latin typeface="Assistant" pitchFamily="2" charset="-79"/>
                <a:cs typeface="Assistant" pitchFamily="2" charset="-79"/>
              </a:rPr>
              <a:t>איזו משלחת הציגה אחוז הצלחה גבוה יותר (יותר מדליות ביחס לגודל המשלחת)?</a:t>
            </a:r>
          </a:p>
          <a:p>
            <a:pPr>
              <a:buNone/>
            </a:pPr>
            <a:endParaRPr lang="he-IL" sz="2000" b="1">
              <a:latin typeface="Assistant" pitchFamily="2" charset="-79"/>
              <a:cs typeface="Assistant" pitchFamily="2" charset="-79"/>
            </a:endParaRPr>
          </a:p>
          <a:p>
            <a:pPr>
              <a:buNone/>
            </a:pPr>
            <a:endParaRPr lang="he-IL" sz="2000" b="1">
              <a:latin typeface="Assistant" pitchFamily="2" charset="-79"/>
              <a:cs typeface="Assistant" pitchFamily="2" charset="-79"/>
            </a:endParaRPr>
          </a:p>
          <a:p>
            <a:pPr>
              <a:buNone/>
            </a:pPr>
            <a:endParaRPr lang="he-IL" sz="2000" b="1">
              <a:latin typeface="Assistant" pitchFamily="2" charset="-79"/>
              <a:cs typeface="Assistant" pitchFamily="2" charset="-79"/>
            </a:endParaRPr>
          </a:p>
          <a:p>
            <a:pPr>
              <a:buNone/>
            </a:pPr>
            <a:endParaRPr lang="he-IL" sz="2000" b="1">
              <a:latin typeface="Assistant" pitchFamily="2" charset="-79"/>
              <a:cs typeface="Assistant" pitchFamily="2" charset="-79"/>
            </a:endParaRPr>
          </a:p>
          <a:p>
            <a:pPr>
              <a:buNone/>
            </a:pPr>
            <a:endParaRPr lang="he-IL" sz="2000" b="1">
              <a:latin typeface="Assistant" pitchFamily="2" charset="-79"/>
              <a:cs typeface="Assistant" pitchFamily="2" charset="-79"/>
            </a:endParaRPr>
          </a:p>
          <a:p>
            <a:pPr>
              <a:buNone/>
            </a:pPr>
            <a:endParaRPr lang="he-IL" sz="2000" b="1">
              <a:latin typeface="Assistant" pitchFamily="2" charset="-79"/>
              <a:cs typeface="Assistant" pitchFamily="2" charset="-79"/>
            </a:endParaRPr>
          </a:p>
          <a:p>
            <a:pPr>
              <a:buNone/>
            </a:pPr>
            <a:endParaRPr lang="he-IL" sz="2000" b="1">
              <a:latin typeface="Assistant" pitchFamily="2" charset="-79"/>
              <a:cs typeface="Assistant" pitchFamily="2" charset="-79"/>
            </a:endParaRPr>
          </a:p>
        </p:txBody>
      </p:sp>
      <p:grpSp>
        <p:nvGrpSpPr>
          <p:cNvPr id="15" name="קבוצה 8">
            <a:extLst>
              <a:ext uri="{FF2B5EF4-FFF2-40B4-BE49-F238E27FC236}">
                <a16:creationId xmlns:a16="http://schemas.microsoft.com/office/drawing/2014/main" id="{6FBCD009-FC6C-3C49-D4ED-11509BA8CF99}"/>
              </a:ext>
            </a:extLst>
          </p:cNvPr>
          <p:cNvGrpSpPr/>
          <p:nvPr/>
        </p:nvGrpSpPr>
        <p:grpSpPr>
          <a:xfrm>
            <a:off x="7902189" y="2366838"/>
            <a:ext cx="3576010" cy="1819601"/>
            <a:chOff x="4644120" y="2980463"/>
            <a:chExt cx="8017406" cy="2215175"/>
          </a:xfrm>
        </p:grpSpPr>
        <p:sp>
          <p:nvSpPr>
            <p:cNvPr id="17" name="מלבן: פינות מעוגלות 6">
              <a:extLst>
                <a:ext uri="{FF2B5EF4-FFF2-40B4-BE49-F238E27FC236}">
                  <a16:creationId xmlns:a16="http://schemas.microsoft.com/office/drawing/2014/main" id="{5C05A100-2E55-D994-CB6A-BA7200F1E89D}"/>
                </a:ext>
              </a:extLst>
            </p:cNvPr>
            <p:cNvSpPr/>
            <p:nvPr/>
          </p:nvSpPr>
          <p:spPr>
            <a:xfrm>
              <a:off x="4644120" y="2980463"/>
              <a:ext cx="8017406" cy="2215175"/>
            </a:xfrm>
            <a:prstGeom prst="roundRect">
              <a:avLst>
                <a:gd name="adj" fmla="val 50000"/>
              </a:avLst>
            </a:prstGeom>
            <a:noFill/>
            <a:ln w="12700">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LID4096"/>
            </a:p>
          </p:txBody>
        </p:sp>
        <p:sp>
          <p:nvSpPr>
            <p:cNvPr id="19" name="תיבת טקסט 7">
              <a:extLst>
                <a:ext uri="{FF2B5EF4-FFF2-40B4-BE49-F238E27FC236}">
                  <a16:creationId xmlns:a16="http://schemas.microsoft.com/office/drawing/2014/main" id="{6273A843-B59E-5978-F81D-6036FF995B2C}"/>
                </a:ext>
              </a:extLst>
            </p:cNvPr>
            <p:cNvSpPr txBox="1"/>
            <p:nvPr/>
          </p:nvSpPr>
          <p:spPr>
            <a:xfrm>
              <a:off x="4861668" y="3143760"/>
              <a:ext cx="5741155" cy="1835963"/>
            </a:xfrm>
            <a:prstGeom prst="rect">
              <a:avLst/>
            </a:prstGeom>
            <a:noFill/>
          </p:spPr>
          <p:txBody>
            <a:bodyPr wrap="square" rtlCol="0">
              <a:spAutoFit/>
            </a:bodyPr>
            <a:lstStyle/>
            <a:p>
              <a:r>
                <a:rPr lang="he-IL" sz="2000" b="1">
                  <a:latin typeface="Assistant" pitchFamily="2" charset="-79"/>
                  <a:cs typeface="Assistant" pitchFamily="2" charset="-79"/>
                </a:rPr>
                <a:t>משלחת א</a:t>
              </a:r>
            </a:p>
            <a:p>
              <a:r>
                <a:rPr lang="he-IL">
                  <a:latin typeface="Assistant" pitchFamily="2" charset="-79"/>
                  <a:cs typeface="Assistant" pitchFamily="2" charset="-79"/>
                </a:rPr>
                <a:t>כי בה כל 4 משתתפות או משתתפים כבר זכו במדליה (לעומת 8 במשלחת ב')</a:t>
              </a:r>
              <a:endParaRPr lang="LID4096">
                <a:latin typeface="Assistant" pitchFamily="2" charset="-79"/>
                <a:cs typeface="Assistant" pitchFamily="2" charset="-79"/>
              </a:endParaRPr>
            </a:p>
          </p:txBody>
        </p:sp>
      </p:grpSp>
      <p:sp>
        <p:nvSpPr>
          <p:cNvPr id="21" name="אליפסה 13">
            <a:extLst>
              <a:ext uri="{FF2B5EF4-FFF2-40B4-BE49-F238E27FC236}">
                <a16:creationId xmlns:a16="http://schemas.microsoft.com/office/drawing/2014/main" id="{D65B235E-E27C-B54B-58C8-F62AE100ACF3}"/>
              </a:ext>
            </a:extLst>
          </p:cNvPr>
          <p:cNvSpPr/>
          <p:nvPr/>
        </p:nvSpPr>
        <p:spPr>
          <a:xfrm>
            <a:off x="10754750" y="2613448"/>
            <a:ext cx="252766" cy="261512"/>
          </a:xfrm>
          <a:prstGeom prst="ellipse">
            <a:avLst/>
          </a:prstGeom>
          <a:noFill/>
          <a:ln>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LID4096"/>
          </a:p>
        </p:txBody>
      </p:sp>
      <p:grpSp>
        <p:nvGrpSpPr>
          <p:cNvPr id="23" name="קבוצה 8">
            <a:extLst>
              <a:ext uri="{FF2B5EF4-FFF2-40B4-BE49-F238E27FC236}">
                <a16:creationId xmlns:a16="http://schemas.microsoft.com/office/drawing/2014/main" id="{D9BCE552-26E0-F3EB-F473-AF6AB9FDCFEC}"/>
              </a:ext>
            </a:extLst>
          </p:cNvPr>
          <p:cNvGrpSpPr/>
          <p:nvPr/>
        </p:nvGrpSpPr>
        <p:grpSpPr>
          <a:xfrm>
            <a:off x="4035785" y="2366838"/>
            <a:ext cx="3529356" cy="1715516"/>
            <a:chOff x="5005379" y="3108471"/>
            <a:chExt cx="6755212" cy="641058"/>
          </a:xfrm>
        </p:grpSpPr>
        <p:sp>
          <p:nvSpPr>
            <p:cNvPr id="24" name="מלבן: פינות מעוגלות 6">
              <a:extLst>
                <a:ext uri="{FF2B5EF4-FFF2-40B4-BE49-F238E27FC236}">
                  <a16:creationId xmlns:a16="http://schemas.microsoft.com/office/drawing/2014/main" id="{EDAEFD52-7C12-1B68-6FB7-A13E42E9C2E8}"/>
                </a:ext>
              </a:extLst>
            </p:cNvPr>
            <p:cNvSpPr/>
            <p:nvPr/>
          </p:nvSpPr>
          <p:spPr>
            <a:xfrm>
              <a:off x="5247249" y="3108471"/>
              <a:ext cx="6513342" cy="641058"/>
            </a:xfrm>
            <a:prstGeom prst="roundRect">
              <a:avLst>
                <a:gd name="adj" fmla="val 50000"/>
              </a:avLst>
            </a:prstGeom>
            <a:noFill/>
            <a:ln w="12700">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LID4096"/>
            </a:p>
          </p:txBody>
        </p:sp>
        <p:sp>
          <p:nvSpPr>
            <p:cNvPr id="25" name="תיבת טקסט 7">
              <a:extLst>
                <a:ext uri="{FF2B5EF4-FFF2-40B4-BE49-F238E27FC236}">
                  <a16:creationId xmlns:a16="http://schemas.microsoft.com/office/drawing/2014/main" id="{FBF38FFD-E456-DD9E-7ABE-7BB6799AC90C}"/>
                </a:ext>
              </a:extLst>
            </p:cNvPr>
            <p:cNvSpPr txBox="1"/>
            <p:nvPr/>
          </p:nvSpPr>
          <p:spPr>
            <a:xfrm>
              <a:off x="5005379" y="3185222"/>
              <a:ext cx="5741156" cy="356533"/>
            </a:xfrm>
            <a:prstGeom prst="rect">
              <a:avLst/>
            </a:prstGeom>
            <a:noFill/>
          </p:spPr>
          <p:txBody>
            <a:bodyPr wrap="square" rtlCol="0">
              <a:spAutoFit/>
            </a:bodyPr>
            <a:lstStyle/>
            <a:p>
              <a:r>
                <a:rPr lang="he-IL" sz="2000" b="1">
                  <a:latin typeface="Assistant" pitchFamily="2" charset="-79"/>
                  <a:cs typeface="Assistant" pitchFamily="2" charset="-79"/>
                </a:rPr>
                <a:t>משלחת ב</a:t>
              </a:r>
            </a:p>
            <a:p>
              <a:r>
                <a:rPr lang="he-IL">
                  <a:latin typeface="Assistant" pitchFamily="2" charset="-79"/>
                  <a:cs typeface="Assistant" pitchFamily="2" charset="-79"/>
                </a:rPr>
                <a:t>כי על כל מדליה יש בה פי 2 יותר משתתפות ומשתתפים.</a:t>
              </a:r>
              <a:endParaRPr lang="LID4096">
                <a:latin typeface="Assistant" pitchFamily="2" charset="-79"/>
                <a:cs typeface="Assistant" pitchFamily="2" charset="-79"/>
              </a:endParaRPr>
            </a:p>
          </p:txBody>
        </p:sp>
      </p:grpSp>
      <p:sp>
        <p:nvSpPr>
          <p:cNvPr id="27" name="אליפסה 13">
            <a:extLst>
              <a:ext uri="{FF2B5EF4-FFF2-40B4-BE49-F238E27FC236}">
                <a16:creationId xmlns:a16="http://schemas.microsoft.com/office/drawing/2014/main" id="{EAE83614-C846-B4B7-56EB-08DB4740C1CF}"/>
              </a:ext>
            </a:extLst>
          </p:cNvPr>
          <p:cNvSpPr/>
          <p:nvPr/>
        </p:nvSpPr>
        <p:spPr>
          <a:xfrm>
            <a:off x="7028897" y="2636218"/>
            <a:ext cx="252766" cy="261512"/>
          </a:xfrm>
          <a:prstGeom prst="ellipse">
            <a:avLst/>
          </a:prstGeom>
          <a:noFill/>
          <a:ln>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LID4096"/>
          </a:p>
        </p:txBody>
      </p:sp>
    </p:spTree>
    <p:extLst>
      <p:ext uri="{BB962C8B-B14F-4D97-AF65-F5344CB8AC3E}">
        <p14:creationId xmlns:p14="http://schemas.microsoft.com/office/powerpoint/2010/main" val="81651591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A9421313-4035-5C63-530F-A5E4549521E2}"/>
              </a:ext>
            </a:extLst>
          </p:cNvPr>
          <p:cNvPicPr>
            <a:picLocks noChangeAspect="1"/>
          </p:cNvPicPr>
          <p:nvPr/>
        </p:nvPicPr>
        <p:blipFill>
          <a:blip r:embed="rId3" cstate="email">
            <a:extLst>
              <a:ext uri="{28A0092B-C50C-407E-A947-70E740481C1C}">
                <a14:useLocalDpi xmlns:a14="http://schemas.microsoft.com/office/drawing/2010/main"/>
              </a:ext>
            </a:extLst>
          </a:blip>
          <a:srcRect/>
          <a:stretch>
            <a:fillRect/>
          </a:stretch>
        </p:blipFill>
        <p:spPr>
          <a:xfrm>
            <a:off x="466934" y="2128102"/>
            <a:ext cx="2278553" cy="3951150"/>
          </a:xfrm>
          <a:prstGeom prst="rect">
            <a:avLst/>
          </a:prstGeom>
        </p:spPr>
      </p:pic>
      <p:sp>
        <p:nvSpPr>
          <p:cNvPr id="3" name="מציין מיקום תוכן 2">
            <a:extLst>
              <a:ext uri="{FF2B5EF4-FFF2-40B4-BE49-F238E27FC236}">
                <a16:creationId xmlns:a16="http://schemas.microsoft.com/office/drawing/2014/main" id="{CF273BAB-7040-8C43-81F5-9035D19C7A31}"/>
              </a:ext>
            </a:extLst>
          </p:cNvPr>
          <p:cNvSpPr>
            <a:spLocks noGrp="1"/>
          </p:cNvSpPr>
          <p:nvPr>
            <p:ph idx="1"/>
          </p:nvPr>
        </p:nvSpPr>
        <p:spPr>
          <a:xfrm>
            <a:off x="5035137" y="1018102"/>
            <a:ext cx="6792684" cy="4351338"/>
          </a:xfrm>
        </p:spPr>
        <p:txBody>
          <a:bodyPr>
            <a:normAutofit/>
          </a:bodyPr>
          <a:lstStyle/>
          <a:p>
            <a:pPr marL="0" indent="0">
              <a:lnSpc>
                <a:spcPct val="150000"/>
              </a:lnSpc>
              <a:buNone/>
            </a:pPr>
            <a:r>
              <a:rPr lang="he-IL" sz="2200">
                <a:latin typeface="Assistant" pitchFamily="2" charset="-79"/>
                <a:cs typeface="Assistant" pitchFamily="2" charset="-79"/>
              </a:rPr>
              <a:t>כדי לענות בקלות על שאלות מהסוג הזה, עלינו:</a:t>
            </a:r>
            <a:r>
              <a:rPr lang="en-US" sz="2200">
                <a:latin typeface="Assistant" pitchFamily="2" charset="-79"/>
                <a:cs typeface="Assistant" pitchFamily="2" charset="-79"/>
              </a:rPr>
              <a:t> </a:t>
            </a:r>
            <a:endParaRPr lang="he-IL" sz="2200">
              <a:latin typeface="Assistant" pitchFamily="2" charset="-79"/>
              <a:cs typeface="Assistant" pitchFamily="2" charset="-79"/>
            </a:endParaRPr>
          </a:p>
          <a:p>
            <a:pPr>
              <a:lnSpc>
                <a:spcPct val="150000"/>
              </a:lnSpc>
              <a:buFont typeface="Wingdings" panose="05000000000000000000" pitchFamily="2" charset="2"/>
              <a:buChar char="ü"/>
            </a:pPr>
            <a:r>
              <a:rPr lang="he-IL" sz="2200">
                <a:latin typeface="Assistant" pitchFamily="2" charset="-79"/>
                <a:cs typeface="Assistant" pitchFamily="2" charset="-79"/>
              </a:rPr>
              <a:t>להעמיק בדרכים </a:t>
            </a:r>
            <a:r>
              <a:rPr lang="he-IL" sz="2200" b="1">
                <a:latin typeface="Assistant" pitchFamily="2" charset="-79"/>
                <a:cs typeface="Assistant" pitchFamily="2" charset="-79"/>
              </a:rPr>
              <a:t>לחישוב כמויות מתוך יחס</a:t>
            </a:r>
            <a:r>
              <a:rPr lang="he-IL" sz="2200">
                <a:latin typeface="Assistant" pitchFamily="2" charset="-79"/>
                <a:cs typeface="Assistant" pitchFamily="2" charset="-79"/>
              </a:rPr>
              <a:t>.</a:t>
            </a:r>
          </a:p>
          <a:p>
            <a:pPr>
              <a:lnSpc>
                <a:spcPct val="150000"/>
              </a:lnSpc>
              <a:buFont typeface="Wingdings" panose="05000000000000000000" pitchFamily="2" charset="2"/>
              <a:buChar char="ü"/>
            </a:pPr>
            <a:r>
              <a:rPr lang="he-IL" sz="2200">
                <a:latin typeface="Assistant" pitchFamily="2" charset="-79"/>
                <a:cs typeface="Assistant" pitchFamily="2" charset="-79"/>
              </a:rPr>
              <a:t> </a:t>
            </a:r>
            <a:r>
              <a:rPr lang="he-IL" sz="2200" b="1">
                <a:latin typeface="Assistant" pitchFamily="2" charset="-79"/>
                <a:cs typeface="Assistant" pitchFamily="2" charset="-79"/>
              </a:rPr>
              <a:t>להעריך ולאמוד </a:t>
            </a:r>
            <a:r>
              <a:rPr lang="he-IL" sz="2200">
                <a:latin typeface="Assistant" pitchFamily="2" charset="-79"/>
                <a:cs typeface="Assistant" pitchFamily="2" charset="-79"/>
              </a:rPr>
              <a:t>תוצאות המתקבלות כתוצאה מחישוב כמויות באמצעות יחס נתון.</a:t>
            </a:r>
          </a:p>
          <a:p>
            <a:pPr>
              <a:lnSpc>
                <a:spcPct val="150000"/>
              </a:lnSpc>
              <a:buFont typeface="Wingdings" panose="05000000000000000000" pitchFamily="2" charset="2"/>
              <a:buChar char="ü"/>
            </a:pPr>
            <a:r>
              <a:rPr lang="he-IL" sz="2200">
                <a:latin typeface="Assistant" pitchFamily="2" charset="-79"/>
                <a:cs typeface="Assistant" pitchFamily="2" charset="-79"/>
              </a:rPr>
              <a:t>לבסס </a:t>
            </a:r>
            <a:r>
              <a:rPr lang="he-IL" sz="2200" b="1">
                <a:latin typeface="Assistant" pitchFamily="2" charset="-79"/>
                <a:cs typeface="Assistant" pitchFamily="2" charset="-79"/>
              </a:rPr>
              <a:t>הבנה של יחסים </a:t>
            </a:r>
            <a:r>
              <a:rPr lang="he-IL" sz="2200">
                <a:latin typeface="Assistant" pitchFamily="2" charset="-79"/>
                <a:cs typeface="Assistant" pitchFamily="2" charset="-79"/>
              </a:rPr>
              <a:t>בעזרת חישובים מתאימים ובעזרת אומדן</a:t>
            </a:r>
            <a:r>
              <a:rPr lang="he-IL"/>
              <a:t>.</a:t>
            </a:r>
          </a:p>
        </p:txBody>
      </p:sp>
      <p:pic>
        <p:nvPicPr>
          <p:cNvPr id="11" name="Picture 10">
            <a:extLst>
              <a:ext uri="{FF2B5EF4-FFF2-40B4-BE49-F238E27FC236}">
                <a16:creationId xmlns:a16="http://schemas.microsoft.com/office/drawing/2014/main" id="{C234BF69-FC2B-C982-9CED-93C649CEF33C}"/>
              </a:ext>
            </a:extLst>
          </p:cNvPr>
          <p:cNvPicPr>
            <a:picLocks noChangeAspect="1"/>
          </p:cNvPicPr>
          <p:nvPr/>
        </p:nvPicPr>
        <p:blipFill>
          <a:blip r:embed="rId4"/>
          <a:stretch>
            <a:fillRect/>
          </a:stretch>
        </p:blipFill>
        <p:spPr>
          <a:xfrm>
            <a:off x="10371417" y="6124170"/>
            <a:ext cx="1820583" cy="622831"/>
          </a:xfrm>
          <a:prstGeom prst="rect">
            <a:avLst/>
          </a:prstGeom>
        </p:spPr>
      </p:pic>
      <p:cxnSp>
        <p:nvCxnSpPr>
          <p:cNvPr id="12" name="מחבר ישר 6">
            <a:extLst>
              <a:ext uri="{FF2B5EF4-FFF2-40B4-BE49-F238E27FC236}">
                <a16:creationId xmlns:a16="http://schemas.microsoft.com/office/drawing/2014/main" id="{D7574B74-AF72-6CDD-CBEB-4F464087A8F6}"/>
              </a:ext>
            </a:extLst>
          </p:cNvPr>
          <p:cNvCxnSpPr>
            <a:cxnSpLocks/>
          </p:cNvCxnSpPr>
          <p:nvPr/>
        </p:nvCxnSpPr>
        <p:spPr>
          <a:xfrm>
            <a:off x="0" y="6079252"/>
            <a:ext cx="12192000" cy="0"/>
          </a:xfrm>
          <a:prstGeom prst="line">
            <a:avLst/>
          </a:prstGeom>
          <a:ln>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pic>
        <p:nvPicPr>
          <p:cNvPr id="14" name="תמונה 3">
            <a:extLst>
              <a:ext uri="{FF2B5EF4-FFF2-40B4-BE49-F238E27FC236}">
                <a16:creationId xmlns:a16="http://schemas.microsoft.com/office/drawing/2014/main" id="{3C3929D7-FBC8-A199-E1C8-469A48F4D2BF}"/>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92984" y="6236080"/>
            <a:ext cx="1777778" cy="495238"/>
          </a:xfrm>
          <a:prstGeom prst="rect">
            <a:avLst/>
          </a:prstGeom>
        </p:spPr>
      </p:pic>
      <p:pic>
        <p:nvPicPr>
          <p:cNvPr id="16" name="תמונה 1">
            <a:extLst>
              <a:ext uri="{FF2B5EF4-FFF2-40B4-BE49-F238E27FC236}">
                <a16:creationId xmlns:a16="http://schemas.microsoft.com/office/drawing/2014/main" id="{44BB63A6-AEDF-F9C9-3E82-4E3E701A27DF}"/>
              </a:ext>
            </a:extLst>
          </p:cNvPr>
          <p:cNvPicPr>
            <a:picLocks noChangeAspect="1"/>
          </p:cNvPicPr>
          <p:nvPr/>
        </p:nvPicPr>
        <p:blipFill>
          <a:blip r:embed="rId6">
            <a:extLst>
              <a:ext uri="{28A0092B-C50C-407E-A947-70E740481C1C}">
                <a14:useLocalDpi xmlns:a14="http://schemas.microsoft.com/office/drawing/2010/main"/>
              </a:ext>
            </a:extLst>
          </a:blip>
          <a:stretch>
            <a:fillRect/>
          </a:stretch>
        </p:blipFill>
        <p:spPr>
          <a:xfrm>
            <a:off x="0" y="57121"/>
            <a:ext cx="933869" cy="721626"/>
          </a:xfrm>
          <a:prstGeom prst="rect">
            <a:avLst/>
          </a:prstGeom>
        </p:spPr>
      </p:pic>
      <p:sp>
        <p:nvSpPr>
          <p:cNvPr id="18" name="בועת דיבור: מלבן 13">
            <a:extLst>
              <a:ext uri="{FF2B5EF4-FFF2-40B4-BE49-F238E27FC236}">
                <a16:creationId xmlns:a16="http://schemas.microsoft.com/office/drawing/2014/main" id="{44ECC792-3BE1-460C-F8E0-E9DC94118F26}"/>
              </a:ext>
            </a:extLst>
          </p:cNvPr>
          <p:cNvSpPr/>
          <p:nvPr/>
        </p:nvSpPr>
        <p:spPr>
          <a:xfrm>
            <a:off x="2422804" y="2128101"/>
            <a:ext cx="2361442" cy="1152210"/>
          </a:xfrm>
          <a:prstGeom prst="wedgeRectCallout">
            <a:avLst>
              <a:gd name="adj1" fmla="val -63900"/>
              <a:gd name="adj2" fmla="val 49413"/>
            </a:avLst>
          </a:prstGeom>
          <a:noFill/>
          <a:ln w="28575">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he-IL">
                <a:solidFill>
                  <a:schemeClr val="tx1"/>
                </a:solidFill>
                <a:latin typeface="Assistant" pitchFamily="2" charset="-79"/>
                <a:cs typeface="Assistant" pitchFamily="2" charset="-79"/>
              </a:rPr>
              <a:t>נשמע מאתגר ממש!</a:t>
            </a:r>
            <a:r>
              <a:rPr lang="en-US">
                <a:solidFill>
                  <a:schemeClr val="tx1"/>
                </a:solidFill>
                <a:latin typeface="Assistant" pitchFamily="2" charset="-79"/>
                <a:cs typeface="Assistant" pitchFamily="2" charset="-79"/>
              </a:rPr>
              <a:t> </a:t>
            </a:r>
            <a:endParaRPr lang="he-IL">
              <a:solidFill>
                <a:schemeClr val="tx1"/>
              </a:solidFill>
              <a:latin typeface="Assistant" pitchFamily="2" charset="-79"/>
              <a:cs typeface="Assistant" pitchFamily="2" charset="-79"/>
            </a:endParaRPr>
          </a:p>
          <a:p>
            <a:pPr algn="ctr"/>
            <a:r>
              <a:rPr lang="he-IL">
                <a:solidFill>
                  <a:schemeClr val="tx1"/>
                </a:solidFill>
                <a:latin typeface="Assistant" pitchFamily="2" charset="-79"/>
                <a:cs typeface="Assistant" pitchFamily="2" charset="-79"/>
              </a:rPr>
              <a:t>בא לי! </a:t>
            </a:r>
          </a:p>
        </p:txBody>
      </p:sp>
      <p:sp>
        <p:nvSpPr>
          <p:cNvPr id="20" name="מלבן 7">
            <a:extLst>
              <a:ext uri="{FF2B5EF4-FFF2-40B4-BE49-F238E27FC236}">
                <a16:creationId xmlns:a16="http://schemas.microsoft.com/office/drawing/2014/main" id="{481CDEE8-3974-B551-EB54-139AE54054EA}"/>
              </a:ext>
            </a:extLst>
          </p:cNvPr>
          <p:cNvSpPr/>
          <p:nvPr/>
        </p:nvSpPr>
        <p:spPr>
          <a:xfrm>
            <a:off x="11943941" y="446768"/>
            <a:ext cx="45719" cy="5474677"/>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LID4096"/>
          </a:p>
        </p:txBody>
      </p:sp>
      <p:sp>
        <p:nvSpPr>
          <p:cNvPr id="22" name="מלבן 8">
            <a:extLst>
              <a:ext uri="{FF2B5EF4-FFF2-40B4-BE49-F238E27FC236}">
                <a16:creationId xmlns:a16="http://schemas.microsoft.com/office/drawing/2014/main" id="{97A484E1-A062-2E7B-E8CA-5EBCF3CAEB11}"/>
              </a:ext>
            </a:extLst>
          </p:cNvPr>
          <p:cNvSpPr/>
          <p:nvPr/>
        </p:nvSpPr>
        <p:spPr>
          <a:xfrm>
            <a:off x="11938411" y="2395454"/>
            <a:ext cx="45719" cy="3526971"/>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LID4096"/>
          </a:p>
        </p:txBody>
      </p:sp>
    </p:spTree>
    <p:extLst>
      <p:ext uri="{BB962C8B-B14F-4D97-AF65-F5344CB8AC3E}">
        <p14:creationId xmlns:p14="http://schemas.microsoft.com/office/powerpoint/2010/main" val="86102989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28DBCC-01A7-8198-BC32-9FA1F0DCF561}"/>
            </a:ext>
          </a:extLst>
        </p:cNvPr>
        <p:cNvGrpSpPr/>
        <p:nvPr/>
      </p:nvGrpSpPr>
      <p:grpSpPr>
        <a:xfrm>
          <a:off x="0" y="0"/>
          <a:ext cx="0" cy="0"/>
          <a:chOff x="0" y="0"/>
          <a:chExt cx="0" cy="0"/>
        </a:xfrm>
      </p:grpSpPr>
      <p:sp>
        <p:nvSpPr>
          <p:cNvPr id="5" name="תיבת טקסט 4">
            <a:extLst>
              <a:ext uri="{FF2B5EF4-FFF2-40B4-BE49-F238E27FC236}">
                <a16:creationId xmlns:a16="http://schemas.microsoft.com/office/drawing/2014/main" id="{B83E8B14-45BC-037A-B335-60BF544CA35C}"/>
              </a:ext>
            </a:extLst>
          </p:cNvPr>
          <p:cNvSpPr txBox="1"/>
          <p:nvPr/>
        </p:nvSpPr>
        <p:spPr>
          <a:xfrm>
            <a:off x="1243584" y="1379169"/>
            <a:ext cx="10031231" cy="707886"/>
          </a:xfrm>
          <a:prstGeom prst="rect">
            <a:avLst/>
          </a:prstGeom>
          <a:noFill/>
        </p:spPr>
        <p:txBody>
          <a:bodyPr wrap="square" lIns="91440" tIns="45720" rIns="91440" bIns="45720" rtlCol="0" anchor="t">
            <a:spAutoFit/>
          </a:bodyPr>
          <a:lstStyle/>
          <a:p>
            <a:r>
              <a:rPr lang="he-IL" sz="2000">
                <a:latin typeface="Assistant"/>
                <a:cs typeface="Assistant"/>
              </a:rPr>
              <a:t>יהב ויעל שתלו בגינת הירק של סבתא 70 זרעים של צנוניות וחסה ביחס של 4 : 3.</a:t>
            </a:r>
            <a:endParaRPr lang="he-IL">
              <a:latin typeface="Assistant"/>
              <a:cs typeface="Assistant"/>
            </a:endParaRPr>
          </a:p>
          <a:p>
            <a:endParaRPr lang="he-IL" sz="2000" b="1">
              <a:latin typeface="Assistant" pitchFamily="2" charset="-79"/>
              <a:cs typeface="Assistant" pitchFamily="2" charset="-79"/>
            </a:endParaRPr>
          </a:p>
        </p:txBody>
      </p:sp>
      <p:cxnSp>
        <p:nvCxnSpPr>
          <p:cNvPr id="7" name="מחבר ישר 6">
            <a:extLst>
              <a:ext uri="{FF2B5EF4-FFF2-40B4-BE49-F238E27FC236}">
                <a16:creationId xmlns:a16="http://schemas.microsoft.com/office/drawing/2014/main" id="{7CA735B2-16C8-0437-93E2-618A338CF05F}"/>
              </a:ext>
            </a:extLst>
          </p:cNvPr>
          <p:cNvCxnSpPr>
            <a:cxnSpLocks/>
          </p:cNvCxnSpPr>
          <p:nvPr/>
        </p:nvCxnSpPr>
        <p:spPr>
          <a:xfrm>
            <a:off x="0" y="6079252"/>
            <a:ext cx="12192000" cy="0"/>
          </a:xfrm>
          <a:prstGeom prst="line">
            <a:avLst/>
          </a:prstGeom>
          <a:ln>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19" name="מלבן: פינות מעוגלות 18">
            <a:extLst>
              <a:ext uri="{FF2B5EF4-FFF2-40B4-BE49-F238E27FC236}">
                <a16:creationId xmlns:a16="http://schemas.microsoft.com/office/drawing/2014/main" id="{6332BFE3-F710-E2E0-3781-E227BDC9F7B4}"/>
              </a:ext>
            </a:extLst>
          </p:cNvPr>
          <p:cNvSpPr/>
          <p:nvPr/>
        </p:nvSpPr>
        <p:spPr>
          <a:xfrm>
            <a:off x="268356" y="6182143"/>
            <a:ext cx="1798983" cy="506891"/>
          </a:xfrm>
          <a:prstGeom prst="roundRect">
            <a:avLst>
              <a:gd name="adj" fmla="val 50000"/>
            </a:avLst>
          </a:prstGeom>
          <a:solidFill>
            <a:schemeClr val="bg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he-IL">
                <a:latin typeface="Assistant" pitchFamily="2" charset="-79"/>
                <a:cs typeface="Assistant" pitchFamily="2" charset="-79"/>
              </a:rPr>
              <a:t>המשך</a:t>
            </a:r>
            <a:endParaRPr lang="LID4096">
              <a:latin typeface="Assistant" pitchFamily="2" charset="-79"/>
              <a:cs typeface="Assistant" pitchFamily="2" charset="-79"/>
            </a:endParaRPr>
          </a:p>
        </p:txBody>
      </p:sp>
      <p:pic>
        <p:nvPicPr>
          <p:cNvPr id="13" name="Picture 12">
            <a:extLst>
              <a:ext uri="{FF2B5EF4-FFF2-40B4-BE49-F238E27FC236}">
                <a16:creationId xmlns:a16="http://schemas.microsoft.com/office/drawing/2014/main" id="{5EC14773-A116-B528-9DF3-1EDA5B20BE69}"/>
              </a:ext>
            </a:extLst>
          </p:cNvPr>
          <p:cNvPicPr>
            <a:picLocks noChangeAspect="1"/>
          </p:cNvPicPr>
          <p:nvPr/>
        </p:nvPicPr>
        <p:blipFill>
          <a:blip r:embed="rId5"/>
          <a:stretch>
            <a:fillRect/>
          </a:stretch>
        </p:blipFill>
        <p:spPr>
          <a:xfrm>
            <a:off x="10371417" y="6124170"/>
            <a:ext cx="1820583" cy="622831"/>
          </a:xfrm>
          <a:prstGeom prst="rect">
            <a:avLst/>
          </a:prstGeom>
        </p:spPr>
      </p:pic>
      <p:pic>
        <p:nvPicPr>
          <p:cNvPr id="18" name="תמונה 1">
            <a:extLst>
              <a:ext uri="{FF2B5EF4-FFF2-40B4-BE49-F238E27FC236}">
                <a16:creationId xmlns:a16="http://schemas.microsoft.com/office/drawing/2014/main" id="{D1103DCC-07CE-2CBB-FF51-034B3A4ABC7B}"/>
              </a:ext>
            </a:extLst>
          </p:cNvPr>
          <p:cNvPicPr>
            <a:picLocks noChangeAspect="1"/>
          </p:cNvPicPr>
          <p:nvPr/>
        </p:nvPicPr>
        <p:blipFill>
          <a:blip r:embed="rId6">
            <a:extLst>
              <a:ext uri="{28A0092B-C50C-407E-A947-70E740481C1C}">
                <a14:useLocalDpi xmlns:a14="http://schemas.microsoft.com/office/drawing/2010/main"/>
              </a:ext>
            </a:extLst>
          </a:blip>
          <a:stretch>
            <a:fillRect/>
          </a:stretch>
        </p:blipFill>
        <p:spPr>
          <a:xfrm>
            <a:off x="0" y="57121"/>
            <a:ext cx="933869" cy="721626"/>
          </a:xfrm>
          <a:prstGeom prst="rect">
            <a:avLst/>
          </a:prstGeom>
        </p:spPr>
      </p:pic>
      <p:sp>
        <p:nvSpPr>
          <p:cNvPr id="10" name="מלבן: פינות מעוגלות 6">
            <a:extLst>
              <a:ext uri="{FF2B5EF4-FFF2-40B4-BE49-F238E27FC236}">
                <a16:creationId xmlns:a16="http://schemas.microsoft.com/office/drawing/2014/main" id="{F7A76284-959D-5DAC-7491-4FEDEEECC7DF}"/>
              </a:ext>
            </a:extLst>
          </p:cNvPr>
          <p:cNvSpPr/>
          <p:nvPr/>
        </p:nvSpPr>
        <p:spPr>
          <a:xfrm>
            <a:off x="1024128" y="504427"/>
            <a:ext cx="10250687" cy="755834"/>
          </a:xfrm>
          <a:prstGeom prst="roundRect">
            <a:avLst>
              <a:gd name="adj" fmla="val 10908"/>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he-IL" sz="4000" b="1">
                <a:solidFill>
                  <a:schemeClr val="tx1"/>
                </a:solidFill>
                <a:latin typeface="Assistant" pitchFamily="2" charset="-79"/>
                <a:cs typeface="Assistant" pitchFamily="2" charset="-79"/>
              </a:rPr>
              <a:t>איך נשתמש ביחס לחישוב גודל החלקים בקבוצה?</a:t>
            </a:r>
          </a:p>
        </p:txBody>
      </p:sp>
      <p:pic>
        <p:nvPicPr>
          <p:cNvPr id="6" name="Picture 5">
            <a:extLst>
              <a:ext uri="{FF2B5EF4-FFF2-40B4-BE49-F238E27FC236}">
                <a16:creationId xmlns:a16="http://schemas.microsoft.com/office/drawing/2014/main" id="{9032E8A7-B579-F06E-2C9B-FAD84D538338}"/>
              </a:ext>
            </a:extLst>
          </p:cNvPr>
          <p:cNvPicPr>
            <a:picLocks noChangeAspect="1"/>
          </p:cNvPicPr>
          <p:nvPr/>
        </p:nvPicPr>
        <p:blipFill>
          <a:blip r:embed="rId7" cstate="email">
            <a:extLst>
              <a:ext uri="{28A0092B-C50C-407E-A947-70E740481C1C}">
                <a14:useLocalDpi xmlns:a14="http://schemas.microsoft.com/office/drawing/2010/main"/>
              </a:ext>
            </a:extLst>
          </a:blip>
          <a:stretch>
            <a:fillRect/>
          </a:stretch>
        </p:blipFill>
        <p:spPr>
          <a:xfrm>
            <a:off x="5148662" y="2420136"/>
            <a:ext cx="4985004" cy="3323336"/>
          </a:xfrm>
          <a:prstGeom prst="rect">
            <a:avLst/>
          </a:prstGeom>
        </p:spPr>
      </p:pic>
      <p:sp>
        <p:nvSpPr>
          <p:cNvPr id="3" name="בועת דיבור: מלבן 17">
            <a:extLst>
              <a:ext uri="{FF2B5EF4-FFF2-40B4-BE49-F238E27FC236}">
                <a16:creationId xmlns:a16="http://schemas.microsoft.com/office/drawing/2014/main" id="{875025F7-A815-9F75-874D-310D3FFDFCFC}"/>
              </a:ext>
            </a:extLst>
          </p:cNvPr>
          <p:cNvSpPr/>
          <p:nvPr/>
        </p:nvSpPr>
        <p:spPr>
          <a:xfrm>
            <a:off x="2448560" y="2210970"/>
            <a:ext cx="3269318" cy="1230020"/>
          </a:xfrm>
          <a:prstGeom prst="wedgeRectCallout">
            <a:avLst>
              <a:gd name="adj1" fmla="val 68395"/>
              <a:gd name="adj2" fmla="val 33630"/>
            </a:avLst>
          </a:prstGeom>
          <a:solidFill>
            <a:schemeClr val="accent4">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r>
              <a:rPr lang="he-IL" sz="2000" b="1">
                <a:solidFill>
                  <a:schemeClr val="tx1"/>
                </a:solidFill>
                <a:latin typeface="Assistant"/>
                <a:cs typeface="Assistant"/>
              </a:rPr>
              <a:t>יהב טען: </a:t>
            </a:r>
          </a:p>
          <a:p>
            <a:r>
              <a:rPr lang="he-IL" sz="2000">
                <a:solidFill>
                  <a:schemeClr val="tx1"/>
                </a:solidFill>
                <a:latin typeface="Assistant"/>
                <a:cs typeface="Assistant"/>
              </a:rPr>
              <a:t>יחס של 4 : 3 .  </a:t>
            </a:r>
          </a:p>
          <a:p>
            <a:r>
              <a:rPr lang="he-IL" sz="2000">
                <a:solidFill>
                  <a:schemeClr val="tx1"/>
                </a:solidFill>
                <a:latin typeface="Assistant"/>
                <a:cs typeface="Assistant"/>
              </a:rPr>
              <a:t>כלומר, על כל 3 צנוניות שישתלו בגינה, ישתלו 4 זרעי חסה.</a:t>
            </a:r>
            <a:endParaRPr lang="LID4096" sz="2000">
              <a:solidFill>
                <a:schemeClr val="tx1"/>
              </a:solidFill>
              <a:latin typeface="Assistant"/>
              <a:cs typeface="Assistant"/>
            </a:endParaRPr>
          </a:p>
        </p:txBody>
      </p:sp>
      <p:sp>
        <p:nvSpPr>
          <p:cNvPr id="4" name="מלבן 7">
            <a:extLst>
              <a:ext uri="{FF2B5EF4-FFF2-40B4-BE49-F238E27FC236}">
                <a16:creationId xmlns:a16="http://schemas.microsoft.com/office/drawing/2014/main" id="{AA270477-E344-8DB6-0164-7A4D826C14EE}"/>
              </a:ext>
            </a:extLst>
          </p:cNvPr>
          <p:cNvSpPr/>
          <p:nvPr/>
        </p:nvSpPr>
        <p:spPr>
          <a:xfrm>
            <a:off x="11896440" y="332438"/>
            <a:ext cx="45719" cy="5474677"/>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LID4096"/>
          </a:p>
        </p:txBody>
      </p:sp>
      <p:sp>
        <p:nvSpPr>
          <p:cNvPr id="9" name="מלבן 8">
            <a:extLst>
              <a:ext uri="{FF2B5EF4-FFF2-40B4-BE49-F238E27FC236}">
                <a16:creationId xmlns:a16="http://schemas.microsoft.com/office/drawing/2014/main" id="{F7AEC5BA-DA3F-D26C-7D9D-D9DFB3878AD2}"/>
              </a:ext>
            </a:extLst>
          </p:cNvPr>
          <p:cNvSpPr/>
          <p:nvPr/>
        </p:nvSpPr>
        <p:spPr>
          <a:xfrm>
            <a:off x="11910243" y="332438"/>
            <a:ext cx="45719" cy="3526971"/>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LID4096"/>
          </a:p>
        </p:txBody>
      </p:sp>
    </p:spTree>
    <p:custDataLst>
      <p:tags r:id="rId1"/>
    </p:custDataLst>
    <p:extLst>
      <p:ext uri="{BB962C8B-B14F-4D97-AF65-F5344CB8AC3E}">
        <p14:creationId xmlns:p14="http://schemas.microsoft.com/office/powerpoint/2010/main" val="1966151359"/>
      </p:ext>
    </p:extLst>
  </p:cSld>
  <p:clrMapOvr>
    <a:masterClrMapping/>
  </p:clrMapOvr>
  <p:extLst>
    <p:ext uri="{6950BFC3-D8DA-4A85-94F7-54DA5524770B}">
      <p188:commentRel xmlns:p188="http://schemas.microsoft.com/office/powerpoint/2018/8/main" r:id="rId4"/>
    </p:ext>
  </p:extLs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DDE349-8EA6-86A5-0A64-6E70E1EC3386}"/>
            </a:ext>
          </a:extLst>
        </p:cNvPr>
        <p:cNvGrpSpPr/>
        <p:nvPr/>
      </p:nvGrpSpPr>
      <p:grpSpPr>
        <a:xfrm>
          <a:off x="0" y="0"/>
          <a:ext cx="0" cy="0"/>
          <a:chOff x="0" y="0"/>
          <a:chExt cx="0" cy="0"/>
        </a:xfrm>
      </p:grpSpPr>
      <p:sp>
        <p:nvSpPr>
          <p:cNvPr id="5" name="תיבת טקסט 4">
            <a:extLst>
              <a:ext uri="{FF2B5EF4-FFF2-40B4-BE49-F238E27FC236}">
                <a16:creationId xmlns:a16="http://schemas.microsoft.com/office/drawing/2014/main" id="{0D6C6453-0E3F-94A6-072E-E9FE3B6475E7}"/>
              </a:ext>
            </a:extLst>
          </p:cNvPr>
          <p:cNvSpPr txBox="1"/>
          <p:nvPr/>
        </p:nvSpPr>
        <p:spPr>
          <a:xfrm>
            <a:off x="1250477" y="856372"/>
            <a:ext cx="10031231" cy="1938992"/>
          </a:xfrm>
          <a:prstGeom prst="rect">
            <a:avLst/>
          </a:prstGeom>
          <a:noFill/>
        </p:spPr>
        <p:txBody>
          <a:bodyPr wrap="square" rtlCol="0">
            <a:spAutoFit/>
          </a:bodyPr>
          <a:lstStyle/>
          <a:p>
            <a:r>
              <a:rPr lang="he-IL" sz="2000">
                <a:latin typeface="Assistant" pitchFamily="2" charset="-79"/>
                <a:cs typeface="Assistant" pitchFamily="2" charset="-79"/>
              </a:rPr>
              <a:t>כלומר, מתוך 7 ירקות משני הסוגים, נקבל:</a:t>
            </a:r>
          </a:p>
          <a:p>
            <a:endParaRPr lang="he-IL" sz="2000">
              <a:latin typeface="Assistant" pitchFamily="2" charset="-79"/>
              <a:cs typeface="Assistant" pitchFamily="2" charset="-79"/>
            </a:endParaRPr>
          </a:p>
          <a:p>
            <a:endParaRPr lang="he-IL" sz="2000">
              <a:latin typeface="Assistant" pitchFamily="2" charset="-79"/>
              <a:cs typeface="Assistant" pitchFamily="2" charset="-79"/>
            </a:endParaRPr>
          </a:p>
          <a:p>
            <a:endParaRPr lang="he-IL" sz="2000">
              <a:latin typeface="Assistant" pitchFamily="2" charset="-79"/>
              <a:cs typeface="Assistant" pitchFamily="2" charset="-79"/>
            </a:endParaRPr>
          </a:p>
          <a:p>
            <a:r>
              <a:rPr lang="en-US" sz="2000" b="1" err="1">
                <a:latin typeface="Assistant" pitchFamily="2" charset="-79"/>
                <a:cs typeface="Assistant" pitchFamily="2" charset="-79"/>
              </a:rPr>
              <a:t>השתמשו</a:t>
            </a:r>
            <a:r>
              <a:rPr lang="en-US" sz="2000" b="1">
                <a:latin typeface="Assistant" pitchFamily="2" charset="-79"/>
                <a:cs typeface="Assistant" pitchFamily="2" charset="-79"/>
              </a:rPr>
              <a:t> </a:t>
            </a:r>
            <a:r>
              <a:rPr lang="en-US" sz="2000" b="1" err="1">
                <a:latin typeface="Assistant" pitchFamily="2" charset="-79"/>
                <a:cs typeface="Assistant" pitchFamily="2" charset="-79"/>
              </a:rPr>
              <a:t>ביישומון</a:t>
            </a:r>
            <a:r>
              <a:rPr lang="he-IL" sz="2000" b="1">
                <a:latin typeface="Assistant" pitchFamily="2" charset="-79"/>
                <a:cs typeface="Assistant" pitchFamily="2" charset="-79"/>
              </a:rPr>
              <a:t>, </a:t>
            </a:r>
            <a:r>
              <a:rPr lang="en-US" sz="2000" b="1" err="1">
                <a:latin typeface="Assistant" pitchFamily="2" charset="-79"/>
                <a:cs typeface="Assistant" pitchFamily="2" charset="-79"/>
              </a:rPr>
              <a:t>הגדילו</a:t>
            </a:r>
            <a:r>
              <a:rPr lang="en-US" sz="2000" b="1">
                <a:latin typeface="Assistant" pitchFamily="2" charset="-79"/>
                <a:cs typeface="Assistant" pitchFamily="2" charset="-79"/>
              </a:rPr>
              <a:t> </a:t>
            </a:r>
            <a:r>
              <a:rPr lang="en-US" sz="2000" b="1" err="1">
                <a:latin typeface="Assistant" pitchFamily="2" charset="-79"/>
                <a:cs typeface="Assistant" pitchFamily="2" charset="-79"/>
              </a:rPr>
              <a:t>את</a:t>
            </a:r>
            <a:r>
              <a:rPr lang="en-US" sz="2000" b="1">
                <a:latin typeface="Assistant" pitchFamily="2" charset="-79"/>
                <a:cs typeface="Assistant" pitchFamily="2" charset="-79"/>
              </a:rPr>
              <a:t> </a:t>
            </a:r>
            <a:r>
              <a:rPr lang="en-US" sz="2000" b="1" err="1">
                <a:latin typeface="Assistant" pitchFamily="2" charset="-79"/>
                <a:cs typeface="Assistant" pitchFamily="2" charset="-79"/>
              </a:rPr>
              <a:t>מספר</a:t>
            </a:r>
            <a:r>
              <a:rPr lang="en-US" sz="2000" b="1">
                <a:latin typeface="Assistant" pitchFamily="2" charset="-79"/>
                <a:cs typeface="Assistant" pitchFamily="2" charset="-79"/>
              </a:rPr>
              <a:t> </a:t>
            </a:r>
            <a:r>
              <a:rPr lang="en-US" sz="2000" b="1" err="1">
                <a:latin typeface="Assistant" pitchFamily="2" charset="-79"/>
                <a:cs typeface="Assistant" pitchFamily="2" charset="-79"/>
              </a:rPr>
              <a:t>השורות</a:t>
            </a:r>
            <a:r>
              <a:rPr lang="en-US" sz="2000" b="1">
                <a:latin typeface="Assistant" pitchFamily="2" charset="-79"/>
                <a:cs typeface="Assistant" pitchFamily="2" charset="-79"/>
              </a:rPr>
              <a:t> </a:t>
            </a:r>
            <a:r>
              <a:rPr lang="en-US" sz="2000" b="1" err="1">
                <a:latin typeface="Assistant" pitchFamily="2" charset="-79"/>
                <a:cs typeface="Assistant" pitchFamily="2" charset="-79"/>
              </a:rPr>
              <a:t>בעזרת</a:t>
            </a:r>
            <a:r>
              <a:rPr lang="en-US" sz="2000" b="1">
                <a:latin typeface="Assistant" pitchFamily="2" charset="-79"/>
                <a:cs typeface="Assistant" pitchFamily="2" charset="-79"/>
              </a:rPr>
              <a:t> </a:t>
            </a:r>
            <a:r>
              <a:rPr lang="en-US" sz="2000" b="1" err="1">
                <a:latin typeface="Assistant" pitchFamily="2" charset="-79"/>
                <a:cs typeface="Assistant" pitchFamily="2" charset="-79"/>
              </a:rPr>
              <a:t>הסליידר</a:t>
            </a:r>
            <a:r>
              <a:rPr lang="en-US" sz="2000" b="1">
                <a:latin typeface="Assistant" pitchFamily="2" charset="-79"/>
                <a:cs typeface="Assistant" pitchFamily="2" charset="-79"/>
              </a:rPr>
              <a:t> </a:t>
            </a:r>
            <a:r>
              <a:rPr lang="en-US" sz="2000" b="1" err="1">
                <a:latin typeface="Assistant" pitchFamily="2" charset="-79"/>
                <a:cs typeface="Assistant" pitchFamily="2" charset="-79"/>
              </a:rPr>
              <a:t>עד</a:t>
            </a:r>
            <a:r>
              <a:rPr lang="en-US" sz="2000" b="1">
                <a:latin typeface="Assistant" pitchFamily="2" charset="-79"/>
                <a:cs typeface="Assistant" pitchFamily="2" charset="-79"/>
              </a:rPr>
              <a:t> </a:t>
            </a:r>
            <a:r>
              <a:rPr lang="en-US" sz="2000" b="1" err="1">
                <a:latin typeface="Assistant" pitchFamily="2" charset="-79"/>
                <a:cs typeface="Assistant" pitchFamily="2" charset="-79"/>
              </a:rPr>
              <a:t>למספר</a:t>
            </a:r>
            <a:r>
              <a:rPr lang="en-US" sz="2000" b="1">
                <a:latin typeface="Assistant" pitchFamily="2" charset="-79"/>
                <a:cs typeface="Assistant" pitchFamily="2" charset="-79"/>
              </a:rPr>
              <a:t> </a:t>
            </a:r>
            <a:r>
              <a:rPr lang="en-US" sz="2000" b="1" err="1">
                <a:latin typeface="Assistant" pitchFamily="2" charset="-79"/>
                <a:cs typeface="Assistant" pitchFamily="2" charset="-79"/>
              </a:rPr>
              <a:t>שורות</a:t>
            </a:r>
            <a:r>
              <a:rPr lang="en-US" sz="2000" b="1">
                <a:latin typeface="Assistant" pitchFamily="2" charset="-79"/>
                <a:cs typeface="Assistant" pitchFamily="2" charset="-79"/>
              </a:rPr>
              <a:t> </a:t>
            </a:r>
            <a:r>
              <a:rPr lang="en-US" sz="2000" b="1" err="1">
                <a:latin typeface="Assistant" pitchFamily="2" charset="-79"/>
                <a:cs typeface="Assistant" pitchFamily="2" charset="-79"/>
              </a:rPr>
              <a:t>המתאים</a:t>
            </a:r>
            <a:r>
              <a:rPr lang="en-US" sz="2000" b="1">
                <a:latin typeface="Assistant" pitchFamily="2" charset="-79"/>
                <a:cs typeface="Assistant" pitchFamily="2" charset="-79"/>
              </a:rPr>
              <a:t> ל</a:t>
            </a:r>
            <a:r>
              <a:rPr lang="he-IL" sz="2000" b="1">
                <a:latin typeface="Assistant" pitchFamily="2" charset="-79"/>
                <a:cs typeface="Assistant" pitchFamily="2" charset="-79"/>
              </a:rPr>
              <a:t>-70 חסות וצנוניות יחד. </a:t>
            </a:r>
          </a:p>
        </p:txBody>
      </p:sp>
      <p:cxnSp>
        <p:nvCxnSpPr>
          <p:cNvPr id="7" name="מחבר ישר 6">
            <a:extLst>
              <a:ext uri="{FF2B5EF4-FFF2-40B4-BE49-F238E27FC236}">
                <a16:creationId xmlns:a16="http://schemas.microsoft.com/office/drawing/2014/main" id="{17351798-9168-3ABA-4F63-22CEB1156731}"/>
              </a:ext>
            </a:extLst>
          </p:cNvPr>
          <p:cNvCxnSpPr>
            <a:cxnSpLocks/>
          </p:cNvCxnSpPr>
          <p:nvPr/>
        </p:nvCxnSpPr>
        <p:spPr>
          <a:xfrm>
            <a:off x="0" y="6079252"/>
            <a:ext cx="12192000" cy="0"/>
          </a:xfrm>
          <a:prstGeom prst="line">
            <a:avLst/>
          </a:prstGeom>
          <a:ln>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19" name="מלבן: פינות מעוגלות 18">
            <a:extLst>
              <a:ext uri="{FF2B5EF4-FFF2-40B4-BE49-F238E27FC236}">
                <a16:creationId xmlns:a16="http://schemas.microsoft.com/office/drawing/2014/main" id="{B8E181FD-1472-181B-1EC1-1E017B58BAD8}"/>
              </a:ext>
            </a:extLst>
          </p:cNvPr>
          <p:cNvSpPr/>
          <p:nvPr/>
        </p:nvSpPr>
        <p:spPr>
          <a:xfrm>
            <a:off x="268356" y="6182143"/>
            <a:ext cx="1798983" cy="506891"/>
          </a:xfrm>
          <a:prstGeom prst="roundRect">
            <a:avLst>
              <a:gd name="adj" fmla="val 50000"/>
            </a:avLst>
          </a:prstGeom>
          <a:solidFill>
            <a:schemeClr val="bg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he-IL">
                <a:latin typeface="Assistant" pitchFamily="2" charset="-79"/>
                <a:cs typeface="Assistant" pitchFamily="2" charset="-79"/>
              </a:rPr>
              <a:t>המשך</a:t>
            </a:r>
            <a:endParaRPr lang="LID4096">
              <a:latin typeface="Assistant" pitchFamily="2" charset="-79"/>
              <a:cs typeface="Assistant" pitchFamily="2" charset="-79"/>
            </a:endParaRPr>
          </a:p>
        </p:txBody>
      </p:sp>
      <p:pic>
        <p:nvPicPr>
          <p:cNvPr id="13" name="Picture 12">
            <a:extLst>
              <a:ext uri="{FF2B5EF4-FFF2-40B4-BE49-F238E27FC236}">
                <a16:creationId xmlns:a16="http://schemas.microsoft.com/office/drawing/2014/main" id="{50B5F8C4-B943-D7C3-38B4-29FEAEBEA630}"/>
              </a:ext>
            </a:extLst>
          </p:cNvPr>
          <p:cNvPicPr>
            <a:picLocks noChangeAspect="1"/>
          </p:cNvPicPr>
          <p:nvPr/>
        </p:nvPicPr>
        <p:blipFill>
          <a:blip r:embed="rId5"/>
          <a:stretch>
            <a:fillRect/>
          </a:stretch>
        </p:blipFill>
        <p:spPr>
          <a:xfrm>
            <a:off x="10371417" y="6124170"/>
            <a:ext cx="1820583" cy="622831"/>
          </a:xfrm>
          <a:prstGeom prst="rect">
            <a:avLst/>
          </a:prstGeom>
        </p:spPr>
      </p:pic>
      <p:pic>
        <p:nvPicPr>
          <p:cNvPr id="18" name="תמונה 1">
            <a:extLst>
              <a:ext uri="{FF2B5EF4-FFF2-40B4-BE49-F238E27FC236}">
                <a16:creationId xmlns:a16="http://schemas.microsoft.com/office/drawing/2014/main" id="{4C8C4321-CA34-4626-B312-E7F07132C51F}"/>
              </a:ext>
            </a:extLst>
          </p:cNvPr>
          <p:cNvPicPr>
            <a:picLocks noChangeAspect="1"/>
          </p:cNvPicPr>
          <p:nvPr/>
        </p:nvPicPr>
        <p:blipFill>
          <a:blip r:embed="rId6">
            <a:extLst>
              <a:ext uri="{28A0092B-C50C-407E-A947-70E740481C1C}">
                <a14:useLocalDpi xmlns:a14="http://schemas.microsoft.com/office/drawing/2010/main"/>
              </a:ext>
            </a:extLst>
          </a:blip>
          <a:stretch>
            <a:fillRect/>
          </a:stretch>
        </p:blipFill>
        <p:spPr>
          <a:xfrm>
            <a:off x="0" y="57121"/>
            <a:ext cx="933869" cy="721626"/>
          </a:xfrm>
          <a:prstGeom prst="rect">
            <a:avLst/>
          </a:prstGeom>
        </p:spPr>
      </p:pic>
      <p:pic>
        <p:nvPicPr>
          <p:cNvPr id="4" name="Picture 3">
            <a:extLst>
              <a:ext uri="{FF2B5EF4-FFF2-40B4-BE49-F238E27FC236}">
                <a16:creationId xmlns:a16="http://schemas.microsoft.com/office/drawing/2014/main" id="{88FFD7A3-FEB0-4EB9-D385-1BAFFD35236D}"/>
              </a:ext>
            </a:extLst>
          </p:cNvPr>
          <p:cNvPicPr>
            <a:picLocks noChangeAspect="1"/>
          </p:cNvPicPr>
          <p:nvPr/>
        </p:nvPicPr>
        <p:blipFill>
          <a:blip r:embed="rId7" cstate="email">
            <a:extLst>
              <a:ext uri="{28A0092B-C50C-407E-A947-70E740481C1C}">
                <a14:useLocalDpi xmlns:a14="http://schemas.microsoft.com/office/drawing/2010/main"/>
              </a:ext>
            </a:extLst>
          </a:blip>
          <a:srcRect l="37738"/>
          <a:stretch>
            <a:fillRect/>
          </a:stretch>
        </p:blipFill>
        <p:spPr>
          <a:xfrm>
            <a:off x="4346367" y="551401"/>
            <a:ext cx="2854195" cy="1017689"/>
          </a:xfrm>
          <a:prstGeom prst="rect">
            <a:avLst/>
          </a:prstGeom>
        </p:spPr>
      </p:pic>
      <p:pic>
        <p:nvPicPr>
          <p:cNvPr id="12" name="Picture 11">
            <a:extLst>
              <a:ext uri="{FF2B5EF4-FFF2-40B4-BE49-F238E27FC236}">
                <a16:creationId xmlns:a16="http://schemas.microsoft.com/office/drawing/2014/main" id="{1E8F9415-7F56-966D-0687-C56D1E179245}"/>
              </a:ext>
            </a:extLst>
          </p:cNvPr>
          <p:cNvPicPr>
            <a:picLocks noChangeAspect="1"/>
          </p:cNvPicPr>
          <p:nvPr/>
        </p:nvPicPr>
        <p:blipFill>
          <a:blip r:embed="rId8" cstate="email">
            <a:extLst>
              <a:ext uri="{28A0092B-C50C-407E-A947-70E740481C1C}">
                <a14:useLocalDpi xmlns:a14="http://schemas.microsoft.com/office/drawing/2010/main"/>
              </a:ext>
            </a:extLst>
          </a:blip>
          <a:srcRect l="28767" r="2934"/>
          <a:stretch>
            <a:fillRect/>
          </a:stretch>
        </p:blipFill>
        <p:spPr>
          <a:xfrm>
            <a:off x="2677708" y="3181470"/>
            <a:ext cx="7448818" cy="1966152"/>
          </a:xfrm>
          <a:prstGeom prst="rect">
            <a:avLst/>
          </a:prstGeom>
        </p:spPr>
      </p:pic>
      <p:pic>
        <p:nvPicPr>
          <p:cNvPr id="3" name="Picture 2">
            <a:extLst>
              <a:ext uri="{FF2B5EF4-FFF2-40B4-BE49-F238E27FC236}">
                <a16:creationId xmlns:a16="http://schemas.microsoft.com/office/drawing/2014/main" id="{750ABCBB-4001-FA13-529D-1168F5B5A496}"/>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3322573" y="298039"/>
            <a:ext cx="1023092" cy="1779896"/>
          </a:xfrm>
          <a:prstGeom prst="rect">
            <a:avLst/>
          </a:prstGeom>
        </p:spPr>
      </p:pic>
      <p:pic>
        <p:nvPicPr>
          <p:cNvPr id="8" name="Picture 7">
            <a:extLst>
              <a:ext uri="{FF2B5EF4-FFF2-40B4-BE49-F238E27FC236}">
                <a16:creationId xmlns:a16="http://schemas.microsoft.com/office/drawing/2014/main" id="{53221C18-8635-11E0-02CE-674F05FAA8C3}"/>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2380124" y="275788"/>
            <a:ext cx="1023092" cy="1779896"/>
          </a:xfrm>
          <a:prstGeom prst="rect">
            <a:avLst/>
          </a:prstGeom>
        </p:spPr>
      </p:pic>
      <p:pic>
        <p:nvPicPr>
          <p:cNvPr id="10" name="Picture 9">
            <a:extLst>
              <a:ext uri="{FF2B5EF4-FFF2-40B4-BE49-F238E27FC236}">
                <a16:creationId xmlns:a16="http://schemas.microsoft.com/office/drawing/2014/main" id="{071E26A5-A299-2E88-0EFF-32FC978651E4}"/>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1437675" y="275788"/>
            <a:ext cx="1023092" cy="1779896"/>
          </a:xfrm>
          <a:prstGeom prst="rect">
            <a:avLst/>
          </a:prstGeom>
        </p:spPr>
      </p:pic>
      <p:sp>
        <p:nvSpPr>
          <p:cNvPr id="14" name="מלבן 7">
            <a:extLst>
              <a:ext uri="{FF2B5EF4-FFF2-40B4-BE49-F238E27FC236}">
                <a16:creationId xmlns:a16="http://schemas.microsoft.com/office/drawing/2014/main" id="{E9BBA9E8-CECF-30FA-1303-FACF620C141D}"/>
              </a:ext>
            </a:extLst>
          </p:cNvPr>
          <p:cNvSpPr/>
          <p:nvPr/>
        </p:nvSpPr>
        <p:spPr>
          <a:xfrm>
            <a:off x="11896440" y="332438"/>
            <a:ext cx="45719" cy="5474677"/>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LID4096"/>
          </a:p>
        </p:txBody>
      </p:sp>
      <p:sp>
        <p:nvSpPr>
          <p:cNvPr id="20" name="מלבן 8">
            <a:extLst>
              <a:ext uri="{FF2B5EF4-FFF2-40B4-BE49-F238E27FC236}">
                <a16:creationId xmlns:a16="http://schemas.microsoft.com/office/drawing/2014/main" id="{639C7847-CB87-23B7-BCCF-A879D922F087}"/>
              </a:ext>
            </a:extLst>
          </p:cNvPr>
          <p:cNvSpPr/>
          <p:nvPr/>
        </p:nvSpPr>
        <p:spPr>
          <a:xfrm>
            <a:off x="11910243" y="332438"/>
            <a:ext cx="45719" cy="3526971"/>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LID4096"/>
          </a:p>
        </p:txBody>
      </p:sp>
      <p:sp>
        <p:nvSpPr>
          <p:cNvPr id="21" name="Rectangle 20">
            <a:extLst>
              <a:ext uri="{FF2B5EF4-FFF2-40B4-BE49-F238E27FC236}">
                <a16:creationId xmlns:a16="http://schemas.microsoft.com/office/drawing/2014/main" id="{00D63EB4-2EC6-E025-2C1C-BF7D198F77BF}"/>
              </a:ext>
            </a:extLst>
          </p:cNvPr>
          <p:cNvSpPr/>
          <p:nvPr/>
        </p:nvSpPr>
        <p:spPr>
          <a:xfrm>
            <a:off x="4769298" y="3238903"/>
            <a:ext cx="4744994" cy="976182"/>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he-IL">
                <a:latin typeface="Assistant" pitchFamily="2" charset="-79"/>
                <a:cs typeface="Assistant" pitchFamily="2" charset="-79"/>
              </a:rPr>
              <a:t>אחרי תכנות היישומון, לשים פה תמונה מתאימה </a:t>
            </a:r>
            <a:endParaRPr lang="en-US">
              <a:latin typeface="Assistant" pitchFamily="2" charset="-79"/>
              <a:cs typeface="Assistant" pitchFamily="2" charset="-79"/>
            </a:endParaRPr>
          </a:p>
        </p:txBody>
      </p:sp>
    </p:spTree>
    <p:custDataLst>
      <p:tags r:id="rId1"/>
    </p:custDataLst>
    <p:extLst>
      <p:ext uri="{BB962C8B-B14F-4D97-AF65-F5344CB8AC3E}">
        <p14:creationId xmlns:p14="http://schemas.microsoft.com/office/powerpoint/2010/main" val="1499036214"/>
      </p:ext>
    </p:extLst>
  </p:cSld>
  <p:clrMapOvr>
    <a:masterClrMapping/>
  </p:clrMapOvr>
  <p:extLst>
    <p:ext uri="{6950BFC3-D8DA-4A85-94F7-54DA5524770B}">
      <p188:commentRel xmlns:p188="http://schemas.microsoft.com/office/powerpoint/2018/8/main" r:id="rId4"/>
    </p:ext>
  </p:extLst>
</p:sld>
</file>

<file path=ppt/slides/slide1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25019CC-7124-C3A2-76C7-B4DFE500B771}"/>
              </a:ext>
            </a:extLst>
          </p:cNvPr>
          <p:cNvSpPr/>
          <p:nvPr/>
        </p:nvSpPr>
        <p:spPr>
          <a:xfrm>
            <a:off x="7933038" y="321276"/>
            <a:ext cx="3966519" cy="70433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he-IL"/>
              <a:t>דגשים לבניית היישומון – מסך לא להפקה</a:t>
            </a:r>
            <a:endParaRPr lang="en-US"/>
          </a:p>
        </p:txBody>
      </p:sp>
      <p:sp>
        <p:nvSpPr>
          <p:cNvPr id="4" name="TextBox 3">
            <a:extLst>
              <a:ext uri="{FF2B5EF4-FFF2-40B4-BE49-F238E27FC236}">
                <a16:creationId xmlns:a16="http://schemas.microsoft.com/office/drawing/2014/main" id="{04FA2860-73B8-09DC-1791-0ECC6C620927}"/>
              </a:ext>
            </a:extLst>
          </p:cNvPr>
          <p:cNvSpPr txBox="1"/>
          <p:nvPr/>
        </p:nvSpPr>
        <p:spPr>
          <a:xfrm>
            <a:off x="7627205" y="1159020"/>
            <a:ext cx="3966520" cy="3747308"/>
          </a:xfrm>
          <a:prstGeom prst="rect">
            <a:avLst/>
          </a:prstGeom>
          <a:noFill/>
        </p:spPr>
        <p:txBody>
          <a:bodyPr wrap="square">
            <a:spAutoFit/>
          </a:bodyPr>
          <a:lstStyle/>
          <a:p>
            <a:pPr marR="0" lvl="0" algn="r" defTabSz="914400" rtl="1" eaLnBrk="1" fontAlgn="auto" latinLnBrk="0" hangingPunct="1">
              <a:lnSpc>
                <a:spcPct val="150000"/>
              </a:lnSpc>
              <a:spcBef>
                <a:spcPts val="0"/>
              </a:spcBef>
              <a:spcAft>
                <a:spcPts val="0"/>
              </a:spcAft>
              <a:buClrTx/>
              <a:buSzTx/>
              <a:tabLst/>
              <a:defRPr/>
            </a:pPr>
            <a:r>
              <a:rPr lang="he-IL" sz="1600" dirty="0" err="1">
                <a:solidFill>
                  <a:schemeClr val="tx1"/>
                </a:solidFill>
                <a:latin typeface="Assistant" pitchFamily="2" charset="-79"/>
                <a:cs typeface="Assistant" pitchFamily="2" charset="-79"/>
              </a:rPr>
              <a:t>רפרנס</a:t>
            </a:r>
            <a:r>
              <a:rPr lang="he-IL" sz="1600" dirty="0">
                <a:solidFill>
                  <a:schemeClr val="tx1"/>
                </a:solidFill>
                <a:latin typeface="Assistant" pitchFamily="2" charset="-79"/>
                <a:cs typeface="Assistant" pitchFamily="2" charset="-79"/>
              </a:rPr>
              <a:t> יישומון - </a:t>
            </a:r>
            <a:r>
              <a:rPr lang="en-US" sz="1600" dirty="0">
                <a:solidFill>
                  <a:schemeClr val="tx1"/>
                </a:solidFill>
                <a:latin typeface="Assistant" pitchFamily="2" charset="-79"/>
                <a:cs typeface="Assistant" pitchFamily="2" charset="-79"/>
              </a:rPr>
              <a:t>https://www.geogebra.org/m/qfERAR5w</a:t>
            </a:r>
            <a:r>
              <a:rPr lang="he-IL" sz="1600" dirty="0">
                <a:solidFill>
                  <a:schemeClr val="tx1"/>
                </a:solidFill>
                <a:latin typeface="Assistant" pitchFamily="2" charset="-79"/>
                <a:cs typeface="Assistant" pitchFamily="2" charset="-79"/>
              </a:rPr>
              <a:t> </a:t>
            </a:r>
            <a:endParaRPr lang="he-IL" sz="1600" dirty="0">
              <a:latin typeface="Assistant" pitchFamily="2" charset="-79"/>
              <a:cs typeface="Assistant" pitchFamily="2" charset="-79"/>
            </a:endParaRPr>
          </a:p>
          <a:p>
            <a:pPr marR="0" lvl="0" algn="r" defTabSz="914400" rtl="1" eaLnBrk="1" fontAlgn="auto" latinLnBrk="0" hangingPunct="1">
              <a:lnSpc>
                <a:spcPct val="150000"/>
              </a:lnSpc>
              <a:spcBef>
                <a:spcPts val="0"/>
              </a:spcBef>
              <a:spcAft>
                <a:spcPts val="0"/>
              </a:spcAft>
              <a:buClrTx/>
              <a:buSzTx/>
              <a:tabLst/>
              <a:defRPr/>
            </a:pPr>
            <a:r>
              <a:rPr lang="he-IL" sz="1600" dirty="0">
                <a:solidFill>
                  <a:schemeClr val="tx1"/>
                </a:solidFill>
                <a:latin typeface="Assistant" pitchFamily="2" charset="-79"/>
                <a:cs typeface="Assistant" pitchFamily="2" charset="-79"/>
              </a:rPr>
              <a:t>לבנות מחדש ולהחליף את העיגולים והריבועים בצנוניות וחסות.</a:t>
            </a:r>
          </a:p>
          <a:p>
            <a:pPr marR="0" lvl="0" algn="r" defTabSz="914400" rtl="1" eaLnBrk="1" fontAlgn="auto" latinLnBrk="0" hangingPunct="1">
              <a:lnSpc>
                <a:spcPct val="150000"/>
              </a:lnSpc>
              <a:spcBef>
                <a:spcPts val="0"/>
              </a:spcBef>
              <a:spcAft>
                <a:spcPts val="0"/>
              </a:spcAft>
              <a:buClrTx/>
              <a:buSzTx/>
              <a:tabLst/>
              <a:defRPr/>
            </a:pPr>
            <a:r>
              <a:rPr lang="he-IL" sz="1600" dirty="0">
                <a:solidFill>
                  <a:schemeClr val="tx1"/>
                </a:solidFill>
                <a:latin typeface="Assistant" pitchFamily="2" charset="-79"/>
                <a:cs typeface="Assistant" pitchFamily="2" charset="-79"/>
              </a:rPr>
              <a:t>הלומדים מזינים את היחס הרצוי ומוסיפים שורות עד שמגיעים ל-70 צנוניות וחסות. צריכים להבין לכמה שורות הגיעו. </a:t>
            </a:r>
          </a:p>
          <a:p>
            <a:pPr marR="0" lvl="0" algn="r" defTabSz="914400" rtl="1" eaLnBrk="1" fontAlgn="auto" latinLnBrk="0" hangingPunct="1">
              <a:lnSpc>
                <a:spcPct val="150000"/>
              </a:lnSpc>
              <a:spcBef>
                <a:spcPts val="0"/>
              </a:spcBef>
              <a:spcAft>
                <a:spcPts val="0"/>
              </a:spcAft>
              <a:buClrTx/>
              <a:buSzTx/>
              <a:tabLst/>
              <a:defRPr/>
            </a:pPr>
            <a:endParaRPr lang="he-IL" sz="1600" dirty="0">
              <a:latin typeface="Assistant" pitchFamily="2" charset="-79"/>
              <a:cs typeface="Assistant" pitchFamily="2" charset="-79"/>
            </a:endParaRPr>
          </a:p>
          <a:p>
            <a:pPr marR="0" lvl="0" algn="r" defTabSz="914400" rtl="1" eaLnBrk="1" fontAlgn="auto" latinLnBrk="0" hangingPunct="1">
              <a:lnSpc>
                <a:spcPct val="150000"/>
              </a:lnSpc>
              <a:spcBef>
                <a:spcPts val="0"/>
              </a:spcBef>
              <a:spcAft>
                <a:spcPts val="0"/>
              </a:spcAft>
              <a:buClrTx/>
              <a:buSzTx/>
              <a:tabLst/>
              <a:defRPr/>
            </a:pPr>
            <a:r>
              <a:rPr lang="he-IL" sz="1600" dirty="0">
                <a:solidFill>
                  <a:schemeClr val="tx1"/>
                </a:solidFill>
                <a:latin typeface="Assistant" pitchFamily="2" charset="-79"/>
                <a:cs typeface="Assistant" pitchFamily="2" charset="-79"/>
              </a:rPr>
              <a:t>לבנות רק את החלק המודגש באדום. כל השאר לא רלוונטי. </a:t>
            </a:r>
            <a:endParaRPr lang="en-IL" sz="1600" dirty="0">
              <a:solidFill>
                <a:schemeClr val="tx1"/>
              </a:solidFill>
              <a:latin typeface="Assistant" pitchFamily="2" charset="-79"/>
              <a:cs typeface="Assistant" pitchFamily="2" charset="-79"/>
            </a:endParaRPr>
          </a:p>
        </p:txBody>
      </p:sp>
      <p:pic>
        <p:nvPicPr>
          <p:cNvPr id="6" name="Picture 5">
            <a:extLst>
              <a:ext uri="{FF2B5EF4-FFF2-40B4-BE49-F238E27FC236}">
                <a16:creationId xmlns:a16="http://schemas.microsoft.com/office/drawing/2014/main" id="{324B9C7B-74A7-7CF6-80BE-E83B13C64FB1}"/>
              </a:ext>
            </a:extLst>
          </p:cNvPr>
          <p:cNvPicPr>
            <a:picLocks noChangeAspect="1"/>
          </p:cNvPicPr>
          <p:nvPr/>
        </p:nvPicPr>
        <p:blipFill>
          <a:blip r:embed="rId2"/>
          <a:stretch>
            <a:fillRect/>
          </a:stretch>
        </p:blipFill>
        <p:spPr>
          <a:xfrm>
            <a:off x="598275" y="2424054"/>
            <a:ext cx="7270160" cy="4192336"/>
          </a:xfrm>
          <a:prstGeom prst="rect">
            <a:avLst/>
          </a:prstGeom>
        </p:spPr>
      </p:pic>
      <p:sp>
        <p:nvSpPr>
          <p:cNvPr id="7" name="Rectangle 6">
            <a:extLst>
              <a:ext uri="{FF2B5EF4-FFF2-40B4-BE49-F238E27FC236}">
                <a16:creationId xmlns:a16="http://schemas.microsoft.com/office/drawing/2014/main" id="{5DA749D5-B479-6D1C-23E4-CF78FF465984}"/>
              </a:ext>
            </a:extLst>
          </p:cNvPr>
          <p:cNvSpPr/>
          <p:nvPr/>
        </p:nvSpPr>
        <p:spPr>
          <a:xfrm>
            <a:off x="2471351" y="2990335"/>
            <a:ext cx="4967417" cy="3311611"/>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73025350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A97BEA-D8D7-3A09-CEB6-5D3EB005B6C2}"/>
            </a:ext>
          </a:extLst>
        </p:cNvPr>
        <p:cNvGrpSpPr/>
        <p:nvPr/>
      </p:nvGrpSpPr>
      <p:grpSpPr>
        <a:xfrm>
          <a:off x="0" y="0"/>
          <a:ext cx="0" cy="0"/>
          <a:chOff x="0" y="0"/>
          <a:chExt cx="0" cy="0"/>
        </a:xfrm>
      </p:grpSpPr>
      <p:pic>
        <p:nvPicPr>
          <p:cNvPr id="12" name="Picture 11">
            <a:extLst>
              <a:ext uri="{FF2B5EF4-FFF2-40B4-BE49-F238E27FC236}">
                <a16:creationId xmlns:a16="http://schemas.microsoft.com/office/drawing/2014/main" id="{FBAF69A3-1C80-32BE-13C8-80FE87B87CE6}"/>
              </a:ext>
            </a:extLst>
          </p:cNvPr>
          <p:cNvPicPr>
            <a:picLocks noChangeAspect="1"/>
          </p:cNvPicPr>
          <p:nvPr/>
        </p:nvPicPr>
        <p:blipFill>
          <a:blip r:embed="rId4" cstate="email">
            <a:extLst>
              <a:ext uri="{28A0092B-C50C-407E-A947-70E740481C1C}">
                <a14:useLocalDpi xmlns:a14="http://schemas.microsoft.com/office/drawing/2010/main"/>
              </a:ext>
            </a:extLst>
          </a:blip>
          <a:srcRect/>
          <a:stretch>
            <a:fillRect/>
          </a:stretch>
        </p:blipFill>
        <p:spPr>
          <a:xfrm>
            <a:off x="466934" y="2128102"/>
            <a:ext cx="2278553" cy="3951150"/>
          </a:xfrm>
          <a:prstGeom prst="rect">
            <a:avLst/>
          </a:prstGeom>
        </p:spPr>
      </p:pic>
      <p:cxnSp>
        <p:nvCxnSpPr>
          <p:cNvPr id="7" name="מחבר ישר 6">
            <a:extLst>
              <a:ext uri="{FF2B5EF4-FFF2-40B4-BE49-F238E27FC236}">
                <a16:creationId xmlns:a16="http://schemas.microsoft.com/office/drawing/2014/main" id="{3C9FB4DD-CAE0-5957-2524-4F7295608A7B}"/>
              </a:ext>
            </a:extLst>
          </p:cNvPr>
          <p:cNvCxnSpPr>
            <a:cxnSpLocks/>
          </p:cNvCxnSpPr>
          <p:nvPr/>
        </p:nvCxnSpPr>
        <p:spPr>
          <a:xfrm>
            <a:off x="0" y="6079252"/>
            <a:ext cx="12192000" cy="0"/>
          </a:xfrm>
          <a:prstGeom prst="line">
            <a:avLst/>
          </a:prstGeom>
          <a:ln>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19" name="מלבן: פינות מעוגלות 18">
            <a:extLst>
              <a:ext uri="{FF2B5EF4-FFF2-40B4-BE49-F238E27FC236}">
                <a16:creationId xmlns:a16="http://schemas.microsoft.com/office/drawing/2014/main" id="{D9BC5E6D-D5A6-83F4-14CF-97829BD59E90}"/>
              </a:ext>
            </a:extLst>
          </p:cNvPr>
          <p:cNvSpPr/>
          <p:nvPr/>
        </p:nvSpPr>
        <p:spPr>
          <a:xfrm>
            <a:off x="268356" y="6182143"/>
            <a:ext cx="1798983" cy="506891"/>
          </a:xfrm>
          <a:prstGeom prst="roundRect">
            <a:avLst>
              <a:gd name="adj" fmla="val 50000"/>
            </a:avLst>
          </a:prstGeom>
          <a:solidFill>
            <a:schemeClr val="bg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he-IL">
                <a:latin typeface="Assistant" pitchFamily="2" charset="-79"/>
                <a:cs typeface="Assistant" pitchFamily="2" charset="-79"/>
              </a:rPr>
              <a:t>המשך</a:t>
            </a:r>
            <a:endParaRPr lang="LID4096">
              <a:latin typeface="Assistant" pitchFamily="2" charset="-79"/>
              <a:cs typeface="Assistant" pitchFamily="2" charset="-79"/>
            </a:endParaRPr>
          </a:p>
        </p:txBody>
      </p:sp>
      <p:pic>
        <p:nvPicPr>
          <p:cNvPr id="13" name="Picture 12">
            <a:extLst>
              <a:ext uri="{FF2B5EF4-FFF2-40B4-BE49-F238E27FC236}">
                <a16:creationId xmlns:a16="http://schemas.microsoft.com/office/drawing/2014/main" id="{ABAB4607-FC3B-9D12-F26D-369CCB81109F}"/>
              </a:ext>
            </a:extLst>
          </p:cNvPr>
          <p:cNvPicPr>
            <a:picLocks noChangeAspect="1"/>
          </p:cNvPicPr>
          <p:nvPr/>
        </p:nvPicPr>
        <p:blipFill>
          <a:blip r:embed="rId5"/>
          <a:stretch>
            <a:fillRect/>
          </a:stretch>
        </p:blipFill>
        <p:spPr>
          <a:xfrm>
            <a:off x="10371417" y="6124170"/>
            <a:ext cx="1820583" cy="622831"/>
          </a:xfrm>
          <a:prstGeom prst="rect">
            <a:avLst/>
          </a:prstGeom>
        </p:spPr>
      </p:pic>
      <p:pic>
        <p:nvPicPr>
          <p:cNvPr id="18" name="תמונה 1">
            <a:extLst>
              <a:ext uri="{FF2B5EF4-FFF2-40B4-BE49-F238E27FC236}">
                <a16:creationId xmlns:a16="http://schemas.microsoft.com/office/drawing/2014/main" id="{D8E45F7F-C2C6-F72D-4BC6-254B43E6DD17}"/>
              </a:ext>
            </a:extLst>
          </p:cNvPr>
          <p:cNvPicPr>
            <a:picLocks noChangeAspect="1"/>
          </p:cNvPicPr>
          <p:nvPr/>
        </p:nvPicPr>
        <p:blipFill>
          <a:blip r:embed="rId6">
            <a:extLst>
              <a:ext uri="{28A0092B-C50C-407E-A947-70E740481C1C}">
                <a14:useLocalDpi xmlns:a14="http://schemas.microsoft.com/office/drawing/2010/main"/>
              </a:ext>
            </a:extLst>
          </a:blip>
          <a:stretch>
            <a:fillRect/>
          </a:stretch>
        </p:blipFill>
        <p:spPr>
          <a:xfrm>
            <a:off x="0" y="57121"/>
            <a:ext cx="933869" cy="721626"/>
          </a:xfrm>
          <a:prstGeom prst="rect">
            <a:avLst/>
          </a:prstGeom>
        </p:spPr>
      </p:pic>
      <p:grpSp>
        <p:nvGrpSpPr>
          <p:cNvPr id="3" name="קבוצה 11">
            <a:extLst>
              <a:ext uri="{FF2B5EF4-FFF2-40B4-BE49-F238E27FC236}">
                <a16:creationId xmlns:a16="http://schemas.microsoft.com/office/drawing/2014/main" id="{C4C99F07-D3F2-A8AE-C329-3D7264EC6C03}"/>
              </a:ext>
            </a:extLst>
          </p:cNvPr>
          <p:cNvGrpSpPr/>
          <p:nvPr/>
        </p:nvGrpSpPr>
        <p:grpSpPr>
          <a:xfrm>
            <a:off x="9329484" y="1173056"/>
            <a:ext cx="1798985" cy="526581"/>
            <a:chOff x="9961605" y="3108471"/>
            <a:chExt cx="1798985" cy="641058"/>
          </a:xfrm>
        </p:grpSpPr>
        <p:grpSp>
          <p:nvGrpSpPr>
            <p:cNvPr id="4" name="קבוצה 12">
              <a:extLst>
                <a:ext uri="{FF2B5EF4-FFF2-40B4-BE49-F238E27FC236}">
                  <a16:creationId xmlns:a16="http://schemas.microsoft.com/office/drawing/2014/main" id="{0B3DC1D4-EAF4-0991-821F-C49ABCFF2294}"/>
                </a:ext>
              </a:extLst>
            </p:cNvPr>
            <p:cNvGrpSpPr/>
            <p:nvPr/>
          </p:nvGrpSpPr>
          <p:grpSpPr>
            <a:xfrm>
              <a:off x="9961605" y="3108471"/>
              <a:ext cx="1798985" cy="641058"/>
              <a:chOff x="9961605" y="3108471"/>
              <a:chExt cx="1798985" cy="641058"/>
            </a:xfrm>
          </p:grpSpPr>
          <p:sp>
            <p:nvSpPr>
              <p:cNvPr id="14" name="מלבן: פינות מעוגלות 14">
                <a:extLst>
                  <a:ext uri="{FF2B5EF4-FFF2-40B4-BE49-F238E27FC236}">
                    <a16:creationId xmlns:a16="http://schemas.microsoft.com/office/drawing/2014/main" id="{78999A03-FEF7-DE08-24E3-D6DF2F9E62C7}"/>
                  </a:ext>
                </a:extLst>
              </p:cNvPr>
              <p:cNvSpPr/>
              <p:nvPr/>
            </p:nvSpPr>
            <p:spPr>
              <a:xfrm>
                <a:off x="9961605" y="3108471"/>
                <a:ext cx="1798985" cy="641058"/>
              </a:xfrm>
              <a:prstGeom prst="roundRect">
                <a:avLst>
                  <a:gd name="adj" fmla="val 50000"/>
                </a:avLst>
              </a:prstGeom>
              <a:noFill/>
              <a:ln w="12700">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LID4096"/>
              </a:p>
            </p:txBody>
          </p:sp>
          <p:sp>
            <p:nvSpPr>
              <p:cNvPr id="16" name="תיבת טקסט 17">
                <a:extLst>
                  <a:ext uri="{FF2B5EF4-FFF2-40B4-BE49-F238E27FC236}">
                    <a16:creationId xmlns:a16="http://schemas.microsoft.com/office/drawing/2014/main" id="{F13D8C66-4F99-C5D9-872D-43E008A9871F}"/>
                  </a:ext>
                </a:extLst>
              </p:cNvPr>
              <p:cNvSpPr txBox="1"/>
              <p:nvPr/>
            </p:nvSpPr>
            <p:spPr>
              <a:xfrm>
                <a:off x="9961607" y="3228945"/>
                <a:ext cx="1237812" cy="487093"/>
              </a:xfrm>
              <a:prstGeom prst="rect">
                <a:avLst/>
              </a:prstGeom>
              <a:noFill/>
            </p:spPr>
            <p:txBody>
              <a:bodyPr wrap="square" rtlCol="0">
                <a:spAutoFit/>
              </a:bodyPr>
              <a:lstStyle/>
              <a:p>
                <a:r>
                  <a:rPr lang="he-IL" sz="2000">
                    <a:latin typeface="Assistant" pitchFamily="2" charset="-79"/>
                    <a:cs typeface="Assistant" pitchFamily="2" charset="-79"/>
                  </a:rPr>
                  <a:t>10</a:t>
                </a:r>
              </a:p>
            </p:txBody>
          </p:sp>
        </p:grpSp>
        <p:sp>
          <p:nvSpPr>
            <p:cNvPr id="6" name="אליפסה 13">
              <a:extLst>
                <a:ext uri="{FF2B5EF4-FFF2-40B4-BE49-F238E27FC236}">
                  <a16:creationId xmlns:a16="http://schemas.microsoft.com/office/drawing/2014/main" id="{C4171A03-B93A-7313-0C29-D95120F523F6}"/>
                </a:ext>
              </a:extLst>
            </p:cNvPr>
            <p:cNvSpPr/>
            <p:nvPr/>
          </p:nvSpPr>
          <p:spPr>
            <a:xfrm>
              <a:off x="11280913" y="3269817"/>
              <a:ext cx="252766" cy="318364"/>
            </a:xfrm>
            <a:prstGeom prst="ellipse">
              <a:avLst/>
            </a:prstGeom>
            <a:noFill/>
            <a:ln>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LID4096"/>
            </a:p>
          </p:txBody>
        </p:sp>
      </p:grpSp>
      <p:grpSp>
        <p:nvGrpSpPr>
          <p:cNvPr id="17" name="קבוצה 11">
            <a:extLst>
              <a:ext uri="{FF2B5EF4-FFF2-40B4-BE49-F238E27FC236}">
                <a16:creationId xmlns:a16="http://schemas.microsoft.com/office/drawing/2014/main" id="{BD02FCAB-CC9D-A40E-B6EB-F6CA14CFAD38}"/>
              </a:ext>
            </a:extLst>
          </p:cNvPr>
          <p:cNvGrpSpPr/>
          <p:nvPr/>
        </p:nvGrpSpPr>
        <p:grpSpPr>
          <a:xfrm>
            <a:off x="9329486" y="1792740"/>
            <a:ext cx="1798984" cy="526581"/>
            <a:chOff x="9961607" y="3108471"/>
            <a:chExt cx="1798984" cy="641058"/>
          </a:xfrm>
        </p:grpSpPr>
        <p:grpSp>
          <p:nvGrpSpPr>
            <p:cNvPr id="20" name="קבוצה 12">
              <a:extLst>
                <a:ext uri="{FF2B5EF4-FFF2-40B4-BE49-F238E27FC236}">
                  <a16:creationId xmlns:a16="http://schemas.microsoft.com/office/drawing/2014/main" id="{E0285066-975B-7A9B-CCCE-1A0D386822C8}"/>
                </a:ext>
              </a:extLst>
            </p:cNvPr>
            <p:cNvGrpSpPr/>
            <p:nvPr/>
          </p:nvGrpSpPr>
          <p:grpSpPr>
            <a:xfrm>
              <a:off x="9961607" y="3108471"/>
              <a:ext cx="1798984" cy="641058"/>
              <a:chOff x="9961607" y="3108471"/>
              <a:chExt cx="1798984" cy="641058"/>
            </a:xfrm>
          </p:grpSpPr>
          <p:sp>
            <p:nvSpPr>
              <p:cNvPr id="22" name="מלבן: פינות מעוגלות 14">
                <a:extLst>
                  <a:ext uri="{FF2B5EF4-FFF2-40B4-BE49-F238E27FC236}">
                    <a16:creationId xmlns:a16="http://schemas.microsoft.com/office/drawing/2014/main" id="{97FA26A1-3519-5E73-1C87-7C64EE7BA6FA}"/>
                  </a:ext>
                </a:extLst>
              </p:cNvPr>
              <p:cNvSpPr/>
              <p:nvPr/>
            </p:nvSpPr>
            <p:spPr>
              <a:xfrm>
                <a:off x="9961607" y="3108471"/>
                <a:ext cx="1798984" cy="641058"/>
              </a:xfrm>
              <a:prstGeom prst="roundRect">
                <a:avLst>
                  <a:gd name="adj" fmla="val 50000"/>
                </a:avLst>
              </a:prstGeom>
              <a:noFill/>
              <a:ln w="12700">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LID4096"/>
              </a:p>
            </p:txBody>
          </p:sp>
          <p:sp>
            <p:nvSpPr>
              <p:cNvPr id="23" name="תיבת טקסט 17">
                <a:extLst>
                  <a:ext uri="{FF2B5EF4-FFF2-40B4-BE49-F238E27FC236}">
                    <a16:creationId xmlns:a16="http://schemas.microsoft.com/office/drawing/2014/main" id="{577B03CB-8A4B-AFBD-D452-F49BDE54F46A}"/>
                  </a:ext>
                </a:extLst>
              </p:cNvPr>
              <p:cNvSpPr txBox="1"/>
              <p:nvPr/>
            </p:nvSpPr>
            <p:spPr>
              <a:xfrm>
                <a:off x="10308290" y="3228945"/>
                <a:ext cx="891129" cy="487093"/>
              </a:xfrm>
              <a:prstGeom prst="rect">
                <a:avLst/>
              </a:prstGeom>
              <a:noFill/>
            </p:spPr>
            <p:txBody>
              <a:bodyPr wrap="square" rtlCol="0">
                <a:spAutoFit/>
              </a:bodyPr>
              <a:lstStyle/>
              <a:p>
                <a:r>
                  <a:rPr lang="he-IL" sz="2000">
                    <a:latin typeface="Assistant" pitchFamily="2" charset="-79"/>
                    <a:cs typeface="Assistant" pitchFamily="2" charset="-79"/>
                  </a:rPr>
                  <a:t>11</a:t>
                </a:r>
              </a:p>
            </p:txBody>
          </p:sp>
        </p:grpSp>
        <p:sp>
          <p:nvSpPr>
            <p:cNvPr id="21" name="אליפסה 13">
              <a:extLst>
                <a:ext uri="{FF2B5EF4-FFF2-40B4-BE49-F238E27FC236}">
                  <a16:creationId xmlns:a16="http://schemas.microsoft.com/office/drawing/2014/main" id="{F1037E9B-68A9-981E-5A41-A637ACB32136}"/>
                </a:ext>
              </a:extLst>
            </p:cNvPr>
            <p:cNvSpPr/>
            <p:nvPr/>
          </p:nvSpPr>
          <p:spPr>
            <a:xfrm>
              <a:off x="11280913" y="3269817"/>
              <a:ext cx="252766" cy="318364"/>
            </a:xfrm>
            <a:prstGeom prst="ellipse">
              <a:avLst/>
            </a:prstGeom>
            <a:noFill/>
            <a:ln>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LID4096"/>
            </a:p>
          </p:txBody>
        </p:sp>
      </p:grpSp>
      <p:sp>
        <p:nvSpPr>
          <p:cNvPr id="37" name="מלבן: פינות מעוגלות 17">
            <a:extLst>
              <a:ext uri="{FF2B5EF4-FFF2-40B4-BE49-F238E27FC236}">
                <a16:creationId xmlns:a16="http://schemas.microsoft.com/office/drawing/2014/main" id="{F210A0F9-8945-0F52-4824-13BA0DF5F991}"/>
              </a:ext>
            </a:extLst>
          </p:cNvPr>
          <p:cNvSpPr/>
          <p:nvPr/>
        </p:nvSpPr>
        <p:spPr>
          <a:xfrm>
            <a:off x="9329484" y="5337172"/>
            <a:ext cx="1798983" cy="506891"/>
          </a:xfrm>
          <a:prstGeom prst="roundRect">
            <a:avLst>
              <a:gd name="adj" fmla="val 50000"/>
            </a:avLst>
          </a:prstGeom>
          <a:solidFill>
            <a:schemeClr val="bg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he-IL">
                <a:latin typeface="Assistant" pitchFamily="2" charset="-79"/>
                <a:cs typeface="Assistant" pitchFamily="2" charset="-79"/>
              </a:rPr>
              <a:t>צדקתי?</a:t>
            </a:r>
            <a:endParaRPr lang="LID4096">
              <a:latin typeface="Assistant" pitchFamily="2" charset="-79"/>
              <a:cs typeface="Assistant" pitchFamily="2" charset="-79"/>
            </a:endParaRPr>
          </a:p>
        </p:txBody>
      </p:sp>
      <p:sp>
        <p:nvSpPr>
          <p:cNvPr id="49" name="בועת דיבור: מלבן 13">
            <a:extLst>
              <a:ext uri="{FF2B5EF4-FFF2-40B4-BE49-F238E27FC236}">
                <a16:creationId xmlns:a16="http://schemas.microsoft.com/office/drawing/2014/main" id="{B0E254A0-AFB4-3A49-50FC-6EAB2E5CBE1A}"/>
              </a:ext>
            </a:extLst>
          </p:cNvPr>
          <p:cNvSpPr/>
          <p:nvPr/>
        </p:nvSpPr>
        <p:spPr>
          <a:xfrm>
            <a:off x="2162172" y="1988490"/>
            <a:ext cx="2100498" cy="723181"/>
          </a:xfrm>
          <a:prstGeom prst="wedgeRectCallout">
            <a:avLst>
              <a:gd name="adj1" fmla="val -41746"/>
              <a:gd name="adj2" fmla="val 72319"/>
            </a:avLst>
          </a:prstGeom>
          <a:noFill/>
          <a:ln w="28575">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he-IL" sz="2000">
                <a:solidFill>
                  <a:schemeClr val="tx1"/>
                </a:solidFill>
                <a:latin typeface="Assistant" pitchFamily="2" charset="-79"/>
                <a:cs typeface="Assistant" pitchFamily="2" charset="-79"/>
              </a:rPr>
              <a:t>בסוף נכין סלט?</a:t>
            </a:r>
          </a:p>
        </p:txBody>
      </p:sp>
      <p:grpSp>
        <p:nvGrpSpPr>
          <p:cNvPr id="2" name="קבוצה 11">
            <a:extLst>
              <a:ext uri="{FF2B5EF4-FFF2-40B4-BE49-F238E27FC236}">
                <a16:creationId xmlns:a16="http://schemas.microsoft.com/office/drawing/2014/main" id="{1C57AC2D-3064-CE24-C8DF-FC62342B6D31}"/>
              </a:ext>
            </a:extLst>
          </p:cNvPr>
          <p:cNvGrpSpPr/>
          <p:nvPr/>
        </p:nvGrpSpPr>
        <p:grpSpPr>
          <a:xfrm>
            <a:off x="9329483" y="2408121"/>
            <a:ext cx="1798984" cy="526581"/>
            <a:chOff x="9961607" y="3108471"/>
            <a:chExt cx="1798984" cy="641058"/>
          </a:xfrm>
        </p:grpSpPr>
        <p:grpSp>
          <p:nvGrpSpPr>
            <p:cNvPr id="8" name="קבוצה 12">
              <a:extLst>
                <a:ext uri="{FF2B5EF4-FFF2-40B4-BE49-F238E27FC236}">
                  <a16:creationId xmlns:a16="http://schemas.microsoft.com/office/drawing/2014/main" id="{89BA0A17-68EE-BF55-0FF0-9BD2EE413EB4}"/>
                </a:ext>
              </a:extLst>
            </p:cNvPr>
            <p:cNvGrpSpPr/>
            <p:nvPr/>
          </p:nvGrpSpPr>
          <p:grpSpPr>
            <a:xfrm>
              <a:off x="9961607" y="3108471"/>
              <a:ext cx="1798984" cy="641058"/>
              <a:chOff x="9961607" y="3108471"/>
              <a:chExt cx="1798984" cy="641058"/>
            </a:xfrm>
          </p:grpSpPr>
          <p:sp>
            <p:nvSpPr>
              <p:cNvPr id="10" name="מלבן: פינות מעוגלות 14">
                <a:extLst>
                  <a:ext uri="{FF2B5EF4-FFF2-40B4-BE49-F238E27FC236}">
                    <a16:creationId xmlns:a16="http://schemas.microsoft.com/office/drawing/2014/main" id="{11A438AA-E30E-4A28-BB39-5BEDE1F0EDEA}"/>
                  </a:ext>
                </a:extLst>
              </p:cNvPr>
              <p:cNvSpPr/>
              <p:nvPr/>
            </p:nvSpPr>
            <p:spPr>
              <a:xfrm>
                <a:off x="9961607" y="3108471"/>
                <a:ext cx="1798984" cy="641058"/>
              </a:xfrm>
              <a:prstGeom prst="roundRect">
                <a:avLst>
                  <a:gd name="adj" fmla="val 50000"/>
                </a:avLst>
              </a:prstGeom>
              <a:noFill/>
              <a:ln w="12700">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LID4096"/>
              </a:p>
            </p:txBody>
          </p:sp>
          <p:sp>
            <p:nvSpPr>
              <p:cNvPr id="11" name="תיבת טקסט 17">
                <a:extLst>
                  <a:ext uri="{FF2B5EF4-FFF2-40B4-BE49-F238E27FC236}">
                    <a16:creationId xmlns:a16="http://schemas.microsoft.com/office/drawing/2014/main" id="{E71E0CD3-8040-1FA7-D8B5-957F71874955}"/>
                  </a:ext>
                </a:extLst>
              </p:cNvPr>
              <p:cNvSpPr txBox="1"/>
              <p:nvPr/>
            </p:nvSpPr>
            <p:spPr>
              <a:xfrm>
                <a:off x="10308290" y="3228945"/>
                <a:ext cx="891129" cy="487093"/>
              </a:xfrm>
              <a:prstGeom prst="rect">
                <a:avLst/>
              </a:prstGeom>
              <a:noFill/>
            </p:spPr>
            <p:txBody>
              <a:bodyPr wrap="square" rtlCol="0">
                <a:spAutoFit/>
              </a:bodyPr>
              <a:lstStyle/>
              <a:p>
                <a:r>
                  <a:rPr lang="he-IL" sz="2000">
                    <a:latin typeface="Assistant" pitchFamily="2" charset="-79"/>
                    <a:cs typeface="Assistant" pitchFamily="2" charset="-79"/>
                  </a:rPr>
                  <a:t>12</a:t>
                </a:r>
              </a:p>
            </p:txBody>
          </p:sp>
        </p:grpSp>
        <p:sp>
          <p:nvSpPr>
            <p:cNvPr id="9" name="אליפסה 13">
              <a:extLst>
                <a:ext uri="{FF2B5EF4-FFF2-40B4-BE49-F238E27FC236}">
                  <a16:creationId xmlns:a16="http://schemas.microsoft.com/office/drawing/2014/main" id="{60A47523-F316-DC9C-D171-806A180E5EA9}"/>
                </a:ext>
              </a:extLst>
            </p:cNvPr>
            <p:cNvSpPr/>
            <p:nvPr/>
          </p:nvSpPr>
          <p:spPr>
            <a:xfrm>
              <a:off x="11280913" y="3269817"/>
              <a:ext cx="252766" cy="318364"/>
            </a:xfrm>
            <a:prstGeom prst="ellipse">
              <a:avLst/>
            </a:prstGeom>
            <a:noFill/>
            <a:ln>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LID4096"/>
            </a:p>
          </p:txBody>
        </p:sp>
      </p:grpSp>
      <p:sp>
        <p:nvSpPr>
          <p:cNvPr id="15" name="תיבת טקסט 4">
            <a:extLst>
              <a:ext uri="{FF2B5EF4-FFF2-40B4-BE49-F238E27FC236}">
                <a16:creationId xmlns:a16="http://schemas.microsoft.com/office/drawing/2014/main" id="{C4304836-CCE0-B2E9-ED32-91B9F0D734F5}"/>
              </a:ext>
            </a:extLst>
          </p:cNvPr>
          <p:cNvSpPr txBox="1"/>
          <p:nvPr/>
        </p:nvSpPr>
        <p:spPr>
          <a:xfrm>
            <a:off x="1373149" y="537757"/>
            <a:ext cx="9908559" cy="400110"/>
          </a:xfrm>
          <a:prstGeom prst="rect">
            <a:avLst/>
          </a:prstGeom>
          <a:noFill/>
        </p:spPr>
        <p:txBody>
          <a:bodyPr wrap="square" rtlCol="0">
            <a:spAutoFit/>
          </a:bodyPr>
          <a:lstStyle/>
          <a:p>
            <a:r>
              <a:rPr lang="he-IL" sz="2000">
                <a:latin typeface="Assistant" pitchFamily="2" charset="-79"/>
                <a:cs typeface="Assistant" pitchFamily="2" charset="-79"/>
              </a:rPr>
              <a:t>סמנו לכמה שורות הגעתם:</a:t>
            </a:r>
          </a:p>
        </p:txBody>
      </p:sp>
      <p:sp>
        <p:nvSpPr>
          <p:cNvPr id="25" name="מלבן 7">
            <a:extLst>
              <a:ext uri="{FF2B5EF4-FFF2-40B4-BE49-F238E27FC236}">
                <a16:creationId xmlns:a16="http://schemas.microsoft.com/office/drawing/2014/main" id="{5529A6A9-618E-DA7A-3043-F690E81C5C62}"/>
              </a:ext>
            </a:extLst>
          </p:cNvPr>
          <p:cNvSpPr/>
          <p:nvPr/>
        </p:nvSpPr>
        <p:spPr>
          <a:xfrm>
            <a:off x="11896440" y="332438"/>
            <a:ext cx="45719" cy="5474677"/>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LID4096"/>
          </a:p>
        </p:txBody>
      </p:sp>
      <p:sp>
        <p:nvSpPr>
          <p:cNvPr id="27" name="מלבן 8">
            <a:extLst>
              <a:ext uri="{FF2B5EF4-FFF2-40B4-BE49-F238E27FC236}">
                <a16:creationId xmlns:a16="http://schemas.microsoft.com/office/drawing/2014/main" id="{3A9884D8-9AD9-8371-7DAA-642597691A6C}"/>
              </a:ext>
            </a:extLst>
          </p:cNvPr>
          <p:cNvSpPr/>
          <p:nvPr/>
        </p:nvSpPr>
        <p:spPr>
          <a:xfrm>
            <a:off x="11896440" y="811255"/>
            <a:ext cx="45719" cy="3526971"/>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LID4096"/>
          </a:p>
        </p:txBody>
      </p:sp>
    </p:spTree>
    <p:custDataLst>
      <p:tags r:id="rId1"/>
    </p:custDataLst>
    <p:extLst>
      <p:ext uri="{BB962C8B-B14F-4D97-AF65-F5344CB8AC3E}">
        <p14:creationId xmlns:p14="http://schemas.microsoft.com/office/powerpoint/2010/main" val="125258361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11C8BD-B3D7-7216-A71F-807A38C94EDF}"/>
            </a:ext>
          </a:extLst>
        </p:cNvPr>
        <p:cNvGrpSpPr/>
        <p:nvPr/>
      </p:nvGrpSpPr>
      <p:grpSpPr>
        <a:xfrm>
          <a:off x="0" y="0"/>
          <a:ext cx="0" cy="0"/>
          <a:chOff x="0" y="0"/>
          <a:chExt cx="0" cy="0"/>
        </a:xfrm>
      </p:grpSpPr>
      <p:sp>
        <p:nvSpPr>
          <p:cNvPr id="5" name="תיבת טקסט 4">
            <a:extLst>
              <a:ext uri="{FF2B5EF4-FFF2-40B4-BE49-F238E27FC236}">
                <a16:creationId xmlns:a16="http://schemas.microsoft.com/office/drawing/2014/main" id="{9EE44321-5FD3-82F3-8101-A3AB45B84A9E}"/>
              </a:ext>
            </a:extLst>
          </p:cNvPr>
          <p:cNvSpPr txBox="1"/>
          <p:nvPr/>
        </p:nvSpPr>
        <p:spPr>
          <a:xfrm>
            <a:off x="1373149" y="537757"/>
            <a:ext cx="9908559" cy="400110"/>
          </a:xfrm>
          <a:prstGeom prst="rect">
            <a:avLst/>
          </a:prstGeom>
          <a:noFill/>
        </p:spPr>
        <p:txBody>
          <a:bodyPr wrap="square" rtlCol="0">
            <a:spAutoFit/>
          </a:bodyPr>
          <a:lstStyle/>
          <a:p>
            <a:r>
              <a:rPr lang="he-IL" sz="2000">
                <a:latin typeface="Assistant" pitchFamily="2" charset="-79"/>
                <a:cs typeface="Assistant" pitchFamily="2" charset="-79"/>
              </a:rPr>
              <a:t>סמנו לכמה שורות הגעתם:</a:t>
            </a:r>
          </a:p>
        </p:txBody>
      </p:sp>
      <p:cxnSp>
        <p:nvCxnSpPr>
          <p:cNvPr id="7" name="מחבר ישר 6">
            <a:extLst>
              <a:ext uri="{FF2B5EF4-FFF2-40B4-BE49-F238E27FC236}">
                <a16:creationId xmlns:a16="http://schemas.microsoft.com/office/drawing/2014/main" id="{BB9330DD-8250-3A86-3A1B-44921A9A8DCE}"/>
              </a:ext>
            </a:extLst>
          </p:cNvPr>
          <p:cNvCxnSpPr>
            <a:cxnSpLocks/>
          </p:cNvCxnSpPr>
          <p:nvPr/>
        </p:nvCxnSpPr>
        <p:spPr>
          <a:xfrm>
            <a:off x="0" y="6079252"/>
            <a:ext cx="12192000" cy="0"/>
          </a:xfrm>
          <a:prstGeom prst="line">
            <a:avLst/>
          </a:prstGeom>
          <a:ln>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pic>
        <p:nvPicPr>
          <p:cNvPr id="13" name="Picture 12">
            <a:extLst>
              <a:ext uri="{FF2B5EF4-FFF2-40B4-BE49-F238E27FC236}">
                <a16:creationId xmlns:a16="http://schemas.microsoft.com/office/drawing/2014/main" id="{5F4363D1-D2DA-10DB-F4DC-7F27B14539E7}"/>
              </a:ext>
            </a:extLst>
          </p:cNvPr>
          <p:cNvPicPr>
            <a:picLocks noChangeAspect="1"/>
          </p:cNvPicPr>
          <p:nvPr/>
        </p:nvPicPr>
        <p:blipFill>
          <a:blip r:embed="rId4"/>
          <a:stretch>
            <a:fillRect/>
          </a:stretch>
        </p:blipFill>
        <p:spPr>
          <a:xfrm>
            <a:off x="10371417" y="6124170"/>
            <a:ext cx="1820583" cy="622831"/>
          </a:xfrm>
          <a:prstGeom prst="rect">
            <a:avLst/>
          </a:prstGeom>
        </p:spPr>
      </p:pic>
      <p:pic>
        <p:nvPicPr>
          <p:cNvPr id="18" name="תמונה 1">
            <a:extLst>
              <a:ext uri="{FF2B5EF4-FFF2-40B4-BE49-F238E27FC236}">
                <a16:creationId xmlns:a16="http://schemas.microsoft.com/office/drawing/2014/main" id="{FBF42A7E-0294-09B3-205C-5B1ED63AD7C1}"/>
              </a:ext>
            </a:extLst>
          </p:cNvPr>
          <p:cNvPicPr>
            <a:picLocks noChangeAspect="1"/>
          </p:cNvPicPr>
          <p:nvPr/>
        </p:nvPicPr>
        <p:blipFill>
          <a:blip r:embed="rId5">
            <a:extLst>
              <a:ext uri="{28A0092B-C50C-407E-A947-70E740481C1C}">
                <a14:useLocalDpi xmlns:a14="http://schemas.microsoft.com/office/drawing/2010/main"/>
              </a:ext>
            </a:extLst>
          </a:blip>
          <a:stretch>
            <a:fillRect/>
          </a:stretch>
        </p:blipFill>
        <p:spPr>
          <a:xfrm>
            <a:off x="0" y="57121"/>
            <a:ext cx="933869" cy="721626"/>
          </a:xfrm>
          <a:prstGeom prst="rect">
            <a:avLst/>
          </a:prstGeom>
        </p:spPr>
      </p:pic>
      <p:grpSp>
        <p:nvGrpSpPr>
          <p:cNvPr id="3" name="קבוצה 11">
            <a:extLst>
              <a:ext uri="{FF2B5EF4-FFF2-40B4-BE49-F238E27FC236}">
                <a16:creationId xmlns:a16="http://schemas.microsoft.com/office/drawing/2014/main" id="{20D2E4B4-25A0-8D74-BFFB-7467A3622555}"/>
              </a:ext>
            </a:extLst>
          </p:cNvPr>
          <p:cNvGrpSpPr/>
          <p:nvPr/>
        </p:nvGrpSpPr>
        <p:grpSpPr>
          <a:xfrm>
            <a:off x="9329484" y="1173056"/>
            <a:ext cx="1798985" cy="526581"/>
            <a:chOff x="9961605" y="3108471"/>
            <a:chExt cx="1798985" cy="641058"/>
          </a:xfrm>
        </p:grpSpPr>
        <p:grpSp>
          <p:nvGrpSpPr>
            <p:cNvPr id="4" name="קבוצה 12">
              <a:extLst>
                <a:ext uri="{FF2B5EF4-FFF2-40B4-BE49-F238E27FC236}">
                  <a16:creationId xmlns:a16="http://schemas.microsoft.com/office/drawing/2014/main" id="{5C221A22-6ECF-E211-D38B-A6CE27069D6A}"/>
                </a:ext>
              </a:extLst>
            </p:cNvPr>
            <p:cNvGrpSpPr/>
            <p:nvPr/>
          </p:nvGrpSpPr>
          <p:grpSpPr>
            <a:xfrm>
              <a:off x="9961605" y="3108471"/>
              <a:ext cx="1798985" cy="641058"/>
              <a:chOff x="9961605" y="3108471"/>
              <a:chExt cx="1798985" cy="641058"/>
            </a:xfrm>
          </p:grpSpPr>
          <p:sp>
            <p:nvSpPr>
              <p:cNvPr id="14" name="מלבן: פינות מעוגלות 14">
                <a:extLst>
                  <a:ext uri="{FF2B5EF4-FFF2-40B4-BE49-F238E27FC236}">
                    <a16:creationId xmlns:a16="http://schemas.microsoft.com/office/drawing/2014/main" id="{403BB07A-1D19-AA54-30A0-08E07EEA2CF9}"/>
                  </a:ext>
                </a:extLst>
              </p:cNvPr>
              <p:cNvSpPr/>
              <p:nvPr/>
            </p:nvSpPr>
            <p:spPr>
              <a:xfrm>
                <a:off x="9961605" y="3108471"/>
                <a:ext cx="1798985" cy="641058"/>
              </a:xfrm>
              <a:prstGeom prst="roundRect">
                <a:avLst>
                  <a:gd name="adj" fmla="val 50000"/>
                </a:avLst>
              </a:prstGeom>
              <a:noFill/>
              <a:ln w="12700">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LID4096"/>
              </a:p>
            </p:txBody>
          </p:sp>
          <p:sp>
            <p:nvSpPr>
              <p:cNvPr id="16" name="תיבת טקסט 17">
                <a:extLst>
                  <a:ext uri="{FF2B5EF4-FFF2-40B4-BE49-F238E27FC236}">
                    <a16:creationId xmlns:a16="http://schemas.microsoft.com/office/drawing/2014/main" id="{F231CBB1-E070-D977-3099-533BEA3689E1}"/>
                  </a:ext>
                </a:extLst>
              </p:cNvPr>
              <p:cNvSpPr txBox="1"/>
              <p:nvPr/>
            </p:nvSpPr>
            <p:spPr>
              <a:xfrm>
                <a:off x="9961607" y="3228945"/>
                <a:ext cx="1237812" cy="487093"/>
              </a:xfrm>
              <a:prstGeom prst="rect">
                <a:avLst/>
              </a:prstGeom>
              <a:noFill/>
            </p:spPr>
            <p:txBody>
              <a:bodyPr wrap="square" rtlCol="0">
                <a:spAutoFit/>
              </a:bodyPr>
              <a:lstStyle/>
              <a:p>
                <a:r>
                  <a:rPr lang="he-IL" sz="2000">
                    <a:latin typeface="Assistant" pitchFamily="2" charset="-79"/>
                    <a:cs typeface="Assistant" pitchFamily="2" charset="-79"/>
                  </a:rPr>
                  <a:t>10</a:t>
                </a:r>
              </a:p>
            </p:txBody>
          </p:sp>
        </p:grpSp>
        <p:sp>
          <p:nvSpPr>
            <p:cNvPr id="6" name="אליפסה 13">
              <a:extLst>
                <a:ext uri="{FF2B5EF4-FFF2-40B4-BE49-F238E27FC236}">
                  <a16:creationId xmlns:a16="http://schemas.microsoft.com/office/drawing/2014/main" id="{CE253CA1-35AE-3685-E15A-951D92922554}"/>
                </a:ext>
              </a:extLst>
            </p:cNvPr>
            <p:cNvSpPr/>
            <p:nvPr/>
          </p:nvSpPr>
          <p:spPr>
            <a:xfrm>
              <a:off x="11280913" y="3269817"/>
              <a:ext cx="252766" cy="318364"/>
            </a:xfrm>
            <a:prstGeom prst="ellipse">
              <a:avLst/>
            </a:prstGeom>
            <a:noFill/>
            <a:ln>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LID4096"/>
            </a:p>
          </p:txBody>
        </p:sp>
      </p:grpSp>
      <p:grpSp>
        <p:nvGrpSpPr>
          <p:cNvPr id="17" name="קבוצה 11">
            <a:extLst>
              <a:ext uri="{FF2B5EF4-FFF2-40B4-BE49-F238E27FC236}">
                <a16:creationId xmlns:a16="http://schemas.microsoft.com/office/drawing/2014/main" id="{5A2CB665-BA0E-B61A-8117-683625C16B83}"/>
              </a:ext>
            </a:extLst>
          </p:cNvPr>
          <p:cNvGrpSpPr/>
          <p:nvPr/>
        </p:nvGrpSpPr>
        <p:grpSpPr>
          <a:xfrm>
            <a:off x="9329486" y="1792740"/>
            <a:ext cx="1798984" cy="526581"/>
            <a:chOff x="9961607" y="3108471"/>
            <a:chExt cx="1798984" cy="641058"/>
          </a:xfrm>
        </p:grpSpPr>
        <p:grpSp>
          <p:nvGrpSpPr>
            <p:cNvPr id="20" name="קבוצה 12">
              <a:extLst>
                <a:ext uri="{FF2B5EF4-FFF2-40B4-BE49-F238E27FC236}">
                  <a16:creationId xmlns:a16="http://schemas.microsoft.com/office/drawing/2014/main" id="{09BDA6AD-E313-B4BD-CA1F-815E657D6378}"/>
                </a:ext>
              </a:extLst>
            </p:cNvPr>
            <p:cNvGrpSpPr/>
            <p:nvPr/>
          </p:nvGrpSpPr>
          <p:grpSpPr>
            <a:xfrm>
              <a:off x="9961607" y="3108471"/>
              <a:ext cx="1798984" cy="641058"/>
              <a:chOff x="9961607" y="3108471"/>
              <a:chExt cx="1798984" cy="641058"/>
            </a:xfrm>
          </p:grpSpPr>
          <p:sp>
            <p:nvSpPr>
              <p:cNvPr id="22" name="מלבן: פינות מעוגלות 14">
                <a:extLst>
                  <a:ext uri="{FF2B5EF4-FFF2-40B4-BE49-F238E27FC236}">
                    <a16:creationId xmlns:a16="http://schemas.microsoft.com/office/drawing/2014/main" id="{81297F90-261C-98B5-6A7C-281CCCC71BA6}"/>
                  </a:ext>
                </a:extLst>
              </p:cNvPr>
              <p:cNvSpPr/>
              <p:nvPr/>
            </p:nvSpPr>
            <p:spPr>
              <a:xfrm>
                <a:off x="9961607" y="3108471"/>
                <a:ext cx="1798984" cy="641058"/>
              </a:xfrm>
              <a:prstGeom prst="roundRect">
                <a:avLst>
                  <a:gd name="adj" fmla="val 50000"/>
                </a:avLst>
              </a:prstGeom>
              <a:noFill/>
              <a:ln w="12700">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LID4096"/>
              </a:p>
            </p:txBody>
          </p:sp>
          <p:sp>
            <p:nvSpPr>
              <p:cNvPr id="23" name="תיבת טקסט 17">
                <a:extLst>
                  <a:ext uri="{FF2B5EF4-FFF2-40B4-BE49-F238E27FC236}">
                    <a16:creationId xmlns:a16="http://schemas.microsoft.com/office/drawing/2014/main" id="{1B262693-BF97-3C89-13E5-628AD68F8769}"/>
                  </a:ext>
                </a:extLst>
              </p:cNvPr>
              <p:cNvSpPr txBox="1"/>
              <p:nvPr/>
            </p:nvSpPr>
            <p:spPr>
              <a:xfrm>
                <a:off x="10308290" y="3228945"/>
                <a:ext cx="891129" cy="487093"/>
              </a:xfrm>
              <a:prstGeom prst="rect">
                <a:avLst/>
              </a:prstGeom>
              <a:noFill/>
            </p:spPr>
            <p:txBody>
              <a:bodyPr wrap="square" rtlCol="0">
                <a:spAutoFit/>
              </a:bodyPr>
              <a:lstStyle/>
              <a:p>
                <a:r>
                  <a:rPr lang="he-IL" sz="2000">
                    <a:latin typeface="Assistant" pitchFamily="2" charset="-79"/>
                    <a:cs typeface="Assistant" pitchFamily="2" charset="-79"/>
                  </a:rPr>
                  <a:t>11</a:t>
                </a:r>
              </a:p>
            </p:txBody>
          </p:sp>
        </p:grpSp>
        <p:sp>
          <p:nvSpPr>
            <p:cNvPr id="21" name="אליפסה 13">
              <a:extLst>
                <a:ext uri="{FF2B5EF4-FFF2-40B4-BE49-F238E27FC236}">
                  <a16:creationId xmlns:a16="http://schemas.microsoft.com/office/drawing/2014/main" id="{13666CA5-AC8C-5C56-3F94-E2E1BC44C17B}"/>
                </a:ext>
              </a:extLst>
            </p:cNvPr>
            <p:cNvSpPr/>
            <p:nvPr/>
          </p:nvSpPr>
          <p:spPr>
            <a:xfrm>
              <a:off x="11280913" y="3269817"/>
              <a:ext cx="252766" cy="318364"/>
            </a:xfrm>
            <a:prstGeom prst="ellipse">
              <a:avLst/>
            </a:prstGeom>
            <a:noFill/>
            <a:ln>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LID4096"/>
            </a:p>
          </p:txBody>
        </p:sp>
      </p:grpSp>
      <p:sp>
        <p:nvSpPr>
          <p:cNvPr id="37" name="מלבן: פינות מעוגלות 17">
            <a:extLst>
              <a:ext uri="{FF2B5EF4-FFF2-40B4-BE49-F238E27FC236}">
                <a16:creationId xmlns:a16="http://schemas.microsoft.com/office/drawing/2014/main" id="{63062D65-DD04-C6C0-36B7-825C62A43F11}"/>
              </a:ext>
            </a:extLst>
          </p:cNvPr>
          <p:cNvSpPr/>
          <p:nvPr/>
        </p:nvSpPr>
        <p:spPr>
          <a:xfrm>
            <a:off x="268355" y="6182139"/>
            <a:ext cx="1798983" cy="506891"/>
          </a:xfrm>
          <a:prstGeom prst="roundRect">
            <a:avLst>
              <a:gd name="adj" fmla="val 50000"/>
            </a:avLst>
          </a:prstGeom>
          <a:solidFill>
            <a:schemeClr val="bg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he-IL">
                <a:latin typeface="Assistant" pitchFamily="2" charset="-79"/>
                <a:cs typeface="Assistant" pitchFamily="2" charset="-79"/>
              </a:rPr>
              <a:t>צדקתי?</a:t>
            </a:r>
            <a:endParaRPr lang="LID4096">
              <a:latin typeface="Assistant" pitchFamily="2" charset="-79"/>
              <a:cs typeface="Assistant" pitchFamily="2" charset="-79"/>
            </a:endParaRPr>
          </a:p>
        </p:txBody>
      </p:sp>
      <p:grpSp>
        <p:nvGrpSpPr>
          <p:cNvPr id="2" name="קבוצה 11">
            <a:extLst>
              <a:ext uri="{FF2B5EF4-FFF2-40B4-BE49-F238E27FC236}">
                <a16:creationId xmlns:a16="http://schemas.microsoft.com/office/drawing/2014/main" id="{ED32B7FB-A727-CEDB-1668-8E655A200A32}"/>
              </a:ext>
            </a:extLst>
          </p:cNvPr>
          <p:cNvGrpSpPr/>
          <p:nvPr/>
        </p:nvGrpSpPr>
        <p:grpSpPr>
          <a:xfrm>
            <a:off x="9329483" y="2408121"/>
            <a:ext cx="1798984" cy="526581"/>
            <a:chOff x="9961607" y="3108471"/>
            <a:chExt cx="1798984" cy="641058"/>
          </a:xfrm>
        </p:grpSpPr>
        <p:grpSp>
          <p:nvGrpSpPr>
            <p:cNvPr id="8" name="קבוצה 12">
              <a:extLst>
                <a:ext uri="{FF2B5EF4-FFF2-40B4-BE49-F238E27FC236}">
                  <a16:creationId xmlns:a16="http://schemas.microsoft.com/office/drawing/2014/main" id="{90095809-7334-C970-A37C-8C9B11E2B52C}"/>
                </a:ext>
              </a:extLst>
            </p:cNvPr>
            <p:cNvGrpSpPr/>
            <p:nvPr/>
          </p:nvGrpSpPr>
          <p:grpSpPr>
            <a:xfrm>
              <a:off x="9961607" y="3108471"/>
              <a:ext cx="1798984" cy="641058"/>
              <a:chOff x="9961607" y="3108471"/>
              <a:chExt cx="1798984" cy="641058"/>
            </a:xfrm>
          </p:grpSpPr>
          <p:sp>
            <p:nvSpPr>
              <p:cNvPr id="10" name="מלבן: פינות מעוגלות 14">
                <a:extLst>
                  <a:ext uri="{FF2B5EF4-FFF2-40B4-BE49-F238E27FC236}">
                    <a16:creationId xmlns:a16="http://schemas.microsoft.com/office/drawing/2014/main" id="{4B0D7101-6463-71ED-4C21-E09D12BB2504}"/>
                  </a:ext>
                </a:extLst>
              </p:cNvPr>
              <p:cNvSpPr/>
              <p:nvPr/>
            </p:nvSpPr>
            <p:spPr>
              <a:xfrm>
                <a:off x="9961607" y="3108471"/>
                <a:ext cx="1798984" cy="641058"/>
              </a:xfrm>
              <a:prstGeom prst="roundRect">
                <a:avLst>
                  <a:gd name="adj" fmla="val 50000"/>
                </a:avLst>
              </a:prstGeom>
              <a:noFill/>
              <a:ln w="12700">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LID4096"/>
              </a:p>
            </p:txBody>
          </p:sp>
          <p:sp>
            <p:nvSpPr>
              <p:cNvPr id="11" name="תיבת טקסט 17">
                <a:extLst>
                  <a:ext uri="{FF2B5EF4-FFF2-40B4-BE49-F238E27FC236}">
                    <a16:creationId xmlns:a16="http://schemas.microsoft.com/office/drawing/2014/main" id="{C71E9ACE-600D-5F33-B2C7-61E3B15914BD}"/>
                  </a:ext>
                </a:extLst>
              </p:cNvPr>
              <p:cNvSpPr txBox="1"/>
              <p:nvPr/>
            </p:nvSpPr>
            <p:spPr>
              <a:xfrm>
                <a:off x="10308290" y="3228945"/>
                <a:ext cx="891129" cy="487093"/>
              </a:xfrm>
              <a:prstGeom prst="rect">
                <a:avLst/>
              </a:prstGeom>
              <a:noFill/>
            </p:spPr>
            <p:txBody>
              <a:bodyPr wrap="square" rtlCol="0">
                <a:spAutoFit/>
              </a:bodyPr>
              <a:lstStyle/>
              <a:p>
                <a:r>
                  <a:rPr lang="he-IL" sz="2000">
                    <a:latin typeface="Assistant" pitchFamily="2" charset="-79"/>
                    <a:cs typeface="Assistant" pitchFamily="2" charset="-79"/>
                  </a:rPr>
                  <a:t>12</a:t>
                </a:r>
              </a:p>
            </p:txBody>
          </p:sp>
        </p:grpSp>
        <p:sp>
          <p:nvSpPr>
            <p:cNvPr id="9" name="אליפסה 13">
              <a:extLst>
                <a:ext uri="{FF2B5EF4-FFF2-40B4-BE49-F238E27FC236}">
                  <a16:creationId xmlns:a16="http://schemas.microsoft.com/office/drawing/2014/main" id="{A076F2D7-958F-C54E-C2F6-53E5439474B6}"/>
                </a:ext>
              </a:extLst>
            </p:cNvPr>
            <p:cNvSpPr/>
            <p:nvPr/>
          </p:nvSpPr>
          <p:spPr>
            <a:xfrm>
              <a:off x="11280913" y="3269817"/>
              <a:ext cx="252766" cy="318364"/>
            </a:xfrm>
            <a:prstGeom prst="ellipse">
              <a:avLst/>
            </a:prstGeom>
            <a:noFill/>
            <a:ln>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LID4096"/>
            </a:p>
          </p:txBody>
        </p:sp>
      </p:grpSp>
      <p:grpSp>
        <p:nvGrpSpPr>
          <p:cNvPr id="12" name="קבוצה 14">
            <a:extLst>
              <a:ext uri="{FF2B5EF4-FFF2-40B4-BE49-F238E27FC236}">
                <a16:creationId xmlns:a16="http://schemas.microsoft.com/office/drawing/2014/main" id="{79CEB7B2-8121-5733-09B2-AF225FDFC492}"/>
              </a:ext>
            </a:extLst>
          </p:cNvPr>
          <p:cNvGrpSpPr/>
          <p:nvPr/>
        </p:nvGrpSpPr>
        <p:grpSpPr>
          <a:xfrm>
            <a:off x="-625784" y="1457508"/>
            <a:ext cx="3587262" cy="3579680"/>
            <a:chOff x="10317" y="1501341"/>
            <a:chExt cx="3587262" cy="3579680"/>
          </a:xfrm>
        </p:grpSpPr>
        <mc:AlternateContent xmlns:mc="http://schemas.openxmlformats.org/markup-compatibility/2006" xmlns:a14="http://schemas.microsoft.com/office/drawing/2010/main">
          <mc:Choice Requires="a14">
            <p:sp>
              <p:nvSpPr>
                <p:cNvPr id="15" name="מלבן: פינות מעוגלות 16">
                  <a:extLst>
                    <a:ext uri="{FF2B5EF4-FFF2-40B4-BE49-F238E27FC236}">
                      <a16:creationId xmlns:a16="http://schemas.microsoft.com/office/drawing/2014/main" id="{39CD8EAF-D876-3DE9-7401-127758C4D9DC}"/>
                    </a:ext>
                  </a:extLst>
                </p:cNvPr>
                <p:cNvSpPr/>
                <p:nvPr/>
              </p:nvSpPr>
              <p:spPr>
                <a:xfrm>
                  <a:off x="10317" y="1501341"/>
                  <a:ext cx="3587262" cy="3579680"/>
                </a:xfrm>
                <a:prstGeom prst="roundRect">
                  <a:avLst>
                    <a:gd name="adj" fmla="val 1647"/>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he-IL" sz="2000" b="1">
                      <a:solidFill>
                        <a:schemeClr val="tx1"/>
                      </a:solidFill>
                      <a:latin typeface="Assistant" pitchFamily="2" charset="-79"/>
                      <a:cs typeface="Assistant" pitchFamily="2" charset="-79"/>
                    </a:rPr>
                    <a:t>כל הכבוד! / זה לא מדויק</a:t>
                  </a:r>
                </a:p>
                <a:p>
                  <a:pPr algn="ctr"/>
                  <a:r>
                    <a:rPr lang="he-IL" sz="2000">
                      <a:solidFill>
                        <a:schemeClr val="tx1"/>
                      </a:solidFill>
                      <a:latin typeface="Assistant" pitchFamily="2" charset="-79"/>
                      <a:cs typeface="Assistant" pitchFamily="2" charset="-79"/>
                    </a:rPr>
                    <a:t>קיבלנו 10 שורות, אם בכל שורה יש 3 צנוניות ו-4 ראשי חסה אז נקבל:</a:t>
                  </a:r>
                  <a:endParaRPr lang="en-US" sz="2000">
                    <a:solidFill>
                      <a:schemeClr val="tx1"/>
                    </a:solidFill>
                    <a:latin typeface="Assistant" pitchFamily="2" charset="-79"/>
                    <a:cs typeface="Assistant" pitchFamily="2" charset="-79"/>
                  </a:endParaRPr>
                </a:p>
                <a:p>
                  <a:pPr algn="ctr"/>
                  <a:endParaRPr lang="en-US" sz="2000">
                    <a:solidFill>
                      <a:schemeClr val="tx1"/>
                    </a:solidFill>
                    <a:latin typeface="Assistant" pitchFamily="2" charset="-79"/>
                    <a:cs typeface="Assistant" pitchFamily="2" charset="-79"/>
                  </a:endParaRPr>
                </a:p>
                <a:p>
                  <a:pPr algn="ctr"/>
                  <a:r>
                    <a:rPr lang="en-US" sz="2000">
                      <a:solidFill>
                        <a:schemeClr val="tx1"/>
                      </a:solidFill>
                      <a:latin typeface="Assistant" pitchFamily="2" charset="-79"/>
                      <a:cs typeface="Assistant" pitchFamily="2" charset="-79"/>
                    </a:rPr>
                    <a:t> </a:t>
                  </a:r>
                  <a14:m>
                    <m:oMath xmlns:m="http://schemas.openxmlformats.org/officeDocument/2006/math">
                      <m:r>
                        <a:rPr lang="en-US" sz="2000" i="1">
                          <a:solidFill>
                            <a:schemeClr val="tx1"/>
                          </a:solidFill>
                          <a:latin typeface="Cambria Math" panose="02040503050406030204" pitchFamily="18" charset="0"/>
                        </a:rPr>
                        <m:t>3∙10 =30 </m:t>
                      </m:r>
                    </m:oMath>
                  </a14:m>
                  <a:r>
                    <a:rPr lang="he-IL" sz="2000">
                      <a:solidFill>
                        <a:schemeClr val="tx1"/>
                      </a:solidFill>
                      <a:latin typeface="Assistant" pitchFamily="2" charset="-79"/>
                      <a:cs typeface="Assistant" pitchFamily="2" charset="-79"/>
                    </a:rPr>
                    <a:t> צנוניות </a:t>
                  </a:r>
                </a:p>
                <a:p>
                  <a:pPr algn="ctr"/>
                  <a:r>
                    <a:rPr lang="he-IL" sz="2000">
                      <a:solidFill>
                        <a:schemeClr val="tx1"/>
                      </a:solidFill>
                      <a:latin typeface="Assistant" pitchFamily="2" charset="-79"/>
                      <a:cs typeface="Assistant" pitchFamily="2" charset="-79"/>
                    </a:rPr>
                    <a:t> </a:t>
                  </a:r>
                  <a14:m>
                    <m:oMath xmlns:m="http://schemas.openxmlformats.org/officeDocument/2006/math">
                      <m:r>
                        <a:rPr lang="en-US" sz="2000" i="1">
                          <a:solidFill>
                            <a:schemeClr val="tx1"/>
                          </a:solidFill>
                          <a:latin typeface="Cambria Math" panose="02040503050406030204" pitchFamily="18" charset="0"/>
                        </a:rPr>
                        <m:t>4∙10= 40</m:t>
                      </m:r>
                    </m:oMath>
                  </a14:m>
                  <a:r>
                    <a:rPr lang="he-IL" sz="2000">
                      <a:solidFill>
                        <a:schemeClr val="tx1"/>
                      </a:solidFill>
                      <a:latin typeface="Assistant" pitchFamily="2" charset="-79"/>
                      <a:cs typeface="Assistant" pitchFamily="2" charset="-79"/>
                    </a:rPr>
                    <a:t> ראשי חסה</a:t>
                  </a:r>
                </a:p>
              </p:txBody>
            </p:sp>
          </mc:Choice>
          <mc:Fallback xmlns="">
            <p:sp>
              <p:nvSpPr>
                <p:cNvPr id="15" name="מלבן: פינות מעוגלות 16">
                  <a:extLst>
                    <a:ext uri="{FF2B5EF4-FFF2-40B4-BE49-F238E27FC236}">
                      <a16:creationId xmlns:a16="http://schemas.microsoft.com/office/drawing/2014/main" id="{39CD8EAF-D876-3DE9-7401-127758C4D9DC}"/>
                    </a:ext>
                  </a:extLst>
                </p:cNvPr>
                <p:cNvSpPr>
                  <a:spLocks noRot="1" noChangeAspect="1" noMove="1" noResize="1" noEditPoints="1" noAdjustHandles="1" noChangeArrowheads="1" noChangeShapeType="1" noTextEdit="1"/>
                </p:cNvSpPr>
                <p:nvPr/>
              </p:nvSpPr>
              <p:spPr>
                <a:xfrm>
                  <a:off x="10317" y="1501341"/>
                  <a:ext cx="3587262" cy="3579680"/>
                </a:xfrm>
                <a:prstGeom prst="roundRect">
                  <a:avLst>
                    <a:gd name="adj" fmla="val 1647"/>
                  </a:avLst>
                </a:prstGeom>
                <a:blipFill>
                  <a:blip r:embed="rId6"/>
                  <a:stretch>
                    <a:fillRect l="-1358" r="-340"/>
                  </a:stretch>
                </a:blipFill>
                <a:ln>
                  <a:noFill/>
                </a:ln>
              </p:spPr>
              <p:txBody>
                <a:bodyPr/>
                <a:lstStyle/>
                <a:p>
                  <a:r>
                    <a:rPr lang="en-US">
                      <a:noFill/>
                    </a:rPr>
                    <a:t> </a:t>
                  </a:r>
                </a:p>
              </p:txBody>
            </p:sp>
          </mc:Fallback>
        </mc:AlternateContent>
        <p:grpSp>
          <p:nvGrpSpPr>
            <p:cNvPr id="24" name="קבוצה 18">
              <a:extLst>
                <a:ext uri="{FF2B5EF4-FFF2-40B4-BE49-F238E27FC236}">
                  <a16:creationId xmlns:a16="http://schemas.microsoft.com/office/drawing/2014/main" id="{02A46F89-D964-9233-C144-04AEE1950241}"/>
                </a:ext>
              </a:extLst>
            </p:cNvPr>
            <p:cNvGrpSpPr/>
            <p:nvPr/>
          </p:nvGrpSpPr>
          <p:grpSpPr>
            <a:xfrm>
              <a:off x="3034145" y="1634836"/>
              <a:ext cx="415637" cy="415637"/>
              <a:chOff x="3034145" y="1634836"/>
              <a:chExt cx="415637" cy="415637"/>
            </a:xfrm>
          </p:grpSpPr>
          <p:sp>
            <p:nvSpPr>
              <p:cNvPr id="25" name="אליפסה 17">
                <a:extLst>
                  <a:ext uri="{FF2B5EF4-FFF2-40B4-BE49-F238E27FC236}">
                    <a16:creationId xmlns:a16="http://schemas.microsoft.com/office/drawing/2014/main" id="{03935DA1-C8C3-A473-72C1-F03580DA69F8}"/>
                  </a:ext>
                </a:extLst>
              </p:cNvPr>
              <p:cNvSpPr/>
              <p:nvPr/>
            </p:nvSpPr>
            <p:spPr>
              <a:xfrm>
                <a:off x="3034145" y="1634836"/>
                <a:ext cx="415637" cy="415637"/>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LID4096"/>
              </a:p>
            </p:txBody>
          </p:sp>
          <p:pic>
            <p:nvPicPr>
              <p:cNvPr id="26" name="גרפיקה 4" descr="תוו ^ כלפי מטה עם מילוי מלא">
                <a:extLst>
                  <a:ext uri="{FF2B5EF4-FFF2-40B4-BE49-F238E27FC236}">
                    <a16:creationId xmlns:a16="http://schemas.microsoft.com/office/drawing/2014/main" id="{614EABA0-5B7B-D372-23FE-225B38886CE6}"/>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3068997" y="1669688"/>
                <a:ext cx="345931" cy="345931"/>
              </a:xfrm>
              <a:prstGeom prst="rect">
                <a:avLst/>
              </a:prstGeom>
            </p:spPr>
          </p:pic>
        </p:grpSp>
      </p:grpSp>
      <p:pic>
        <p:nvPicPr>
          <p:cNvPr id="27" name="גרפיקה 12" descr="סימון תג 1 עם מילוי מלא">
            <a:extLst>
              <a:ext uri="{FF2B5EF4-FFF2-40B4-BE49-F238E27FC236}">
                <a16:creationId xmlns:a16="http://schemas.microsoft.com/office/drawing/2014/main" id="{F17152CE-09F2-D207-0AD8-EF3F40F4238B}"/>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10433707" y="986478"/>
            <a:ext cx="914400" cy="914400"/>
          </a:xfrm>
          <a:prstGeom prst="rect">
            <a:avLst/>
          </a:prstGeom>
        </p:spPr>
      </p:pic>
      <p:pic>
        <p:nvPicPr>
          <p:cNvPr id="33" name="Picture 32">
            <a:extLst>
              <a:ext uri="{FF2B5EF4-FFF2-40B4-BE49-F238E27FC236}">
                <a16:creationId xmlns:a16="http://schemas.microsoft.com/office/drawing/2014/main" id="{5E19624A-02AB-C372-0DF7-66DA9DB30164}"/>
              </a:ext>
            </a:extLst>
          </p:cNvPr>
          <p:cNvPicPr>
            <a:picLocks noChangeAspect="1"/>
          </p:cNvPicPr>
          <p:nvPr/>
        </p:nvPicPr>
        <p:blipFill>
          <a:blip r:embed="rId9" cstate="email">
            <a:extLst>
              <a:ext uri="{28A0092B-C50C-407E-A947-70E740481C1C}">
                <a14:useLocalDpi xmlns:a14="http://schemas.microsoft.com/office/drawing/2010/main"/>
              </a:ext>
            </a:extLst>
          </a:blip>
          <a:stretch>
            <a:fillRect/>
          </a:stretch>
        </p:blipFill>
        <p:spPr>
          <a:xfrm>
            <a:off x="3761611" y="1272016"/>
            <a:ext cx="5231064" cy="3923298"/>
          </a:xfrm>
          <a:prstGeom prst="rect">
            <a:avLst/>
          </a:prstGeom>
        </p:spPr>
      </p:pic>
      <p:pic>
        <p:nvPicPr>
          <p:cNvPr id="29" name="Picture 28">
            <a:extLst>
              <a:ext uri="{FF2B5EF4-FFF2-40B4-BE49-F238E27FC236}">
                <a16:creationId xmlns:a16="http://schemas.microsoft.com/office/drawing/2014/main" id="{281A20C7-B07D-704C-35A0-D79052EA9FEE}"/>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3390268" y="3544948"/>
            <a:ext cx="1023092" cy="1779896"/>
          </a:xfrm>
          <a:prstGeom prst="rect">
            <a:avLst/>
          </a:prstGeom>
        </p:spPr>
      </p:pic>
      <p:sp>
        <p:nvSpPr>
          <p:cNvPr id="31" name="מלבן 7">
            <a:extLst>
              <a:ext uri="{FF2B5EF4-FFF2-40B4-BE49-F238E27FC236}">
                <a16:creationId xmlns:a16="http://schemas.microsoft.com/office/drawing/2014/main" id="{2E5D476C-0DAF-963F-581B-74BB7795BDC4}"/>
              </a:ext>
            </a:extLst>
          </p:cNvPr>
          <p:cNvSpPr/>
          <p:nvPr/>
        </p:nvSpPr>
        <p:spPr>
          <a:xfrm>
            <a:off x="11896440" y="332438"/>
            <a:ext cx="45719" cy="5474677"/>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LID4096"/>
          </a:p>
        </p:txBody>
      </p:sp>
      <p:sp>
        <p:nvSpPr>
          <p:cNvPr id="34" name="מלבן 8">
            <a:extLst>
              <a:ext uri="{FF2B5EF4-FFF2-40B4-BE49-F238E27FC236}">
                <a16:creationId xmlns:a16="http://schemas.microsoft.com/office/drawing/2014/main" id="{D84DB418-B178-5321-A14D-0FD622363CE3}"/>
              </a:ext>
            </a:extLst>
          </p:cNvPr>
          <p:cNvSpPr/>
          <p:nvPr/>
        </p:nvSpPr>
        <p:spPr>
          <a:xfrm>
            <a:off x="11896440" y="907925"/>
            <a:ext cx="45719" cy="3526971"/>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LID4096"/>
          </a:p>
        </p:txBody>
      </p:sp>
    </p:spTree>
    <p:custDataLst>
      <p:tags r:id="rId1"/>
    </p:custDataLst>
    <p:extLst>
      <p:ext uri="{BB962C8B-B14F-4D97-AF65-F5344CB8AC3E}">
        <p14:creationId xmlns:p14="http://schemas.microsoft.com/office/powerpoint/2010/main" val="114686966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69CDB9-8C96-45F3-B15F-0A3E03F0C319}"/>
            </a:ext>
          </a:extLst>
        </p:cNvPr>
        <p:cNvGrpSpPr/>
        <p:nvPr/>
      </p:nvGrpSpPr>
      <p:grpSpPr>
        <a:xfrm>
          <a:off x="0" y="0"/>
          <a:ext cx="0" cy="0"/>
          <a:chOff x="0" y="0"/>
          <a:chExt cx="0" cy="0"/>
        </a:xfrm>
      </p:grpSpPr>
      <p:sp>
        <p:nvSpPr>
          <p:cNvPr id="5" name="תיבת טקסט 4">
            <a:extLst>
              <a:ext uri="{FF2B5EF4-FFF2-40B4-BE49-F238E27FC236}">
                <a16:creationId xmlns:a16="http://schemas.microsoft.com/office/drawing/2014/main" id="{DE4D0BB2-C54D-F155-BB02-4526701FE913}"/>
              </a:ext>
            </a:extLst>
          </p:cNvPr>
          <p:cNvSpPr txBox="1"/>
          <p:nvPr/>
        </p:nvSpPr>
        <p:spPr>
          <a:xfrm>
            <a:off x="1243584" y="537249"/>
            <a:ext cx="10031231" cy="707886"/>
          </a:xfrm>
          <a:prstGeom prst="rect">
            <a:avLst/>
          </a:prstGeom>
          <a:noFill/>
        </p:spPr>
        <p:txBody>
          <a:bodyPr wrap="square" rtlCol="0">
            <a:spAutoFit/>
          </a:bodyPr>
          <a:lstStyle/>
          <a:p>
            <a:r>
              <a:rPr lang="he-IL" sz="2000">
                <a:latin typeface="Assistant" pitchFamily="2" charset="-79"/>
                <a:cs typeface="Assistant" pitchFamily="2" charset="-79"/>
              </a:rPr>
              <a:t>יעל מציעה דרך קלה יותר לחישוב:</a:t>
            </a:r>
          </a:p>
          <a:p>
            <a:endParaRPr lang="he-IL" sz="2000">
              <a:latin typeface="Assistant" pitchFamily="2" charset="-79"/>
              <a:cs typeface="Assistant" pitchFamily="2" charset="-79"/>
            </a:endParaRPr>
          </a:p>
        </p:txBody>
      </p:sp>
      <p:cxnSp>
        <p:nvCxnSpPr>
          <p:cNvPr id="7" name="מחבר ישר 6">
            <a:extLst>
              <a:ext uri="{FF2B5EF4-FFF2-40B4-BE49-F238E27FC236}">
                <a16:creationId xmlns:a16="http://schemas.microsoft.com/office/drawing/2014/main" id="{F1591EC5-8615-6430-91E0-518A01BD05CA}"/>
              </a:ext>
            </a:extLst>
          </p:cNvPr>
          <p:cNvCxnSpPr>
            <a:cxnSpLocks/>
          </p:cNvCxnSpPr>
          <p:nvPr/>
        </p:nvCxnSpPr>
        <p:spPr>
          <a:xfrm>
            <a:off x="0" y="6079252"/>
            <a:ext cx="12192000" cy="0"/>
          </a:xfrm>
          <a:prstGeom prst="line">
            <a:avLst/>
          </a:prstGeom>
          <a:ln>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pic>
        <p:nvPicPr>
          <p:cNvPr id="13" name="Picture 12">
            <a:extLst>
              <a:ext uri="{FF2B5EF4-FFF2-40B4-BE49-F238E27FC236}">
                <a16:creationId xmlns:a16="http://schemas.microsoft.com/office/drawing/2014/main" id="{63690787-E1A8-3B19-5581-B33B907CE30C}"/>
              </a:ext>
            </a:extLst>
          </p:cNvPr>
          <p:cNvPicPr>
            <a:picLocks noChangeAspect="1"/>
          </p:cNvPicPr>
          <p:nvPr/>
        </p:nvPicPr>
        <p:blipFill>
          <a:blip r:embed="rId4"/>
          <a:stretch>
            <a:fillRect/>
          </a:stretch>
        </p:blipFill>
        <p:spPr>
          <a:xfrm>
            <a:off x="10371417" y="6124170"/>
            <a:ext cx="1820583" cy="622831"/>
          </a:xfrm>
          <a:prstGeom prst="rect">
            <a:avLst/>
          </a:prstGeom>
        </p:spPr>
      </p:pic>
      <p:pic>
        <p:nvPicPr>
          <p:cNvPr id="18" name="תמונה 1">
            <a:extLst>
              <a:ext uri="{FF2B5EF4-FFF2-40B4-BE49-F238E27FC236}">
                <a16:creationId xmlns:a16="http://schemas.microsoft.com/office/drawing/2014/main" id="{3304F6BF-2511-4559-49DF-D444C49EEE47}"/>
              </a:ext>
            </a:extLst>
          </p:cNvPr>
          <p:cNvPicPr>
            <a:picLocks noChangeAspect="1"/>
          </p:cNvPicPr>
          <p:nvPr/>
        </p:nvPicPr>
        <p:blipFill>
          <a:blip r:embed="rId5">
            <a:extLst>
              <a:ext uri="{28A0092B-C50C-407E-A947-70E740481C1C}">
                <a14:useLocalDpi xmlns:a14="http://schemas.microsoft.com/office/drawing/2010/main"/>
              </a:ext>
            </a:extLst>
          </a:blip>
          <a:stretch>
            <a:fillRect/>
          </a:stretch>
        </p:blipFill>
        <p:spPr>
          <a:xfrm>
            <a:off x="0" y="57121"/>
            <a:ext cx="933869" cy="721626"/>
          </a:xfrm>
          <a:prstGeom prst="rect">
            <a:avLst/>
          </a:prstGeom>
        </p:spPr>
      </p:pic>
      <p:pic>
        <p:nvPicPr>
          <p:cNvPr id="3" name="Picture 2">
            <a:extLst>
              <a:ext uri="{FF2B5EF4-FFF2-40B4-BE49-F238E27FC236}">
                <a16:creationId xmlns:a16="http://schemas.microsoft.com/office/drawing/2014/main" id="{902A5221-633A-1830-F8CB-2F60DE4EAC28}"/>
              </a:ext>
            </a:extLst>
          </p:cNvPr>
          <p:cNvPicPr>
            <a:picLocks noChangeAspect="1"/>
          </p:cNvPicPr>
          <p:nvPr/>
        </p:nvPicPr>
        <p:blipFill>
          <a:blip r:embed="rId6" cstate="email">
            <a:extLst>
              <a:ext uri="{28A0092B-C50C-407E-A947-70E740481C1C}">
                <a14:useLocalDpi xmlns:a14="http://schemas.microsoft.com/office/drawing/2010/main"/>
              </a:ext>
            </a:extLst>
          </a:blip>
          <a:srcRect/>
          <a:stretch/>
        </p:blipFill>
        <p:spPr>
          <a:xfrm>
            <a:off x="1274195" y="1953021"/>
            <a:ext cx="4985004" cy="3323336"/>
          </a:xfrm>
          <a:prstGeom prst="rect">
            <a:avLst/>
          </a:prstGeom>
        </p:spPr>
      </p:pic>
      <mc:AlternateContent xmlns:mc="http://schemas.openxmlformats.org/markup-compatibility/2006" xmlns:a14="http://schemas.microsoft.com/office/drawing/2010/main">
        <mc:Choice Requires="a14">
          <p:sp>
            <p:nvSpPr>
              <p:cNvPr id="8" name="בועת דיבור: מלבן 17">
                <a:extLst>
                  <a:ext uri="{FF2B5EF4-FFF2-40B4-BE49-F238E27FC236}">
                    <a16:creationId xmlns:a16="http://schemas.microsoft.com/office/drawing/2014/main" id="{0D6C2754-1F34-FAEC-7605-41A7480F830E}"/>
                  </a:ext>
                </a:extLst>
              </p:cNvPr>
              <p:cNvSpPr/>
              <p:nvPr/>
            </p:nvSpPr>
            <p:spPr>
              <a:xfrm>
                <a:off x="5964750" y="1150125"/>
                <a:ext cx="5479720" cy="3223348"/>
              </a:xfrm>
              <a:prstGeom prst="wedgeRectCallout">
                <a:avLst>
                  <a:gd name="adj1" fmla="val -67983"/>
                  <a:gd name="adj2" fmla="val 8783"/>
                </a:avLst>
              </a:prstGeom>
              <a:solidFill>
                <a:schemeClr val="accent4">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he-IL" sz="2000">
                    <a:solidFill>
                      <a:schemeClr val="tx1"/>
                    </a:solidFill>
                    <a:latin typeface="Assistant" pitchFamily="2" charset="-79"/>
                    <a:cs typeface="Assistant" pitchFamily="2" charset="-79"/>
                  </a:rPr>
                  <a:t>בגלל שהיחס הוא 4</a:t>
                </a:r>
                <a:r>
                  <a:rPr lang="en-US" sz="2000">
                    <a:solidFill>
                      <a:schemeClr val="tx1"/>
                    </a:solidFill>
                    <a:latin typeface="Assistant" pitchFamily="2" charset="-79"/>
                    <a:cs typeface="Assistant" pitchFamily="2" charset="-79"/>
                  </a:rPr>
                  <a:t> : </a:t>
                </a:r>
                <a:r>
                  <a:rPr lang="he-IL" sz="2000">
                    <a:solidFill>
                      <a:schemeClr val="tx1"/>
                    </a:solidFill>
                    <a:latin typeface="Assistant" pitchFamily="2" charset="-79"/>
                    <a:cs typeface="Assistant" pitchFamily="2" charset="-79"/>
                  </a:rPr>
                  <a:t>3, אז ה"שלם" שלנו הוא 7 (3 + 4).    עוד ידוע לנו שזרעי הצנוניות מהווים </a:t>
                </a:r>
                <a14:m>
                  <m:oMath xmlns:m="http://schemas.openxmlformats.org/officeDocument/2006/math">
                    <m:f>
                      <m:fPr>
                        <m:ctrlPr>
                          <a:rPr lang="en-US" sz="2000" i="1">
                            <a:solidFill>
                              <a:schemeClr val="tx1"/>
                            </a:solidFill>
                            <a:latin typeface="Cambria Math" panose="02040503050406030204" pitchFamily="18" charset="0"/>
                          </a:rPr>
                        </m:ctrlPr>
                      </m:fPr>
                      <m:num>
                        <m:r>
                          <a:rPr lang="en-US" sz="2000" i="1">
                            <a:solidFill>
                              <a:schemeClr val="tx1"/>
                            </a:solidFill>
                            <a:latin typeface="Cambria Math" panose="02040503050406030204" pitchFamily="18" charset="0"/>
                          </a:rPr>
                          <m:t>3</m:t>
                        </m:r>
                      </m:num>
                      <m:den>
                        <m:r>
                          <a:rPr lang="en-US" sz="2000" i="1">
                            <a:solidFill>
                              <a:schemeClr val="tx1"/>
                            </a:solidFill>
                            <a:latin typeface="Cambria Math" panose="02040503050406030204" pitchFamily="18" charset="0"/>
                          </a:rPr>
                          <m:t>7</m:t>
                        </m:r>
                      </m:den>
                    </m:f>
                  </m:oMath>
                </a14:m>
                <a:r>
                  <a:rPr lang="en-US" sz="2000">
                    <a:solidFill>
                      <a:schemeClr val="tx1"/>
                    </a:solidFill>
                    <a:latin typeface="Assistant" pitchFamily="2" charset="-79"/>
                    <a:cs typeface="Assistant" pitchFamily="2" charset="-79"/>
                  </a:rPr>
                  <a:t> </a:t>
                </a:r>
                <a:r>
                  <a:rPr lang="he-IL" sz="2000">
                    <a:solidFill>
                      <a:schemeClr val="tx1"/>
                    </a:solidFill>
                    <a:latin typeface="Assistant" pitchFamily="2" charset="-79"/>
                    <a:cs typeface="Assistant" pitchFamily="2" charset="-79"/>
                  </a:rPr>
                  <a:t> מכלל הזרעים.</a:t>
                </a:r>
              </a:p>
              <a:p>
                <a:endParaRPr lang="he-IL" sz="2000">
                  <a:solidFill>
                    <a:schemeClr val="tx1"/>
                  </a:solidFill>
                  <a:latin typeface="Assistant" pitchFamily="2" charset="-79"/>
                  <a:cs typeface="Assistant" pitchFamily="2" charset="-79"/>
                </a:endParaRPr>
              </a:p>
              <a:p>
                <a:r>
                  <a:rPr lang="he-IL" sz="2000">
                    <a:solidFill>
                      <a:schemeClr val="tx1"/>
                    </a:solidFill>
                    <a:latin typeface="Assistant" pitchFamily="2" charset="-79"/>
                    <a:cs typeface="Assistant" pitchFamily="2" charset="-79"/>
                  </a:rPr>
                  <a:t>יש לנו </a:t>
                </a:r>
                <a:r>
                  <a:rPr lang="en-US" sz="2000">
                    <a:solidFill>
                      <a:schemeClr val="tx1"/>
                    </a:solidFill>
                    <a:latin typeface="Assistant" pitchFamily="2" charset="-79"/>
                    <a:cs typeface="Assistant" pitchFamily="2" charset="-79"/>
                  </a:rPr>
                  <a:t>70</a:t>
                </a:r>
                <a:r>
                  <a:rPr lang="he-IL" sz="2000">
                    <a:solidFill>
                      <a:schemeClr val="tx1"/>
                    </a:solidFill>
                    <a:latin typeface="Assistant" pitchFamily="2" charset="-79"/>
                    <a:cs typeface="Assistant" pitchFamily="2" charset="-79"/>
                  </a:rPr>
                  <a:t> זרעים, לכן נוכל לחשב לפי החלק שמצאנו:</a:t>
                </a:r>
              </a:p>
              <a:p>
                <a:endParaRPr lang="en-US" sz="2000">
                  <a:solidFill>
                    <a:schemeClr val="tx1"/>
                  </a:solidFill>
                  <a:latin typeface="Assistant" pitchFamily="2" charset="-79"/>
                  <a:cs typeface="Assistant" pitchFamily="2" charset="-79"/>
                </a:endParaRPr>
              </a:p>
              <a:p>
                <a:r>
                  <a:rPr lang="he-IL" sz="2000">
                    <a:solidFill>
                      <a:schemeClr val="tx1"/>
                    </a:solidFill>
                    <a:latin typeface="Assistant" pitchFamily="2" charset="-79"/>
                    <a:cs typeface="Assistant" pitchFamily="2" charset="-79"/>
                  </a:rPr>
                  <a:t> </a:t>
                </a:r>
                <a14:m>
                  <m:oMath xmlns:m="http://schemas.openxmlformats.org/officeDocument/2006/math">
                    <m:f>
                      <m:fPr>
                        <m:ctrlPr>
                          <a:rPr lang="en-US" sz="2000" i="1">
                            <a:solidFill>
                              <a:schemeClr val="tx1"/>
                            </a:solidFill>
                            <a:latin typeface="Cambria Math" panose="02040503050406030204" pitchFamily="18" charset="0"/>
                          </a:rPr>
                        </m:ctrlPr>
                      </m:fPr>
                      <m:num>
                        <m:r>
                          <a:rPr lang="en-US" sz="2000" i="1">
                            <a:solidFill>
                              <a:schemeClr val="tx1"/>
                            </a:solidFill>
                            <a:latin typeface="Cambria Math" panose="02040503050406030204" pitchFamily="18" charset="0"/>
                          </a:rPr>
                          <m:t>3</m:t>
                        </m:r>
                      </m:num>
                      <m:den>
                        <m:r>
                          <a:rPr lang="en-US" sz="2000" i="1">
                            <a:solidFill>
                              <a:schemeClr val="tx1"/>
                            </a:solidFill>
                            <a:latin typeface="Cambria Math" panose="02040503050406030204" pitchFamily="18" charset="0"/>
                          </a:rPr>
                          <m:t>7</m:t>
                        </m:r>
                      </m:den>
                    </m:f>
                    <m:r>
                      <a:rPr lang="en-US" sz="2000" i="1" smtClean="0">
                        <a:solidFill>
                          <a:schemeClr val="tx1"/>
                        </a:solidFill>
                        <a:latin typeface="Cambria Math" panose="02040503050406030204" pitchFamily="18" charset="0"/>
                        <a:ea typeface="Cambria Math" panose="02040503050406030204" pitchFamily="18" charset="0"/>
                      </a:rPr>
                      <m:t>∙</m:t>
                    </m:r>
                    <m:r>
                      <a:rPr lang="en-US" sz="2000" i="1">
                        <a:solidFill>
                          <a:schemeClr val="tx1"/>
                        </a:solidFill>
                        <a:latin typeface="Cambria Math" panose="02040503050406030204" pitchFamily="18" charset="0"/>
                      </a:rPr>
                      <m:t>70=30</m:t>
                    </m:r>
                  </m:oMath>
                </a14:m>
                <a:r>
                  <a:rPr lang="he-IL" sz="2000">
                    <a:solidFill>
                      <a:schemeClr val="tx1"/>
                    </a:solidFill>
                    <a:latin typeface="Assistant" pitchFamily="2" charset="-79"/>
                    <a:cs typeface="Assistant" pitchFamily="2" charset="-79"/>
                  </a:rPr>
                  <a:t>  זרעי צנוניות.</a:t>
                </a:r>
              </a:p>
              <a:p>
                <a14:m>
                  <m:oMath xmlns:m="http://schemas.openxmlformats.org/officeDocument/2006/math">
                    <m:f>
                      <m:fPr>
                        <m:ctrlPr>
                          <a:rPr lang="en-US" sz="2000" i="1">
                            <a:solidFill>
                              <a:schemeClr val="tx1"/>
                            </a:solidFill>
                            <a:latin typeface="Cambria Math" panose="02040503050406030204" pitchFamily="18" charset="0"/>
                          </a:rPr>
                        </m:ctrlPr>
                      </m:fPr>
                      <m:num>
                        <m:r>
                          <a:rPr lang="en-US" sz="2000" i="1">
                            <a:solidFill>
                              <a:schemeClr val="tx1"/>
                            </a:solidFill>
                            <a:latin typeface="Cambria Math" panose="02040503050406030204" pitchFamily="18" charset="0"/>
                          </a:rPr>
                          <m:t>4</m:t>
                        </m:r>
                      </m:num>
                      <m:den>
                        <m:r>
                          <a:rPr lang="en-US" sz="2000" i="1">
                            <a:solidFill>
                              <a:schemeClr val="tx1"/>
                            </a:solidFill>
                            <a:latin typeface="Cambria Math" panose="02040503050406030204" pitchFamily="18" charset="0"/>
                          </a:rPr>
                          <m:t>7</m:t>
                        </m:r>
                      </m:den>
                    </m:f>
                    <m:r>
                      <a:rPr lang="en-US" sz="2000" i="1" smtClean="0">
                        <a:solidFill>
                          <a:schemeClr val="tx1"/>
                        </a:solidFill>
                        <a:latin typeface="Cambria Math" panose="02040503050406030204" pitchFamily="18" charset="0"/>
                        <a:ea typeface="Cambria Math" panose="02040503050406030204" pitchFamily="18" charset="0"/>
                      </a:rPr>
                      <m:t>∙</m:t>
                    </m:r>
                    <m:r>
                      <a:rPr lang="en-US" sz="2000" i="1">
                        <a:solidFill>
                          <a:schemeClr val="tx1"/>
                        </a:solidFill>
                        <a:latin typeface="Cambria Math" panose="02040503050406030204" pitchFamily="18" charset="0"/>
                      </a:rPr>
                      <m:t>70=40</m:t>
                    </m:r>
                  </m:oMath>
                </a14:m>
                <a:r>
                  <a:rPr lang="he-IL" sz="2000">
                    <a:solidFill>
                      <a:schemeClr val="tx1"/>
                    </a:solidFill>
                    <a:latin typeface="Assistant" pitchFamily="2" charset="-79"/>
                    <a:cs typeface="Assistant" pitchFamily="2" charset="-79"/>
                  </a:rPr>
                  <a:t>  זרעי חסה.</a:t>
                </a:r>
                <a:endParaRPr lang="en-US" sz="2000">
                  <a:solidFill>
                    <a:schemeClr val="tx1"/>
                  </a:solidFill>
                  <a:latin typeface="Assistant" pitchFamily="2" charset="-79"/>
                  <a:cs typeface="Assistant" pitchFamily="2" charset="-79"/>
                </a:endParaRPr>
              </a:p>
            </p:txBody>
          </p:sp>
        </mc:Choice>
        <mc:Fallback xmlns="">
          <p:sp>
            <p:nvSpPr>
              <p:cNvPr id="8" name="בועת דיבור: מלבן 17">
                <a:extLst>
                  <a:ext uri="{FF2B5EF4-FFF2-40B4-BE49-F238E27FC236}">
                    <a16:creationId xmlns:a16="http://schemas.microsoft.com/office/drawing/2014/main" id="{0D6C2754-1F34-FAEC-7605-41A7480F830E}"/>
                  </a:ext>
                </a:extLst>
              </p:cNvPr>
              <p:cNvSpPr>
                <a:spLocks noRot="1" noChangeAspect="1" noMove="1" noResize="1" noEditPoints="1" noAdjustHandles="1" noChangeArrowheads="1" noChangeShapeType="1" noTextEdit="1"/>
              </p:cNvSpPr>
              <p:nvPr/>
            </p:nvSpPr>
            <p:spPr>
              <a:xfrm>
                <a:off x="5964750" y="1150125"/>
                <a:ext cx="5479720" cy="3223348"/>
              </a:xfrm>
              <a:prstGeom prst="wedgeRectCallout">
                <a:avLst>
                  <a:gd name="adj1" fmla="val -67983"/>
                  <a:gd name="adj2" fmla="val 8783"/>
                </a:avLst>
              </a:prstGeom>
              <a:blipFill>
                <a:blip r:embed="rId7"/>
                <a:stretch>
                  <a:fillRect r="-1037"/>
                </a:stretch>
              </a:blipFill>
              <a:ln>
                <a:noFill/>
              </a:ln>
            </p:spPr>
            <p:txBody>
              <a:bodyPr/>
              <a:lstStyle/>
              <a:p>
                <a:r>
                  <a:rPr lang="en-US">
                    <a:noFill/>
                  </a:rPr>
                  <a:t> </a:t>
                </a:r>
              </a:p>
            </p:txBody>
          </p:sp>
        </mc:Fallback>
      </mc:AlternateContent>
      <p:sp>
        <p:nvSpPr>
          <p:cNvPr id="14" name="תיבת טקסט 4">
            <a:extLst>
              <a:ext uri="{FF2B5EF4-FFF2-40B4-BE49-F238E27FC236}">
                <a16:creationId xmlns:a16="http://schemas.microsoft.com/office/drawing/2014/main" id="{70E617E0-37AF-FBE9-0722-881CB2F3C09D}"/>
              </a:ext>
            </a:extLst>
          </p:cNvPr>
          <p:cNvSpPr txBox="1"/>
          <p:nvPr/>
        </p:nvSpPr>
        <p:spPr>
          <a:xfrm>
            <a:off x="6598509" y="4921638"/>
            <a:ext cx="4683200" cy="1015663"/>
          </a:xfrm>
          <a:prstGeom prst="rect">
            <a:avLst/>
          </a:prstGeom>
          <a:noFill/>
        </p:spPr>
        <p:txBody>
          <a:bodyPr wrap="square" rtlCol="0">
            <a:spAutoFit/>
          </a:bodyPr>
          <a:lstStyle/>
          <a:p>
            <a:r>
              <a:rPr lang="he-IL" sz="2000">
                <a:latin typeface="Assistant" pitchFamily="2" charset="-79"/>
                <a:cs typeface="Assistant" pitchFamily="2" charset="-79"/>
              </a:rPr>
              <a:t>ניתן לראות שהדרך של יעל מובילה אותנו לאותה תוצאה, וזו בעצם הנוסחה בה נשתמש לחישוב הגודל של כל חלק בקבוצה.</a:t>
            </a:r>
          </a:p>
        </p:txBody>
      </p:sp>
      <p:sp>
        <p:nvSpPr>
          <p:cNvPr id="2" name="בועת דיבור: מלבן 17">
            <a:extLst>
              <a:ext uri="{FF2B5EF4-FFF2-40B4-BE49-F238E27FC236}">
                <a16:creationId xmlns:a16="http://schemas.microsoft.com/office/drawing/2014/main" id="{85FBA8EB-99FC-26E7-4F39-C273E41AD19D}"/>
              </a:ext>
            </a:extLst>
          </p:cNvPr>
          <p:cNvSpPr/>
          <p:nvPr/>
        </p:nvSpPr>
        <p:spPr>
          <a:xfrm>
            <a:off x="2067339" y="536550"/>
            <a:ext cx="1765685" cy="1227151"/>
          </a:xfrm>
          <a:prstGeom prst="wedgeRectCallout">
            <a:avLst>
              <a:gd name="adj1" fmla="val 5511"/>
              <a:gd name="adj2" fmla="val 105380"/>
            </a:avLst>
          </a:prstGeom>
          <a:solidFill>
            <a:schemeClr val="accent4">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he-IL" sz="2000" err="1">
                <a:solidFill>
                  <a:schemeClr val="tx1"/>
                </a:solidFill>
                <a:latin typeface="Assistant" pitchFamily="2" charset="-79"/>
                <a:cs typeface="Assistant" pitchFamily="2" charset="-79"/>
              </a:rPr>
              <a:t>טווווב</a:t>
            </a:r>
            <a:endParaRPr lang="he-IL" sz="2000">
              <a:solidFill>
                <a:schemeClr val="tx1"/>
              </a:solidFill>
              <a:latin typeface="Assistant" pitchFamily="2" charset="-79"/>
              <a:cs typeface="Assistant" pitchFamily="2" charset="-79"/>
            </a:endParaRPr>
          </a:p>
          <a:p>
            <a:r>
              <a:rPr lang="he-IL" sz="2000">
                <a:solidFill>
                  <a:schemeClr val="tx1"/>
                </a:solidFill>
                <a:latin typeface="Assistant" pitchFamily="2" charset="-79"/>
                <a:cs typeface="Assistant" pitchFamily="2" charset="-79"/>
              </a:rPr>
              <a:t>את גאונה!</a:t>
            </a:r>
            <a:endParaRPr lang="en-US" sz="2000">
              <a:solidFill>
                <a:schemeClr val="tx1"/>
              </a:solidFill>
              <a:latin typeface="Assistant" pitchFamily="2" charset="-79"/>
              <a:cs typeface="Assistant" pitchFamily="2" charset="-79"/>
            </a:endParaRPr>
          </a:p>
        </p:txBody>
      </p:sp>
      <p:sp>
        <p:nvSpPr>
          <p:cNvPr id="6" name="מלבן 7">
            <a:extLst>
              <a:ext uri="{FF2B5EF4-FFF2-40B4-BE49-F238E27FC236}">
                <a16:creationId xmlns:a16="http://schemas.microsoft.com/office/drawing/2014/main" id="{D0E25097-B674-9252-7B35-6645167D1FAF}"/>
              </a:ext>
            </a:extLst>
          </p:cNvPr>
          <p:cNvSpPr/>
          <p:nvPr/>
        </p:nvSpPr>
        <p:spPr>
          <a:xfrm>
            <a:off x="11896440" y="332438"/>
            <a:ext cx="45719" cy="5474677"/>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LID4096"/>
          </a:p>
        </p:txBody>
      </p:sp>
      <p:sp>
        <p:nvSpPr>
          <p:cNvPr id="11" name="מלבן 8">
            <a:extLst>
              <a:ext uri="{FF2B5EF4-FFF2-40B4-BE49-F238E27FC236}">
                <a16:creationId xmlns:a16="http://schemas.microsoft.com/office/drawing/2014/main" id="{FDB6D1F3-4DD5-1A28-CFC8-68B90A31CCF9}"/>
              </a:ext>
            </a:extLst>
          </p:cNvPr>
          <p:cNvSpPr/>
          <p:nvPr/>
        </p:nvSpPr>
        <p:spPr>
          <a:xfrm>
            <a:off x="11891469" y="1394667"/>
            <a:ext cx="45719" cy="3526971"/>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LID4096"/>
          </a:p>
        </p:txBody>
      </p:sp>
      <p:pic>
        <p:nvPicPr>
          <p:cNvPr id="16" name="תמונה 3">
            <a:extLst>
              <a:ext uri="{FF2B5EF4-FFF2-40B4-BE49-F238E27FC236}">
                <a16:creationId xmlns:a16="http://schemas.microsoft.com/office/drawing/2014/main" id="{091C2A58-BA85-13AB-74F0-7970E58952A0}"/>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192984" y="6236080"/>
            <a:ext cx="1777778" cy="495238"/>
          </a:xfrm>
          <a:prstGeom prst="rect">
            <a:avLst/>
          </a:prstGeom>
        </p:spPr>
      </p:pic>
    </p:spTree>
    <p:custDataLst>
      <p:tags r:id="rId1"/>
    </p:custDataLst>
    <p:extLst>
      <p:ext uri="{BB962C8B-B14F-4D97-AF65-F5344CB8AC3E}">
        <p14:creationId xmlns:p14="http://schemas.microsoft.com/office/powerpoint/2010/main" val="8958226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D1C2B9-5B83-F91C-2F61-43EF1C24F495}"/>
            </a:ext>
          </a:extLst>
        </p:cNvPr>
        <p:cNvGrpSpPr/>
        <p:nvPr/>
      </p:nvGrpSpPr>
      <p:grpSpPr>
        <a:xfrm>
          <a:off x="0" y="0"/>
          <a:ext cx="0" cy="0"/>
          <a:chOff x="0" y="0"/>
          <a:chExt cx="0" cy="0"/>
        </a:xfrm>
      </p:grpSpPr>
      <p:cxnSp>
        <p:nvCxnSpPr>
          <p:cNvPr id="7" name="מחבר ישר 6">
            <a:extLst>
              <a:ext uri="{FF2B5EF4-FFF2-40B4-BE49-F238E27FC236}">
                <a16:creationId xmlns:a16="http://schemas.microsoft.com/office/drawing/2014/main" id="{58AE648D-07F5-4BAB-4DB7-CF4C25846C79}"/>
              </a:ext>
            </a:extLst>
          </p:cNvPr>
          <p:cNvCxnSpPr>
            <a:cxnSpLocks/>
          </p:cNvCxnSpPr>
          <p:nvPr/>
        </p:nvCxnSpPr>
        <p:spPr>
          <a:xfrm>
            <a:off x="0" y="6079252"/>
            <a:ext cx="12192000" cy="0"/>
          </a:xfrm>
          <a:prstGeom prst="line">
            <a:avLst/>
          </a:prstGeom>
          <a:ln>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19" name="מלבן: פינות מעוגלות 18">
            <a:extLst>
              <a:ext uri="{FF2B5EF4-FFF2-40B4-BE49-F238E27FC236}">
                <a16:creationId xmlns:a16="http://schemas.microsoft.com/office/drawing/2014/main" id="{4ED30113-407C-9B0B-1C5F-1112FD914DA5}"/>
              </a:ext>
            </a:extLst>
          </p:cNvPr>
          <p:cNvSpPr/>
          <p:nvPr/>
        </p:nvSpPr>
        <p:spPr>
          <a:xfrm>
            <a:off x="268356" y="6182143"/>
            <a:ext cx="1798983" cy="506891"/>
          </a:xfrm>
          <a:prstGeom prst="roundRect">
            <a:avLst>
              <a:gd name="adj" fmla="val 50000"/>
            </a:avLst>
          </a:prstGeom>
          <a:solidFill>
            <a:schemeClr val="bg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he-IL">
                <a:latin typeface="Assistant" pitchFamily="2" charset="-79"/>
                <a:cs typeface="Assistant" pitchFamily="2" charset="-79"/>
              </a:rPr>
              <a:t>צדקתי? </a:t>
            </a:r>
            <a:endParaRPr lang="LID4096">
              <a:latin typeface="Assistant" pitchFamily="2" charset="-79"/>
              <a:cs typeface="Assistant" pitchFamily="2" charset="-79"/>
            </a:endParaRPr>
          </a:p>
        </p:txBody>
      </p:sp>
      <p:pic>
        <p:nvPicPr>
          <p:cNvPr id="13" name="Picture 12">
            <a:extLst>
              <a:ext uri="{FF2B5EF4-FFF2-40B4-BE49-F238E27FC236}">
                <a16:creationId xmlns:a16="http://schemas.microsoft.com/office/drawing/2014/main" id="{88867A61-5EBF-061D-B680-5DC42104B901}"/>
              </a:ext>
            </a:extLst>
          </p:cNvPr>
          <p:cNvPicPr>
            <a:picLocks noChangeAspect="1"/>
          </p:cNvPicPr>
          <p:nvPr/>
        </p:nvPicPr>
        <p:blipFill>
          <a:blip r:embed="rId4"/>
          <a:stretch>
            <a:fillRect/>
          </a:stretch>
        </p:blipFill>
        <p:spPr>
          <a:xfrm>
            <a:off x="10371417" y="6124170"/>
            <a:ext cx="1820583" cy="622831"/>
          </a:xfrm>
          <a:prstGeom prst="rect">
            <a:avLst/>
          </a:prstGeom>
        </p:spPr>
      </p:pic>
      <p:pic>
        <p:nvPicPr>
          <p:cNvPr id="18" name="תמונה 1">
            <a:extLst>
              <a:ext uri="{FF2B5EF4-FFF2-40B4-BE49-F238E27FC236}">
                <a16:creationId xmlns:a16="http://schemas.microsoft.com/office/drawing/2014/main" id="{33191239-C3AF-AFD0-6C5D-DFC13C95E9A7}"/>
              </a:ext>
            </a:extLst>
          </p:cNvPr>
          <p:cNvPicPr>
            <a:picLocks noChangeAspect="1"/>
          </p:cNvPicPr>
          <p:nvPr/>
        </p:nvPicPr>
        <p:blipFill>
          <a:blip r:embed="rId5">
            <a:extLst>
              <a:ext uri="{28A0092B-C50C-407E-A947-70E740481C1C}">
                <a14:useLocalDpi xmlns:a14="http://schemas.microsoft.com/office/drawing/2010/main"/>
              </a:ext>
            </a:extLst>
          </a:blip>
          <a:stretch>
            <a:fillRect/>
          </a:stretch>
        </p:blipFill>
        <p:spPr>
          <a:xfrm>
            <a:off x="0" y="57121"/>
            <a:ext cx="933869" cy="721626"/>
          </a:xfrm>
          <a:prstGeom prst="rect">
            <a:avLst/>
          </a:prstGeom>
        </p:spPr>
      </p:pic>
      <p:sp>
        <p:nvSpPr>
          <p:cNvPr id="4" name="מלבן: פינות מעוגלות 6">
            <a:extLst>
              <a:ext uri="{FF2B5EF4-FFF2-40B4-BE49-F238E27FC236}">
                <a16:creationId xmlns:a16="http://schemas.microsoft.com/office/drawing/2014/main" id="{E43347B9-1193-EC2C-CFD8-21B97D3CCEBF}"/>
              </a:ext>
            </a:extLst>
          </p:cNvPr>
          <p:cNvSpPr/>
          <p:nvPr/>
        </p:nvSpPr>
        <p:spPr>
          <a:xfrm>
            <a:off x="2404460" y="518989"/>
            <a:ext cx="9068063" cy="755834"/>
          </a:xfrm>
          <a:prstGeom prst="roundRect">
            <a:avLst>
              <a:gd name="adj" fmla="val 10908"/>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he-IL" sz="4000" b="1">
                <a:solidFill>
                  <a:schemeClr val="tx1"/>
                </a:solidFill>
                <a:latin typeface="Assistant" pitchFamily="2" charset="-79"/>
                <a:cs typeface="Assistant" pitchFamily="2" charset="-79"/>
              </a:rPr>
              <a:t>נשלים יחד את המסקנה</a:t>
            </a:r>
          </a:p>
        </p:txBody>
      </p:sp>
      <p:sp>
        <p:nvSpPr>
          <p:cNvPr id="9" name="תיבת טקסט 4">
            <a:extLst>
              <a:ext uri="{FF2B5EF4-FFF2-40B4-BE49-F238E27FC236}">
                <a16:creationId xmlns:a16="http://schemas.microsoft.com/office/drawing/2014/main" id="{673994A4-C997-2601-975F-2D9BA2230030}"/>
              </a:ext>
            </a:extLst>
          </p:cNvPr>
          <p:cNvSpPr txBox="1"/>
          <p:nvPr/>
        </p:nvSpPr>
        <p:spPr>
          <a:xfrm>
            <a:off x="826082" y="1490595"/>
            <a:ext cx="10646441" cy="400110"/>
          </a:xfrm>
          <a:prstGeom prst="rect">
            <a:avLst/>
          </a:prstGeom>
          <a:noFill/>
        </p:spPr>
        <p:txBody>
          <a:bodyPr wrap="square" rtlCol="0">
            <a:spAutoFit/>
          </a:bodyPr>
          <a:lstStyle/>
          <a:p>
            <a:r>
              <a:rPr lang="he-IL" sz="2000">
                <a:latin typeface="Assistant" pitchFamily="2" charset="-79"/>
                <a:cs typeface="Assistant" pitchFamily="2" charset="-79"/>
              </a:rPr>
              <a:t>כשגודל הקבוצה והיחס בין החלקים בה ידועים לנו,</a:t>
            </a:r>
            <a:r>
              <a:rPr lang="en-US" sz="2000">
                <a:latin typeface="Assistant" pitchFamily="2" charset="-79"/>
                <a:cs typeface="Assistant" pitchFamily="2" charset="-79"/>
              </a:rPr>
              <a:t> </a:t>
            </a:r>
            <a:r>
              <a:rPr lang="he-IL" sz="2000">
                <a:latin typeface="Assistant" pitchFamily="2" charset="-79"/>
                <a:cs typeface="Assistant" pitchFamily="2" charset="-79"/>
              </a:rPr>
              <a:t>נוכל לחשב את הגודל של כל חלק באמצעות המשוואה שלפנינו </a:t>
            </a:r>
          </a:p>
        </p:txBody>
      </p:sp>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8165FAC7-3E09-8283-C204-3182163D585D}"/>
                  </a:ext>
                </a:extLst>
              </p:cNvPr>
              <p:cNvSpPr txBox="1"/>
              <p:nvPr/>
            </p:nvSpPr>
            <p:spPr>
              <a:xfrm>
                <a:off x="5346594" y="3370317"/>
                <a:ext cx="2703576" cy="891654"/>
              </a:xfrm>
              <a:prstGeom prst="rect">
                <a:avLst/>
              </a:prstGeom>
              <a:noFill/>
            </p:spPr>
            <p:txBody>
              <a:bodyPr wrap="square">
                <a:spAutoFit/>
              </a:bodyPr>
              <a:lstStyle/>
              <a:p>
                <a:pPr marL="0" marR="0" algn="ctr" rtl="1">
                  <a:lnSpc>
                    <a:spcPct val="115000"/>
                  </a:lnSpc>
                  <a:spcAft>
                    <a:spcPts val="800"/>
                  </a:spcAft>
                  <a:buNone/>
                </a:pPr>
                <a:r>
                  <a:rPr lang="en-US" sz="3200">
                    <a:effectLst/>
                    <a:latin typeface="Assistant" pitchFamily="2" charset="-79"/>
                    <a:ea typeface="Assistant" pitchFamily="2" charset="-79"/>
                    <a:cs typeface="Aptos" panose="020B0004020202020204" pitchFamily="34" charset="0"/>
                  </a:rPr>
                  <a:t> </a:t>
                </a:r>
                <a14:m>
                  <m:oMath xmlns:m="http://schemas.openxmlformats.org/officeDocument/2006/math">
                    <m:f>
                      <m:fPr>
                        <m:ctrlPr>
                          <a:rPr lang="en-US" sz="3200" i="1">
                            <a:effectLst/>
                            <a:latin typeface="Cambria Math" panose="02040503050406030204" pitchFamily="18" charset="0"/>
                            <a:ea typeface="Assistant" pitchFamily="2" charset="-79"/>
                            <a:cs typeface="Aptos" panose="020B0004020202020204" pitchFamily="34" charset="0"/>
                          </a:rPr>
                        </m:ctrlPr>
                      </m:fPr>
                      <m:num>
                        <m:r>
                          <a:rPr lang="en-US" sz="3200" i="1">
                            <a:effectLst/>
                            <a:latin typeface="Cambria Math" panose="02040503050406030204" pitchFamily="18" charset="0"/>
                            <a:ea typeface="Assistant" pitchFamily="2" charset="-79"/>
                            <a:cs typeface="Aptos" panose="020B0004020202020204" pitchFamily="34" charset="0"/>
                          </a:rPr>
                          <m:t>4</m:t>
                        </m:r>
                      </m:num>
                      <m:den>
                        <m:r>
                          <a:rPr lang="en-US" sz="3200" i="1">
                            <a:effectLst/>
                            <a:latin typeface="Cambria Math" panose="02040503050406030204" pitchFamily="18" charset="0"/>
                            <a:ea typeface="Assistant" pitchFamily="2" charset="-79"/>
                            <a:cs typeface="Aptos" panose="020B0004020202020204" pitchFamily="34" charset="0"/>
                          </a:rPr>
                          <m:t>7</m:t>
                        </m:r>
                      </m:den>
                    </m:f>
                    <m:r>
                      <a:rPr lang="en-US" sz="3200" i="1" smtClean="0">
                        <a:effectLst/>
                        <a:latin typeface="Cambria Math" panose="02040503050406030204" pitchFamily="18" charset="0"/>
                        <a:ea typeface="Cambria Math" panose="02040503050406030204" pitchFamily="18" charset="0"/>
                        <a:cs typeface="Aptos" panose="020B0004020202020204" pitchFamily="34" charset="0"/>
                      </a:rPr>
                      <m:t>∙</m:t>
                    </m:r>
                    <m:r>
                      <a:rPr lang="en-US" sz="3200" i="1">
                        <a:effectLst/>
                        <a:latin typeface="Cambria Math" panose="02040503050406030204" pitchFamily="18" charset="0"/>
                        <a:ea typeface="Assistant" pitchFamily="2" charset="-79"/>
                        <a:cs typeface="Aptos" panose="020B0004020202020204" pitchFamily="34" charset="0"/>
                      </a:rPr>
                      <m:t>70=40</m:t>
                    </m:r>
                  </m:oMath>
                </a14:m>
                <a:r>
                  <a:rPr lang="en-US" sz="3200">
                    <a:effectLst/>
                    <a:latin typeface="Assistant" pitchFamily="2" charset="-79"/>
                    <a:ea typeface="Assistant" pitchFamily="2" charset="-79"/>
                    <a:cs typeface="Aptos" panose="020B0004020202020204" pitchFamily="34" charset="0"/>
                  </a:rPr>
                  <a:t> </a:t>
                </a:r>
                <a:endParaRPr lang="en-US" sz="3200">
                  <a:effectLst/>
                  <a:latin typeface="Aptos" panose="020B0004020202020204" pitchFamily="34" charset="0"/>
                  <a:ea typeface="Aptos" panose="020B0004020202020204" pitchFamily="34" charset="0"/>
                  <a:cs typeface="Aptos" panose="020B0004020202020204" pitchFamily="34" charset="0"/>
                </a:endParaRPr>
              </a:p>
            </p:txBody>
          </p:sp>
        </mc:Choice>
        <mc:Fallback xmlns="">
          <p:sp>
            <p:nvSpPr>
              <p:cNvPr id="12" name="TextBox 11">
                <a:extLst>
                  <a:ext uri="{FF2B5EF4-FFF2-40B4-BE49-F238E27FC236}">
                    <a16:creationId xmlns:a16="http://schemas.microsoft.com/office/drawing/2014/main" id="{8165FAC7-3E09-8283-C204-3182163D585D}"/>
                  </a:ext>
                </a:extLst>
              </p:cNvPr>
              <p:cNvSpPr txBox="1">
                <a:spLocks noRot="1" noChangeAspect="1" noMove="1" noResize="1" noEditPoints="1" noAdjustHandles="1" noChangeArrowheads="1" noChangeShapeType="1" noTextEdit="1"/>
              </p:cNvSpPr>
              <p:nvPr/>
            </p:nvSpPr>
            <p:spPr>
              <a:xfrm>
                <a:off x="5346594" y="3370317"/>
                <a:ext cx="2703576" cy="891654"/>
              </a:xfrm>
              <a:prstGeom prst="rect">
                <a:avLst/>
              </a:prstGeom>
              <a:blipFill>
                <a:blip r:embed="rId6"/>
                <a:stretch>
                  <a:fillRect b="-10274"/>
                </a:stretch>
              </a:blipFill>
            </p:spPr>
            <p:txBody>
              <a:bodyPr/>
              <a:lstStyle/>
              <a:p>
                <a:r>
                  <a:rPr lang="en-US">
                    <a:noFill/>
                  </a:rPr>
                  <a:t> </a:t>
                </a:r>
              </a:p>
            </p:txBody>
          </p:sp>
        </mc:Fallback>
      </mc:AlternateContent>
      <p:cxnSp>
        <p:nvCxnSpPr>
          <p:cNvPr id="3" name="Straight Connector 2">
            <a:extLst>
              <a:ext uri="{FF2B5EF4-FFF2-40B4-BE49-F238E27FC236}">
                <a16:creationId xmlns:a16="http://schemas.microsoft.com/office/drawing/2014/main" id="{DCAE0443-DB51-6F3B-B43D-16F7310B2782}"/>
              </a:ext>
            </a:extLst>
          </p:cNvPr>
          <p:cNvCxnSpPr>
            <a:cxnSpLocks/>
          </p:cNvCxnSpPr>
          <p:nvPr/>
        </p:nvCxnSpPr>
        <p:spPr>
          <a:xfrm flipV="1">
            <a:off x="6550083" y="3138265"/>
            <a:ext cx="777474" cy="443655"/>
          </a:xfrm>
          <a:prstGeom prst="line">
            <a:avLst/>
          </a:prstGeom>
          <a:ln w="3175"/>
        </p:spPr>
        <p:style>
          <a:lnRef idx="2">
            <a:schemeClr val="accent4"/>
          </a:lnRef>
          <a:fillRef idx="0">
            <a:schemeClr val="accent4"/>
          </a:fillRef>
          <a:effectRef idx="1">
            <a:schemeClr val="accent4"/>
          </a:effectRef>
          <a:fontRef idx="minor">
            <a:schemeClr val="tx1"/>
          </a:fontRef>
        </p:style>
      </p:cxnSp>
      <p:sp>
        <p:nvSpPr>
          <p:cNvPr id="17" name="מלבן: פינות מעוגלות 6">
            <a:extLst>
              <a:ext uri="{FF2B5EF4-FFF2-40B4-BE49-F238E27FC236}">
                <a16:creationId xmlns:a16="http://schemas.microsoft.com/office/drawing/2014/main" id="{175848A6-2DF7-77C1-7C65-221BF0CE2893}"/>
              </a:ext>
            </a:extLst>
          </p:cNvPr>
          <p:cNvSpPr/>
          <p:nvPr/>
        </p:nvSpPr>
        <p:spPr>
          <a:xfrm>
            <a:off x="7327557" y="2895491"/>
            <a:ext cx="1529655" cy="485548"/>
          </a:xfrm>
          <a:prstGeom prst="roundRect">
            <a:avLst>
              <a:gd name="adj" fmla="val 1764"/>
            </a:avLst>
          </a:prstGeom>
          <a:noFill/>
          <a:ln w="12700">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LID4096" sz="2000">
              <a:solidFill>
                <a:schemeClr val="tx1"/>
              </a:solidFill>
            </a:endParaRPr>
          </a:p>
        </p:txBody>
      </p:sp>
      <p:sp>
        <p:nvSpPr>
          <p:cNvPr id="21" name="מלבן: פינות מעוגלות 6">
            <a:extLst>
              <a:ext uri="{FF2B5EF4-FFF2-40B4-BE49-F238E27FC236}">
                <a16:creationId xmlns:a16="http://schemas.microsoft.com/office/drawing/2014/main" id="{0F3C11EE-B17B-6145-71DC-03B38EC38EDB}"/>
              </a:ext>
            </a:extLst>
          </p:cNvPr>
          <p:cNvSpPr/>
          <p:nvPr/>
        </p:nvSpPr>
        <p:spPr>
          <a:xfrm>
            <a:off x="9400675" y="5298455"/>
            <a:ext cx="1881033" cy="602969"/>
          </a:xfrm>
          <a:prstGeom prst="roundRect">
            <a:avLst>
              <a:gd name="adj" fmla="val 1764"/>
            </a:avLst>
          </a:prstGeom>
          <a:noFill/>
          <a:ln w="12700">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he-IL" sz="2000">
                <a:solidFill>
                  <a:schemeClr val="tx1"/>
                </a:solidFill>
                <a:latin typeface="Assistant" pitchFamily="2" charset="-79"/>
                <a:cs typeface="Assistant" pitchFamily="2" charset="-79"/>
              </a:rPr>
              <a:t>גודל הקבוצה </a:t>
            </a:r>
            <a:endParaRPr lang="LID4096" sz="2000">
              <a:solidFill>
                <a:schemeClr val="tx1"/>
              </a:solidFill>
              <a:latin typeface="Assistant" pitchFamily="2" charset="-79"/>
              <a:cs typeface="Assistant" pitchFamily="2" charset="-79"/>
            </a:endParaRPr>
          </a:p>
        </p:txBody>
      </p:sp>
      <p:sp>
        <p:nvSpPr>
          <p:cNvPr id="23" name="מלבן: פינות מעוגלות 6">
            <a:extLst>
              <a:ext uri="{FF2B5EF4-FFF2-40B4-BE49-F238E27FC236}">
                <a16:creationId xmlns:a16="http://schemas.microsoft.com/office/drawing/2014/main" id="{F7562D2B-FD7A-90A1-E701-E911B55C8432}"/>
              </a:ext>
            </a:extLst>
          </p:cNvPr>
          <p:cNvSpPr/>
          <p:nvPr/>
        </p:nvSpPr>
        <p:spPr>
          <a:xfrm>
            <a:off x="6941681" y="5298455"/>
            <a:ext cx="2097786" cy="602969"/>
          </a:xfrm>
          <a:prstGeom prst="roundRect">
            <a:avLst>
              <a:gd name="adj" fmla="val 1764"/>
            </a:avLst>
          </a:prstGeom>
          <a:noFill/>
          <a:ln w="12700">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he-IL" sz="2000">
              <a:solidFill>
                <a:schemeClr val="tx1"/>
              </a:solidFill>
              <a:latin typeface="Assistant" pitchFamily="2" charset="-79"/>
              <a:cs typeface="Assistant" pitchFamily="2" charset="-79"/>
            </a:endParaRPr>
          </a:p>
          <a:p>
            <a:pPr algn="ctr"/>
            <a:r>
              <a:rPr lang="he-IL" sz="2000">
                <a:solidFill>
                  <a:schemeClr val="tx1"/>
                </a:solidFill>
                <a:latin typeface="Assistant" pitchFamily="2" charset="-79"/>
                <a:cs typeface="Assistant" pitchFamily="2" charset="-79"/>
              </a:rPr>
              <a:t>הגודל של החלק הידוע לפי היחס</a:t>
            </a:r>
            <a:br>
              <a:rPr lang="he-IL" sz="2000">
                <a:solidFill>
                  <a:schemeClr val="tx1"/>
                </a:solidFill>
                <a:latin typeface="Assistant" pitchFamily="2" charset="-79"/>
                <a:cs typeface="Assistant" pitchFamily="2" charset="-79"/>
              </a:rPr>
            </a:br>
            <a:endParaRPr lang="LID4096" sz="2000">
              <a:solidFill>
                <a:schemeClr val="tx1"/>
              </a:solidFill>
              <a:latin typeface="Assistant" pitchFamily="2" charset="-79"/>
              <a:cs typeface="Assistant" pitchFamily="2" charset="-79"/>
            </a:endParaRPr>
          </a:p>
        </p:txBody>
      </p:sp>
      <p:cxnSp>
        <p:nvCxnSpPr>
          <p:cNvPr id="24" name="Straight Connector 23">
            <a:extLst>
              <a:ext uri="{FF2B5EF4-FFF2-40B4-BE49-F238E27FC236}">
                <a16:creationId xmlns:a16="http://schemas.microsoft.com/office/drawing/2014/main" id="{C8AF2773-BFE9-4176-4882-9D6446BCC590}"/>
              </a:ext>
            </a:extLst>
          </p:cNvPr>
          <p:cNvCxnSpPr>
            <a:cxnSpLocks/>
          </p:cNvCxnSpPr>
          <p:nvPr/>
        </p:nvCxnSpPr>
        <p:spPr>
          <a:xfrm>
            <a:off x="7327557" y="4078850"/>
            <a:ext cx="629175" cy="389067"/>
          </a:xfrm>
          <a:prstGeom prst="line">
            <a:avLst/>
          </a:prstGeom>
          <a:ln w="3175"/>
        </p:spPr>
        <p:style>
          <a:lnRef idx="2">
            <a:schemeClr val="accent4"/>
          </a:lnRef>
          <a:fillRef idx="0">
            <a:schemeClr val="accent4"/>
          </a:fillRef>
          <a:effectRef idx="1">
            <a:schemeClr val="accent4"/>
          </a:effectRef>
          <a:fontRef idx="minor">
            <a:schemeClr val="tx1"/>
          </a:fontRef>
        </p:style>
      </p:cxnSp>
      <p:sp>
        <p:nvSpPr>
          <p:cNvPr id="28" name="מלבן: פינות מעוגלות 6">
            <a:extLst>
              <a:ext uri="{FF2B5EF4-FFF2-40B4-BE49-F238E27FC236}">
                <a16:creationId xmlns:a16="http://schemas.microsoft.com/office/drawing/2014/main" id="{7F82FE21-02F8-68E4-C77D-E231F03B2132}"/>
              </a:ext>
            </a:extLst>
          </p:cNvPr>
          <p:cNvSpPr/>
          <p:nvPr/>
        </p:nvSpPr>
        <p:spPr>
          <a:xfrm>
            <a:off x="7956732" y="4206687"/>
            <a:ext cx="1529655" cy="485548"/>
          </a:xfrm>
          <a:prstGeom prst="roundRect">
            <a:avLst>
              <a:gd name="adj" fmla="val 1764"/>
            </a:avLst>
          </a:prstGeom>
          <a:noFill/>
          <a:ln w="12700">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LID4096" sz="2000">
              <a:solidFill>
                <a:schemeClr val="tx1"/>
              </a:solidFill>
            </a:endParaRPr>
          </a:p>
        </p:txBody>
      </p:sp>
      <p:sp>
        <p:nvSpPr>
          <p:cNvPr id="30" name="מלבן: פינות מעוגלות 6">
            <a:extLst>
              <a:ext uri="{FF2B5EF4-FFF2-40B4-BE49-F238E27FC236}">
                <a16:creationId xmlns:a16="http://schemas.microsoft.com/office/drawing/2014/main" id="{A37CE1A8-40F0-F2B0-FF3A-2F512CF1549F}"/>
              </a:ext>
            </a:extLst>
          </p:cNvPr>
          <p:cNvSpPr/>
          <p:nvPr/>
        </p:nvSpPr>
        <p:spPr>
          <a:xfrm>
            <a:off x="4173767" y="5298455"/>
            <a:ext cx="2416374" cy="602969"/>
          </a:xfrm>
          <a:prstGeom prst="roundRect">
            <a:avLst>
              <a:gd name="adj" fmla="val 1764"/>
            </a:avLst>
          </a:prstGeom>
          <a:noFill/>
          <a:ln w="12700">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he-IL" sz="2000">
                <a:solidFill>
                  <a:schemeClr val="tx1"/>
                </a:solidFill>
                <a:latin typeface="Assistant" pitchFamily="2" charset="-79"/>
                <a:cs typeface="Assistant" pitchFamily="2" charset="-79"/>
              </a:rPr>
              <a:t>החלק הידוע לפי היחס</a:t>
            </a:r>
            <a:endParaRPr lang="LID4096" sz="2000">
              <a:solidFill>
                <a:schemeClr val="tx1"/>
              </a:solidFill>
              <a:latin typeface="Assistant" pitchFamily="2" charset="-79"/>
              <a:cs typeface="Assistant" pitchFamily="2" charset="-79"/>
            </a:endParaRPr>
          </a:p>
        </p:txBody>
      </p:sp>
      <p:cxnSp>
        <p:nvCxnSpPr>
          <p:cNvPr id="31" name="Straight Connector 30">
            <a:extLst>
              <a:ext uri="{FF2B5EF4-FFF2-40B4-BE49-F238E27FC236}">
                <a16:creationId xmlns:a16="http://schemas.microsoft.com/office/drawing/2014/main" id="{A13E9608-CAF2-EC6F-6C3D-250891744052}"/>
              </a:ext>
            </a:extLst>
          </p:cNvPr>
          <p:cNvCxnSpPr>
            <a:cxnSpLocks/>
          </p:cNvCxnSpPr>
          <p:nvPr/>
        </p:nvCxnSpPr>
        <p:spPr>
          <a:xfrm>
            <a:off x="4992537" y="3138265"/>
            <a:ext cx="686634" cy="434745"/>
          </a:xfrm>
          <a:prstGeom prst="line">
            <a:avLst/>
          </a:prstGeom>
          <a:ln w="3175"/>
        </p:spPr>
        <p:style>
          <a:lnRef idx="2">
            <a:schemeClr val="accent4"/>
          </a:lnRef>
          <a:fillRef idx="0">
            <a:schemeClr val="accent4"/>
          </a:fillRef>
          <a:effectRef idx="1">
            <a:schemeClr val="accent4"/>
          </a:effectRef>
          <a:fontRef idx="minor">
            <a:schemeClr val="tx1"/>
          </a:fontRef>
        </p:style>
      </p:cxnSp>
      <p:sp>
        <p:nvSpPr>
          <p:cNvPr id="34" name="מלבן: פינות מעוגלות 6">
            <a:extLst>
              <a:ext uri="{FF2B5EF4-FFF2-40B4-BE49-F238E27FC236}">
                <a16:creationId xmlns:a16="http://schemas.microsoft.com/office/drawing/2014/main" id="{0598457E-53F6-43CB-A777-A2E4910C7F15}"/>
              </a:ext>
            </a:extLst>
          </p:cNvPr>
          <p:cNvSpPr/>
          <p:nvPr/>
        </p:nvSpPr>
        <p:spPr>
          <a:xfrm>
            <a:off x="3462882" y="2895491"/>
            <a:ext cx="1529655" cy="485548"/>
          </a:xfrm>
          <a:prstGeom prst="roundRect">
            <a:avLst>
              <a:gd name="adj" fmla="val 1764"/>
            </a:avLst>
          </a:prstGeom>
          <a:noFill/>
          <a:ln w="12700">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LID4096" sz="2000">
              <a:solidFill>
                <a:schemeClr val="tx1"/>
              </a:solidFill>
            </a:endParaRPr>
          </a:p>
        </p:txBody>
      </p:sp>
      <p:cxnSp>
        <p:nvCxnSpPr>
          <p:cNvPr id="35" name="Straight Connector 34">
            <a:extLst>
              <a:ext uri="{FF2B5EF4-FFF2-40B4-BE49-F238E27FC236}">
                <a16:creationId xmlns:a16="http://schemas.microsoft.com/office/drawing/2014/main" id="{EB87B306-CED7-2F90-5D4F-F32E147DD515}"/>
              </a:ext>
            </a:extLst>
          </p:cNvPr>
          <p:cNvCxnSpPr>
            <a:cxnSpLocks/>
            <a:stCxn id="38" idx="3"/>
          </p:cNvCxnSpPr>
          <p:nvPr/>
        </p:nvCxnSpPr>
        <p:spPr>
          <a:xfrm flipV="1">
            <a:off x="4992537" y="4012018"/>
            <a:ext cx="617172" cy="427781"/>
          </a:xfrm>
          <a:prstGeom prst="line">
            <a:avLst/>
          </a:prstGeom>
          <a:ln w="3175"/>
        </p:spPr>
        <p:style>
          <a:lnRef idx="2">
            <a:schemeClr val="accent4"/>
          </a:lnRef>
          <a:fillRef idx="0">
            <a:schemeClr val="accent4"/>
          </a:fillRef>
          <a:effectRef idx="1">
            <a:schemeClr val="accent4"/>
          </a:effectRef>
          <a:fontRef idx="minor">
            <a:schemeClr val="tx1"/>
          </a:fontRef>
        </p:style>
      </p:cxnSp>
      <p:sp>
        <p:nvSpPr>
          <p:cNvPr id="38" name="מלבן: פינות מעוגלות 6">
            <a:extLst>
              <a:ext uri="{FF2B5EF4-FFF2-40B4-BE49-F238E27FC236}">
                <a16:creationId xmlns:a16="http://schemas.microsoft.com/office/drawing/2014/main" id="{AF1C41F9-658C-5C3D-6FF1-DBC23EAAA80E}"/>
              </a:ext>
            </a:extLst>
          </p:cNvPr>
          <p:cNvSpPr/>
          <p:nvPr/>
        </p:nvSpPr>
        <p:spPr>
          <a:xfrm>
            <a:off x="3462882" y="4197025"/>
            <a:ext cx="1529655" cy="485548"/>
          </a:xfrm>
          <a:prstGeom prst="roundRect">
            <a:avLst>
              <a:gd name="adj" fmla="val 1764"/>
            </a:avLst>
          </a:prstGeom>
          <a:noFill/>
          <a:ln w="12700">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LID4096" sz="2000">
              <a:solidFill>
                <a:schemeClr val="tx1"/>
              </a:solidFill>
            </a:endParaRPr>
          </a:p>
        </p:txBody>
      </p:sp>
      <p:sp>
        <p:nvSpPr>
          <p:cNvPr id="42" name="מלבן: פינות מעוגלות 6">
            <a:extLst>
              <a:ext uri="{FF2B5EF4-FFF2-40B4-BE49-F238E27FC236}">
                <a16:creationId xmlns:a16="http://schemas.microsoft.com/office/drawing/2014/main" id="{EEF66020-7760-4E61-CF3B-C494D0BEC3B6}"/>
              </a:ext>
            </a:extLst>
          </p:cNvPr>
          <p:cNvSpPr/>
          <p:nvPr/>
        </p:nvSpPr>
        <p:spPr>
          <a:xfrm>
            <a:off x="1490772" y="5298455"/>
            <a:ext cx="2416374" cy="602969"/>
          </a:xfrm>
          <a:prstGeom prst="roundRect">
            <a:avLst>
              <a:gd name="adj" fmla="val 1764"/>
            </a:avLst>
          </a:prstGeom>
          <a:noFill/>
          <a:ln w="12700">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he-IL" sz="2000">
                <a:solidFill>
                  <a:schemeClr val="tx1"/>
                </a:solidFill>
                <a:latin typeface="Assistant" pitchFamily="2" charset="-79"/>
                <a:cs typeface="Assistant" pitchFamily="2" charset="-79"/>
              </a:rPr>
              <a:t>סך החלקים לפי היחס </a:t>
            </a:r>
            <a:endParaRPr lang="LID4096" sz="2000">
              <a:solidFill>
                <a:schemeClr val="tx1"/>
              </a:solidFill>
              <a:latin typeface="Assistant" pitchFamily="2" charset="-79"/>
              <a:cs typeface="Assistant" pitchFamily="2" charset="-79"/>
            </a:endParaRPr>
          </a:p>
        </p:txBody>
      </p:sp>
      <p:grpSp>
        <p:nvGrpSpPr>
          <p:cNvPr id="43" name="קבוצה 14">
            <a:extLst>
              <a:ext uri="{FF2B5EF4-FFF2-40B4-BE49-F238E27FC236}">
                <a16:creationId xmlns:a16="http://schemas.microsoft.com/office/drawing/2014/main" id="{CBFA3678-6FA7-A778-E488-EBC84C84C78D}"/>
              </a:ext>
            </a:extLst>
          </p:cNvPr>
          <p:cNvGrpSpPr/>
          <p:nvPr/>
        </p:nvGrpSpPr>
        <p:grpSpPr>
          <a:xfrm>
            <a:off x="-2248534" y="1772655"/>
            <a:ext cx="4049041" cy="3108266"/>
            <a:chOff x="-5619" y="1634836"/>
            <a:chExt cx="4049041" cy="3108266"/>
          </a:xfrm>
        </p:grpSpPr>
        <p:sp>
          <p:nvSpPr>
            <p:cNvPr id="44" name="מלבן: פינות מעוגלות 16">
              <a:extLst>
                <a:ext uri="{FF2B5EF4-FFF2-40B4-BE49-F238E27FC236}">
                  <a16:creationId xmlns:a16="http://schemas.microsoft.com/office/drawing/2014/main" id="{8053F2CF-67D9-01FE-4305-9049D08C58FC}"/>
                </a:ext>
              </a:extLst>
            </p:cNvPr>
            <p:cNvSpPr/>
            <p:nvPr/>
          </p:nvSpPr>
          <p:spPr>
            <a:xfrm>
              <a:off x="-5619" y="1942463"/>
              <a:ext cx="4049041" cy="2800639"/>
            </a:xfrm>
            <a:prstGeom prst="roundRect">
              <a:avLst>
                <a:gd name="adj" fmla="val 1647"/>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he-IL" sz="2000" b="1">
                  <a:solidFill>
                    <a:schemeClr val="tx1"/>
                  </a:solidFill>
                  <a:latin typeface="Assistant" pitchFamily="2" charset="-79"/>
                  <a:cs typeface="Assistant" pitchFamily="2" charset="-79"/>
                </a:rPr>
                <a:t>כל הכבוד! / זה לא מדויק, התשובה הנכונה מוצגת</a:t>
              </a:r>
            </a:p>
            <a:p>
              <a:pPr algn="ctr"/>
              <a:r>
                <a:rPr lang="he-IL" sz="2000">
                  <a:solidFill>
                    <a:schemeClr val="tx1"/>
                  </a:solidFill>
                  <a:latin typeface="Assistant" pitchFamily="2" charset="-79"/>
                  <a:cs typeface="Assistant" pitchFamily="2" charset="-79"/>
                </a:rPr>
                <a:t>כשגודל הקבוצה והיחס בין החלקים בה ידועים לנו, זוהי הדרך בה נחשב את גדלי חלקים השונים. </a:t>
              </a:r>
            </a:p>
            <a:p>
              <a:pPr algn="ctr"/>
              <a:endParaRPr lang="he-IL" sz="2000">
                <a:solidFill>
                  <a:schemeClr val="tx1"/>
                </a:solidFill>
                <a:latin typeface="Assistant" pitchFamily="2" charset="-79"/>
                <a:cs typeface="Assistant" pitchFamily="2" charset="-79"/>
              </a:endParaRPr>
            </a:p>
            <a:p>
              <a:pPr algn="ctr"/>
              <a:r>
                <a:rPr lang="he-IL" sz="2000">
                  <a:solidFill>
                    <a:schemeClr val="tx1"/>
                  </a:solidFill>
                  <a:latin typeface="Assistant" pitchFamily="2" charset="-79"/>
                  <a:cs typeface="Assistant" pitchFamily="2" charset="-79"/>
                </a:rPr>
                <a:t> </a:t>
              </a:r>
            </a:p>
          </p:txBody>
        </p:sp>
        <p:grpSp>
          <p:nvGrpSpPr>
            <p:cNvPr id="45" name="קבוצה 18">
              <a:extLst>
                <a:ext uri="{FF2B5EF4-FFF2-40B4-BE49-F238E27FC236}">
                  <a16:creationId xmlns:a16="http://schemas.microsoft.com/office/drawing/2014/main" id="{39FAEE7F-3501-21BC-8CF7-08C62971F62C}"/>
                </a:ext>
              </a:extLst>
            </p:cNvPr>
            <p:cNvGrpSpPr/>
            <p:nvPr/>
          </p:nvGrpSpPr>
          <p:grpSpPr>
            <a:xfrm>
              <a:off x="3034145" y="1634836"/>
              <a:ext cx="415637" cy="415637"/>
              <a:chOff x="3034145" y="1634836"/>
              <a:chExt cx="415637" cy="415637"/>
            </a:xfrm>
          </p:grpSpPr>
          <p:sp>
            <p:nvSpPr>
              <p:cNvPr id="46" name="אליפסה 17">
                <a:extLst>
                  <a:ext uri="{FF2B5EF4-FFF2-40B4-BE49-F238E27FC236}">
                    <a16:creationId xmlns:a16="http://schemas.microsoft.com/office/drawing/2014/main" id="{BF0D3D98-8664-8127-A3BD-446E1A13782B}"/>
                  </a:ext>
                </a:extLst>
              </p:cNvPr>
              <p:cNvSpPr/>
              <p:nvPr/>
            </p:nvSpPr>
            <p:spPr>
              <a:xfrm>
                <a:off x="3034145" y="1634836"/>
                <a:ext cx="415637" cy="415637"/>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LID4096"/>
              </a:p>
            </p:txBody>
          </p:sp>
          <p:pic>
            <p:nvPicPr>
              <p:cNvPr id="47" name="גרפיקה 4" descr="תוו ^ כלפי מטה עם מילוי מלא">
                <a:extLst>
                  <a:ext uri="{FF2B5EF4-FFF2-40B4-BE49-F238E27FC236}">
                    <a16:creationId xmlns:a16="http://schemas.microsoft.com/office/drawing/2014/main" id="{DEF4A7DE-1979-7437-0749-69463F720E7E}"/>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3068997" y="1669688"/>
                <a:ext cx="345931" cy="345931"/>
              </a:xfrm>
              <a:prstGeom prst="rect">
                <a:avLst/>
              </a:prstGeom>
            </p:spPr>
          </p:pic>
        </p:grpSp>
      </p:grpSp>
      <p:sp>
        <p:nvSpPr>
          <p:cNvPr id="51" name="TextBox 50">
            <a:extLst>
              <a:ext uri="{FF2B5EF4-FFF2-40B4-BE49-F238E27FC236}">
                <a16:creationId xmlns:a16="http://schemas.microsoft.com/office/drawing/2014/main" id="{C4E8E5D8-C721-FB51-F5D0-A22372BAD362}"/>
              </a:ext>
            </a:extLst>
          </p:cNvPr>
          <p:cNvSpPr txBox="1"/>
          <p:nvPr/>
        </p:nvSpPr>
        <p:spPr>
          <a:xfrm>
            <a:off x="3462882" y="1900951"/>
            <a:ext cx="8009641" cy="400110"/>
          </a:xfrm>
          <a:prstGeom prst="rect">
            <a:avLst/>
          </a:prstGeom>
          <a:noFill/>
        </p:spPr>
        <p:txBody>
          <a:bodyPr wrap="square">
            <a:spAutoFit/>
          </a:bodyPr>
          <a:lstStyle/>
          <a:p>
            <a:r>
              <a:rPr lang="he-IL" sz="2000" b="1">
                <a:solidFill>
                  <a:srgbClr val="00B0F0"/>
                </a:solidFill>
                <a:latin typeface="Assistant" pitchFamily="2" charset="-79"/>
                <a:cs typeface="Assistant" pitchFamily="2" charset="-79"/>
              </a:rPr>
              <a:t>מה מייצג כל מספר במשוואה? גררו כל הגדרה אל המקום המתאים. </a:t>
            </a:r>
            <a:endParaRPr lang="en-US" b="1">
              <a:solidFill>
                <a:srgbClr val="00B0F0"/>
              </a:solidFill>
            </a:endParaRPr>
          </a:p>
        </p:txBody>
      </p:sp>
      <p:sp>
        <p:nvSpPr>
          <p:cNvPr id="53" name="מלבן 7">
            <a:extLst>
              <a:ext uri="{FF2B5EF4-FFF2-40B4-BE49-F238E27FC236}">
                <a16:creationId xmlns:a16="http://schemas.microsoft.com/office/drawing/2014/main" id="{C1F82453-38B6-4734-8680-F74E9C9BFE97}"/>
              </a:ext>
            </a:extLst>
          </p:cNvPr>
          <p:cNvSpPr/>
          <p:nvPr/>
        </p:nvSpPr>
        <p:spPr>
          <a:xfrm>
            <a:off x="11896440" y="332438"/>
            <a:ext cx="45719" cy="5474677"/>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LID4096"/>
          </a:p>
        </p:txBody>
      </p:sp>
      <p:sp>
        <p:nvSpPr>
          <p:cNvPr id="55" name="מלבן 8">
            <a:extLst>
              <a:ext uri="{FF2B5EF4-FFF2-40B4-BE49-F238E27FC236}">
                <a16:creationId xmlns:a16="http://schemas.microsoft.com/office/drawing/2014/main" id="{91460942-956C-4DB5-EA0E-69CFD30C0751}"/>
              </a:ext>
            </a:extLst>
          </p:cNvPr>
          <p:cNvSpPr/>
          <p:nvPr/>
        </p:nvSpPr>
        <p:spPr>
          <a:xfrm>
            <a:off x="11873580" y="2301061"/>
            <a:ext cx="45719" cy="3526971"/>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LID4096"/>
          </a:p>
        </p:txBody>
      </p:sp>
    </p:spTree>
    <p:custDataLst>
      <p:tags r:id="rId1"/>
    </p:custDataLst>
    <p:extLst>
      <p:ext uri="{BB962C8B-B14F-4D97-AF65-F5344CB8AC3E}">
        <p14:creationId xmlns:p14="http://schemas.microsoft.com/office/powerpoint/2010/main" val="267996276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172F6C-5C6F-E4AC-BD99-999ABCC72B46}"/>
            </a:ext>
          </a:extLst>
        </p:cNvPr>
        <p:cNvGrpSpPr/>
        <p:nvPr/>
      </p:nvGrpSpPr>
      <p:grpSpPr>
        <a:xfrm>
          <a:off x="0" y="0"/>
          <a:ext cx="0" cy="0"/>
          <a:chOff x="0" y="0"/>
          <a:chExt cx="0" cy="0"/>
        </a:xfrm>
      </p:grpSpPr>
      <p:pic>
        <p:nvPicPr>
          <p:cNvPr id="4" name="תמונה 3">
            <a:extLst>
              <a:ext uri="{FF2B5EF4-FFF2-40B4-BE49-F238E27FC236}">
                <a16:creationId xmlns:a16="http://schemas.microsoft.com/office/drawing/2014/main" id="{B810FFD7-7226-A689-6274-222E1B109F0B}"/>
              </a:ext>
            </a:extLst>
          </p:cNvPr>
          <p:cNvPicPr>
            <a:picLocks noChangeAspect="1"/>
          </p:cNvPicPr>
          <p:nvPr/>
        </p:nvPicPr>
        <p:blipFill>
          <a:blip r:embed="rId4">
            <a:extLst>
              <a:ext uri="{28A0092B-C50C-407E-A947-70E740481C1C}">
                <a14:useLocalDpi xmlns:a14="http://schemas.microsoft.com/office/drawing/2010/main"/>
              </a:ext>
            </a:extLst>
          </a:blip>
          <a:stretch>
            <a:fillRect/>
          </a:stretch>
        </p:blipFill>
        <p:spPr>
          <a:xfrm>
            <a:off x="192984" y="6236080"/>
            <a:ext cx="1777778" cy="495238"/>
          </a:xfrm>
          <a:prstGeom prst="rect">
            <a:avLst/>
          </a:prstGeom>
        </p:spPr>
      </p:pic>
      <p:cxnSp>
        <p:nvCxnSpPr>
          <p:cNvPr id="5" name="מחבר ישר 4">
            <a:extLst>
              <a:ext uri="{FF2B5EF4-FFF2-40B4-BE49-F238E27FC236}">
                <a16:creationId xmlns:a16="http://schemas.microsoft.com/office/drawing/2014/main" id="{DB7FC717-25AA-E4BE-2E18-BF6869DA3F0A}"/>
              </a:ext>
            </a:extLst>
          </p:cNvPr>
          <p:cNvCxnSpPr>
            <a:cxnSpLocks/>
          </p:cNvCxnSpPr>
          <p:nvPr/>
        </p:nvCxnSpPr>
        <p:spPr>
          <a:xfrm>
            <a:off x="0" y="6079252"/>
            <a:ext cx="12192000" cy="0"/>
          </a:xfrm>
          <a:prstGeom prst="line">
            <a:avLst/>
          </a:prstGeom>
          <a:ln>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6" name="תיבת טקסט 5">
            <a:extLst>
              <a:ext uri="{FF2B5EF4-FFF2-40B4-BE49-F238E27FC236}">
                <a16:creationId xmlns:a16="http://schemas.microsoft.com/office/drawing/2014/main" id="{4762F80C-713B-3D79-6A10-8BCB080F5B25}"/>
              </a:ext>
            </a:extLst>
          </p:cNvPr>
          <p:cNvSpPr txBox="1"/>
          <p:nvPr/>
        </p:nvSpPr>
        <p:spPr>
          <a:xfrm>
            <a:off x="2228193" y="833169"/>
            <a:ext cx="7735614" cy="1938992"/>
          </a:xfrm>
          <a:prstGeom prst="rect">
            <a:avLst/>
          </a:prstGeom>
          <a:noFill/>
        </p:spPr>
        <p:txBody>
          <a:bodyPr wrap="square" rtlCol="0">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4000" b="1" i="0" u="none" strike="noStrike" kern="1200" cap="none" spc="0" normalizeH="0" baseline="0" noProof="0">
                <a:ln>
                  <a:noFill/>
                </a:ln>
                <a:solidFill>
                  <a:prstClr val="black"/>
                </a:solidFill>
                <a:effectLst/>
                <a:uLnTx/>
                <a:uFillTx/>
                <a:latin typeface="Assistant" pitchFamily="2" charset="-79"/>
                <a:ea typeface="+mn-ea"/>
                <a:cs typeface="Assistant" pitchFamily="2" charset="-79"/>
              </a:rPr>
              <a:t>עוד מעט נתחיל לתרגל,</a:t>
            </a:r>
          </a:p>
          <a:p>
            <a:pPr algn="ctr"/>
            <a:r>
              <a:rPr lang="he-IL" sz="4000">
                <a:solidFill>
                  <a:prstClr val="black"/>
                </a:solidFill>
                <a:latin typeface="Assistant" pitchFamily="2" charset="-79"/>
                <a:cs typeface="Assistant" pitchFamily="2" charset="-79"/>
              </a:rPr>
              <a:t>רגע לפני, בואו נפתור תרגיל אחד יחד</a:t>
            </a:r>
            <a:endParaRPr lang="LID4096" sz="4000">
              <a:solidFill>
                <a:prstClr val="black"/>
              </a:solidFill>
              <a:latin typeface="Assistant" pitchFamily="2" charset="-79"/>
              <a:cs typeface="Assistant" pitchFamily="2" charset="-79"/>
            </a:endParaRPr>
          </a:p>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LID4096" sz="4000" b="1" i="0" u="none" strike="noStrike" kern="1200" cap="none" spc="0" normalizeH="0" baseline="0" noProof="0">
              <a:ln>
                <a:noFill/>
              </a:ln>
              <a:solidFill>
                <a:prstClr val="black"/>
              </a:solidFill>
              <a:effectLst/>
              <a:uLnTx/>
              <a:uFillTx/>
              <a:latin typeface="Assistant" pitchFamily="2" charset="-79"/>
              <a:ea typeface="+mn-ea"/>
              <a:cs typeface="Assistant" pitchFamily="2" charset="-79"/>
            </a:endParaRPr>
          </a:p>
        </p:txBody>
      </p:sp>
      <p:pic>
        <p:nvPicPr>
          <p:cNvPr id="13" name="Picture 12">
            <a:extLst>
              <a:ext uri="{FF2B5EF4-FFF2-40B4-BE49-F238E27FC236}">
                <a16:creationId xmlns:a16="http://schemas.microsoft.com/office/drawing/2014/main" id="{EB4167A6-6B89-2062-1769-18CC9A96D84A}"/>
              </a:ext>
            </a:extLst>
          </p:cNvPr>
          <p:cNvPicPr>
            <a:picLocks noChangeAspect="1"/>
          </p:cNvPicPr>
          <p:nvPr/>
        </p:nvPicPr>
        <p:blipFill>
          <a:blip r:embed="rId5"/>
          <a:stretch>
            <a:fillRect/>
          </a:stretch>
        </p:blipFill>
        <p:spPr>
          <a:xfrm>
            <a:off x="10371417" y="6124170"/>
            <a:ext cx="1820583" cy="622831"/>
          </a:xfrm>
          <a:prstGeom prst="rect">
            <a:avLst/>
          </a:prstGeom>
        </p:spPr>
      </p:pic>
      <p:pic>
        <p:nvPicPr>
          <p:cNvPr id="3" name="Picture 2">
            <a:extLst>
              <a:ext uri="{FF2B5EF4-FFF2-40B4-BE49-F238E27FC236}">
                <a16:creationId xmlns:a16="http://schemas.microsoft.com/office/drawing/2014/main" id="{BA61208A-1D2B-E947-53AC-6E7F3954406B}"/>
              </a:ext>
            </a:extLst>
          </p:cNvPr>
          <p:cNvPicPr>
            <a:picLocks noChangeAspect="1"/>
          </p:cNvPicPr>
          <p:nvPr/>
        </p:nvPicPr>
        <p:blipFill>
          <a:blip r:embed="rId6" cstate="email">
            <a:extLst>
              <a:ext uri="{28A0092B-C50C-407E-A947-70E740481C1C}">
                <a14:useLocalDpi xmlns:a14="http://schemas.microsoft.com/office/drawing/2010/main"/>
              </a:ext>
            </a:extLst>
          </a:blip>
          <a:stretch>
            <a:fillRect/>
          </a:stretch>
        </p:blipFill>
        <p:spPr>
          <a:xfrm>
            <a:off x="4508963" y="2116827"/>
            <a:ext cx="3174073" cy="3805598"/>
          </a:xfrm>
          <a:prstGeom prst="rect">
            <a:avLst/>
          </a:prstGeom>
        </p:spPr>
      </p:pic>
    </p:spTree>
    <p:custDataLst>
      <p:tags r:id="rId1"/>
    </p:custDataLst>
    <p:extLst>
      <p:ext uri="{BB962C8B-B14F-4D97-AF65-F5344CB8AC3E}">
        <p14:creationId xmlns:p14="http://schemas.microsoft.com/office/powerpoint/2010/main" val="174349201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4AD6FE-3BAB-657B-80CD-C5A0595F441B}"/>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0E0E4F44-7968-8C9F-9F2D-9DC77920AEE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0" y="3083856"/>
            <a:ext cx="2871948" cy="2871948"/>
          </a:xfrm>
          <a:prstGeom prst="rect">
            <a:avLst/>
          </a:prstGeom>
        </p:spPr>
      </p:pic>
      <p:cxnSp>
        <p:nvCxnSpPr>
          <p:cNvPr id="7" name="מחבר ישר 6">
            <a:extLst>
              <a:ext uri="{FF2B5EF4-FFF2-40B4-BE49-F238E27FC236}">
                <a16:creationId xmlns:a16="http://schemas.microsoft.com/office/drawing/2014/main" id="{B2452BAD-EFCF-9B4A-0B46-C0C073877BF2}"/>
              </a:ext>
            </a:extLst>
          </p:cNvPr>
          <p:cNvCxnSpPr>
            <a:cxnSpLocks/>
          </p:cNvCxnSpPr>
          <p:nvPr/>
        </p:nvCxnSpPr>
        <p:spPr>
          <a:xfrm>
            <a:off x="0" y="6079252"/>
            <a:ext cx="12192000" cy="0"/>
          </a:xfrm>
          <a:prstGeom prst="line">
            <a:avLst/>
          </a:prstGeom>
          <a:ln>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8" name="תיבת טקסט 3">
            <a:extLst>
              <a:ext uri="{FF2B5EF4-FFF2-40B4-BE49-F238E27FC236}">
                <a16:creationId xmlns:a16="http://schemas.microsoft.com/office/drawing/2014/main" id="{9574E34D-2F6A-304A-7F54-DBEEA91CB9E7}"/>
              </a:ext>
            </a:extLst>
          </p:cNvPr>
          <p:cNvSpPr txBox="1"/>
          <p:nvPr/>
        </p:nvSpPr>
        <p:spPr>
          <a:xfrm>
            <a:off x="2120425" y="495079"/>
            <a:ext cx="8271803" cy="707886"/>
          </a:xfrm>
          <a:prstGeom prst="rect">
            <a:avLst/>
          </a:prstGeom>
          <a:noFill/>
        </p:spPr>
        <p:txBody>
          <a:bodyPr wrap="square" rtlCol="0">
            <a:spAutoFit/>
          </a:bodyPr>
          <a:lstStyle/>
          <a:p>
            <a:pPr algn="ctr"/>
            <a:r>
              <a:rPr lang="he-IL" sz="4000" b="1">
                <a:latin typeface="Assistant" pitchFamily="2" charset="-79"/>
                <a:cs typeface="Assistant" pitchFamily="2" charset="-79"/>
              </a:rPr>
              <a:t>בואו נפתור תרגיל ראשון יחד</a:t>
            </a:r>
            <a:endParaRPr lang="LID4096" sz="4000" b="1">
              <a:latin typeface="Assistant" pitchFamily="2" charset="-79"/>
              <a:cs typeface="Assistant" pitchFamily="2" charset="-79"/>
            </a:endParaRPr>
          </a:p>
        </p:txBody>
      </p:sp>
      <p:pic>
        <p:nvPicPr>
          <p:cNvPr id="41" name="תמונה 3">
            <a:extLst>
              <a:ext uri="{FF2B5EF4-FFF2-40B4-BE49-F238E27FC236}">
                <a16:creationId xmlns:a16="http://schemas.microsoft.com/office/drawing/2014/main" id="{004E9714-2F0D-ACFA-CE68-10E928B0E19A}"/>
              </a:ext>
            </a:extLst>
          </p:cNvPr>
          <p:cNvPicPr>
            <a:picLocks noChangeAspect="1"/>
          </p:cNvPicPr>
          <p:nvPr/>
        </p:nvPicPr>
        <p:blipFill>
          <a:blip r:embed="rId5">
            <a:extLst>
              <a:ext uri="{28A0092B-C50C-407E-A947-70E740481C1C}">
                <a14:useLocalDpi xmlns:a14="http://schemas.microsoft.com/office/drawing/2010/main"/>
              </a:ext>
            </a:extLst>
          </a:blip>
          <a:stretch>
            <a:fillRect/>
          </a:stretch>
        </p:blipFill>
        <p:spPr>
          <a:xfrm>
            <a:off x="223129" y="6246129"/>
            <a:ext cx="1777778" cy="495238"/>
          </a:xfrm>
          <a:prstGeom prst="rect">
            <a:avLst/>
          </a:prstGeom>
        </p:spPr>
      </p:pic>
      <p:sp>
        <p:nvSpPr>
          <p:cNvPr id="2" name="תיבת טקסט 4">
            <a:extLst>
              <a:ext uri="{FF2B5EF4-FFF2-40B4-BE49-F238E27FC236}">
                <a16:creationId xmlns:a16="http://schemas.microsoft.com/office/drawing/2014/main" id="{BE293DBB-9900-4BCA-F864-0CCB72684547}"/>
              </a:ext>
            </a:extLst>
          </p:cNvPr>
          <p:cNvSpPr txBox="1"/>
          <p:nvPr/>
        </p:nvSpPr>
        <p:spPr>
          <a:xfrm>
            <a:off x="1706215" y="1296887"/>
            <a:ext cx="10109199" cy="707886"/>
          </a:xfrm>
          <a:prstGeom prst="rect">
            <a:avLst/>
          </a:prstGeom>
          <a:noFill/>
        </p:spPr>
        <p:txBody>
          <a:bodyPr wrap="square" rtlCol="0">
            <a:spAutoFit/>
          </a:bodyPr>
          <a:lstStyle/>
          <a:p>
            <a:r>
              <a:rPr lang="he-IL" sz="2000" b="1">
                <a:latin typeface="Assistant" pitchFamily="2" charset="-79"/>
                <a:cs typeface="Assistant" pitchFamily="2" charset="-79"/>
              </a:rPr>
              <a:t>קראו את התרגיל הבא. אל תפתרו אותו, רק הסתכלו על הנתונים וחישבו האם יש לכם כיוון לפתרון. </a:t>
            </a:r>
          </a:p>
          <a:p>
            <a:endParaRPr lang="he-IL" sz="2000">
              <a:latin typeface="Assistant" pitchFamily="2" charset="-79"/>
              <a:cs typeface="Assistant" pitchFamily="2" charset="-79"/>
            </a:endParaRPr>
          </a:p>
        </p:txBody>
      </p:sp>
      <p:grpSp>
        <p:nvGrpSpPr>
          <p:cNvPr id="13" name="Group 12">
            <a:extLst>
              <a:ext uri="{FF2B5EF4-FFF2-40B4-BE49-F238E27FC236}">
                <a16:creationId xmlns:a16="http://schemas.microsoft.com/office/drawing/2014/main" id="{AE578D76-411D-26B9-E41C-2C070957A697}"/>
              </a:ext>
            </a:extLst>
          </p:cNvPr>
          <p:cNvGrpSpPr/>
          <p:nvPr/>
        </p:nvGrpSpPr>
        <p:grpSpPr>
          <a:xfrm>
            <a:off x="452245" y="1848421"/>
            <a:ext cx="11287509" cy="4063955"/>
            <a:chOff x="774950" y="2225164"/>
            <a:chExt cx="11287509" cy="4063955"/>
          </a:xfrm>
        </p:grpSpPr>
        <p:sp>
          <p:nvSpPr>
            <p:cNvPr id="9" name="תיבת טקסט 4">
              <a:extLst>
                <a:ext uri="{FF2B5EF4-FFF2-40B4-BE49-F238E27FC236}">
                  <a16:creationId xmlns:a16="http://schemas.microsoft.com/office/drawing/2014/main" id="{5361A6AD-FF06-0CD4-D47F-01CC228E92DA}"/>
                </a:ext>
              </a:extLst>
            </p:cNvPr>
            <p:cNvSpPr txBox="1"/>
            <p:nvPr/>
          </p:nvSpPr>
          <p:spPr>
            <a:xfrm>
              <a:off x="3987537" y="2386260"/>
              <a:ext cx="8074922" cy="1015663"/>
            </a:xfrm>
            <a:prstGeom prst="rect">
              <a:avLst/>
            </a:prstGeom>
            <a:noFill/>
          </p:spPr>
          <p:txBody>
            <a:bodyPr wrap="square" lIns="91440" tIns="45720" rIns="91440" bIns="45720" rtlCol="0" anchor="t">
              <a:spAutoFit/>
            </a:bodyPr>
            <a:lstStyle/>
            <a:p>
              <a:r>
                <a:rPr lang="he-IL" sz="2000">
                  <a:latin typeface="Assistant"/>
                  <a:cs typeface="Assistant"/>
                </a:rPr>
                <a:t>לאורי ודן יש  56 גולות אדומות וכחולות. </a:t>
              </a:r>
            </a:p>
            <a:p>
              <a:r>
                <a:rPr lang="he-IL" sz="2000">
                  <a:latin typeface="Assistant"/>
                  <a:cs typeface="Assistant"/>
                </a:rPr>
                <a:t>היחס בין כמות הגולות האדומות לבין כמות הגולות הכחולות </a:t>
              </a:r>
              <a:endParaRPr lang="he-IL">
                <a:latin typeface="Aptos" panose="02110004020202020204"/>
                <a:cs typeface="Arial" panose="020B0604020202020204" pitchFamily="34" charset="0"/>
              </a:endParaRPr>
            </a:p>
            <a:p>
              <a:r>
                <a:rPr lang="he-IL" sz="2000">
                  <a:latin typeface="Assistant"/>
                  <a:cs typeface="Assistant"/>
                </a:rPr>
                <a:t>הוא 5 : 2 . אורי קיבל את הגולות האדומות ודן קיבל את הגולות הכחולות.</a:t>
              </a:r>
              <a:endParaRPr lang="he-IL">
                <a:cs typeface="Arial"/>
              </a:endParaRPr>
            </a:p>
          </p:txBody>
        </p:sp>
        <p:grpSp>
          <p:nvGrpSpPr>
            <p:cNvPr id="31" name="Group 30">
              <a:extLst>
                <a:ext uri="{FF2B5EF4-FFF2-40B4-BE49-F238E27FC236}">
                  <a16:creationId xmlns:a16="http://schemas.microsoft.com/office/drawing/2014/main" id="{F55B0B49-0C2C-B45F-DC10-582E6CC62A5C}"/>
                </a:ext>
              </a:extLst>
            </p:cNvPr>
            <p:cNvGrpSpPr/>
            <p:nvPr/>
          </p:nvGrpSpPr>
          <p:grpSpPr>
            <a:xfrm>
              <a:off x="774950" y="2570588"/>
              <a:ext cx="2207736" cy="400110"/>
              <a:chOff x="674914" y="2325906"/>
              <a:chExt cx="4397829" cy="400110"/>
            </a:xfrm>
          </p:grpSpPr>
          <p:cxnSp>
            <p:nvCxnSpPr>
              <p:cNvPr id="18" name="Straight Arrow Connector 17">
                <a:extLst>
                  <a:ext uri="{FF2B5EF4-FFF2-40B4-BE49-F238E27FC236}">
                    <a16:creationId xmlns:a16="http://schemas.microsoft.com/office/drawing/2014/main" id="{53E33C0D-F1AE-1EBE-C4A1-9BE3E98C5FB2}"/>
                  </a:ext>
                </a:extLst>
              </p:cNvPr>
              <p:cNvCxnSpPr>
                <a:cxnSpLocks/>
              </p:cNvCxnSpPr>
              <p:nvPr/>
            </p:nvCxnSpPr>
            <p:spPr>
              <a:xfrm>
                <a:off x="674914" y="2726016"/>
                <a:ext cx="4397829" cy="0"/>
              </a:xfrm>
              <a:prstGeom prst="straightConnector1">
                <a:avLst/>
              </a:prstGeom>
              <a:ln>
                <a:solidFill>
                  <a:schemeClr val="bg1"/>
                </a:solidFill>
                <a:headEnd type="triangle"/>
                <a:tailEnd type="triangle"/>
              </a:ln>
            </p:spPr>
            <p:style>
              <a:lnRef idx="2">
                <a:schemeClr val="accent1"/>
              </a:lnRef>
              <a:fillRef idx="0">
                <a:schemeClr val="accent1"/>
              </a:fillRef>
              <a:effectRef idx="1">
                <a:schemeClr val="accent1"/>
              </a:effectRef>
              <a:fontRef idx="minor">
                <a:schemeClr val="tx1"/>
              </a:fontRef>
            </p:style>
          </p:cxnSp>
          <p:sp>
            <p:nvSpPr>
              <p:cNvPr id="22" name="תיבת טקסט 4">
                <a:extLst>
                  <a:ext uri="{FF2B5EF4-FFF2-40B4-BE49-F238E27FC236}">
                    <a16:creationId xmlns:a16="http://schemas.microsoft.com/office/drawing/2014/main" id="{3FDEFDE4-B827-66CE-5FAA-832DD3636A02}"/>
                  </a:ext>
                </a:extLst>
              </p:cNvPr>
              <p:cNvSpPr txBox="1"/>
              <p:nvPr/>
            </p:nvSpPr>
            <p:spPr>
              <a:xfrm>
                <a:off x="1981201" y="2325906"/>
                <a:ext cx="1812160" cy="400110"/>
              </a:xfrm>
              <a:prstGeom prst="rect">
                <a:avLst/>
              </a:prstGeom>
              <a:noFill/>
            </p:spPr>
            <p:txBody>
              <a:bodyPr wrap="square" rtlCol="0">
                <a:spAutoFit/>
              </a:bodyPr>
              <a:lstStyle/>
              <a:p>
                <a:r>
                  <a:rPr lang="he-IL" sz="2000">
                    <a:solidFill>
                      <a:schemeClr val="bg1"/>
                    </a:solidFill>
                    <a:latin typeface="Assistant" pitchFamily="2" charset="-79"/>
                    <a:cs typeface="Assistant" pitchFamily="2" charset="-79"/>
                  </a:rPr>
                  <a:t>5 ס"מ</a:t>
                </a:r>
              </a:p>
            </p:txBody>
          </p:sp>
        </p:grpSp>
        <p:sp>
          <p:nvSpPr>
            <p:cNvPr id="12" name="Rectangle 11">
              <a:extLst>
                <a:ext uri="{FF2B5EF4-FFF2-40B4-BE49-F238E27FC236}">
                  <a16:creationId xmlns:a16="http://schemas.microsoft.com/office/drawing/2014/main" id="{974B71AF-4FED-0E27-5183-0A6764D790BB}"/>
                </a:ext>
              </a:extLst>
            </p:cNvPr>
            <p:cNvSpPr/>
            <p:nvPr/>
          </p:nvSpPr>
          <p:spPr>
            <a:xfrm>
              <a:off x="4134264" y="2225164"/>
              <a:ext cx="7900449" cy="4063955"/>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grpSp>
      <p:sp>
        <p:nvSpPr>
          <p:cNvPr id="21" name="תיבת טקסט 13">
            <a:extLst>
              <a:ext uri="{FF2B5EF4-FFF2-40B4-BE49-F238E27FC236}">
                <a16:creationId xmlns:a16="http://schemas.microsoft.com/office/drawing/2014/main" id="{58507228-468D-E55D-B4C3-E1212025AE4D}"/>
              </a:ext>
            </a:extLst>
          </p:cNvPr>
          <p:cNvSpPr txBox="1"/>
          <p:nvPr/>
        </p:nvSpPr>
        <p:spPr>
          <a:xfrm>
            <a:off x="8301289" y="3316387"/>
            <a:ext cx="2911516" cy="369332"/>
          </a:xfrm>
          <a:prstGeom prst="rect">
            <a:avLst/>
          </a:prstGeom>
          <a:noFill/>
        </p:spPr>
        <p:txBody>
          <a:bodyPr wrap="square">
            <a:spAutoFit/>
          </a:bodyPr>
          <a:lstStyle/>
          <a:p>
            <a:r>
              <a:rPr lang="he-IL">
                <a:latin typeface="Assistant" pitchFamily="2" charset="-79"/>
                <a:cs typeface="Assistant" pitchFamily="2" charset="-79"/>
              </a:rPr>
              <a:t>א. איזה חלק מהגולות קיבל אורי?</a:t>
            </a:r>
            <a:endParaRPr lang="LID4096">
              <a:latin typeface="Assistant" pitchFamily="2" charset="-79"/>
              <a:cs typeface="Assistant" pitchFamily="2" charset="-79"/>
            </a:endParaRPr>
          </a:p>
        </p:txBody>
      </p:sp>
      <p:sp>
        <p:nvSpPr>
          <p:cNvPr id="6" name="תיבת טקסט 13">
            <a:extLst>
              <a:ext uri="{FF2B5EF4-FFF2-40B4-BE49-F238E27FC236}">
                <a16:creationId xmlns:a16="http://schemas.microsoft.com/office/drawing/2014/main" id="{C0CD8D7E-1CD0-7A2B-FBE2-37AB551275F5}"/>
              </a:ext>
            </a:extLst>
          </p:cNvPr>
          <p:cNvSpPr txBox="1"/>
          <p:nvPr/>
        </p:nvSpPr>
        <p:spPr>
          <a:xfrm>
            <a:off x="8468424" y="3969974"/>
            <a:ext cx="2744381" cy="369332"/>
          </a:xfrm>
          <a:prstGeom prst="rect">
            <a:avLst/>
          </a:prstGeom>
          <a:noFill/>
        </p:spPr>
        <p:txBody>
          <a:bodyPr wrap="square">
            <a:spAutoFit/>
          </a:bodyPr>
          <a:lstStyle/>
          <a:p>
            <a:r>
              <a:rPr lang="he-IL">
                <a:latin typeface="Assistant" pitchFamily="2" charset="-79"/>
                <a:cs typeface="Assistant" pitchFamily="2" charset="-79"/>
              </a:rPr>
              <a:t>ב. איזה חלק מהגולות קיבל דן?</a:t>
            </a:r>
            <a:endParaRPr lang="LID4096" sz="2000">
              <a:latin typeface="Assistant" pitchFamily="2" charset="-79"/>
              <a:cs typeface="Assistant" pitchFamily="2" charset="-79"/>
            </a:endParaRPr>
          </a:p>
        </p:txBody>
      </p:sp>
      <p:sp>
        <p:nvSpPr>
          <p:cNvPr id="28" name="תיבת טקסט 13">
            <a:extLst>
              <a:ext uri="{FF2B5EF4-FFF2-40B4-BE49-F238E27FC236}">
                <a16:creationId xmlns:a16="http://schemas.microsoft.com/office/drawing/2014/main" id="{F7B34042-015D-6B59-E6D1-41E614FB9A91}"/>
              </a:ext>
            </a:extLst>
          </p:cNvPr>
          <p:cNvSpPr txBox="1"/>
          <p:nvPr/>
        </p:nvSpPr>
        <p:spPr>
          <a:xfrm>
            <a:off x="8680704" y="4623561"/>
            <a:ext cx="2532101" cy="369332"/>
          </a:xfrm>
          <a:prstGeom prst="rect">
            <a:avLst/>
          </a:prstGeom>
          <a:noFill/>
        </p:spPr>
        <p:txBody>
          <a:bodyPr wrap="square">
            <a:spAutoFit/>
          </a:bodyPr>
          <a:lstStyle/>
          <a:p>
            <a:r>
              <a:rPr lang="he-IL">
                <a:latin typeface="Assistant" pitchFamily="2" charset="-79"/>
                <a:cs typeface="Assistant" pitchFamily="2" charset="-79"/>
              </a:rPr>
              <a:t>ג. כמה גולות קיבל אורי?</a:t>
            </a:r>
            <a:endParaRPr lang="LID4096" sz="2000">
              <a:latin typeface="Assistant" pitchFamily="2" charset="-79"/>
              <a:cs typeface="Assistant" pitchFamily="2" charset="-79"/>
            </a:endParaRPr>
          </a:p>
        </p:txBody>
      </p:sp>
      <p:sp>
        <p:nvSpPr>
          <p:cNvPr id="29" name="תיבת טקסט 13">
            <a:extLst>
              <a:ext uri="{FF2B5EF4-FFF2-40B4-BE49-F238E27FC236}">
                <a16:creationId xmlns:a16="http://schemas.microsoft.com/office/drawing/2014/main" id="{657A123D-5609-3685-116F-E91DAF754D3E}"/>
              </a:ext>
            </a:extLst>
          </p:cNvPr>
          <p:cNvSpPr txBox="1"/>
          <p:nvPr/>
        </p:nvSpPr>
        <p:spPr>
          <a:xfrm>
            <a:off x="7005583" y="5277149"/>
            <a:ext cx="4207221" cy="369332"/>
          </a:xfrm>
          <a:prstGeom prst="rect">
            <a:avLst/>
          </a:prstGeom>
          <a:noFill/>
        </p:spPr>
        <p:txBody>
          <a:bodyPr wrap="square">
            <a:spAutoFit/>
          </a:bodyPr>
          <a:lstStyle/>
          <a:p>
            <a:r>
              <a:rPr lang="he-IL">
                <a:latin typeface="Assistant" pitchFamily="2" charset="-79"/>
                <a:cs typeface="Assistant" pitchFamily="2" charset="-79"/>
              </a:rPr>
              <a:t>ד. כמה גולות קיבל דן?</a:t>
            </a:r>
            <a:endParaRPr lang="LID4096" sz="2000">
              <a:latin typeface="Assistant" pitchFamily="2" charset="-79"/>
              <a:cs typeface="Assistant" pitchFamily="2" charset="-79"/>
            </a:endParaRPr>
          </a:p>
        </p:txBody>
      </p:sp>
      <p:sp>
        <p:nvSpPr>
          <p:cNvPr id="5" name="מלבן: פינות מעוגלות 6">
            <a:extLst>
              <a:ext uri="{FF2B5EF4-FFF2-40B4-BE49-F238E27FC236}">
                <a16:creationId xmlns:a16="http://schemas.microsoft.com/office/drawing/2014/main" id="{B8446B23-EBCF-AB27-2F1D-254DC9FC4E21}"/>
              </a:ext>
            </a:extLst>
          </p:cNvPr>
          <p:cNvSpPr/>
          <p:nvPr/>
        </p:nvSpPr>
        <p:spPr>
          <a:xfrm>
            <a:off x="7126224" y="3243691"/>
            <a:ext cx="1069358" cy="485548"/>
          </a:xfrm>
          <a:prstGeom prst="roundRect">
            <a:avLst>
              <a:gd name="adj" fmla="val 1764"/>
            </a:avLst>
          </a:prstGeom>
          <a:noFill/>
          <a:ln w="12700">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LID4096" sz="2000">
              <a:solidFill>
                <a:schemeClr val="tx1"/>
              </a:solidFill>
            </a:endParaRPr>
          </a:p>
        </p:txBody>
      </p:sp>
      <p:sp>
        <p:nvSpPr>
          <p:cNvPr id="15" name="מלבן: פינות מעוגלות 6">
            <a:extLst>
              <a:ext uri="{FF2B5EF4-FFF2-40B4-BE49-F238E27FC236}">
                <a16:creationId xmlns:a16="http://schemas.microsoft.com/office/drawing/2014/main" id="{41DE38E8-6C64-A336-B71B-F29FBD2CAE8C}"/>
              </a:ext>
            </a:extLst>
          </p:cNvPr>
          <p:cNvSpPr/>
          <p:nvPr/>
        </p:nvSpPr>
        <p:spPr>
          <a:xfrm>
            <a:off x="7130331" y="3897253"/>
            <a:ext cx="1069358" cy="485548"/>
          </a:xfrm>
          <a:prstGeom prst="roundRect">
            <a:avLst>
              <a:gd name="adj" fmla="val 1764"/>
            </a:avLst>
          </a:prstGeom>
          <a:noFill/>
          <a:ln w="12700">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LID4096" sz="2000">
              <a:solidFill>
                <a:schemeClr val="tx1"/>
              </a:solidFill>
            </a:endParaRPr>
          </a:p>
        </p:txBody>
      </p:sp>
      <p:sp>
        <p:nvSpPr>
          <p:cNvPr id="26" name="מלבן: פינות מעוגלות 6">
            <a:extLst>
              <a:ext uri="{FF2B5EF4-FFF2-40B4-BE49-F238E27FC236}">
                <a16:creationId xmlns:a16="http://schemas.microsoft.com/office/drawing/2014/main" id="{29292622-C344-08A9-EE80-8EF6539115FE}"/>
              </a:ext>
            </a:extLst>
          </p:cNvPr>
          <p:cNvSpPr/>
          <p:nvPr/>
        </p:nvSpPr>
        <p:spPr>
          <a:xfrm>
            <a:off x="7126224" y="4573159"/>
            <a:ext cx="1069358" cy="485548"/>
          </a:xfrm>
          <a:prstGeom prst="roundRect">
            <a:avLst>
              <a:gd name="adj" fmla="val 1764"/>
            </a:avLst>
          </a:prstGeom>
          <a:noFill/>
          <a:ln w="12700">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LID4096" sz="2000">
              <a:solidFill>
                <a:schemeClr val="tx1"/>
              </a:solidFill>
            </a:endParaRPr>
          </a:p>
        </p:txBody>
      </p:sp>
      <p:sp>
        <p:nvSpPr>
          <p:cNvPr id="48" name="מלבן: פינות מעוגלות 6">
            <a:extLst>
              <a:ext uri="{FF2B5EF4-FFF2-40B4-BE49-F238E27FC236}">
                <a16:creationId xmlns:a16="http://schemas.microsoft.com/office/drawing/2014/main" id="{8D55EE49-E912-AEF4-25E3-829BD74F5ECE}"/>
              </a:ext>
            </a:extLst>
          </p:cNvPr>
          <p:cNvSpPr/>
          <p:nvPr/>
        </p:nvSpPr>
        <p:spPr>
          <a:xfrm>
            <a:off x="7126224" y="5208317"/>
            <a:ext cx="1069358" cy="485548"/>
          </a:xfrm>
          <a:prstGeom prst="roundRect">
            <a:avLst>
              <a:gd name="adj" fmla="val 1764"/>
            </a:avLst>
          </a:prstGeom>
          <a:noFill/>
          <a:ln w="12700">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LID4096" sz="2000">
              <a:solidFill>
                <a:schemeClr val="tx1"/>
              </a:solidFill>
            </a:endParaRPr>
          </a:p>
        </p:txBody>
      </p:sp>
      <p:sp>
        <p:nvSpPr>
          <p:cNvPr id="45" name="בועת דיבור: מלבן 13">
            <a:extLst>
              <a:ext uri="{FF2B5EF4-FFF2-40B4-BE49-F238E27FC236}">
                <a16:creationId xmlns:a16="http://schemas.microsoft.com/office/drawing/2014/main" id="{93DF4FA2-D14D-2C7A-3D14-0E33D8C1BB46}"/>
              </a:ext>
            </a:extLst>
          </p:cNvPr>
          <p:cNvSpPr/>
          <p:nvPr/>
        </p:nvSpPr>
        <p:spPr>
          <a:xfrm>
            <a:off x="1613718" y="2269810"/>
            <a:ext cx="2119539" cy="866540"/>
          </a:xfrm>
          <a:prstGeom prst="wedgeRectCallout">
            <a:avLst>
              <a:gd name="adj1" fmla="val -35820"/>
              <a:gd name="adj2" fmla="val 74538"/>
            </a:avLst>
          </a:prstGeom>
          <a:noFill/>
          <a:ln w="28575">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he-IL">
                <a:solidFill>
                  <a:schemeClr val="bg2">
                    <a:lumMod val="50000"/>
                  </a:schemeClr>
                </a:solidFill>
                <a:latin typeface="Assistant" pitchFamily="2" charset="-79"/>
                <a:cs typeface="Assistant" pitchFamily="2" charset="-79"/>
              </a:rPr>
              <a:t>מיד נסביר את הפתרון, שלב אחר שלב</a:t>
            </a:r>
            <a:endParaRPr lang="LID4096">
              <a:solidFill>
                <a:schemeClr val="bg2">
                  <a:lumMod val="50000"/>
                </a:schemeClr>
              </a:solidFill>
              <a:latin typeface="Assistant" pitchFamily="2" charset="-79"/>
              <a:cs typeface="Assistant" pitchFamily="2" charset="-79"/>
            </a:endParaRPr>
          </a:p>
        </p:txBody>
      </p:sp>
    </p:spTree>
    <p:custDataLst>
      <p:tags r:id="rId1"/>
    </p:custDataLst>
    <p:extLst>
      <p:ext uri="{BB962C8B-B14F-4D97-AF65-F5344CB8AC3E}">
        <p14:creationId xmlns:p14="http://schemas.microsoft.com/office/powerpoint/2010/main" val="127529688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507231-4D5F-338F-1263-0607E95E9150}"/>
            </a:ext>
          </a:extLst>
        </p:cNvPr>
        <p:cNvGrpSpPr/>
        <p:nvPr/>
      </p:nvGrpSpPr>
      <p:grpSpPr>
        <a:xfrm>
          <a:off x="0" y="0"/>
          <a:ext cx="0" cy="0"/>
          <a:chOff x="0" y="0"/>
          <a:chExt cx="0" cy="0"/>
        </a:xfrm>
      </p:grpSpPr>
      <p:cxnSp>
        <p:nvCxnSpPr>
          <p:cNvPr id="7" name="מחבר ישר 6">
            <a:extLst>
              <a:ext uri="{FF2B5EF4-FFF2-40B4-BE49-F238E27FC236}">
                <a16:creationId xmlns:a16="http://schemas.microsoft.com/office/drawing/2014/main" id="{B1854C6E-4120-182E-779B-D9DFEAFD6F4B}"/>
              </a:ext>
            </a:extLst>
          </p:cNvPr>
          <p:cNvCxnSpPr>
            <a:cxnSpLocks/>
          </p:cNvCxnSpPr>
          <p:nvPr/>
        </p:nvCxnSpPr>
        <p:spPr>
          <a:xfrm>
            <a:off x="0" y="6079252"/>
            <a:ext cx="12192000" cy="0"/>
          </a:xfrm>
          <a:prstGeom prst="line">
            <a:avLst/>
          </a:prstGeom>
          <a:ln>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8" name="תיבת טקסט 3">
            <a:extLst>
              <a:ext uri="{FF2B5EF4-FFF2-40B4-BE49-F238E27FC236}">
                <a16:creationId xmlns:a16="http://schemas.microsoft.com/office/drawing/2014/main" id="{367C8F63-B859-6597-5347-9BABE9984C4F}"/>
              </a:ext>
            </a:extLst>
          </p:cNvPr>
          <p:cNvSpPr txBox="1"/>
          <p:nvPr/>
        </p:nvSpPr>
        <p:spPr>
          <a:xfrm>
            <a:off x="2120425" y="495079"/>
            <a:ext cx="8271803" cy="707886"/>
          </a:xfrm>
          <a:prstGeom prst="rect">
            <a:avLst/>
          </a:prstGeom>
          <a:noFill/>
        </p:spPr>
        <p:txBody>
          <a:bodyPr wrap="square" rtlCol="0">
            <a:spAutoFit/>
          </a:bodyPr>
          <a:lstStyle/>
          <a:p>
            <a:pPr algn="ctr"/>
            <a:r>
              <a:rPr lang="he-IL" sz="4000" b="1">
                <a:latin typeface="Assistant" pitchFamily="2" charset="-79"/>
                <a:cs typeface="Assistant" pitchFamily="2" charset="-79"/>
              </a:rPr>
              <a:t>יחס – בואו נפתור תרגיל ראשון יחד</a:t>
            </a:r>
            <a:endParaRPr lang="LID4096" sz="4000" b="1">
              <a:latin typeface="Assistant" pitchFamily="2" charset="-79"/>
              <a:cs typeface="Assistant" pitchFamily="2" charset="-79"/>
            </a:endParaRPr>
          </a:p>
        </p:txBody>
      </p:sp>
      <p:pic>
        <p:nvPicPr>
          <p:cNvPr id="41" name="תמונה 3">
            <a:extLst>
              <a:ext uri="{FF2B5EF4-FFF2-40B4-BE49-F238E27FC236}">
                <a16:creationId xmlns:a16="http://schemas.microsoft.com/office/drawing/2014/main" id="{D40B77F4-53C2-701F-7343-F189B13AE147}"/>
              </a:ext>
            </a:extLst>
          </p:cNvPr>
          <p:cNvPicPr>
            <a:picLocks noChangeAspect="1"/>
          </p:cNvPicPr>
          <p:nvPr/>
        </p:nvPicPr>
        <p:blipFill>
          <a:blip r:embed="rId5">
            <a:extLst>
              <a:ext uri="{28A0092B-C50C-407E-A947-70E740481C1C}">
                <a14:useLocalDpi xmlns:a14="http://schemas.microsoft.com/office/drawing/2010/main"/>
              </a:ext>
            </a:extLst>
          </a:blip>
          <a:stretch>
            <a:fillRect/>
          </a:stretch>
        </p:blipFill>
        <p:spPr>
          <a:xfrm>
            <a:off x="223129" y="6246129"/>
            <a:ext cx="1777778" cy="495238"/>
          </a:xfrm>
          <a:prstGeom prst="rect">
            <a:avLst/>
          </a:prstGeom>
        </p:spPr>
      </p:pic>
      <p:grpSp>
        <p:nvGrpSpPr>
          <p:cNvPr id="13" name="Group 12">
            <a:extLst>
              <a:ext uri="{FF2B5EF4-FFF2-40B4-BE49-F238E27FC236}">
                <a16:creationId xmlns:a16="http://schemas.microsoft.com/office/drawing/2014/main" id="{EE3371A4-F41D-1B87-7300-818DA3228684}"/>
              </a:ext>
            </a:extLst>
          </p:cNvPr>
          <p:cNvGrpSpPr/>
          <p:nvPr/>
        </p:nvGrpSpPr>
        <p:grpSpPr>
          <a:xfrm>
            <a:off x="223129" y="1848421"/>
            <a:ext cx="11259763" cy="4063955"/>
            <a:chOff x="774950" y="2225164"/>
            <a:chExt cx="11259763" cy="4063955"/>
          </a:xfrm>
        </p:grpSpPr>
        <p:sp>
          <p:nvSpPr>
            <p:cNvPr id="9" name="תיבת טקסט 4">
              <a:extLst>
                <a:ext uri="{FF2B5EF4-FFF2-40B4-BE49-F238E27FC236}">
                  <a16:creationId xmlns:a16="http://schemas.microsoft.com/office/drawing/2014/main" id="{8865E841-D8C1-DD5C-3D19-810C02212ED7}"/>
                </a:ext>
              </a:extLst>
            </p:cNvPr>
            <p:cNvSpPr txBox="1"/>
            <p:nvPr/>
          </p:nvSpPr>
          <p:spPr>
            <a:xfrm>
              <a:off x="4516638" y="2295654"/>
              <a:ext cx="7465324" cy="707886"/>
            </a:xfrm>
            <a:prstGeom prst="rect">
              <a:avLst/>
            </a:prstGeom>
            <a:noFill/>
          </p:spPr>
          <p:txBody>
            <a:bodyPr wrap="square" lIns="91440" tIns="45720" rIns="91440" bIns="45720" rtlCol="0" anchor="t">
              <a:spAutoFit/>
            </a:bodyPr>
            <a:lstStyle/>
            <a:p>
              <a:r>
                <a:rPr lang="he-IL" sz="2000">
                  <a:latin typeface="Assistant"/>
                  <a:cs typeface="Assistant"/>
                </a:rPr>
                <a:t>לאורי ודן יש 56 גולות. היחס בין כמות הגולות האדומות לבין כמות הגולות הכחולות הוא 5 : 2. אורי קיבל את הגולות האדומות ודן קיבל את הגולות הכחולות.</a:t>
              </a:r>
              <a:endParaRPr lang="he-IL">
                <a:cs typeface="Arial"/>
              </a:endParaRPr>
            </a:p>
          </p:txBody>
        </p:sp>
        <p:grpSp>
          <p:nvGrpSpPr>
            <p:cNvPr id="31" name="Group 30">
              <a:extLst>
                <a:ext uri="{FF2B5EF4-FFF2-40B4-BE49-F238E27FC236}">
                  <a16:creationId xmlns:a16="http://schemas.microsoft.com/office/drawing/2014/main" id="{1DFB31A8-11B6-0889-63C8-5369A31D7BFA}"/>
                </a:ext>
              </a:extLst>
            </p:cNvPr>
            <p:cNvGrpSpPr/>
            <p:nvPr/>
          </p:nvGrpSpPr>
          <p:grpSpPr>
            <a:xfrm>
              <a:off x="774950" y="2570588"/>
              <a:ext cx="2207736" cy="400110"/>
              <a:chOff x="674914" y="2325906"/>
              <a:chExt cx="4397829" cy="400110"/>
            </a:xfrm>
          </p:grpSpPr>
          <p:cxnSp>
            <p:nvCxnSpPr>
              <p:cNvPr id="18" name="Straight Arrow Connector 17">
                <a:extLst>
                  <a:ext uri="{FF2B5EF4-FFF2-40B4-BE49-F238E27FC236}">
                    <a16:creationId xmlns:a16="http://schemas.microsoft.com/office/drawing/2014/main" id="{FB41E684-A925-0AAB-A7D6-C46E02298FB0}"/>
                  </a:ext>
                </a:extLst>
              </p:cNvPr>
              <p:cNvCxnSpPr>
                <a:cxnSpLocks/>
              </p:cNvCxnSpPr>
              <p:nvPr/>
            </p:nvCxnSpPr>
            <p:spPr>
              <a:xfrm>
                <a:off x="674914" y="2726016"/>
                <a:ext cx="4397829" cy="0"/>
              </a:xfrm>
              <a:prstGeom prst="straightConnector1">
                <a:avLst/>
              </a:prstGeom>
              <a:ln>
                <a:solidFill>
                  <a:schemeClr val="bg1"/>
                </a:solidFill>
                <a:headEnd type="triangle"/>
                <a:tailEnd type="triangle"/>
              </a:ln>
            </p:spPr>
            <p:style>
              <a:lnRef idx="2">
                <a:schemeClr val="accent1"/>
              </a:lnRef>
              <a:fillRef idx="0">
                <a:schemeClr val="accent1"/>
              </a:fillRef>
              <a:effectRef idx="1">
                <a:schemeClr val="accent1"/>
              </a:effectRef>
              <a:fontRef idx="minor">
                <a:schemeClr val="tx1"/>
              </a:fontRef>
            </p:style>
          </p:cxnSp>
          <p:sp>
            <p:nvSpPr>
              <p:cNvPr id="22" name="תיבת טקסט 4">
                <a:extLst>
                  <a:ext uri="{FF2B5EF4-FFF2-40B4-BE49-F238E27FC236}">
                    <a16:creationId xmlns:a16="http://schemas.microsoft.com/office/drawing/2014/main" id="{BC75627E-BFFB-0FA2-2C28-695B94187842}"/>
                  </a:ext>
                </a:extLst>
              </p:cNvPr>
              <p:cNvSpPr txBox="1"/>
              <p:nvPr/>
            </p:nvSpPr>
            <p:spPr>
              <a:xfrm>
                <a:off x="1981201" y="2325906"/>
                <a:ext cx="1812160" cy="400110"/>
              </a:xfrm>
              <a:prstGeom prst="rect">
                <a:avLst/>
              </a:prstGeom>
              <a:noFill/>
            </p:spPr>
            <p:txBody>
              <a:bodyPr wrap="square" rtlCol="0">
                <a:spAutoFit/>
              </a:bodyPr>
              <a:lstStyle/>
              <a:p>
                <a:r>
                  <a:rPr lang="he-IL" sz="2000">
                    <a:solidFill>
                      <a:schemeClr val="bg1"/>
                    </a:solidFill>
                    <a:latin typeface="Assistant" pitchFamily="2" charset="-79"/>
                    <a:cs typeface="Assistant" pitchFamily="2" charset="-79"/>
                  </a:rPr>
                  <a:t>5 ס"מ</a:t>
                </a:r>
              </a:p>
            </p:txBody>
          </p:sp>
        </p:grpSp>
        <p:sp>
          <p:nvSpPr>
            <p:cNvPr id="12" name="Rectangle 11">
              <a:extLst>
                <a:ext uri="{FF2B5EF4-FFF2-40B4-BE49-F238E27FC236}">
                  <a16:creationId xmlns:a16="http://schemas.microsoft.com/office/drawing/2014/main" id="{8D1B69BA-3063-A767-E872-27459F6BCD96}"/>
                </a:ext>
              </a:extLst>
            </p:cNvPr>
            <p:cNvSpPr/>
            <p:nvPr/>
          </p:nvSpPr>
          <p:spPr>
            <a:xfrm>
              <a:off x="4134264" y="2225164"/>
              <a:ext cx="7900449" cy="4063955"/>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grpSp>
      <p:sp>
        <p:nvSpPr>
          <p:cNvPr id="21" name="תיבת טקסט 13">
            <a:extLst>
              <a:ext uri="{FF2B5EF4-FFF2-40B4-BE49-F238E27FC236}">
                <a16:creationId xmlns:a16="http://schemas.microsoft.com/office/drawing/2014/main" id="{4B5B46BC-FAC2-2281-11C8-6A0DC7C8F066}"/>
              </a:ext>
            </a:extLst>
          </p:cNvPr>
          <p:cNvSpPr txBox="1"/>
          <p:nvPr/>
        </p:nvSpPr>
        <p:spPr>
          <a:xfrm>
            <a:off x="8337865" y="2966488"/>
            <a:ext cx="2911516" cy="369332"/>
          </a:xfrm>
          <a:prstGeom prst="rect">
            <a:avLst/>
          </a:prstGeom>
          <a:noFill/>
        </p:spPr>
        <p:txBody>
          <a:bodyPr wrap="square">
            <a:spAutoFit/>
          </a:bodyPr>
          <a:lstStyle/>
          <a:p>
            <a:r>
              <a:rPr lang="he-IL">
                <a:latin typeface="Assistant" pitchFamily="2" charset="-79"/>
                <a:cs typeface="Assistant" pitchFamily="2" charset="-79"/>
              </a:rPr>
              <a:t>א. איזה חלק מהגולות קיבל אורי?</a:t>
            </a:r>
            <a:endParaRPr lang="LID4096">
              <a:latin typeface="Assistant" pitchFamily="2" charset="-79"/>
              <a:cs typeface="Assistant" pitchFamily="2" charset="-79"/>
            </a:endParaRPr>
          </a:p>
        </p:txBody>
      </p:sp>
      <p:sp>
        <p:nvSpPr>
          <p:cNvPr id="6" name="תיבת טקסט 13">
            <a:extLst>
              <a:ext uri="{FF2B5EF4-FFF2-40B4-BE49-F238E27FC236}">
                <a16:creationId xmlns:a16="http://schemas.microsoft.com/office/drawing/2014/main" id="{01892251-D3C8-4B3A-C8C4-EA251657B813}"/>
              </a:ext>
            </a:extLst>
          </p:cNvPr>
          <p:cNvSpPr txBox="1"/>
          <p:nvPr/>
        </p:nvSpPr>
        <p:spPr>
          <a:xfrm>
            <a:off x="8505000" y="3752293"/>
            <a:ext cx="2744381" cy="369332"/>
          </a:xfrm>
          <a:prstGeom prst="rect">
            <a:avLst/>
          </a:prstGeom>
          <a:noFill/>
        </p:spPr>
        <p:txBody>
          <a:bodyPr wrap="square">
            <a:spAutoFit/>
          </a:bodyPr>
          <a:lstStyle/>
          <a:p>
            <a:r>
              <a:rPr lang="he-IL">
                <a:latin typeface="Assistant" pitchFamily="2" charset="-79"/>
                <a:cs typeface="Assistant" pitchFamily="2" charset="-79"/>
              </a:rPr>
              <a:t>ב. איזה חלק מהגולות קיבל דן?</a:t>
            </a:r>
            <a:endParaRPr lang="LID4096" sz="2000">
              <a:latin typeface="Assistant" pitchFamily="2" charset="-79"/>
              <a:cs typeface="Assistant" pitchFamily="2" charset="-79"/>
            </a:endParaRPr>
          </a:p>
        </p:txBody>
      </p:sp>
      <p:grpSp>
        <p:nvGrpSpPr>
          <p:cNvPr id="3" name="Group 2">
            <a:extLst>
              <a:ext uri="{FF2B5EF4-FFF2-40B4-BE49-F238E27FC236}">
                <a16:creationId xmlns:a16="http://schemas.microsoft.com/office/drawing/2014/main" id="{37BB6F25-1C04-8B7C-2B26-9E6C1C9E7038}"/>
              </a:ext>
            </a:extLst>
          </p:cNvPr>
          <p:cNvGrpSpPr/>
          <p:nvPr/>
        </p:nvGrpSpPr>
        <p:grpSpPr>
          <a:xfrm>
            <a:off x="-80824" y="2171649"/>
            <a:ext cx="3610414" cy="2697501"/>
            <a:chOff x="5524291" y="4179626"/>
            <a:chExt cx="5533911" cy="4198993"/>
          </a:xfrm>
        </p:grpSpPr>
        <p:sp>
          <p:nvSpPr>
            <p:cNvPr id="4" name="מלבן: פינות מעוגלות 2">
              <a:extLst>
                <a:ext uri="{FF2B5EF4-FFF2-40B4-BE49-F238E27FC236}">
                  <a16:creationId xmlns:a16="http://schemas.microsoft.com/office/drawing/2014/main" id="{4E1AC78B-F1C9-D952-3932-64AAB157DD76}"/>
                </a:ext>
              </a:extLst>
            </p:cNvPr>
            <p:cNvSpPr/>
            <p:nvPr/>
          </p:nvSpPr>
          <p:spPr>
            <a:xfrm>
              <a:off x="5733964" y="4179626"/>
              <a:ext cx="5324238" cy="4198993"/>
            </a:xfrm>
            <a:prstGeom prst="roundRect">
              <a:avLst>
                <a:gd name="adj" fmla="val 8509"/>
              </a:avLst>
            </a:prstGeom>
            <a:solidFill>
              <a:srgbClr val="00B0F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LID4096"/>
            </a:p>
          </p:txBody>
        </p:sp>
        <mc:AlternateContent xmlns:mc="http://schemas.openxmlformats.org/markup-compatibility/2006" xmlns:a14="http://schemas.microsoft.com/office/drawing/2010/main">
          <mc:Choice Requires="a14">
            <p:sp>
              <p:nvSpPr>
                <p:cNvPr id="10" name="תיבת טקסט 5">
                  <a:extLst>
                    <a:ext uri="{FF2B5EF4-FFF2-40B4-BE49-F238E27FC236}">
                      <a16:creationId xmlns:a16="http://schemas.microsoft.com/office/drawing/2014/main" id="{BD198431-88D3-2C79-B255-3FC11247D466}"/>
                    </a:ext>
                  </a:extLst>
                </p:cNvPr>
                <p:cNvSpPr txBox="1"/>
                <p:nvPr/>
              </p:nvSpPr>
              <p:spPr>
                <a:xfrm>
                  <a:off x="5524291" y="4273044"/>
                  <a:ext cx="5451954" cy="3696496"/>
                </a:xfrm>
                <a:prstGeom prst="rect">
                  <a:avLst/>
                </a:prstGeom>
                <a:noFill/>
              </p:spPr>
              <p:txBody>
                <a:bodyPr wrap="square" rtlCol="0">
                  <a:spAutoFit/>
                </a:bodyPr>
                <a:lstStyle/>
                <a:p>
                  <a:r>
                    <a:rPr lang="he-IL" sz="2000">
                      <a:solidFill>
                        <a:schemeClr val="bg1"/>
                      </a:solidFill>
                      <a:latin typeface="Assistant" pitchFamily="2" charset="-79"/>
                      <a:cs typeface="Assistant" pitchFamily="2" charset="-79"/>
                    </a:rPr>
                    <a:t>א. היחס בין כמות הגולות האדומות לכמות הגולות הכחולות הוא 5 : 2. </a:t>
                  </a:r>
                </a:p>
                <a:p>
                  <a:endParaRPr lang="he-IL" sz="2000">
                    <a:solidFill>
                      <a:schemeClr val="bg1"/>
                    </a:solidFill>
                    <a:latin typeface="Assistant" pitchFamily="2" charset="-79"/>
                    <a:cs typeface="Assistant" pitchFamily="2" charset="-79"/>
                  </a:endParaRPr>
                </a:p>
                <a:p>
                  <a:r>
                    <a:rPr lang="he-IL" sz="2000">
                      <a:solidFill>
                        <a:schemeClr val="bg1"/>
                      </a:solidFill>
                      <a:latin typeface="Assistant" pitchFamily="2" charset="-79"/>
                      <a:cs typeface="Assistant" pitchFamily="2" charset="-79"/>
                    </a:rPr>
                    <a:t>לכן ה"שלם" שלנו הוא 7=2+5. </a:t>
                  </a:r>
                </a:p>
                <a:p>
                  <a:r>
                    <a:rPr lang="he-IL" sz="2000">
                      <a:solidFill>
                        <a:schemeClr val="bg1"/>
                      </a:solidFill>
                      <a:latin typeface="Assistant" pitchFamily="2" charset="-79"/>
                      <a:cs typeface="Assistant" pitchFamily="2" charset="-79"/>
                    </a:rPr>
                    <a:t>אורי קיבל את הגולות האדומות, </a:t>
                  </a:r>
                </a:p>
                <a:p>
                  <a:r>
                    <a:rPr lang="he-IL" sz="2000">
                      <a:solidFill>
                        <a:schemeClr val="bg1"/>
                      </a:solidFill>
                      <a:latin typeface="Assistant" pitchFamily="2" charset="-79"/>
                      <a:cs typeface="Assistant" pitchFamily="2" charset="-79"/>
                    </a:rPr>
                    <a:t>כלומר יש לו  </a:t>
                  </a:r>
                  <a14:m>
                    <m:oMath xmlns:m="http://schemas.openxmlformats.org/officeDocument/2006/math">
                      <m:f>
                        <m:fPr>
                          <m:ctrlPr>
                            <a:rPr lang="en-US" sz="2000" i="1">
                              <a:solidFill>
                                <a:schemeClr val="bg1"/>
                              </a:solidFill>
                              <a:latin typeface="Cambria Math" panose="02040503050406030204" pitchFamily="18" charset="0"/>
                            </a:rPr>
                          </m:ctrlPr>
                        </m:fPr>
                        <m:num>
                          <m:r>
                            <a:rPr lang="en-US" sz="2000" i="1">
                              <a:solidFill>
                                <a:schemeClr val="bg1"/>
                              </a:solidFill>
                              <a:latin typeface="Cambria Math" panose="02040503050406030204" pitchFamily="18" charset="0"/>
                            </a:rPr>
                            <m:t>2</m:t>
                          </m:r>
                        </m:num>
                        <m:den>
                          <m:r>
                            <a:rPr lang="en-US" sz="2000" i="1">
                              <a:solidFill>
                                <a:schemeClr val="bg1"/>
                              </a:solidFill>
                              <a:latin typeface="Cambria Math" panose="02040503050406030204" pitchFamily="18" charset="0"/>
                            </a:rPr>
                            <m:t>7</m:t>
                          </m:r>
                        </m:den>
                      </m:f>
                    </m:oMath>
                  </a14:m>
                  <a:r>
                    <a:rPr lang="he-IL" sz="2000">
                      <a:solidFill>
                        <a:schemeClr val="bg1"/>
                      </a:solidFill>
                      <a:latin typeface="Assistant" pitchFamily="2" charset="-79"/>
                      <a:cs typeface="Assistant" pitchFamily="2" charset="-79"/>
                    </a:rPr>
                    <a:t> מהגולות.</a:t>
                  </a:r>
                </a:p>
                <a:p>
                  <a:endParaRPr lang="he-IL" sz="2000">
                    <a:solidFill>
                      <a:schemeClr val="bg1"/>
                    </a:solidFill>
                    <a:latin typeface="Assistant" pitchFamily="2" charset="-79"/>
                    <a:cs typeface="Assistant" pitchFamily="2" charset="-79"/>
                  </a:endParaRPr>
                </a:p>
              </p:txBody>
            </p:sp>
          </mc:Choice>
          <mc:Fallback xmlns="">
            <p:sp>
              <p:nvSpPr>
                <p:cNvPr id="10" name="תיבת טקסט 5">
                  <a:extLst>
                    <a:ext uri="{FF2B5EF4-FFF2-40B4-BE49-F238E27FC236}">
                      <a16:creationId xmlns:a16="http://schemas.microsoft.com/office/drawing/2014/main" id="{BD198431-88D3-2C79-B255-3FC11247D466}"/>
                    </a:ext>
                  </a:extLst>
                </p:cNvPr>
                <p:cNvSpPr txBox="1">
                  <a:spLocks noRot="1" noChangeAspect="1" noMove="1" noResize="1" noEditPoints="1" noAdjustHandles="1" noChangeArrowheads="1" noChangeShapeType="1" noTextEdit="1"/>
                </p:cNvSpPr>
                <p:nvPr/>
              </p:nvSpPr>
              <p:spPr>
                <a:xfrm>
                  <a:off x="5524291" y="4273044"/>
                  <a:ext cx="5451954" cy="3696496"/>
                </a:xfrm>
                <a:prstGeom prst="rect">
                  <a:avLst/>
                </a:prstGeom>
                <a:blipFill>
                  <a:blip r:embed="rId6"/>
                  <a:stretch>
                    <a:fillRect t="-1282" r="-1715" b="-3590"/>
                  </a:stretch>
                </a:blipFill>
              </p:spPr>
              <p:txBody>
                <a:bodyPr/>
                <a:lstStyle/>
                <a:p>
                  <a:r>
                    <a:rPr lang="en-US">
                      <a:noFill/>
                    </a:rPr>
                    <a:t> </a:t>
                  </a:r>
                </a:p>
              </p:txBody>
            </p:sp>
          </mc:Fallback>
        </mc:AlternateContent>
      </p:grpSp>
      <p:sp>
        <p:nvSpPr>
          <p:cNvPr id="14" name="מלבן: פינות מעוגלות 12">
            <a:extLst>
              <a:ext uri="{FF2B5EF4-FFF2-40B4-BE49-F238E27FC236}">
                <a16:creationId xmlns:a16="http://schemas.microsoft.com/office/drawing/2014/main" id="{38682FAF-DC09-3C64-1138-2E1322899F13}"/>
              </a:ext>
            </a:extLst>
          </p:cNvPr>
          <p:cNvSpPr/>
          <p:nvPr/>
        </p:nvSpPr>
        <p:spPr>
          <a:xfrm>
            <a:off x="1865463" y="4378338"/>
            <a:ext cx="1173686" cy="320446"/>
          </a:xfrm>
          <a:prstGeom prst="roundRect">
            <a:avLst>
              <a:gd name="adj" fmla="val 50000"/>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he-IL">
                <a:solidFill>
                  <a:schemeClr val="tx1"/>
                </a:solidFill>
                <a:latin typeface="Assistant" pitchFamily="2" charset="-79"/>
                <a:cs typeface="Assistant" pitchFamily="2" charset="-79"/>
              </a:rPr>
              <a:t>נכון</a:t>
            </a:r>
            <a:endParaRPr lang="LID4096">
              <a:solidFill>
                <a:schemeClr val="tx1"/>
              </a:solidFill>
              <a:latin typeface="Assistant" pitchFamily="2" charset="-79"/>
              <a:cs typeface="Assistant" pitchFamily="2" charset="-79"/>
            </a:endParaRPr>
          </a:p>
        </p:txBody>
      </p:sp>
      <p:sp>
        <p:nvSpPr>
          <p:cNvPr id="17" name="מלבן: פינות מעוגלות 12">
            <a:extLst>
              <a:ext uri="{FF2B5EF4-FFF2-40B4-BE49-F238E27FC236}">
                <a16:creationId xmlns:a16="http://schemas.microsoft.com/office/drawing/2014/main" id="{5C646F2D-C850-1530-393B-2DD1CF342488}"/>
              </a:ext>
            </a:extLst>
          </p:cNvPr>
          <p:cNvSpPr/>
          <p:nvPr/>
        </p:nvSpPr>
        <p:spPr>
          <a:xfrm>
            <a:off x="402288" y="4378338"/>
            <a:ext cx="1173686" cy="320446"/>
          </a:xfrm>
          <a:prstGeom prst="roundRect">
            <a:avLst>
              <a:gd name="adj" fmla="val 50000"/>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he-IL">
                <a:solidFill>
                  <a:schemeClr val="tx1"/>
                </a:solidFill>
                <a:latin typeface="Assistant" pitchFamily="2" charset="-79"/>
                <a:cs typeface="Assistant" pitchFamily="2" charset="-79"/>
              </a:rPr>
              <a:t>לא נכון</a:t>
            </a:r>
            <a:endParaRPr lang="LID4096">
              <a:solidFill>
                <a:schemeClr val="tx1"/>
              </a:solidFill>
              <a:latin typeface="Assistant" pitchFamily="2" charset="-79"/>
              <a:cs typeface="Assistant" pitchFamily="2" charset="-79"/>
            </a:endParaRPr>
          </a:p>
        </p:txBody>
      </p:sp>
      <p:pic>
        <p:nvPicPr>
          <p:cNvPr id="20" name="Graphic 19" descr="Badge Tick1 outline">
            <a:extLst>
              <a:ext uri="{FF2B5EF4-FFF2-40B4-BE49-F238E27FC236}">
                <a16:creationId xmlns:a16="http://schemas.microsoft.com/office/drawing/2014/main" id="{8A585613-E238-E498-3781-6B76B7A38A69}"/>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2593355" y="4155976"/>
            <a:ext cx="755577" cy="755577"/>
          </a:xfrm>
          <a:prstGeom prst="rect">
            <a:avLst/>
          </a:prstGeom>
        </p:spPr>
      </p:pic>
      <p:sp>
        <p:nvSpPr>
          <p:cNvPr id="25" name="תיבת טקסט 13">
            <a:extLst>
              <a:ext uri="{FF2B5EF4-FFF2-40B4-BE49-F238E27FC236}">
                <a16:creationId xmlns:a16="http://schemas.microsoft.com/office/drawing/2014/main" id="{B67E0A55-5593-2C2E-3A74-4E18B9051516}"/>
              </a:ext>
            </a:extLst>
          </p:cNvPr>
          <p:cNvSpPr txBox="1"/>
          <p:nvPr/>
        </p:nvSpPr>
        <p:spPr>
          <a:xfrm>
            <a:off x="8717280" y="4357037"/>
            <a:ext cx="2532101" cy="369332"/>
          </a:xfrm>
          <a:prstGeom prst="rect">
            <a:avLst/>
          </a:prstGeom>
          <a:noFill/>
        </p:spPr>
        <p:txBody>
          <a:bodyPr wrap="square">
            <a:spAutoFit/>
          </a:bodyPr>
          <a:lstStyle/>
          <a:p>
            <a:r>
              <a:rPr lang="he-IL">
                <a:latin typeface="Assistant" pitchFamily="2" charset="-79"/>
                <a:cs typeface="Assistant" pitchFamily="2" charset="-79"/>
              </a:rPr>
              <a:t>ג. כמה גולות קיבל אורי?</a:t>
            </a:r>
            <a:endParaRPr lang="LID4096" sz="2000">
              <a:latin typeface="Assistant" pitchFamily="2" charset="-79"/>
              <a:cs typeface="Assistant" pitchFamily="2" charset="-79"/>
            </a:endParaRPr>
          </a:p>
        </p:txBody>
      </p:sp>
      <p:sp>
        <p:nvSpPr>
          <p:cNvPr id="27" name="תיבת טקסט 13">
            <a:extLst>
              <a:ext uri="{FF2B5EF4-FFF2-40B4-BE49-F238E27FC236}">
                <a16:creationId xmlns:a16="http://schemas.microsoft.com/office/drawing/2014/main" id="{BFF6EE59-640E-3F7D-3933-BD143A6BEF40}"/>
              </a:ext>
            </a:extLst>
          </p:cNvPr>
          <p:cNvSpPr txBox="1"/>
          <p:nvPr/>
        </p:nvSpPr>
        <p:spPr>
          <a:xfrm>
            <a:off x="8900160" y="4982577"/>
            <a:ext cx="2349221" cy="369332"/>
          </a:xfrm>
          <a:prstGeom prst="rect">
            <a:avLst/>
          </a:prstGeom>
          <a:noFill/>
        </p:spPr>
        <p:txBody>
          <a:bodyPr wrap="square">
            <a:spAutoFit/>
          </a:bodyPr>
          <a:lstStyle/>
          <a:p>
            <a:r>
              <a:rPr lang="he-IL">
                <a:latin typeface="Assistant" pitchFamily="2" charset="-79"/>
                <a:cs typeface="Assistant" pitchFamily="2" charset="-79"/>
              </a:rPr>
              <a:t>ד. כמה גולות קיבל דן?</a:t>
            </a:r>
            <a:endParaRPr lang="LID4096" sz="2000">
              <a:latin typeface="Assistant" pitchFamily="2" charset="-79"/>
              <a:cs typeface="Assistant" pitchFamily="2" charset="-79"/>
            </a:endParaRPr>
          </a:p>
        </p:txBody>
      </p:sp>
      <p:sp>
        <p:nvSpPr>
          <p:cNvPr id="11" name="מלבן: פינות מעוגלות 6">
            <a:extLst>
              <a:ext uri="{FF2B5EF4-FFF2-40B4-BE49-F238E27FC236}">
                <a16:creationId xmlns:a16="http://schemas.microsoft.com/office/drawing/2014/main" id="{0A6892F1-CD25-CC7A-AC3A-998D38114CC9}"/>
              </a:ext>
            </a:extLst>
          </p:cNvPr>
          <p:cNvSpPr/>
          <p:nvPr/>
        </p:nvSpPr>
        <p:spPr>
          <a:xfrm>
            <a:off x="7162800" y="2901735"/>
            <a:ext cx="1069358" cy="485548"/>
          </a:xfrm>
          <a:prstGeom prst="roundRect">
            <a:avLst>
              <a:gd name="adj" fmla="val 1764"/>
            </a:avLst>
          </a:prstGeom>
          <a:noFill/>
          <a:ln w="12700">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LID4096" sz="2000">
              <a:solidFill>
                <a:schemeClr val="tx1"/>
              </a:solidFill>
            </a:endParaRPr>
          </a:p>
        </p:txBody>
      </p:sp>
      <p:sp>
        <p:nvSpPr>
          <p:cNvPr id="16" name="מלבן: פינות מעוגלות 6">
            <a:extLst>
              <a:ext uri="{FF2B5EF4-FFF2-40B4-BE49-F238E27FC236}">
                <a16:creationId xmlns:a16="http://schemas.microsoft.com/office/drawing/2014/main" id="{35162A44-CC06-CBA3-2F74-D902A7671E33}"/>
              </a:ext>
            </a:extLst>
          </p:cNvPr>
          <p:cNvSpPr/>
          <p:nvPr/>
        </p:nvSpPr>
        <p:spPr>
          <a:xfrm>
            <a:off x="7166907" y="3555297"/>
            <a:ext cx="1069358" cy="485548"/>
          </a:xfrm>
          <a:prstGeom prst="roundRect">
            <a:avLst>
              <a:gd name="adj" fmla="val 1764"/>
            </a:avLst>
          </a:prstGeom>
          <a:noFill/>
          <a:ln w="12700">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LID4096" sz="2000">
              <a:solidFill>
                <a:schemeClr val="tx1"/>
              </a:solidFill>
            </a:endParaRPr>
          </a:p>
        </p:txBody>
      </p:sp>
      <p:sp>
        <p:nvSpPr>
          <p:cNvPr id="23" name="מלבן: פינות מעוגלות 6">
            <a:extLst>
              <a:ext uri="{FF2B5EF4-FFF2-40B4-BE49-F238E27FC236}">
                <a16:creationId xmlns:a16="http://schemas.microsoft.com/office/drawing/2014/main" id="{C33CEF74-F26F-E6C6-99D3-3D4F47EEFEF3}"/>
              </a:ext>
            </a:extLst>
          </p:cNvPr>
          <p:cNvSpPr/>
          <p:nvPr/>
        </p:nvSpPr>
        <p:spPr>
          <a:xfrm>
            <a:off x="7162800" y="4231203"/>
            <a:ext cx="1069358" cy="485548"/>
          </a:xfrm>
          <a:prstGeom prst="roundRect">
            <a:avLst>
              <a:gd name="adj" fmla="val 1764"/>
            </a:avLst>
          </a:prstGeom>
          <a:noFill/>
          <a:ln w="12700">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LID4096" sz="2000">
              <a:solidFill>
                <a:schemeClr val="tx1"/>
              </a:solidFill>
            </a:endParaRPr>
          </a:p>
        </p:txBody>
      </p:sp>
      <p:sp>
        <p:nvSpPr>
          <p:cNvPr id="28" name="מלבן: פינות מעוגלות 6">
            <a:extLst>
              <a:ext uri="{FF2B5EF4-FFF2-40B4-BE49-F238E27FC236}">
                <a16:creationId xmlns:a16="http://schemas.microsoft.com/office/drawing/2014/main" id="{53D0D3D1-93CF-5F71-6D61-1446D4FFE9DC}"/>
              </a:ext>
            </a:extLst>
          </p:cNvPr>
          <p:cNvSpPr/>
          <p:nvPr/>
        </p:nvSpPr>
        <p:spPr>
          <a:xfrm>
            <a:off x="7162800" y="4866361"/>
            <a:ext cx="1069358" cy="485548"/>
          </a:xfrm>
          <a:prstGeom prst="roundRect">
            <a:avLst>
              <a:gd name="adj" fmla="val 1764"/>
            </a:avLst>
          </a:prstGeom>
          <a:noFill/>
          <a:ln w="12700">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LID4096" sz="2000">
              <a:solidFill>
                <a:schemeClr val="tx1"/>
              </a:solidFill>
            </a:endParaRPr>
          </a:p>
        </p:txBody>
      </p:sp>
      <p:sp>
        <p:nvSpPr>
          <p:cNvPr id="32" name="תיבת טקסט 4">
            <a:extLst>
              <a:ext uri="{FF2B5EF4-FFF2-40B4-BE49-F238E27FC236}">
                <a16:creationId xmlns:a16="http://schemas.microsoft.com/office/drawing/2014/main" id="{DCED0E79-4061-A30D-AEF2-C3D8B0A1ACC7}"/>
              </a:ext>
            </a:extLst>
          </p:cNvPr>
          <p:cNvSpPr txBox="1"/>
          <p:nvPr/>
        </p:nvSpPr>
        <p:spPr>
          <a:xfrm>
            <a:off x="1706215" y="1296887"/>
            <a:ext cx="10109199" cy="707886"/>
          </a:xfrm>
          <a:prstGeom prst="rect">
            <a:avLst/>
          </a:prstGeom>
          <a:noFill/>
        </p:spPr>
        <p:txBody>
          <a:bodyPr wrap="square" rtlCol="0">
            <a:spAutoFit/>
          </a:bodyPr>
          <a:lstStyle/>
          <a:p>
            <a:r>
              <a:rPr lang="he-IL" sz="2000" b="1">
                <a:latin typeface="Assistant" pitchFamily="2" charset="-79"/>
                <a:cs typeface="Assistant" pitchFamily="2" charset="-79"/>
              </a:rPr>
              <a:t>קראו את התרגיל הבא. אל תפתרו אותו, רק הסתכלו על הנתונים וחישבו האם יש לכם כיוון לפתרון. </a:t>
            </a:r>
          </a:p>
          <a:p>
            <a:endParaRPr lang="he-IL" sz="2000">
              <a:latin typeface="Assistant" pitchFamily="2" charset="-79"/>
              <a:cs typeface="Assistant" pitchFamily="2" charset="-79"/>
            </a:endParaRPr>
          </a:p>
        </p:txBody>
      </p:sp>
    </p:spTree>
    <p:custDataLst>
      <p:tags r:id="rId1"/>
    </p:custDataLst>
    <p:extLst>
      <p:ext uri="{BB962C8B-B14F-4D97-AF65-F5344CB8AC3E}">
        <p14:creationId xmlns:p14="http://schemas.microsoft.com/office/powerpoint/2010/main" val="3171071458"/>
      </p:ext>
    </p:extLst>
  </p:cSld>
  <p:clrMapOvr>
    <a:masterClrMapping/>
  </p:clrMapOvr>
  <p:extLst>
    <p:ext uri="{6950BFC3-D8DA-4A85-94F7-54DA5524770B}">
      <p188:commentRel xmlns:p188="http://schemas.microsoft.com/office/powerpoint/2018/8/main" r:id="rId4"/>
    </p:ext>
  </p:extLs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914A57-DA00-7E37-A2D9-6A5972884CAA}"/>
            </a:ext>
          </a:extLst>
        </p:cNvPr>
        <p:cNvGrpSpPr/>
        <p:nvPr/>
      </p:nvGrpSpPr>
      <p:grpSpPr>
        <a:xfrm>
          <a:off x="0" y="0"/>
          <a:ext cx="0" cy="0"/>
          <a:chOff x="0" y="0"/>
          <a:chExt cx="0" cy="0"/>
        </a:xfrm>
      </p:grpSpPr>
      <p:cxnSp>
        <p:nvCxnSpPr>
          <p:cNvPr id="7" name="מחבר ישר 6">
            <a:extLst>
              <a:ext uri="{FF2B5EF4-FFF2-40B4-BE49-F238E27FC236}">
                <a16:creationId xmlns:a16="http://schemas.microsoft.com/office/drawing/2014/main" id="{33C4CCE7-8F79-3296-9D21-7D5798C9A375}"/>
              </a:ext>
            </a:extLst>
          </p:cNvPr>
          <p:cNvCxnSpPr>
            <a:cxnSpLocks/>
          </p:cNvCxnSpPr>
          <p:nvPr/>
        </p:nvCxnSpPr>
        <p:spPr>
          <a:xfrm>
            <a:off x="0" y="6079252"/>
            <a:ext cx="12192000" cy="0"/>
          </a:xfrm>
          <a:prstGeom prst="line">
            <a:avLst/>
          </a:prstGeom>
          <a:ln>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8" name="תיבת טקסט 3">
            <a:extLst>
              <a:ext uri="{FF2B5EF4-FFF2-40B4-BE49-F238E27FC236}">
                <a16:creationId xmlns:a16="http://schemas.microsoft.com/office/drawing/2014/main" id="{470309BD-A384-35A6-6BD1-85B1E77DC1E6}"/>
              </a:ext>
            </a:extLst>
          </p:cNvPr>
          <p:cNvSpPr txBox="1"/>
          <p:nvPr/>
        </p:nvSpPr>
        <p:spPr>
          <a:xfrm>
            <a:off x="2120425" y="495079"/>
            <a:ext cx="8271803" cy="707886"/>
          </a:xfrm>
          <a:prstGeom prst="rect">
            <a:avLst/>
          </a:prstGeom>
          <a:noFill/>
        </p:spPr>
        <p:txBody>
          <a:bodyPr wrap="square" rtlCol="0">
            <a:spAutoFit/>
          </a:bodyPr>
          <a:lstStyle/>
          <a:p>
            <a:pPr algn="ctr"/>
            <a:r>
              <a:rPr lang="he-IL" sz="4000" b="1">
                <a:latin typeface="Assistant" pitchFamily="2" charset="-79"/>
                <a:cs typeface="Assistant" pitchFamily="2" charset="-79"/>
              </a:rPr>
              <a:t>יחס – בואו נפתור תרגיל ראשון יחד</a:t>
            </a:r>
            <a:endParaRPr lang="LID4096" sz="4000" b="1">
              <a:latin typeface="Assistant" pitchFamily="2" charset="-79"/>
              <a:cs typeface="Assistant" pitchFamily="2" charset="-79"/>
            </a:endParaRPr>
          </a:p>
        </p:txBody>
      </p:sp>
      <p:pic>
        <p:nvPicPr>
          <p:cNvPr id="41" name="תמונה 3">
            <a:extLst>
              <a:ext uri="{FF2B5EF4-FFF2-40B4-BE49-F238E27FC236}">
                <a16:creationId xmlns:a16="http://schemas.microsoft.com/office/drawing/2014/main" id="{712CAF73-FACF-C164-917E-A3DF0CB5BA55}"/>
              </a:ext>
            </a:extLst>
          </p:cNvPr>
          <p:cNvPicPr>
            <a:picLocks noChangeAspect="1"/>
          </p:cNvPicPr>
          <p:nvPr/>
        </p:nvPicPr>
        <p:blipFill>
          <a:blip r:embed="rId4">
            <a:extLst>
              <a:ext uri="{28A0092B-C50C-407E-A947-70E740481C1C}">
                <a14:useLocalDpi xmlns:a14="http://schemas.microsoft.com/office/drawing/2010/main"/>
              </a:ext>
            </a:extLst>
          </a:blip>
          <a:stretch>
            <a:fillRect/>
          </a:stretch>
        </p:blipFill>
        <p:spPr>
          <a:xfrm>
            <a:off x="223129" y="6246129"/>
            <a:ext cx="1777778" cy="495238"/>
          </a:xfrm>
          <a:prstGeom prst="rect">
            <a:avLst/>
          </a:prstGeom>
        </p:spPr>
      </p:pic>
      <p:grpSp>
        <p:nvGrpSpPr>
          <p:cNvPr id="13" name="Group 12">
            <a:extLst>
              <a:ext uri="{FF2B5EF4-FFF2-40B4-BE49-F238E27FC236}">
                <a16:creationId xmlns:a16="http://schemas.microsoft.com/office/drawing/2014/main" id="{DDC60C1A-F8A6-3C91-9407-D06CF7F26E31}"/>
              </a:ext>
            </a:extLst>
          </p:cNvPr>
          <p:cNvGrpSpPr/>
          <p:nvPr/>
        </p:nvGrpSpPr>
        <p:grpSpPr>
          <a:xfrm>
            <a:off x="223129" y="1848421"/>
            <a:ext cx="11259763" cy="4063955"/>
            <a:chOff x="774950" y="2225164"/>
            <a:chExt cx="11259763" cy="4063955"/>
          </a:xfrm>
        </p:grpSpPr>
        <p:grpSp>
          <p:nvGrpSpPr>
            <p:cNvPr id="31" name="Group 30">
              <a:extLst>
                <a:ext uri="{FF2B5EF4-FFF2-40B4-BE49-F238E27FC236}">
                  <a16:creationId xmlns:a16="http://schemas.microsoft.com/office/drawing/2014/main" id="{16535053-385B-F6EE-2B67-CCFC13DC03D4}"/>
                </a:ext>
              </a:extLst>
            </p:cNvPr>
            <p:cNvGrpSpPr/>
            <p:nvPr/>
          </p:nvGrpSpPr>
          <p:grpSpPr>
            <a:xfrm>
              <a:off x="774950" y="2570588"/>
              <a:ext cx="2207736" cy="400110"/>
              <a:chOff x="674914" y="2325906"/>
              <a:chExt cx="4397829" cy="400110"/>
            </a:xfrm>
          </p:grpSpPr>
          <p:cxnSp>
            <p:nvCxnSpPr>
              <p:cNvPr id="18" name="Straight Arrow Connector 17">
                <a:extLst>
                  <a:ext uri="{FF2B5EF4-FFF2-40B4-BE49-F238E27FC236}">
                    <a16:creationId xmlns:a16="http://schemas.microsoft.com/office/drawing/2014/main" id="{2D5BD655-FA77-993A-8D2F-66F4F4EE0E15}"/>
                  </a:ext>
                </a:extLst>
              </p:cNvPr>
              <p:cNvCxnSpPr>
                <a:cxnSpLocks/>
              </p:cNvCxnSpPr>
              <p:nvPr/>
            </p:nvCxnSpPr>
            <p:spPr>
              <a:xfrm>
                <a:off x="674914" y="2726016"/>
                <a:ext cx="4397829" cy="0"/>
              </a:xfrm>
              <a:prstGeom prst="straightConnector1">
                <a:avLst/>
              </a:prstGeom>
              <a:ln>
                <a:solidFill>
                  <a:schemeClr val="bg1"/>
                </a:solidFill>
                <a:headEnd type="triangle"/>
                <a:tailEnd type="triangle"/>
              </a:ln>
            </p:spPr>
            <p:style>
              <a:lnRef idx="2">
                <a:schemeClr val="accent1"/>
              </a:lnRef>
              <a:fillRef idx="0">
                <a:schemeClr val="accent1"/>
              </a:fillRef>
              <a:effectRef idx="1">
                <a:schemeClr val="accent1"/>
              </a:effectRef>
              <a:fontRef idx="minor">
                <a:schemeClr val="tx1"/>
              </a:fontRef>
            </p:style>
          </p:cxnSp>
          <p:sp>
            <p:nvSpPr>
              <p:cNvPr id="22" name="תיבת טקסט 4">
                <a:extLst>
                  <a:ext uri="{FF2B5EF4-FFF2-40B4-BE49-F238E27FC236}">
                    <a16:creationId xmlns:a16="http://schemas.microsoft.com/office/drawing/2014/main" id="{5239AB6B-832D-44C1-AB55-DC6A2B87F15B}"/>
                  </a:ext>
                </a:extLst>
              </p:cNvPr>
              <p:cNvSpPr txBox="1"/>
              <p:nvPr/>
            </p:nvSpPr>
            <p:spPr>
              <a:xfrm>
                <a:off x="1981201" y="2325906"/>
                <a:ext cx="1812160" cy="400110"/>
              </a:xfrm>
              <a:prstGeom prst="rect">
                <a:avLst/>
              </a:prstGeom>
              <a:noFill/>
            </p:spPr>
            <p:txBody>
              <a:bodyPr wrap="square" rtlCol="0">
                <a:spAutoFit/>
              </a:bodyPr>
              <a:lstStyle/>
              <a:p>
                <a:r>
                  <a:rPr lang="he-IL" sz="2000">
                    <a:solidFill>
                      <a:schemeClr val="bg1"/>
                    </a:solidFill>
                    <a:latin typeface="Assistant" pitchFamily="2" charset="-79"/>
                    <a:cs typeface="Assistant" pitchFamily="2" charset="-79"/>
                  </a:rPr>
                  <a:t>5 ס"מ</a:t>
                </a:r>
              </a:p>
            </p:txBody>
          </p:sp>
        </p:grpSp>
        <p:sp>
          <p:nvSpPr>
            <p:cNvPr id="12" name="Rectangle 11">
              <a:extLst>
                <a:ext uri="{FF2B5EF4-FFF2-40B4-BE49-F238E27FC236}">
                  <a16:creationId xmlns:a16="http://schemas.microsoft.com/office/drawing/2014/main" id="{712EC3B5-181E-8E76-BD1C-E9E9DE03DF8D}"/>
                </a:ext>
              </a:extLst>
            </p:cNvPr>
            <p:cNvSpPr/>
            <p:nvPr/>
          </p:nvSpPr>
          <p:spPr>
            <a:xfrm>
              <a:off x="4134264" y="2225164"/>
              <a:ext cx="7900449" cy="4063955"/>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grpSp>
      <p:sp>
        <p:nvSpPr>
          <p:cNvPr id="21" name="תיבת טקסט 13">
            <a:extLst>
              <a:ext uri="{FF2B5EF4-FFF2-40B4-BE49-F238E27FC236}">
                <a16:creationId xmlns:a16="http://schemas.microsoft.com/office/drawing/2014/main" id="{452E0B2E-0CF8-60E5-47C6-A611BA8CCA81}"/>
              </a:ext>
            </a:extLst>
          </p:cNvPr>
          <p:cNvSpPr txBox="1"/>
          <p:nvPr/>
        </p:nvSpPr>
        <p:spPr>
          <a:xfrm>
            <a:off x="8337865" y="2966488"/>
            <a:ext cx="2911516" cy="369332"/>
          </a:xfrm>
          <a:prstGeom prst="rect">
            <a:avLst/>
          </a:prstGeom>
          <a:noFill/>
        </p:spPr>
        <p:txBody>
          <a:bodyPr wrap="square">
            <a:spAutoFit/>
          </a:bodyPr>
          <a:lstStyle/>
          <a:p>
            <a:r>
              <a:rPr lang="he-IL">
                <a:latin typeface="Assistant" pitchFamily="2" charset="-79"/>
                <a:cs typeface="Assistant" pitchFamily="2" charset="-79"/>
              </a:rPr>
              <a:t>א. איזה חלק מהגולות קיבל אורי?</a:t>
            </a:r>
            <a:endParaRPr lang="LID4096">
              <a:latin typeface="Assistant" pitchFamily="2" charset="-79"/>
              <a:cs typeface="Assistant" pitchFamily="2" charset="-79"/>
            </a:endParaRPr>
          </a:p>
        </p:txBody>
      </p:sp>
      <p:sp>
        <p:nvSpPr>
          <p:cNvPr id="6" name="תיבת טקסט 13">
            <a:extLst>
              <a:ext uri="{FF2B5EF4-FFF2-40B4-BE49-F238E27FC236}">
                <a16:creationId xmlns:a16="http://schemas.microsoft.com/office/drawing/2014/main" id="{219FDFC8-5867-246F-1B63-DB80C418D4A6}"/>
              </a:ext>
            </a:extLst>
          </p:cNvPr>
          <p:cNvSpPr txBox="1"/>
          <p:nvPr/>
        </p:nvSpPr>
        <p:spPr>
          <a:xfrm>
            <a:off x="8505000" y="3752293"/>
            <a:ext cx="2744381" cy="369332"/>
          </a:xfrm>
          <a:prstGeom prst="rect">
            <a:avLst/>
          </a:prstGeom>
          <a:noFill/>
        </p:spPr>
        <p:txBody>
          <a:bodyPr wrap="square">
            <a:spAutoFit/>
          </a:bodyPr>
          <a:lstStyle/>
          <a:p>
            <a:r>
              <a:rPr lang="he-IL">
                <a:latin typeface="Assistant" pitchFamily="2" charset="-79"/>
                <a:cs typeface="Assistant" pitchFamily="2" charset="-79"/>
              </a:rPr>
              <a:t>ב. איזה חלק מהגולות קיבל דן?</a:t>
            </a:r>
            <a:endParaRPr lang="LID4096" sz="2000">
              <a:latin typeface="Assistant" pitchFamily="2" charset="-79"/>
              <a:cs typeface="Assistant" pitchFamily="2" charset="-79"/>
            </a:endParaRPr>
          </a:p>
        </p:txBody>
      </p:sp>
      <mc:AlternateContent xmlns:mc="http://schemas.openxmlformats.org/markup-compatibility/2006" xmlns:a14="http://schemas.microsoft.com/office/drawing/2010/main">
        <mc:Choice Requires="a14">
          <p:sp>
            <p:nvSpPr>
              <p:cNvPr id="5" name="מלבן: פינות מעוגלות 6">
                <a:extLst>
                  <a:ext uri="{FF2B5EF4-FFF2-40B4-BE49-F238E27FC236}">
                    <a16:creationId xmlns:a16="http://schemas.microsoft.com/office/drawing/2014/main" id="{7E04F6BF-FEE1-BBCE-DEB3-62E13F584D7A}"/>
                  </a:ext>
                </a:extLst>
              </p:cNvPr>
              <p:cNvSpPr/>
              <p:nvPr/>
            </p:nvSpPr>
            <p:spPr>
              <a:xfrm>
                <a:off x="7310120" y="2794395"/>
                <a:ext cx="774718" cy="713518"/>
              </a:xfrm>
              <a:prstGeom prst="roundRect">
                <a:avLst>
                  <a:gd name="adj" fmla="val 1764"/>
                </a:avLst>
              </a:prstGeom>
              <a:noFill/>
              <a:ln w="12700">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
                    </m:oMathParaPr>
                    <m:oMath>
                      <m:f>
                        <m:fPr>
                          <m:ctrlPr>
                            <a:rPr lang="en-US" i="1">
                              <a:solidFill>
                                <a:schemeClr val="tx1"/>
                              </a:solidFill>
                              <a:latin typeface="Cambria Math" panose="02040503050406030204" pitchFamily="18" charset="0"/>
                            </a:rPr>
                          </m:ctrlPr>
                        </m:fPr>
                        <m:num>
                          <m:r>
                            <a:rPr lang="en-US" i="1">
                              <a:solidFill>
                                <a:schemeClr val="tx1"/>
                              </a:solidFill>
                              <a:latin typeface="Cambria Math" panose="02040503050406030204" pitchFamily="18" charset="0"/>
                            </a:rPr>
                            <m:t>2</m:t>
                          </m:r>
                        </m:num>
                        <m:den>
                          <m:r>
                            <a:rPr lang="en-US" i="1">
                              <a:solidFill>
                                <a:schemeClr val="tx1"/>
                              </a:solidFill>
                              <a:latin typeface="Cambria Math" panose="02040503050406030204" pitchFamily="18" charset="0"/>
                            </a:rPr>
                            <m:t>7</m:t>
                          </m:r>
                        </m:den>
                      </m:f>
                    </m:oMath>
                  </m:oMathPara>
                </a14:m>
                <a:endParaRPr lang="LID4096" sz="2000">
                  <a:solidFill>
                    <a:schemeClr val="tx1"/>
                  </a:solidFill>
                </a:endParaRPr>
              </a:p>
            </p:txBody>
          </p:sp>
        </mc:Choice>
        <mc:Fallback xmlns="">
          <p:sp>
            <p:nvSpPr>
              <p:cNvPr id="5" name="מלבן: פינות מעוגלות 6">
                <a:extLst>
                  <a:ext uri="{FF2B5EF4-FFF2-40B4-BE49-F238E27FC236}">
                    <a16:creationId xmlns:a16="http://schemas.microsoft.com/office/drawing/2014/main" id="{7E04F6BF-FEE1-BBCE-DEB3-62E13F584D7A}"/>
                  </a:ext>
                </a:extLst>
              </p:cNvPr>
              <p:cNvSpPr>
                <a:spLocks noRot="1" noChangeAspect="1" noMove="1" noResize="1" noEditPoints="1" noAdjustHandles="1" noChangeArrowheads="1" noChangeShapeType="1" noTextEdit="1"/>
              </p:cNvSpPr>
              <p:nvPr/>
            </p:nvSpPr>
            <p:spPr>
              <a:xfrm>
                <a:off x="7310120" y="2794395"/>
                <a:ext cx="774718" cy="713518"/>
              </a:xfrm>
              <a:prstGeom prst="roundRect">
                <a:avLst>
                  <a:gd name="adj" fmla="val 1764"/>
                </a:avLst>
              </a:prstGeom>
              <a:blipFill>
                <a:blip r:embed="rId5"/>
                <a:stretch>
                  <a:fillRect/>
                </a:stretch>
              </a:blipFill>
              <a:ln w="12700">
                <a:solidFill>
                  <a:srgbClr val="00B0F0"/>
                </a:solidFill>
              </a:ln>
            </p:spPr>
            <p:txBody>
              <a:bodyPr/>
              <a:lstStyle/>
              <a:p>
                <a:r>
                  <a:rPr lang="en-US">
                    <a:noFill/>
                  </a:rPr>
                  <a:t> </a:t>
                </a:r>
              </a:p>
            </p:txBody>
          </p:sp>
        </mc:Fallback>
      </mc:AlternateContent>
      <p:sp>
        <p:nvSpPr>
          <p:cNvPr id="48" name="מלבן: פינות מעוגלות 6">
            <a:extLst>
              <a:ext uri="{FF2B5EF4-FFF2-40B4-BE49-F238E27FC236}">
                <a16:creationId xmlns:a16="http://schemas.microsoft.com/office/drawing/2014/main" id="{D0E80DEC-383C-7D25-39E4-B6760598BFF4}"/>
              </a:ext>
            </a:extLst>
          </p:cNvPr>
          <p:cNvSpPr/>
          <p:nvPr/>
        </p:nvSpPr>
        <p:spPr>
          <a:xfrm>
            <a:off x="7162800" y="5187094"/>
            <a:ext cx="1069358" cy="485548"/>
          </a:xfrm>
          <a:prstGeom prst="roundRect">
            <a:avLst>
              <a:gd name="adj" fmla="val 1764"/>
            </a:avLst>
          </a:prstGeom>
          <a:noFill/>
          <a:ln w="12700">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LID4096" sz="2000">
              <a:solidFill>
                <a:schemeClr val="tx1"/>
              </a:solidFill>
            </a:endParaRPr>
          </a:p>
        </p:txBody>
      </p:sp>
      <p:grpSp>
        <p:nvGrpSpPr>
          <p:cNvPr id="3" name="Group 2">
            <a:extLst>
              <a:ext uri="{FF2B5EF4-FFF2-40B4-BE49-F238E27FC236}">
                <a16:creationId xmlns:a16="http://schemas.microsoft.com/office/drawing/2014/main" id="{1FC69800-99B4-1BC0-8557-067319981105}"/>
              </a:ext>
            </a:extLst>
          </p:cNvPr>
          <p:cNvGrpSpPr/>
          <p:nvPr/>
        </p:nvGrpSpPr>
        <p:grpSpPr>
          <a:xfrm>
            <a:off x="1" y="2214184"/>
            <a:ext cx="3348936" cy="2697502"/>
            <a:chOff x="5958055" y="4211289"/>
            <a:chExt cx="4791118" cy="4198993"/>
          </a:xfrm>
        </p:grpSpPr>
        <p:sp>
          <p:nvSpPr>
            <p:cNvPr id="4" name="מלבן: פינות מעוגלות 2">
              <a:extLst>
                <a:ext uri="{FF2B5EF4-FFF2-40B4-BE49-F238E27FC236}">
                  <a16:creationId xmlns:a16="http://schemas.microsoft.com/office/drawing/2014/main" id="{CBF0805C-2C6F-D51D-4ACD-4B0598A6F189}"/>
                </a:ext>
              </a:extLst>
            </p:cNvPr>
            <p:cNvSpPr/>
            <p:nvPr/>
          </p:nvSpPr>
          <p:spPr>
            <a:xfrm>
              <a:off x="5958055" y="4211289"/>
              <a:ext cx="4791118" cy="4198993"/>
            </a:xfrm>
            <a:prstGeom prst="roundRect">
              <a:avLst>
                <a:gd name="adj" fmla="val 8509"/>
              </a:avLst>
            </a:prstGeom>
            <a:solidFill>
              <a:srgbClr val="00B0F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LID4096"/>
            </a:p>
          </p:txBody>
        </p:sp>
        <mc:AlternateContent xmlns:mc="http://schemas.openxmlformats.org/markup-compatibility/2006" xmlns:a14="http://schemas.microsoft.com/office/drawing/2010/main">
          <mc:Choice Requires="a14">
            <p:sp>
              <p:nvSpPr>
                <p:cNvPr id="10" name="תיבת טקסט 5">
                  <a:extLst>
                    <a:ext uri="{FF2B5EF4-FFF2-40B4-BE49-F238E27FC236}">
                      <a16:creationId xmlns:a16="http://schemas.microsoft.com/office/drawing/2014/main" id="{568E21D0-E1BD-3FC7-2E05-26E493FFAC3A}"/>
                    </a:ext>
                  </a:extLst>
                </p:cNvPr>
                <p:cNvSpPr txBox="1"/>
                <p:nvPr/>
              </p:nvSpPr>
              <p:spPr>
                <a:xfrm>
                  <a:off x="6176671" y="4537190"/>
                  <a:ext cx="4441691" cy="2259218"/>
                </a:xfrm>
                <a:prstGeom prst="rect">
                  <a:avLst/>
                </a:prstGeom>
                <a:noFill/>
              </p:spPr>
              <p:txBody>
                <a:bodyPr wrap="square" rtlCol="0">
                  <a:spAutoFit/>
                </a:bodyPr>
                <a:lstStyle/>
                <a:p>
                  <a:r>
                    <a:rPr lang="he-IL" sz="2000">
                      <a:solidFill>
                        <a:schemeClr val="bg1"/>
                      </a:solidFill>
                      <a:latin typeface="Assistant" pitchFamily="2" charset="-79"/>
                      <a:cs typeface="Assistant" pitchFamily="2" charset="-79"/>
                    </a:rPr>
                    <a:t>ב. דן קיבל את הגולות הכחולות. אם היחס הוא 5 : 2, ואורי קיבל  </a:t>
                  </a:r>
                  <a14:m>
                    <m:oMath xmlns:m="http://schemas.openxmlformats.org/officeDocument/2006/math">
                      <m:f>
                        <m:fPr>
                          <m:ctrlPr>
                            <a:rPr lang="en-US" sz="2000" i="1">
                              <a:solidFill>
                                <a:schemeClr val="bg1"/>
                              </a:solidFill>
                              <a:latin typeface="Cambria Math" panose="02040503050406030204" pitchFamily="18" charset="0"/>
                            </a:rPr>
                          </m:ctrlPr>
                        </m:fPr>
                        <m:num>
                          <m:r>
                            <a:rPr lang="en-US" sz="2000" i="1">
                              <a:solidFill>
                                <a:schemeClr val="bg1"/>
                              </a:solidFill>
                              <a:latin typeface="Cambria Math" panose="02040503050406030204" pitchFamily="18" charset="0"/>
                            </a:rPr>
                            <m:t>2</m:t>
                          </m:r>
                        </m:num>
                        <m:den>
                          <m:r>
                            <a:rPr lang="en-US" sz="2000" i="1">
                              <a:solidFill>
                                <a:schemeClr val="bg1"/>
                              </a:solidFill>
                              <a:latin typeface="Cambria Math" panose="02040503050406030204" pitchFamily="18" charset="0"/>
                            </a:rPr>
                            <m:t>7</m:t>
                          </m:r>
                        </m:den>
                      </m:f>
                    </m:oMath>
                  </a14:m>
                  <a:r>
                    <a:rPr lang="he-IL" sz="2000">
                      <a:solidFill>
                        <a:schemeClr val="bg1"/>
                      </a:solidFill>
                      <a:latin typeface="Assistant" pitchFamily="2" charset="-79"/>
                      <a:cs typeface="Assistant" pitchFamily="2" charset="-79"/>
                    </a:rPr>
                    <a:t> , איזה חלק קיבל לדן? </a:t>
                  </a:r>
                </a:p>
              </p:txBody>
            </p:sp>
          </mc:Choice>
          <mc:Fallback xmlns="">
            <p:sp>
              <p:nvSpPr>
                <p:cNvPr id="10" name="תיבת טקסט 5">
                  <a:extLst>
                    <a:ext uri="{FF2B5EF4-FFF2-40B4-BE49-F238E27FC236}">
                      <a16:creationId xmlns:a16="http://schemas.microsoft.com/office/drawing/2014/main" id="{568E21D0-E1BD-3FC7-2E05-26E493FFAC3A}"/>
                    </a:ext>
                  </a:extLst>
                </p:cNvPr>
                <p:cNvSpPr txBox="1">
                  <a:spLocks noRot="1" noChangeAspect="1" noMove="1" noResize="1" noEditPoints="1" noAdjustHandles="1" noChangeArrowheads="1" noChangeShapeType="1" noTextEdit="1"/>
                </p:cNvSpPr>
                <p:nvPr/>
              </p:nvSpPr>
              <p:spPr>
                <a:xfrm>
                  <a:off x="6176671" y="4537190"/>
                  <a:ext cx="4441691" cy="2259218"/>
                </a:xfrm>
                <a:prstGeom prst="rect">
                  <a:avLst/>
                </a:prstGeom>
                <a:blipFill>
                  <a:blip r:embed="rId6"/>
                  <a:stretch>
                    <a:fillRect l="-1768" t="-2521" r="-2161"/>
                  </a:stretch>
                </a:blipFill>
              </p:spPr>
              <p:txBody>
                <a:bodyPr/>
                <a:lstStyle/>
                <a:p>
                  <a:r>
                    <a:rPr lang="en-US">
                      <a:noFill/>
                    </a:rPr>
                    <a:t> </a:t>
                  </a:r>
                </a:p>
              </p:txBody>
            </p:sp>
          </mc:Fallback>
        </mc:AlternateContent>
      </p:grpSp>
      <mc:AlternateContent xmlns:mc="http://schemas.openxmlformats.org/markup-compatibility/2006" xmlns:a14="http://schemas.microsoft.com/office/drawing/2010/main">
        <mc:Choice Requires="a14">
          <p:sp>
            <p:nvSpPr>
              <p:cNvPr id="14" name="מלבן: פינות מעוגלות 12">
                <a:extLst>
                  <a:ext uri="{FF2B5EF4-FFF2-40B4-BE49-F238E27FC236}">
                    <a16:creationId xmlns:a16="http://schemas.microsoft.com/office/drawing/2014/main" id="{0F8CA901-72C4-ABFC-1C25-5F442678DDD5}"/>
                  </a:ext>
                </a:extLst>
              </p:cNvPr>
              <p:cNvSpPr/>
              <p:nvPr/>
            </p:nvSpPr>
            <p:spPr>
              <a:xfrm>
                <a:off x="2293984" y="3994779"/>
                <a:ext cx="466751" cy="731879"/>
              </a:xfrm>
              <a:prstGeom prst="roundRect">
                <a:avLst>
                  <a:gd name="adj" fmla="val 50000"/>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
                      <m:f>
                        <m:fPr>
                          <m:ctrlPr>
                            <a:rPr lang="en-US" b="1" i="1" smtClean="0">
                              <a:solidFill>
                                <a:schemeClr val="tx1"/>
                              </a:solidFill>
                              <a:latin typeface="Cambria Math" panose="02040503050406030204" pitchFamily="18" charset="0"/>
                            </a:rPr>
                          </m:ctrlPr>
                        </m:fPr>
                        <m:num>
                          <m:r>
                            <a:rPr lang="en-US" b="1" i="1" smtClean="0">
                              <a:solidFill>
                                <a:schemeClr val="tx1"/>
                              </a:solidFill>
                              <a:latin typeface="Cambria Math" panose="02040503050406030204" pitchFamily="18" charset="0"/>
                            </a:rPr>
                            <m:t>𝟓</m:t>
                          </m:r>
                        </m:num>
                        <m:den>
                          <m:r>
                            <a:rPr lang="en-US" b="1" i="1">
                              <a:solidFill>
                                <a:schemeClr val="tx1"/>
                              </a:solidFill>
                              <a:latin typeface="Cambria Math" panose="02040503050406030204" pitchFamily="18" charset="0"/>
                            </a:rPr>
                            <m:t>𝟕</m:t>
                          </m:r>
                        </m:den>
                      </m:f>
                    </m:oMath>
                  </m:oMathPara>
                </a14:m>
                <a:endParaRPr lang="LID4096" b="1">
                  <a:solidFill>
                    <a:schemeClr val="tx1"/>
                  </a:solidFill>
                  <a:latin typeface="Assistant" pitchFamily="2" charset="-79"/>
                  <a:cs typeface="Assistant" pitchFamily="2" charset="-79"/>
                </a:endParaRPr>
              </a:p>
            </p:txBody>
          </p:sp>
        </mc:Choice>
        <mc:Fallback xmlns="">
          <p:sp>
            <p:nvSpPr>
              <p:cNvPr id="14" name="מלבן: פינות מעוגלות 12">
                <a:extLst>
                  <a:ext uri="{FF2B5EF4-FFF2-40B4-BE49-F238E27FC236}">
                    <a16:creationId xmlns:a16="http://schemas.microsoft.com/office/drawing/2014/main" id="{0F8CA901-72C4-ABFC-1C25-5F442678DDD5}"/>
                  </a:ext>
                </a:extLst>
              </p:cNvPr>
              <p:cNvSpPr>
                <a:spLocks noRot="1" noChangeAspect="1" noMove="1" noResize="1" noEditPoints="1" noAdjustHandles="1" noChangeArrowheads="1" noChangeShapeType="1" noTextEdit="1"/>
              </p:cNvSpPr>
              <p:nvPr/>
            </p:nvSpPr>
            <p:spPr>
              <a:xfrm>
                <a:off x="2293984" y="3994779"/>
                <a:ext cx="466751" cy="731879"/>
              </a:xfrm>
              <a:prstGeom prst="roundRect">
                <a:avLst>
                  <a:gd name="adj" fmla="val 50000"/>
                </a:avLst>
              </a:prstGeom>
              <a:blipFill>
                <a:blip r:embed="rId7"/>
                <a:stretch>
                  <a:fillRect r="-15584"/>
                </a:stretch>
              </a:blipFill>
              <a:ln>
                <a:noFill/>
              </a:ln>
            </p:spPr>
            <p:txBody>
              <a:bodyPr/>
              <a:lstStyle/>
              <a:p>
                <a:r>
                  <a:rPr lang="en-US">
                    <a:noFill/>
                  </a:rPr>
                  <a:t> </a:t>
                </a:r>
              </a:p>
            </p:txBody>
          </p:sp>
        </mc:Fallback>
      </mc:AlternateContent>
      <p:pic>
        <p:nvPicPr>
          <p:cNvPr id="20" name="Graphic 19" descr="Badge Tick1 outline">
            <a:extLst>
              <a:ext uri="{FF2B5EF4-FFF2-40B4-BE49-F238E27FC236}">
                <a16:creationId xmlns:a16="http://schemas.microsoft.com/office/drawing/2014/main" id="{AFE452DB-1D0D-3509-7676-109004557EA0}"/>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2625508" y="3976537"/>
            <a:ext cx="755577" cy="755577"/>
          </a:xfrm>
          <a:prstGeom prst="rect">
            <a:avLst/>
          </a:prstGeom>
        </p:spPr>
      </p:pic>
      <p:sp>
        <p:nvSpPr>
          <p:cNvPr id="24" name="מלבן: פינות מעוגלות 6">
            <a:extLst>
              <a:ext uri="{FF2B5EF4-FFF2-40B4-BE49-F238E27FC236}">
                <a16:creationId xmlns:a16="http://schemas.microsoft.com/office/drawing/2014/main" id="{EFE9F34F-711C-CBB8-2380-EA0F33F25BF3}"/>
              </a:ext>
            </a:extLst>
          </p:cNvPr>
          <p:cNvSpPr/>
          <p:nvPr/>
        </p:nvSpPr>
        <p:spPr>
          <a:xfrm>
            <a:off x="7310120" y="3628221"/>
            <a:ext cx="774718" cy="713518"/>
          </a:xfrm>
          <a:prstGeom prst="roundRect">
            <a:avLst>
              <a:gd name="adj" fmla="val 1764"/>
            </a:avLst>
          </a:prstGeom>
          <a:noFill/>
          <a:ln w="12700">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LID4096" sz="2000">
              <a:solidFill>
                <a:schemeClr val="tx1"/>
              </a:solidFill>
            </a:endParaRPr>
          </a:p>
        </p:txBody>
      </p:sp>
      <p:sp>
        <p:nvSpPr>
          <p:cNvPr id="25" name="תיבת טקסט 13">
            <a:extLst>
              <a:ext uri="{FF2B5EF4-FFF2-40B4-BE49-F238E27FC236}">
                <a16:creationId xmlns:a16="http://schemas.microsoft.com/office/drawing/2014/main" id="{4E3186AB-EC31-971A-2C37-4779D7452CB5}"/>
              </a:ext>
            </a:extLst>
          </p:cNvPr>
          <p:cNvSpPr txBox="1"/>
          <p:nvPr/>
        </p:nvSpPr>
        <p:spPr>
          <a:xfrm>
            <a:off x="8717280" y="4614759"/>
            <a:ext cx="2532101" cy="369332"/>
          </a:xfrm>
          <a:prstGeom prst="rect">
            <a:avLst/>
          </a:prstGeom>
          <a:noFill/>
        </p:spPr>
        <p:txBody>
          <a:bodyPr wrap="square">
            <a:spAutoFit/>
          </a:bodyPr>
          <a:lstStyle/>
          <a:p>
            <a:r>
              <a:rPr lang="he-IL">
                <a:latin typeface="Assistant" pitchFamily="2" charset="-79"/>
                <a:cs typeface="Assistant" pitchFamily="2" charset="-79"/>
              </a:rPr>
              <a:t>ג. כמה גולות קיבל אורי?</a:t>
            </a:r>
            <a:endParaRPr lang="LID4096" sz="2000">
              <a:latin typeface="Assistant" pitchFamily="2" charset="-79"/>
              <a:cs typeface="Assistant" pitchFamily="2" charset="-79"/>
            </a:endParaRPr>
          </a:p>
        </p:txBody>
      </p:sp>
      <p:sp>
        <p:nvSpPr>
          <p:cNvPr id="27" name="תיבת טקסט 13">
            <a:extLst>
              <a:ext uri="{FF2B5EF4-FFF2-40B4-BE49-F238E27FC236}">
                <a16:creationId xmlns:a16="http://schemas.microsoft.com/office/drawing/2014/main" id="{3A78A6E5-04AA-8217-B07C-FD34F458191E}"/>
              </a:ext>
            </a:extLst>
          </p:cNvPr>
          <p:cNvSpPr txBox="1"/>
          <p:nvPr/>
        </p:nvSpPr>
        <p:spPr>
          <a:xfrm>
            <a:off x="8900160" y="5187094"/>
            <a:ext cx="2349221" cy="369332"/>
          </a:xfrm>
          <a:prstGeom prst="rect">
            <a:avLst/>
          </a:prstGeom>
          <a:noFill/>
        </p:spPr>
        <p:txBody>
          <a:bodyPr wrap="square">
            <a:spAutoFit/>
          </a:bodyPr>
          <a:lstStyle/>
          <a:p>
            <a:r>
              <a:rPr lang="he-IL">
                <a:latin typeface="Assistant" pitchFamily="2" charset="-79"/>
                <a:cs typeface="Assistant" pitchFamily="2" charset="-79"/>
              </a:rPr>
              <a:t>ד. כמה גולות קיבל דן?</a:t>
            </a:r>
            <a:endParaRPr lang="LID4096" sz="2000">
              <a:latin typeface="Assistant" pitchFamily="2" charset="-79"/>
              <a:cs typeface="Assistant" pitchFamily="2" charset="-79"/>
            </a:endParaRPr>
          </a:p>
        </p:txBody>
      </p:sp>
      <p:sp>
        <p:nvSpPr>
          <p:cNvPr id="30" name="מלבן: פינות מעוגלות 6">
            <a:extLst>
              <a:ext uri="{FF2B5EF4-FFF2-40B4-BE49-F238E27FC236}">
                <a16:creationId xmlns:a16="http://schemas.microsoft.com/office/drawing/2014/main" id="{439F918A-1F9A-0A19-27BA-A7AB42E26431}"/>
              </a:ext>
            </a:extLst>
          </p:cNvPr>
          <p:cNvSpPr/>
          <p:nvPr/>
        </p:nvSpPr>
        <p:spPr>
          <a:xfrm>
            <a:off x="7162800" y="4513936"/>
            <a:ext cx="1069358" cy="485548"/>
          </a:xfrm>
          <a:prstGeom prst="roundRect">
            <a:avLst>
              <a:gd name="adj" fmla="val 1764"/>
            </a:avLst>
          </a:prstGeom>
          <a:noFill/>
          <a:ln w="12700">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LID4096" sz="2000">
              <a:solidFill>
                <a:schemeClr val="tx1"/>
              </a:solidFill>
            </a:endParaRPr>
          </a:p>
        </p:txBody>
      </p:sp>
      <mc:AlternateContent xmlns:mc="http://schemas.openxmlformats.org/markup-compatibility/2006" xmlns:a14="http://schemas.microsoft.com/office/drawing/2010/main">
        <mc:Choice Requires="a14">
          <p:sp>
            <p:nvSpPr>
              <p:cNvPr id="11" name="מלבן: פינות מעוגלות 12">
                <a:extLst>
                  <a:ext uri="{FF2B5EF4-FFF2-40B4-BE49-F238E27FC236}">
                    <a16:creationId xmlns:a16="http://schemas.microsoft.com/office/drawing/2014/main" id="{B571D872-A414-7A18-5A95-FC23DED41493}"/>
                  </a:ext>
                </a:extLst>
              </p:cNvPr>
              <p:cNvSpPr/>
              <p:nvPr/>
            </p:nvSpPr>
            <p:spPr>
              <a:xfrm>
                <a:off x="1534156" y="3994779"/>
                <a:ext cx="466751" cy="731879"/>
              </a:xfrm>
              <a:prstGeom prst="roundRect">
                <a:avLst>
                  <a:gd name="adj" fmla="val 50000"/>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
                      <m:f>
                        <m:fPr>
                          <m:ctrlPr>
                            <a:rPr lang="en-US" b="0" i="1" smtClean="0">
                              <a:solidFill>
                                <a:schemeClr val="tx1"/>
                              </a:solidFill>
                              <a:latin typeface="Cambria Math" panose="02040503050406030204" pitchFamily="18" charset="0"/>
                            </a:rPr>
                          </m:ctrlPr>
                        </m:fPr>
                        <m:num>
                          <m:r>
                            <a:rPr lang="en-US" b="0" i="1" smtClean="0">
                              <a:solidFill>
                                <a:schemeClr val="tx1"/>
                              </a:solidFill>
                              <a:latin typeface="Cambria Math" panose="02040503050406030204" pitchFamily="18" charset="0"/>
                            </a:rPr>
                            <m:t>4</m:t>
                          </m:r>
                        </m:num>
                        <m:den>
                          <m:r>
                            <a:rPr lang="en-US" i="1">
                              <a:solidFill>
                                <a:schemeClr val="tx1"/>
                              </a:solidFill>
                              <a:latin typeface="Cambria Math" panose="02040503050406030204" pitchFamily="18" charset="0"/>
                            </a:rPr>
                            <m:t>7</m:t>
                          </m:r>
                        </m:den>
                      </m:f>
                    </m:oMath>
                  </m:oMathPara>
                </a14:m>
                <a:endParaRPr lang="LID4096">
                  <a:solidFill>
                    <a:schemeClr val="tx1"/>
                  </a:solidFill>
                  <a:latin typeface="Assistant" pitchFamily="2" charset="-79"/>
                  <a:cs typeface="Assistant" pitchFamily="2" charset="-79"/>
                </a:endParaRPr>
              </a:p>
            </p:txBody>
          </p:sp>
        </mc:Choice>
        <mc:Fallback xmlns="">
          <p:sp>
            <p:nvSpPr>
              <p:cNvPr id="11" name="מלבן: פינות מעוגלות 12">
                <a:extLst>
                  <a:ext uri="{FF2B5EF4-FFF2-40B4-BE49-F238E27FC236}">
                    <a16:creationId xmlns:a16="http://schemas.microsoft.com/office/drawing/2014/main" id="{B571D872-A414-7A18-5A95-FC23DED41493}"/>
                  </a:ext>
                </a:extLst>
              </p:cNvPr>
              <p:cNvSpPr>
                <a:spLocks noRot="1" noChangeAspect="1" noMove="1" noResize="1" noEditPoints="1" noAdjustHandles="1" noChangeArrowheads="1" noChangeShapeType="1" noTextEdit="1"/>
              </p:cNvSpPr>
              <p:nvPr/>
            </p:nvSpPr>
            <p:spPr>
              <a:xfrm>
                <a:off x="1534156" y="3994779"/>
                <a:ext cx="466751" cy="731879"/>
              </a:xfrm>
              <a:prstGeom prst="roundRect">
                <a:avLst>
                  <a:gd name="adj" fmla="val 50000"/>
                </a:avLst>
              </a:prstGeom>
              <a:blipFill>
                <a:blip r:embed="rId9"/>
                <a:stretch>
                  <a:fillRect r="-14474"/>
                </a:stretch>
              </a:blipFill>
              <a:ln>
                <a:no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6" name="מלבן: פינות מעוגלות 12">
                <a:extLst>
                  <a:ext uri="{FF2B5EF4-FFF2-40B4-BE49-F238E27FC236}">
                    <a16:creationId xmlns:a16="http://schemas.microsoft.com/office/drawing/2014/main" id="{47905245-1B4D-207D-34B8-F25B6CFA0933}"/>
                  </a:ext>
                </a:extLst>
              </p:cNvPr>
              <p:cNvSpPr/>
              <p:nvPr/>
            </p:nvSpPr>
            <p:spPr>
              <a:xfrm>
                <a:off x="774328" y="3994779"/>
                <a:ext cx="466751" cy="731879"/>
              </a:xfrm>
              <a:prstGeom prst="roundRect">
                <a:avLst>
                  <a:gd name="adj" fmla="val 50000"/>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
                      <m:f>
                        <m:fPr>
                          <m:ctrlPr>
                            <a:rPr lang="en-US" b="0" i="1" smtClean="0">
                              <a:solidFill>
                                <a:schemeClr val="tx1"/>
                              </a:solidFill>
                              <a:latin typeface="Cambria Math" panose="02040503050406030204" pitchFamily="18" charset="0"/>
                            </a:rPr>
                          </m:ctrlPr>
                        </m:fPr>
                        <m:num>
                          <m:r>
                            <a:rPr lang="en-US" b="0" i="1" smtClean="0">
                              <a:solidFill>
                                <a:schemeClr val="tx1"/>
                              </a:solidFill>
                              <a:latin typeface="Cambria Math" panose="02040503050406030204" pitchFamily="18" charset="0"/>
                            </a:rPr>
                            <m:t>2</m:t>
                          </m:r>
                        </m:num>
                        <m:den>
                          <m:r>
                            <a:rPr lang="en-US" b="0" i="1" smtClean="0">
                              <a:solidFill>
                                <a:schemeClr val="tx1"/>
                              </a:solidFill>
                              <a:latin typeface="Cambria Math" panose="02040503050406030204" pitchFamily="18" charset="0"/>
                            </a:rPr>
                            <m:t>5</m:t>
                          </m:r>
                        </m:den>
                      </m:f>
                    </m:oMath>
                  </m:oMathPara>
                </a14:m>
                <a:endParaRPr lang="LID4096">
                  <a:solidFill>
                    <a:schemeClr val="tx1"/>
                  </a:solidFill>
                  <a:latin typeface="Assistant" pitchFamily="2" charset="-79"/>
                  <a:cs typeface="Assistant" pitchFamily="2" charset="-79"/>
                </a:endParaRPr>
              </a:p>
            </p:txBody>
          </p:sp>
        </mc:Choice>
        <mc:Fallback xmlns="">
          <p:sp>
            <p:nvSpPr>
              <p:cNvPr id="16" name="מלבן: פינות מעוגלות 12">
                <a:extLst>
                  <a:ext uri="{FF2B5EF4-FFF2-40B4-BE49-F238E27FC236}">
                    <a16:creationId xmlns:a16="http://schemas.microsoft.com/office/drawing/2014/main" id="{47905245-1B4D-207D-34B8-F25B6CFA0933}"/>
                  </a:ext>
                </a:extLst>
              </p:cNvPr>
              <p:cNvSpPr>
                <a:spLocks noRot="1" noChangeAspect="1" noMove="1" noResize="1" noEditPoints="1" noAdjustHandles="1" noChangeArrowheads="1" noChangeShapeType="1" noTextEdit="1"/>
              </p:cNvSpPr>
              <p:nvPr/>
            </p:nvSpPr>
            <p:spPr>
              <a:xfrm>
                <a:off x="774328" y="3994779"/>
                <a:ext cx="466751" cy="731879"/>
              </a:xfrm>
              <a:prstGeom prst="roundRect">
                <a:avLst>
                  <a:gd name="adj" fmla="val 50000"/>
                </a:avLst>
              </a:prstGeom>
              <a:blipFill>
                <a:blip r:embed="rId10"/>
                <a:stretch>
                  <a:fillRect r="-12987"/>
                </a:stretch>
              </a:blipFill>
              <a:ln>
                <a:noFill/>
              </a:ln>
            </p:spPr>
            <p:txBody>
              <a:bodyPr/>
              <a:lstStyle/>
              <a:p>
                <a:r>
                  <a:rPr lang="en-US">
                    <a:noFill/>
                  </a:rPr>
                  <a:t> </a:t>
                </a:r>
              </a:p>
            </p:txBody>
          </p:sp>
        </mc:Fallback>
      </mc:AlternateContent>
      <p:sp>
        <p:nvSpPr>
          <p:cNvPr id="15" name="תיבת טקסט 4">
            <a:extLst>
              <a:ext uri="{FF2B5EF4-FFF2-40B4-BE49-F238E27FC236}">
                <a16:creationId xmlns:a16="http://schemas.microsoft.com/office/drawing/2014/main" id="{AEE97F24-C77E-EC0C-F289-DD03A1F87116}"/>
              </a:ext>
            </a:extLst>
          </p:cNvPr>
          <p:cNvSpPr txBox="1"/>
          <p:nvPr/>
        </p:nvSpPr>
        <p:spPr>
          <a:xfrm>
            <a:off x="3327820" y="1921513"/>
            <a:ext cx="8074922" cy="707886"/>
          </a:xfrm>
          <a:prstGeom prst="rect">
            <a:avLst/>
          </a:prstGeom>
          <a:noFill/>
        </p:spPr>
        <p:txBody>
          <a:bodyPr wrap="square" lIns="91440" tIns="45720" rIns="91440" bIns="45720" rtlCol="0" anchor="t">
            <a:spAutoFit/>
          </a:bodyPr>
          <a:lstStyle/>
          <a:p>
            <a:r>
              <a:rPr lang="he-IL" sz="2000">
                <a:latin typeface="Assistant"/>
                <a:cs typeface="Assistant"/>
              </a:rPr>
              <a:t>לאורי ודן יש  56 גולות. היחס בין כמות הגולות האדומות לבין כמות הגולות הכחולות </a:t>
            </a:r>
            <a:endParaRPr lang="he-IL">
              <a:latin typeface="Aptos" panose="02110004020202020204"/>
              <a:cs typeface="Arial" panose="020B0604020202020204" pitchFamily="34" charset="0"/>
            </a:endParaRPr>
          </a:p>
          <a:p>
            <a:r>
              <a:rPr lang="he-IL" sz="2000">
                <a:latin typeface="Assistant"/>
                <a:cs typeface="Assistant"/>
              </a:rPr>
              <a:t>הוא 5 : 2 . אורי קיבל את הגולות האדומות ודן קיבל את הגולות הכחולות.</a:t>
            </a:r>
            <a:endParaRPr lang="he-IL">
              <a:cs typeface="Arial"/>
            </a:endParaRPr>
          </a:p>
        </p:txBody>
      </p:sp>
      <p:sp>
        <p:nvSpPr>
          <p:cNvPr id="19" name="תיבת טקסט 4">
            <a:extLst>
              <a:ext uri="{FF2B5EF4-FFF2-40B4-BE49-F238E27FC236}">
                <a16:creationId xmlns:a16="http://schemas.microsoft.com/office/drawing/2014/main" id="{FE39141B-1C7F-2641-019C-B6092EC1A6FF}"/>
              </a:ext>
            </a:extLst>
          </p:cNvPr>
          <p:cNvSpPr txBox="1"/>
          <p:nvPr/>
        </p:nvSpPr>
        <p:spPr>
          <a:xfrm>
            <a:off x="1706215" y="1296887"/>
            <a:ext cx="10109199" cy="707886"/>
          </a:xfrm>
          <a:prstGeom prst="rect">
            <a:avLst/>
          </a:prstGeom>
          <a:noFill/>
        </p:spPr>
        <p:txBody>
          <a:bodyPr wrap="square" rtlCol="0">
            <a:spAutoFit/>
          </a:bodyPr>
          <a:lstStyle/>
          <a:p>
            <a:r>
              <a:rPr lang="he-IL" sz="2000" b="1">
                <a:latin typeface="Assistant" pitchFamily="2" charset="-79"/>
                <a:cs typeface="Assistant" pitchFamily="2" charset="-79"/>
              </a:rPr>
              <a:t>קראו את התרגיל הבא. אל תפתרו אותו, רק הסתכלו על הנתונים וחישבו האם יש לכם כיוון לפתרון. </a:t>
            </a:r>
          </a:p>
          <a:p>
            <a:endParaRPr lang="he-IL" sz="2000">
              <a:latin typeface="Assistant" pitchFamily="2" charset="-79"/>
              <a:cs typeface="Assistant" pitchFamily="2" charset="-79"/>
            </a:endParaRPr>
          </a:p>
        </p:txBody>
      </p:sp>
    </p:spTree>
    <p:custDataLst>
      <p:tags r:id="rId1"/>
    </p:custDataLst>
    <p:extLst>
      <p:ext uri="{BB962C8B-B14F-4D97-AF65-F5344CB8AC3E}">
        <p14:creationId xmlns:p14="http://schemas.microsoft.com/office/powerpoint/2010/main" val="382042148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A5B2AD-4211-941C-77C7-BA48FE2B6812}"/>
            </a:ext>
          </a:extLst>
        </p:cNvPr>
        <p:cNvGrpSpPr/>
        <p:nvPr/>
      </p:nvGrpSpPr>
      <p:grpSpPr>
        <a:xfrm>
          <a:off x="0" y="0"/>
          <a:ext cx="0" cy="0"/>
          <a:chOff x="0" y="0"/>
          <a:chExt cx="0" cy="0"/>
        </a:xfrm>
      </p:grpSpPr>
      <p:cxnSp>
        <p:nvCxnSpPr>
          <p:cNvPr id="7" name="מחבר ישר 6">
            <a:extLst>
              <a:ext uri="{FF2B5EF4-FFF2-40B4-BE49-F238E27FC236}">
                <a16:creationId xmlns:a16="http://schemas.microsoft.com/office/drawing/2014/main" id="{E0AE7868-5C5D-2673-6406-7B438BBEE7C4}"/>
              </a:ext>
            </a:extLst>
          </p:cNvPr>
          <p:cNvCxnSpPr>
            <a:cxnSpLocks/>
          </p:cNvCxnSpPr>
          <p:nvPr/>
        </p:nvCxnSpPr>
        <p:spPr>
          <a:xfrm>
            <a:off x="0" y="6079252"/>
            <a:ext cx="12192000" cy="0"/>
          </a:xfrm>
          <a:prstGeom prst="line">
            <a:avLst/>
          </a:prstGeom>
          <a:ln>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8" name="תיבת טקסט 3">
            <a:extLst>
              <a:ext uri="{FF2B5EF4-FFF2-40B4-BE49-F238E27FC236}">
                <a16:creationId xmlns:a16="http://schemas.microsoft.com/office/drawing/2014/main" id="{CF565B3B-120D-2ED9-30B0-AA4B771B776A}"/>
              </a:ext>
            </a:extLst>
          </p:cNvPr>
          <p:cNvSpPr txBox="1"/>
          <p:nvPr/>
        </p:nvSpPr>
        <p:spPr>
          <a:xfrm>
            <a:off x="2120425" y="495079"/>
            <a:ext cx="8271803" cy="707886"/>
          </a:xfrm>
          <a:prstGeom prst="rect">
            <a:avLst/>
          </a:prstGeom>
          <a:noFill/>
        </p:spPr>
        <p:txBody>
          <a:bodyPr wrap="square" rtlCol="0">
            <a:spAutoFit/>
          </a:bodyPr>
          <a:lstStyle/>
          <a:p>
            <a:pPr algn="ctr"/>
            <a:r>
              <a:rPr lang="he-IL" sz="4000" b="1">
                <a:latin typeface="Assistant" pitchFamily="2" charset="-79"/>
                <a:cs typeface="Assistant" pitchFamily="2" charset="-79"/>
              </a:rPr>
              <a:t>יחס – בואו נפתור תרגיל ראשון יחד</a:t>
            </a:r>
            <a:endParaRPr lang="LID4096" sz="4000" b="1">
              <a:latin typeface="Assistant" pitchFamily="2" charset="-79"/>
              <a:cs typeface="Assistant" pitchFamily="2" charset="-79"/>
            </a:endParaRPr>
          </a:p>
        </p:txBody>
      </p:sp>
      <p:pic>
        <p:nvPicPr>
          <p:cNvPr id="41" name="תמונה 3">
            <a:extLst>
              <a:ext uri="{FF2B5EF4-FFF2-40B4-BE49-F238E27FC236}">
                <a16:creationId xmlns:a16="http://schemas.microsoft.com/office/drawing/2014/main" id="{73D85C90-3590-C519-14C0-32D3F0CF0129}"/>
              </a:ext>
            </a:extLst>
          </p:cNvPr>
          <p:cNvPicPr>
            <a:picLocks noChangeAspect="1"/>
          </p:cNvPicPr>
          <p:nvPr/>
        </p:nvPicPr>
        <p:blipFill>
          <a:blip r:embed="rId4">
            <a:extLst>
              <a:ext uri="{28A0092B-C50C-407E-A947-70E740481C1C}">
                <a14:useLocalDpi xmlns:a14="http://schemas.microsoft.com/office/drawing/2010/main"/>
              </a:ext>
            </a:extLst>
          </a:blip>
          <a:stretch>
            <a:fillRect/>
          </a:stretch>
        </p:blipFill>
        <p:spPr>
          <a:xfrm>
            <a:off x="223129" y="6246129"/>
            <a:ext cx="1777778" cy="495238"/>
          </a:xfrm>
          <a:prstGeom prst="rect">
            <a:avLst/>
          </a:prstGeom>
        </p:spPr>
      </p:pic>
      <p:sp>
        <p:nvSpPr>
          <p:cNvPr id="21" name="תיבת טקסט 13">
            <a:extLst>
              <a:ext uri="{FF2B5EF4-FFF2-40B4-BE49-F238E27FC236}">
                <a16:creationId xmlns:a16="http://schemas.microsoft.com/office/drawing/2014/main" id="{70B74E26-AA9B-526E-6DCB-5F7367A18B27}"/>
              </a:ext>
            </a:extLst>
          </p:cNvPr>
          <p:cNvSpPr txBox="1"/>
          <p:nvPr/>
        </p:nvSpPr>
        <p:spPr>
          <a:xfrm>
            <a:off x="8337865" y="2966488"/>
            <a:ext cx="2911516" cy="369332"/>
          </a:xfrm>
          <a:prstGeom prst="rect">
            <a:avLst/>
          </a:prstGeom>
          <a:noFill/>
        </p:spPr>
        <p:txBody>
          <a:bodyPr wrap="square">
            <a:spAutoFit/>
          </a:bodyPr>
          <a:lstStyle/>
          <a:p>
            <a:r>
              <a:rPr lang="he-IL">
                <a:latin typeface="Assistant" pitchFamily="2" charset="-79"/>
                <a:cs typeface="Assistant" pitchFamily="2" charset="-79"/>
              </a:rPr>
              <a:t>א. איזה חלק מהגולות קיבל אורי?</a:t>
            </a:r>
            <a:endParaRPr lang="LID4096">
              <a:latin typeface="Assistant" pitchFamily="2" charset="-79"/>
              <a:cs typeface="Assistant" pitchFamily="2" charset="-79"/>
            </a:endParaRPr>
          </a:p>
        </p:txBody>
      </p:sp>
      <p:sp>
        <p:nvSpPr>
          <p:cNvPr id="6" name="תיבת טקסט 13">
            <a:extLst>
              <a:ext uri="{FF2B5EF4-FFF2-40B4-BE49-F238E27FC236}">
                <a16:creationId xmlns:a16="http://schemas.microsoft.com/office/drawing/2014/main" id="{14299CF6-F778-C490-9C06-BC9C85CC2E8F}"/>
              </a:ext>
            </a:extLst>
          </p:cNvPr>
          <p:cNvSpPr txBox="1"/>
          <p:nvPr/>
        </p:nvSpPr>
        <p:spPr>
          <a:xfrm>
            <a:off x="8505000" y="3752293"/>
            <a:ext cx="2744381" cy="369332"/>
          </a:xfrm>
          <a:prstGeom prst="rect">
            <a:avLst/>
          </a:prstGeom>
          <a:noFill/>
        </p:spPr>
        <p:txBody>
          <a:bodyPr wrap="square">
            <a:spAutoFit/>
          </a:bodyPr>
          <a:lstStyle/>
          <a:p>
            <a:r>
              <a:rPr lang="he-IL">
                <a:latin typeface="Assistant" pitchFamily="2" charset="-79"/>
                <a:cs typeface="Assistant" pitchFamily="2" charset="-79"/>
              </a:rPr>
              <a:t>ב. איזה חלק מהגולות קיבל דן?</a:t>
            </a:r>
            <a:endParaRPr lang="LID4096" sz="2000">
              <a:latin typeface="Assistant" pitchFamily="2" charset="-79"/>
              <a:cs typeface="Assistant" pitchFamily="2" charset="-79"/>
            </a:endParaRPr>
          </a:p>
        </p:txBody>
      </p:sp>
      <mc:AlternateContent xmlns:mc="http://schemas.openxmlformats.org/markup-compatibility/2006" xmlns:a14="http://schemas.microsoft.com/office/drawing/2010/main">
        <mc:Choice Requires="a14">
          <p:sp>
            <p:nvSpPr>
              <p:cNvPr id="5" name="מלבן: פינות מעוגלות 6">
                <a:extLst>
                  <a:ext uri="{FF2B5EF4-FFF2-40B4-BE49-F238E27FC236}">
                    <a16:creationId xmlns:a16="http://schemas.microsoft.com/office/drawing/2014/main" id="{8E24A716-7A58-B327-C882-44A66C420FF7}"/>
                  </a:ext>
                </a:extLst>
              </p:cNvPr>
              <p:cNvSpPr/>
              <p:nvPr/>
            </p:nvSpPr>
            <p:spPr>
              <a:xfrm>
                <a:off x="7310120" y="2794395"/>
                <a:ext cx="774718" cy="713518"/>
              </a:xfrm>
              <a:prstGeom prst="roundRect">
                <a:avLst>
                  <a:gd name="adj" fmla="val 1764"/>
                </a:avLst>
              </a:prstGeom>
              <a:noFill/>
              <a:ln w="12700">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
                    </m:oMathParaPr>
                    <m:oMath>
                      <m:f>
                        <m:fPr>
                          <m:ctrlPr>
                            <a:rPr lang="en-US" i="1">
                              <a:solidFill>
                                <a:schemeClr val="tx1"/>
                              </a:solidFill>
                              <a:latin typeface="Cambria Math" panose="02040503050406030204" pitchFamily="18" charset="0"/>
                            </a:rPr>
                          </m:ctrlPr>
                        </m:fPr>
                        <m:num>
                          <m:r>
                            <a:rPr lang="en-US" i="1">
                              <a:solidFill>
                                <a:schemeClr val="tx1"/>
                              </a:solidFill>
                              <a:latin typeface="Cambria Math" panose="02040503050406030204" pitchFamily="18" charset="0"/>
                            </a:rPr>
                            <m:t>2</m:t>
                          </m:r>
                        </m:num>
                        <m:den>
                          <m:r>
                            <a:rPr lang="en-US" i="1">
                              <a:solidFill>
                                <a:schemeClr val="tx1"/>
                              </a:solidFill>
                              <a:latin typeface="Cambria Math" panose="02040503050406030204" pitchFamily="18" charset="0"/>
                            </a:rPr>
                            <m:t>7</m:t>
                          </m:r>
                        </m:den>
                      </m:f>
                    </m:oMath>
                  </m:oMathPara>
                </a14:m>
                <a:endParaRPr lang="LID4096" sz="2000">
                  <a:solidFill>
                    <a:schemeClr val="tx1"/>
                  </a:solidFill>
                </a:endParaRPr>
              </a:p>
            </p:txBody>
          </p:sp>
        </mc:Choice>
        <mc:Fallback xmlns="">
          <p:sp>
            <p:nvSpPr>
              <p:cNvPr id="5" name="מלבן: פינות מעוגלות 6">
                <a:extLst>
                  <a:ext uri="{FF2B5EF4-FFF2-40B4-BE49-F238E27FC236}">
                    <a16:creationId xmlns:a16="http://schemas.microsoft.com/office/drawing/2014/main" id="{8E24A716-7A58-B327-C882-44A66C420FF7}"/>
                  </a:ext>
                </a:extLst>
              </p:cNvPr>
              <p:cNvSpPr>
                <a:spLocks noRot="1" noChangeAspect="1" noMove="1" noResize="1" noEditPoints="1" noAdjustHandles="1" noChangeArrowheads="1" noChangeShapeType="1" noTextEdit="1"/>
              </p:cNvSpPr>
              <p:nvPr/>
            </p:nvSpPr>
            <p:spPr>
              <a:xfrm>
                <a:off x="7310120" y="2794395"/>
                <a:ext cx="774718" cy="713518"/>
              </a:xfrm>
              <a:prstGeom prst="roundRect">
                <a:avLst>
                  <a:gd name="adj" fmla="val 1764"/>
                </a:avLst>
              </a:prstGeom>
              <a:blipFill>
                <a:blip r:embed="rId5"/>
                <a:stretch>
                  <a:fillRect/>
                </a:stretch>
              </a:blipFill>
              <a:ln w="12700">
                <a:solidFill>
                  <a:srgbClr val="00B0F0"/>
                </a:solidFill>
              </a:ln>
            </p:spPr>
            <p:txBody>
              <a:bodyPr/>
              <a:lstStyle/>
              <a:p>
                <a:r>
                  <a:rPr lang="en-US">
                    <a:noFill/>
                  </a:rPr>
                  <a:t> </a:t>
                </a:r>
              </a:p>
            </p:txBody>
          </p:sp>
        </mc:Fallback>
      </mc:AlternateContent>
      <p:sp>
        <p:nvSpPr>
          <p:cNvPr id="48" name="מלבן: פינות מעוגלות 6">
            <a:extLst>
              <a:ext uri="{FF2B5EF4-FFF2-40B4-BE49-F238E27FC236}">
                <a16:creationId xmlns:a16="http://schemas.microsoft.com/office/drawing/2014/main" id="{F4350176-B726-FAB7-F0D0-90D58BA2C9F7}"/>
              </a:ext>
            </a:extLst>
          </p:cNvPr>
          <p:cNvSpPr/>
          <p:nvPr/>
        </p:nvSpPr>
        <p:spPr>
          <a:xfrm>
            <a:off x="7162800" y="5187094"/>
            <a:ext cx="1069358" cy="485548"/>
          </a:xfrm>
          <a:prstGeom prst="roundRect">
            <a:avLst>
              <a:gd name="adj" fmla="val 1764"/>
            </a:avLst>
          </a:prstGeom>
          <a:noFill/>
          <a:ln w="12700">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LID4096" sz="2000">
              <a:solidFill>
                <a:schemeClr val="tx1"/>
              </a:solidFill>
            </a:endParaRPr>
          </a:p>
        </p:txBody>
      </p:sp>
      <p:grpSp>
        <p:nvGrpSpPr>
          <p:cNvPr id="3" name="Group 2">
            <a:extLst>
              <a:ext uri="{FF2B5EF4-FFF2-40B4-BE49-F238E27FC236}">
                <a16:creationId xmlns:a16="http://schemas.microsoft.com/office/drawing/2014/main" id="{A6103E7D-CA88-4A1A-750C-8F656EAB1A32}"/>
              </a:ext>
            </a:extLst>
          </p:cNvPr>
          <p:cNvGrpSpPr/>
          <p:nvPr/>
        </p:nvGrpSpPr>
        <p:grpSpPr>
          <a:xfrm>
            <a:off x="223131" y="2214184"/>
            <a:ext cx="3125805" cy="2400574"/>
            <a:chOff x="5958055" y="4211289"/>
            <a:chExt cx="4791118" cy="3736788"/>
          </a:xfrm>
        </p:grpSpPr>
        <p:sp>
          <p:nvSpPr>
            <p:cNvPr id="4" name="מלבן: פינות מעוגלות 2">
              <a:extLst>
                <a:ext uri="{FF2B5EF4-FFF2-40B4-BE49-F238E27FC236}">
                  <a16:creationId xmlns:a16="http://schemas.microsoft.com/office/drawing/2014/main" id="{FD5007B8-6AD0-59CE-944F-2C775EE7FA3F}"/>
                </a:ext>
              </a:extLst>
            </p:cNvPr>
            <p:cNvSpPr/>
            <p:nvPr/>
          </p:nvSpPr>
          <p:spPr>
            <a:xfrm>
              <a:off x="5958055" y="4211289"/>
              <a:ext cx="4791118" cy="3736788"/>
            </a:xfrm>
            <a:prstGeom prst="roundRect">
              <a:avLst>
                <a:gd name="adj" fmla="val 8509"/>
              </a:avLst>
            </a:prstGeom>
            <a:solidFill>
              <a:srgbClr val="00B0F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LID4096"/>
            </a:p>
          </p:txBody>
        </p:sp>
        <mc:AlternateContent xmlns:mc="http://schemas.openxmlformats.org/markup-compatibility/2006" xmlns:a14="http://schemas.microsoft.com/office/drawing/2010/main">
          <mc:Choice Requires="a14">
            <p:sp>
              <p:nvSpPr>
                <p:cNvPr id="10" name="תיבת טקסט 5">
                  <a:extLst>
                    <a:ext uri="{FF2B5EF4-FFF2-40B4-BE49-F238E27FC236}">
                      <a16:creationId xmlns:a16="http://schemas.microsoft.com/office/drawing/2014/main" id="{A1E942E5-2E2F-8A12-8A6F-00347A2FB6B8}"/>
                    </a:ext>
                  </a:extLst>
                </p:cNvPr>
                <p:cNvSpPr txBox="1"/>
                <p:nvPr/>
              </p:nvSpPr>
              <p:spPr>
                <a:xfrm>
                  <a:off x="6176671" y="4537190"/>
                  <a:ext cx="4441691" cy="2885331"/>
                </a:xfrm>
                <a:prstGeom prst="rect">
                  <a:avLst/>
                </a:prstGeom>
                <a:noFill/>
              </p:spPr>
              <p:txBody>
                <a:bodyPr wrap="square" rtlCol="0">
                  <a:spAutoFit/>
                </a:bodyPr>
                <a:lstStyle/>
                <a:p>
                  <a:r>
                    <a:rPr lang="he-IL">
                      <a:solidFill>
                        <a:schemeClr val="bg1"/>
                      </a:solidFill>
                      <a:latin typeface="Assistant" pitchFamily="2" charset="-79"/>
                      <a:cs typeface="Assistant" pitchFamily="2" charset="-79"/>
                    </a:rPr>
                    <a:t>דן קיבל  </a:t>
                  </a:r>
                  <a14:m>
                    <m:oMath xmlns:m="http://schemas.openxmlformats.org/officeDocument/2006/math">
                      <m:f>
                        <m:fPr>
                          <m:ctrlPr>
                            <a:rPr lang="en-US" b="0" i="1" smtClean="0">
                              <a:solidFill>
                                <a:schemeClr val="bg1"/>
                              </a:solidFill>
                              <a:latin typeface="Cambria Math" panose="02040503050406030204" pitchFamily="18" charset="0"/>
                            </a:rPr>
                          </m:ctrlPr>
                        </m:fPr>
                        <m:num>
                          <m:r>
                            <a:rPr lang="en-US" b="0" i="1" smtClean="0">
                              <a:solidFill>
                                <a:schemeClr val="bg1"/>
                              </a:solidFill>
                              <a:latin typeface="Cambria Math" panose="02040503050406030204" pitchFamily="18" charset="0"/>
                            </a:rPr>
                            <m:t>5</m:t>
                          </m:r>
                        </m:num>
                        <m:den>
                          <m:r>
                            <a:rPr lang="en-US" i="1">
                              <a:solidFill>
                                <a:schemeClr val="bg1"/>
                              </a:solidFill>
                              <a:latin typeface="Cambria Math" panose="02040503050406030204" pitchFamily="18" charset="0"/>
                            </a:rPr>
                            <m:t>7</m:t>
                          </m:r>
                        </m:den>
                      </m:f>
                      <m:r>
                        <a:rPr lang="en-US" i="1">
                          <a:solidFill>
                            <a:schemeClr val="bg1"/>
                          </a:solidFill>
                          <a:latin typeface="Cambria Math" panose="02040503050406030204" pitchFamily="18" charset="0"/>
                        </a:rPr>
                        <m:t> </m:t>
                      </m:r>
                    </m:oMath>
                  </a14:m>
                  <a:r>
                    <a:rPr lang="he-IL">
                      <a:solidFill>
                        <a:schemeClr val="bg1"/>
                      </a:solidFill>
                      <a:latin typeface="Assistant" pitchFamily="2" charset="-79"/>
                      <a:cs typeface="Assistant" pitchFamily="2" charset="-79"/>
                    </a:rPr>
                    <a:t> מהגולות .</a:t>
                  </a:r>
                </a:p>
                <a:p>
                  <a:r>
                    <a:rPr lang="he-IL">
                      <a:solidFill>
                        <a:schemeClr val="bg1"/>
                      </a:solidFill>
                      <a:latin typeface="Assistant" pitchFamily="2" charset="-79"/>
                      <a:cs typeface="Assistant" pitchFamily="2" charset="-79"/>
                    </a:rPr>
                    <a:t>ג. אם לאורי יש  </a:t>
                  </a:r>
                  <a14:m>
                    <m:oMath xmlns:m="http://schemas.openxmlformats.org/officeDocument/2006/math">
                      <m:f>
                        <m:fPr>
                          <m:ctrlPr>
                            <a:rPr lang="en-US" i="1">
                              <a:solidFill>
                                <a:schemeClr val="bg1"/>
                              </a:solidFill>
                              <a:latin typeface="Cambria Math" panose="02040503050406030204" pitchFamily="18" charset="0"/>
                            </a:rPr>
                          </m:ctrlPr>
                        </m:fPr>
                        <m:num>
                          <m:r>
                            <a:rPr lang="en-US" i="1">
                              <a:solidFill>
                                <a:schemeClr val="bg1"/>
                              </a:solidFill>
                              <a:latin typeface="Cambria Math" panose="02040503050406030204" pitchFamily="18" charset="0"/>
                            </a:rPr>
                            <m:t>2</m:t>
                          </m:r>
                        </m:num>
                        <m:den>
                          <m:r>
                            <a:rPr lang="en-US" i="1">
                              <a:solidFill>
                                <a:schemeClr val="bg1"/>
                              </a:solidFill>
                              <a:latin typeface="Cambria Math" panose="02040503050406030204" pitchFamily="18" charset="0"/>
                            </a:rPr>
                            <m:t>7</m:t>
                          </m:r>
                        </m:den>
                      </m:f>
                    </m:oMath>
                  </a14:m>
                  <a:r>
                    <a:rPr lang="he-IL">
                      <a:solidFill>
                        <a:schemeClr val="bg1"/>
                      </a:solidFill>
                      <a:latin typeface="Assistant" pitchFamily="2" charset="-79"/>
                      <a:cs typeface="Assistant" pitchFamily="2" charset="-79"/>
                    </a:rPr>
                    <a:t>  מהגולות, ויש סה"כ </a:t>
                  </a:r>
                  <a:r>
                    <a:rPr lang="en-US">
                      <a:solidFill>
                        <a:schemeClr val="bg1"/>
                      </a:solidFill>
                      <a:latin typeface="Assistant" pitchFamily="2" charset="-79"/>
                      <a:cs typeface="Assistant" pitchFamily="2" charset="-79"/>
                    </a:rPr>
                    <a:t>56</a:t>
                  </a:r>
                  <a:r>
                    <a:rPr lang="he-IL">
                      <a:solidFill>
                        <a:schemeClr val="bg1"/>
                      </a:solidFill>
                      <a:latin typeface="Assistant" pitchFamily="2" charset="-79"/>
                      <a:cs typeface="Assistant" pitchFamily="2" charset="-79"/>
                    </a:rPr>
                    <a:t> גולות, נוכל לחשב</a:t>
                  </a:r>
                </a:p>
                <a:p>
                  <a:r>
                    <a:rPr lang="he-IL">
                      <a:solidFill>
                        <a:schemeClr val="bg1"/>
                      </a:solidFill>
                      <a:latin typeface="Assistant" pitchFamily="2" charset="-79"/>
                      <a:cs typeface="Assistant" pitchFamily="2" charset="-79"/>
                    </a:rPr>
                    <a:t> </a:t>
                  </a:r>
                  <a14:m>
                    <m:oMath xmlns:m="http://schemas.openxmlformats.org/officeDocument/2006/math">
                      <m:f>
                        <m:fPr>
                          <m:ctrlPr>
                            <a:rPr lang="en-US" i="1">
                              <a:solidFill>
                                <a:schemeClr val="bg1"/>
                              </a:solidFill>
                              <a:latin typeface="Cambria Math" panose="02040503050406030204" pitchFamily="18" charset="0"/>
                            </a:rPr>
                          </m:ctrlPr>
                        </m:fPr>
                        <m:num>
                          <m:r>
                            <a:rPr lang="en-US" i="1">
                              <a:solidFill>
                                <a:schemeClr val="bg1"/>
                              </a:solidFill>
                              <a:latin typeface="Cambria Math" panose="02040503050406030204" pitchFamily="18" charset="0"/>
                            </a:rPr>
                            <m:t>2</m:t>
                          </m:r>
                        </m:num>
                        <m:den>
                          <m:r>
                            <a:rPr lang="en-US" i="1">
                              <a:solidFill>
                                <a:schemeClr val="bg1"/>
                              </a:solidFill>
                              <a:latin typeface="Cambria Math" panose="02040503050406030204" pitchFamily="18" charset="0"/>
                            </a:rPr>
                            <m:t>7</m:t>
                          </m:r>
                        </m:den>
                      </m:f>
                      <m:r>
                        <a:rPr lang="en-US" i="1">
                          <a:solidFill>
                            <a:schemeClr val="bg1"/>
                          </a:solidFill>
                          <a:latin typeface="Cambria Math" panose="02040503050406030204" pitchFamily="18" charset="0"/>
                        </a:rPr>
                        <m:t>⋅56= </m:t>
                      </m:r>
                      <m:r>
                        <a:rPr lang="en-US" b="1" i="1" smtClean="0">
                          <a:solidFill>
                            <a:schemeClr val="bg1"/>
                          </a:solidFill>
                          <a:latin typeface="Cambria Math" panose="02040503050406030204" pitchFamily="18" charset="0"/>
                        </a:rPr>
                        <m:t>?</m:t>
                      </m:r>
                      <m:r>
                        <a:rPr lang="en-US" i="1">
                          <a:solidFill>
                            <a:schemeClr val="bg1"/>
                          </a:solidFill>
                          <a:latin typeface="Cambria Math" panose="02040503050406030204" pitchFamily="18" charset="0"/>
                        </a:rPr>
                        <m:t> </m:t>
                      </m:r>
                    </m:oMath>
                  </a14:m>
                  <a:r>
                    <a:rPr lang="en-US">
                      <a:solidFill>
                        <a:schemeClr val="bg1"/>
                      </a:solidFill>
                      <a:latin typeface="Assistant" pitchFamily="2" charset="-79"/>
                      <a:cs typeface="Assistant" pitchFamily="2" charset="-79"/>
                    </a:rPr>
                    <a:t> </a:t>
                  </a:r>
                </a:p>
                <a:p>
                  <a:endParaRPr lang="he-IL" sz="2000">
                    <a:solidFill>
                      <a:schemeClr val="bg1"/>
                    </a:solidFill>
                    <a:latin typeface="Assistant" pitchFamily="2" charset="-79"/>
                    <a:cs typeface="Assistant" pitchFamily="2" charset="-79"/>
                  </a:endParaRPr>
                </a:p>
              </p:txBody>
            </p:sp>
          </mc:Choice>
          <mc:Fallback xmlns="">
            <p:sp>
              <p:nvSpPr>
                <p:cNvPr id="10" name="תיבת טקסט 5">
                  <a:extLst>
                    <a:ext uri="{FF2B5EF4-FFF2-40B4-BE49-F238E27FC236}">
                      <a16:creationId xmlns:a16="http://schemas.microsoft.com/office/drawing/2014/main" id="{A1E942E5-2E2F-8A12-8A6F-00347A2FB6B8}"/>
                    </a:ext>
                  </a:extLst>
                </p:cNvPr>
                <p:cNvSpPr txBox="1">
                  <a:spLocks noRot="1" noChangeAspect="1" noMove="1" noResize="1" noEditPoints="1" noAdjustHandles="1" noChangeArrowheads="1" noChangeShapeType="1" noTextEdit="1"/>
                </p:cNvSpPr>
                <p:nvPr/>
              </p:nvSpPr>
              <p:spPr>
                <a:xfrm>
                  <a:off x="6176671" y="4537190"/>
                  <a:ext cx="4441691" cy="2885331"/>
                </a:xfrm>
                <a:prstGeom prst="rect">
                  <a:avLst/>
                </a:prstGeom>
                <a:blipFill>
                  <a:blip r:embed="rId6"/>
                  <a:stretch>
                    <a:fillRect r="-2105" b="-5263"/>
                  </a:stretch>
                </a:blipFill>
              </p:spPr>
              <p:txBody>
                <a:bodyPr/>
                <a:lstStyle/>
                <a:p>
                  <a:r>
                    <a:rPr lang="en-US">
                      <a:noFill/>
                    </a:rPr>
                    <a:t> </a:t>
                  </a:r>
                </a:p>
              </p:txBody>
            </p:sp>
          </mc:Fallback>
        </mc:AlternateContent>
      </p:grpSp>
      <p:sp>
        <p:nvSpPr>
          <p:cNvPr id="14" name="מלבן: פינות מעוגלות 12">
            <a:extLst>
              <a:ext uri="{FF2B5EF4-FFF2-40B4-BE49-F238E27FC236}">
                <a16:creationId xmlns:a16="http://schemas.microsoft.com/office/drawing/2014/main" id="{C62A9EA3-281B-3FE7-DBA2-D247F8629BBD}"/>
              </a:ext>
            </a:extLst>
          </p:cNvPr>
          <p:cNvSpPr/>
          <p:nvPr/>
        </p:nvSpPr>
        <p:spPr>
          <a:xfrm>
            <a:off x="352189" y="4121989"/>
            <a:ext cx="759829" cy="361530"/>
          </a:xfrm>
          <a:prstGeom prst="roundRect">
            <a:avLst>
              <a:gd name="adj" fmla="val 50000"/>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a:solidFill>
                  <a:schemeClr val="tx1"/>
                </a:solidFill>
                <a:latin typeface="Assistant" pitchFamily="2" charset="-79"/>
                <a:cs typeface="Assistant" pitchFamily="2" charset="-79"/>
              </a:rPr>
              <a:t>16</a:t>
            </a:r>
            <a:endParaRPr lang="LID4096" b="1">
              <a:solidFill>
                <a:schemeClr val="tx1"/>
              </a:solidFill>
              <a:latin typeface="Assistant" pitchFamily="2" charset="-79"/>
              <a:cs typeface="Assistant" pitchFamily="2" charset="-79"/>
            </a:endParaRPr>
          </a:p>
        </p:txBody>
      </p:sp>
      <mc:AlternateContent xmlns:mc="http://schemas.openxmlformats.org/markup-compatibility/2006" xmlns:a14="http://schemas.microsoft.com/office/drawing/2010/main">
        <mc:Choice Requires="a14">
          <p:sp>
            <p:nvSpPr>
              <p:cNvPr id="24" name="מלבן: פינות מעוגלות 6">
                <a:extLst>
                  <a:ext uri="{FF2B5EF4-FFF2-40B4-BE49-F238E27FC236}">
                    <a16:creationId xmlns:a16="http://schemas.microsoft.com/office/drawing/2014/main" id="{3FF2C0A3-0EC7-4A56-7430-342623F584E6}"/>
                  </a:ext>
                </a:extLst>
              </p:cNvPr>
              <p:cNvSpPr/>
              <p:nvPr/>
            </p:nvSpPr>
            <p:spPr>
              <a:xfrm>
                <a:off x="7310120" y="3628221"/>
                <a:ext cx="774718" cy="713518"/>
              </a:xfrm>
              <a:prstGeom prst="roundRect">
                <a:avLst>
                  <a:gd name="adj" fmla="val 1764"/>
                </a:avLst>
              </a:prstGeom>
              <a:noFill/>
              <a:ln w="12700">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
                    </m:oMathParaPr>
                    <m:oMath>
                      <m:f>
                        <m:fPr>
                          <m:ctrlPr>
                            <a:rPr lang="en-US" b="0" i="1" smtClean="0">
                              <a:solidFill>
                                <a:schemeClr val="tx1"/>
                              </a:solidFill>
                              <a:latin typeface="Cambria Math" panose="02040503050406030204" pitchFamily="18" charset="0"/>
                            </a:rPr>
                          </m:ctrlPr>
                        </m:fPr>
                        <m:num>
                          <m:r>
                            <a:rPr lang="en-US" b="0" i="1" smtClean="0">
                              <a:solidFill>
                                <a:schemeClr val="tx1"/>
                              </a:solidFill>
                              <a:latin typeface="Cambria Math" panose="02040503050406030204" pitchFamily="18" charset="0"/>
                            </a:rPr>
                            <m:t>5</m:t>
                          </m:r>
                        </m:num>
                        <m:den>
                          <m:r>
                            <a:rPr lang="en-US" i="1">
                              <a:solidFill>
                                <a:schemeClr val="tx1"/>
                              </a:solidFill>
                              <a:latin typeface="Cambria Math" panose="02040503050406030204" pitchFamily="18" charset="0"/>
                            </a:rPr>
                            <m:t>7</m:t>
                          </m:r>
                        </m:den>
                      </m:f>
                    </m:oMath>
                  </m:oMathPara>
                </a14:m>
                <a:endParaRPr lang="LID4096" sz="2000">
                  <a:solidFill>
                    <a:schemeClr val="tx1"/>
                  </a:solidFill>
                </a:endParaRPr>
              </a:p>
            </p:txBody>
          </p:sp>
        </mc:Choice>
        <mc:Fallback xmlns="">
          <p:sp>
            <p:nvSpPr>
              <p:cNvPr id="24" name="מלבן: פינות מעוגלות 6">
                <a:extLst>
                  <a:ext uri="{FF2B5EF4-FFF2-40B4-BE49-F238E27FC236}">
                    <a16:creationId xmlns:a16="http://schemas.microsoft.com/office/drawing/2014/main" id="{3FF2C0A3-0EC7-4A56-7430-342623F584E6}"/>
                  </a:ext>
                </a:extLst>
              </p:cNvPr>
              <p:cNvSpPr>
                <a:spLocks noRot="1" noChangeAspect="1" noMove="1" noResize="1" noEditPoints="1" noAdjustHandles="1" noChangeArrowheads="1" noChangeShapeType="1" noTextEdit="1"/>
              </p:cNvSpPr>
              <p:nvPr/>
            </p:nvSpPr>
            <p:spPr>
              <a:xfrm>
                <a:off x="7310120" y="3628221"/>
                <a:ext cx="774718" cy="713518"/>
              </a:xfrm>
              <a:prstGeom prst="roundRect">
                <a:avLst>
                  <a:gd name="adj" fmla="val 1764"/>
                </a:avLst>
              </a:prstGeom>
              <a:blipFill>
                <a:blip r:embed="rId7"/>
                <a:stretch>
                  <a:fillRect/>
                </a:stretch>
              </a:blipFill>
              <a:ln w="12700">
                <a:solidFill>
                  <a:srgbClr val="00B0F0"/>
                </a:solidFill>
              </a:ln>
            </p:spPr>
            <p:txBody>
              <a:bodyPr/>
              <a:lstStyle/>
              <a:p>
                <a:r>
                  <a:rPr lang="en-US">
                    <a:noFill/>
                  </a:rPr>
                  <a:t> </a:t>
                </a:r>
              </a:p>
            </p:txBody>
          </p:sp>
        </mc:Fallback>
      </mc:AlternateContent>
      <p:sp>
        <p:nvSpPr>
          <p:cNvPr id="25" name="תיבת טקסט 13">
            <a:extLst>
              <a:ext uri="{FF2B5EF4-FFF2-40B4-BE49-F238E27FC236}">
                <a16:creationId xmlns:a16="http://schemas.microsoft.com/office/drawing/2014/main" id="{70CE5770-4E87-445E-C6AC-C3FA3BF922CD}"/>
              </a:ext>
            </a:extLst>
          </p:cNvPr>
          <p:cNvSpPr txBox="1"/>
          <p:nvPr/>
        </p:nvSpPr>
        <p:spPr>
          <a:xfrm>
            <a:off x="8717280" y="4614759"/>
            <a:ext cx="2532101" cy="369332"/>
          </a:xfrm>
          <a:prstGeom prst="rect">
            <a:avLst/>
          </a:prstGeom>
          <a:noFill/>
        </p:spPr>
        <p:txBody>
          <a:bodyPr wrap="square">
            <a:spAutoFit/>
          </a:bodyPr>
          <a:lstStyle/>
          <a:p>
            <a:r>
              <a:rPr lang="he-IL">
                <a:latin typeface="Assistant" pitchFamily="2" charset="-79"/>
                <a:cs typeface="Assistant" pitchFamily="2" charset="-79"/>
              </a:rPr>
              <a:t>ג. כמה גולות קיבל אורי?</a:t>
            </a:r>
            <a:endParaRPr lang="LID4096" sz="2000">
              <a:latin typeface="Assistant" pitchFamily="2" charset="-79"/>
              <a:cs typeface="Assistant" pitchFamily="2" charset="-79"/>
            </a:endParaRPr>
          </a:p>
        </p:txBody>
      </p:sp>
      <p:sp>
        <p:nvSpPr>
          <p:cNvPr id="27" name="תיבת טקסט 13">
            <a:extLst>
              <a:ext uri="{FF2B5EF4-FFF2-40B4-BE49-F238E27FC236}">
                <a16:creationId xmlns:a16="http://schemas.microsoft.com/office/drawing/2014/main" id="{BF6EF281-95C3-B790-90F5-90BCB059F3B3}"/>
              </a:ext>
            </a:extLst>
          </p:cNvPr>
          <p:cNvSpPr txBox="1"/>
          <p:nvPr/>
        </p:nvSpPr>
        <p:spPr>
          <a:xfrm>
            <a:off x="8900160" y="5187094"/>
            <a:ext cx="2349221" cy="369332"/>
          </a:xfrm>
          <a:prstGeom prst="rect">
            <a:avLst/>
          </a:prstGeom>
          <a:noFill/>
        </p:spPr>
        <p:txBody>
          <a:bodyPr wrap="square">
            <a:spAutoFit/>
          </a:bodyPr>
          <a:lstStyle/>
          <a:p>
            <a:r>
              <a:rPr lang="he-IL">
                <a:latin typeface="Assistant" pitchFamily="2" charset="-79"/>
                <a:cs typeface="Assistant" pitchFamily="2" charset="-79"/>
              </a:rPr>
              <a:t>ד. כמה גולות קיבל דן?</a:t>
            </a:r>
            <a:endParaRPr lang="LID4096" sz="2000">
              <a:latin typeface="Assistant" pitchFamily="2" charset="-79"/>
              <a:cs typeface="Assistant" pitchFamily="2" charset="-79"/>
            </a:endParaRPr>
          </a:p>
        </p:txBody>
      </p:sp>
      <p:sp>
        <p:nvSpPr>
          <p:cNvPr id="30" name="מלבן: פינות מעוגלות 6">
            <a:extLst>
              <a:ext uri="{FF2B5EF4-FFF2-40B4-BE49-F238E27FC236}">
                <a16:creationId xmlns:a16="http://schemas.microsoft.com/office/drawing/2014/main" id="{0663524F-EC79-1086-A117-EE2A507BE435}"/>
              </a:ext>
            </a:extLst>
          </p:cNvPr>
          <p:cNvSpPr/>
          <p:nvPr/>
        </p:nvSpPr>
        <p:spPr>
          <a:xfrm>
            <a:off x="7162800" y="4513936"/>
            <a:ext cx="1069358" cy="485548"/>
          </a:xfrm>
          <a:prstGeom prst="roundRect">
            <a:avLst>
              <a:gd name="adj" fmla="val 1764"/>
            </a:avLst>
          </a:prstGeom>
          <a:noFill/>
          <a:ln w="12700">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LID4096" sz="2000">
              <a:solidFill>
                <a:schemeClr val="tx1"/>
              </a:solidFill>
            </a:endParaRPr>
          </a:p>
        </p:txBody>
      </p:sp>
      <p:sp>
        <p:nvSpPr>
          <p:cNvPr id="15" name="מלבן: פינות מעוגלות 12">
            <a:extLst>
              <a:ext uri="{FF2B5EF4-FFF2-40B4-BE49-F238E27FC236}">
                <a16:creationId xmlns:a16="http://schemas.microsoft.com/office/drawing/2014/main" id="{77595B6E-5C25-F5DB-477F-D28AC3AB7D58}"/>
              </a:ext>
            </a:extLst>
          </p:cNvPr>
          <p:cNvSpPr/>
          <p:nvPr/>
        </p:nvSpPr>
        <p:spPr>
          <a:xfrm>
            <a:off x="1396796" y="4121989"/>
            <a:ext cx="759829" cy="361530"/>
          </a:xfrm>
          <a:prstGeom prst="roundRect">
            <a:avLst>
              <a:gd name="adj" fmla="val 50000"/>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a:solidFill>
                  <a:schemeClr val="tx1"/>
                </a:solidFill>
                <a:latin typeface="Assistant" pitchFamily="2" charset="-79"/>
                <a:cs typeface="Assistant" pitchFamily="2" charset="-79"/>
              </a:rPr>
              <a:t>20</a:t>
            </a:r>
            <a:endParaRPr lang="LID4096" b="1">
              <a:solidFill>
                <a:schemeClr val="tx1"/>
              </a:solidFill>
              <a:latin typeface="Assistant" pitchFamily="2" charset="-79"/>
              <a:cs typeface="Assistant" pitchFamily="2" charset="-79"/>
            </a:endParaRPr>
          </a:p>
        </p:txBody>
      </p:sp>
      <p:sp>
        <p:nvSpPr>
          <p:cNvPr id="19" name="מלבן: פינות מעוגלות 12">
            <a:extLst>
              <a:ext uri="{FF2B5EF4-FFF2-40B4-BE49-F238E27FC236}">
                <a16:creationId xmlns:a16="http://schemas.microsoft.com/office/drawing/2014/main" id="{DE1F6856-2410-3E65-B5CC-5523AC639787}"/>
              </a:ext>
            </a:extLst>
          </p:cNvPr>
          <p:cNvSpPr/>
          <p:nvPr/>
        </p:nvSpPr>
        <p:spPr>
          <a:xfrm>
            <a:off x="2440122" y="4121989"/>
            <a:ext cx="759829" cy="361530"/>
          </a:xfrm>
          <a:prstGeom prst="roundRect">
            <a:avLst>
              <a:gd name="adj" fmla="val 50000"/>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a:solidFill>
                  <a:schemeClr val="tx1"/>
                </a:solidFill>
                <a:latin typeface="Assistant" pitchFamily="2" charset="-79"/>
                <a:cs typeface="Assistant" pitchFamily="2" charset="-79"/>
              </a:rPr>
              <a:t>18</a:t>
            </a:r>
            <a:endParaRPr lang="LID4096" b="1">
              <a:solidFill>
                <a:schemeClr val="tx1"/>
              </a:solidFill>
              <a:latin typeface="Assistant" pitchFamily="2" charset="-79"/>
              <a:cs typeface="Assistant" pitchFamily="2" charset="-79"/>
            </a:endParaRPr>
          </a:p>
        </p:txBody>
      </p:sp>
      <p:pic>
        <p:nvPicPr>
          <p:cNvPr id="20" name="Graphic 19" descr="Badge Tick1 outline">
            <a:extLst>
              <a:ext uri="{FF2B5EF4-FFF2-40B4-BE49-F238E27FC236}">
                <a16:creationId xmlns:a16="http://schemas.microsoft.com/office/drawing/2014/main" id="{BFD5227E-54D2-7FC6-83B2-9F5FB9963852}"/>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787628" y="3975766"/>
            <a:ext cx="607888" cy="607888"/>
          </a:xfrm>
          <a:prstGeom prst="rect">
            <a:avLst/>
          </a:prstGeom>
        </p:spPr>
      </p:pic>
      <p:sp>
        <p:nvSpPr>
          <p:cNvPr id="2" name="תיבת טקסט 4">
            <a:extLst>
              <a:ext uri="{FF2B5EF4-FFF2-40B4-BE49-F238E27FC236}">
                <a16:creationId xmlns:a16="http://schemas.microsoft.com/office/drawing/2014/main" id="{BFF6A683-1C12-6328-C67E-975EC322F10C}"/>
              </a:ext>
            </a:extLst>
          </p:cNvPr>
          <p:cNvSpPr txBox="1"/>
          <p:nvPr/>
        </p:nvSpPr>
        <p:spPr>
          <a:xfrm>
            <a:off x="1706215" y="1296887"/>
            <a:ext cx="10109199" cy="707886"/>
          </a:xfrm>
          <a:prstGeom prst="rect">
            <a:avLst/>
          </a:prstGeom>
          <a:noFill/>
        </p:spPr>
        <p:txBody>
          <a:bodyPr wrap="square" rtlCol="0">
            <a:spAutoFit/>
          </a:bodyPr>
          <a:lstStyle/>
          <a:p>
            <a:r>
              <a:rPr lang="he-IL" sz="2000" b="1">
                <a:latin typeface="Assistant" pitchFamily="2" charset="-79"/>
                <a:cs typeface="Assistant" pitchFamily="2" charset="-79"/>
              </a:rPr>
              <a:t>קראו את התרגיל הבא. אל תפתרו אותו, רק הסתכלו על הנתונים וחישבו האם יש לכם כיוון לפתרון. </a:t>
            </a:r>
          </a:p>
          <a:p>
            <a:endParaRPr lang="he-IL" sz="2000">
              <a:latin typeface="Assistant" pitchFamily="2" charset="-79"/>
              <a:cs typeface="Assistant" pitchFamily="2" charset="-79"/>
            </a:endParaRPr>
          </a:p>
        </p:txBody>
      </p:sp>
      <p:grpSp>
        <p:nvGrpSpPr>
          <p:cNvPr id="11" name="Group 10">
            <a:extLst>
              <a:ext uri="{FF2B5EF4-FFF2-40B4-BE49-F238E27FC236}">
                <a16:creationId xmlns:a16="http://schemas.microsoft.com/office/drawing/2014/main" id="{8510D9A6-CACE-FA5C-C661-AAEFEB194010}"/>
              </a:ext>
            </a:extLst>
          </p:cNvPr>
          <p:cNvGrpSpPr/>
          <p:nvPr/>
        </p:nvGrpSpPr>
        <p:grpSpPr>
          <a:xfrm>
            <a:off x="3664832" y="1848421"/>
            <a:ext cx="8074922" cy="4063955"/>
            <a:chOff x="3987537" y="2225164"/>
            <a:chExt cx="8074922" cy="4063955"/>
          </a:xfrm>
        </p:grpSpPr>
        <p:sp>
          <p:nvSpPr>
            <p:cNvPr id="16" name="תיבת טקסט 4">
              <a:extLst>
                <a:ext uri="{FF2B5EF4-FFF2-40B4-BE49-F238E27FC236}">
                  <a16:creationId xmlns:a16="http://schemas.microsoft.com/office/drawing/2014/main" id="{51C698C5-B8AA-FF6B-474E-3805E46D76B4}"/>
                </a:ext>
              </a:extLst>
            </p:cNvPr>
            <p:cNvSpPr txBox="1"/>
            <p:nvPr/>
          </p:nvSpPr>
          <p:spPr>
            <a:xfrm>
              <a:off x="3987537" y="2386260"/>
              <a:ext cx="8074922" cy="707886"/>
            </a:xfrm>
            <a:prstGeom prst="rect">
              <a:avLst/>
            </a:prstGeom>
            <a:noFill/>
          </p:spPr>
          <p:txBody>
            <a:bodyPr wrap="square" lIns="91440" tIns="45720" rIns="91440" bIns="45720" rtlCol="0" anchor="t">
              <a:spAutoFit/>
            </a:bodyPr>
            <a:lstStyle/>
            <a:p>
              <a:r>
                <a:rPr lang="he-IL" sz="2000">
                  <a:latin typeface="Assistant"/>
                  <a:cs typeface="Assistant"/>
                </a:rPr>
                <a:t>לאורי ודן יש  56 גולות. היחס בין כמות הגולות האדומות לבין כמות הגולות הכחולות </a:t>
              </a:r>
              <a:endParaRPr lang="he-IL">
                <a:latin typeface="Aptos" panose="02110004020202020204"/>
                <a:cs typeface="Arial" panose="020B0604020202020204" pitchFamily="34" charset="0"/>
              </a:endParaRPr>
            </a:p>
            <a:p>
              <a:r>
                <a:rPr lang="he-IL" sz="2000">
                  <a:latin typeface="Assistant"/>
                  <a:cs typeface="Assistant"/>
                </a:rPr>
                <a:t>הוא 5 : 2 . אורי קיבל את הגולות האדומות ודן קיבל את הגולות הכחולות.</a:t>
              </a:r>
              <a:endParaRPr lang="he-IL">
                <a:cs typeface="Arial"/>
              </a:endParaRPr>
            </a:p>
          </p:txBody>
        </p:sp>
        <p:sp>
          <p:nvSpPr>
            <p:cNvPr id="23" name="Rectangle 22">
              <a:extLst>
                <a:ext uri="{FF2B5EF4-FFF2-40B4-BE49-F238E27FC236}">
                  <a16:creationId xmlns:a16="http://schemas.microsoft.com/office/drawing/2014/main" id="{B61E7FC8-8845-ECE7-89FF-2B201A0B3C3C}"/>
                </a:ext>
              </a:extLst>
            </p:cNvPr>
            <p:cNvSpPr/>
            <p:nvPr/>
          </p:nvSpPr>
          <p:spPr>
            <a:xfrm>
              <a:off x="4134264" y="2225164"/>
              <a:ext cx="7900449" cy="4063955"/>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grpSp>
    </p:spTree>
    <p:custDataLst>
      <p:tags r:id="rId1"/>
    </p:custDataLst>
    <p:extLst>
      <p:ext uri="{BB962C8B-B14F-4D97-AF65-F5344CB8AC3E}">
        <p14:creationId xmlns:p14="http://schemas.microsoft.com/office/powerpoint/2010/main" val="326082434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F75B5D-6998-B20F-BBAF-71043BC71675}"/>
            </a:ext>
          </a:extLst>
        </p:cNvPr>
        <p:cNvGrpSpPr/>
        <p:nvPr/>
      </p:nvGrpSpPr>
      <p:grpSpPr>
        <a:xfrm>
          <a:off x="0" y="0"/>
          <a:ext cx="0" cy="0"/>
          <a:chOff x="0" y="0"/>
          <a:chExt cx="0" cy="0"/>
        </a:xfrm>
      </p:grpSpPr>
      <p:cxnSp>
        <p:nvCxnSpPr>
          <p:cNvPr id="7" name="מחבר ישר 6">
            <a:extLst>
              <a:ext uri="{FF2B5EF4-FFF2-40B4-BE49-F238E27FC236}">
                <a16:creationId xmlns:a16="http://schemas.microsoft.com/office/drawing/2014/main" id="{071BF95A-3C77-EC23-401D-2452475E34A7}"/>
              </a:ext>
            </a:extLst>
          </p:cNvPr>
          <p:cNvCxnSpPr>
            <a:cxnSpLocks/>
          </p:cNvCxnSpPr>
          <p:nvPr/>
        </p:nvCxnSpPr>
        <p:spPr>
          <a:xfrm>
            <a:off x="0" y="6079252"/>
            <a:ext cx="12192000" cy="0"/>
          </a:xfrm>
          <a:prstGeom prst="line">
            <a:avLst/>
          </a:prstGeom>
          <a:ln>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8" name="תיבת טקסט 3">
            <a:extLst>
              <a:ext uri="{FF2B5EF4-FFF2-40B4-BE49-F238E27FC236}">
                <a16:creationId xmlns:a16="http://schemas.microsoft.com/office/drawing/2014/main" id="{64BC4615-057E-2444-15CF-ECFA879BD037}"/>
              </a:ext>
            </a:extLst>
          </p:cNvPr>
          <p:cNvSpPr txBox="1"/>
          <p:nvPr/>
        </p:nvSpPr>
        <p:spPr>
          <a:xfrm>
            <a:off x="2120425" y="495079"/>
            <a:ext cx="8271803" cy="707886"/>
          </a:xfrm>
          <a:prstGeom prst="rect">
            <a:avLst/>
          </a:prstGeom>
          <a:noFill/>
        </p:spPr>
        <p:txBody>
          <a:bodyPr wrap="square" rtlCol="0">
            <a:spAutoFit/>
          </a:bodyPr>
          <a:lstStyle/>
          <a:p>
            <a:pPr algn="ctr"/>
            <a:r>
              <a:rPr lang="he-IL" sz="4000" b="1">
                <a:latin typeface="Assistant" pitchFamily="2" charset="-79"/>
                <a:cs typeface="Assistant" pitchFamily="2" charset="-79"/>
              </a:rPr>
              <a:t>יחס – בואו נפתור תרגיל ראשון יחד</a:t>
            </a:r>
            <a:endParaRPr lang="LID4096" sz="4000" b="1">
              <a:latin typeface="Assistant" pitchFamily="2" charset="-79"/>
              <a:cs typeface="Assistant" pitchFamily="2" charset="-79"/>
            </a:endParaRPr>
          </a:p>
        </p:txBody>
      </p:sp>
      <p:pic>
        <p:nvPicPr>
          <p:cNvPr id="41" name="תמונה 3">
            <a:extLst>
              <a:ext uri="{FF2B5EF4-FFF2-40B4-BE49-F238E27FC236}">
                <a16:creationId xmlns:a16="http://schemas.microsoft.com/office/drawing/2014/main" id="{8DF1EA7C-D4B7-0C73-6694-9857BEFDB395}"/>
              </a:ext>
            </a:extLst>
          </p:cNvPr>
          <p:cNvPicPr>
            <a:picLocks noChangeAspect="1"/>
          </p:cNvPicPr>
          <p:nvPr/>
        </p:nvPicPr>
        <p:blipFill>
          <a:blip r:embed="rId4">
            <a:extLst>
              <a:ext uri="{28A0092B-C50C-407E-A947-70E740481C1C}">
                <a14:useLocalDpi xmlns:a14="http://schemas.microsoft.com/office/drawing/2010/main"/>
              </a:ext>
            </a:extLst>
          </a:blip>
          <a:stretch>
            <a:fillRect/>
          </a:stretch>
        </p:blipFill>
        <p:spPr>
          <a:xfrm>
            <a:off x="223129" y="6246129"/>
            <a:ext cx="1777778" cy="495238"/>
          </a:xfrm>
          <a:prstGeom prst="rect">
            <a:avLst/>
          </a:prstGeom>
        </p:spPr>
      </p:pic>
      <p:sp>
        <p:nvSpPr>
          <p:cNvPr id="21" name="תיבת טקסט 13">
            <a:extLst>
              <a:ext uri="{FF2B5EF4-FFF2-40B4-BE49-F238E27FC236}">
                <a16:creationId xmlns:a16="http://schemas.microsoft.com/office/drawing/2014/main" id="{1EA37673-0F0F-5D0B-4CB6-DEC7C37C5CB4}"/>
              </a:ext>
            </a:extLst>
          </p:cNvPr>
          <p:cNvSpPr txBox="1"/>
          <p:nvPr/>
        </p:nvSpPr>
        <p:spPr>
          <a:xfrm>
            <a:off x="8337865" y="2966488"/>
            <a:ext cx="2911516" cy="369332"/>
          </a:xfrm>
          <a:prstGeom prst="rect">
            <a:avLst/>
          </a:prstGeom>
          <a:noFill/>
        </p:spPr>
        <p:txBody>
          <a:bodyPr wrap="square">
            <a:spAutoFit/>
          </a:bodyPr>
          <a:lstStyle/>
          <a:p>
            <a:r>
              <a:rPr lang="he-IL">
                <a:latin typeface="Assistant" pitchFamily="2" charset="-79"/>
                <a:cs typeface="Assistant" pitchFamily="2" charset="-79"/>
              </a:rPr>
              <a:t>א. איזה חלק מהגולות קיבל אורי?</a:t>
            </a:r>
            <a:endParaRPr lang="LID4096">
              <a:latin typeface="Assistant" pitchFamily="2" charset="-79"/>
              <a:cs typeface="Assistant" pitchFamily="2" charset="-79"/>
            </a:endParaRPr>
          </a:p>
        </p:txBody>
      </p:sp>
      <p:sp>
        <p:nvSpPr>
          <p:cNvPr id="6" name="תיבת טקסט 13">
            <a:extLst>
              <a:ext uri="{FF2B5EF4-FFF2-40B4-BE49-F238E27FC236}">
                <a16:creationId xmlns:a16="http://schemas.microsoft.com/office/drawing/2014/main" id="{80C34099-0748-AD6D-6D9F-B7E2725C665C}"/>
              </a:ext>
            </a:extLst>
          </p:cNvPr>
          <p:cNvSpPr txBox="1"/>
          <p:nvPr/>
        </p:nvSpPr>
        <p:spPr>
          <a:xfrm>
            <a:off x="8505000" y="3752293"/>
            <a:ext cx="2744381" cy="369332"/>
          </a:xfrm>
          <a:prstGeom prst="rect">
            <a:avLst/>
          </a:prstGeom>
          <a:noFill/>
        </p:spPr>
        <p:txBody>
          <a:bodyPr wrap="square">
            <a:spAutoFit/>
          </a:bodyPr>
          <a:lstStyle/>
          <a:p>
            <a:r>
              <a:rPr lang="he-IL">
                <a:latin typeface="Assistant" pitchFamily="2" charset="-79"/>
                <a:cs typeface="Assistant" pitchFamily="2" charset="-79"/>
              </a:rPr>
              <a:t>ב. איזה חלק מהגולות קיבל דן?</a:t>
            </a:r>
            <a:endParaRPr lang="LID4096" sz="2000">
              <a:latin typeface="Assistant" pitchFamily="2" charset="-79"/>
              <a:cs typeface="Assistant" pitchFamily="2" charset="-79"/>
            </a:endParaRPr>
          </a:p>
        </p:txBody>
      </p:sp>
      <mc:AlternateContent xmlns:mc="http://schemas.openxmlformats.org/markup-compatibility/2006" xmlns:a14="http://schemas.microsoft.com/office/drawing/2010/main">
        <mc:Choice Requires="a14">
          <p:sp>
            <p:nvSpPr>
              <p:cNvPr id="5" name="מלבן: פינות מעוגלות 6">
                <a:extLst>
                  <a:ext uri="{FF2B5EF4-FFF2-40B4-BE49-F238E27FC236}">
                    <a16:creationId xmlns:a16="http://schemas.microsoft.com/office/drawing/2014/main" id="{4D63E362-E2B5-7FC8-7079-DE1A490A9402}"/>
                  </a:ext>
                </a:extLst>
              </p:cNvPr>
              <p:cNvSpPr/>
              <p:nvPr/>
            </p:nvSpPr>
            <p:spPr>
              <a:xfrm>
                <a:off x="7310120" y="2794395"/>
                <a:ext cx="774718" cy="713518"/>
              </a:xfrm>
              <a:prstGeom prst="roundRect">
                <a:avLst>
                  <a:gd name="adj" fmla="val 1764"/>
                </a:avLst>
              </a:prstGeom>
              <a:noFill/>
              <a:ln w="12700">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
                    </m:oMathParaPr>
                    <m:oMath>
                      <m:f>
                        <m:fPr>
                          <m:ctrlPr>
                            <a:rPr lang="en-US" i="1">
                              <a:solidFill>
                                <a:schemeClr val="tx1"/>
                              </a:solidFill>
                              <a:latin typeface="Cambria Math" panose="02040503050406030204" pitchFamily="18" charset="0"/>
                            </a:rPr>
                          </m:ctrlPr>
                        </m:fPr>
                        <m:num>
                          <m:r>
                            <a:rPr lang="en-US" i="1">
                              <a:solidFill>
                                <a:schemeClr val="tx1"/>
                              </a:solidFill>
                              <a:latin typeface="Cambria Math" panose="02040503050406030204" pitchFamily="18" charset="0"/>
                            </a:rPr>
                            <m:t>2</m:t>
                          </m:r>
                        </m:num>
                        <m:den>
                          <m:r>
                            <a:rPr lang="en-US" i="1">
                              <a:solidFill>
                                <a:schemeClr val="tx1"/>
                              </a:solidFill>
                              <a:latin typeface="Cambria Math" panose="02040503050406030204" pitchFamily="18" charset="0"/>
                            </a:rPr>
                            <m:t>7</m:t>
                          </m:r>
                        </m:den>
                      </m:f>
                    </m:oMath>
                  </m:oMathPara>
                </a14:m>
                <a:endParaRPr lang="LID4096" sz="2000">
                  <a:solidFill>
                    <a:schemeClr val="tx1"/>
                  </a:solidFill>
                </a:endParaRPr>
              </a:p>
            </p:txBody>
          </p:sp>
        </mc:Choice>
        <mc:Fallback xmlns="">
          <p:sp>
            <p:nvSpPr>
              <p:cNvPr id="5" name="מלבן: פינות מעוגלות 6">
                <a:extLst>
                  <a:ext uri="{FF2B5EF4-FFF2-40B4-BE49-F238E27FC236}">
                    <a16:creationId xmlns:a16="http://schemas.microsoft.com/office/drawing/2014/main" id="{4D63E362-E2B5-7FC8-7079-DE1A490A9402}"/>
                  </a:ext>
                </a:extLst>
              </p:cNvPr>
              <p:cNvSpPr>
                <a:spLocks noRot="1" noChangeAspect="1" noMove="1" noResize="1" noEditPoints="1" noAdjustHandles="1" noChangeArrowheads="1" noChangeShapeType="1" noTextEdit="1"/>
              </p:cNvSpPr>
              <p:nvPr/>
            </p:nvSpPr>
            <p:spPr>
              <a:xfrm>
                <a:off x="7310120" y="2794395"/>
                <a:ext cx="774718" cy="713518"/>
              </a:xfrm>
              <a:prstGeom prst="roundRect">
                <a:avLst>
                  <a:gd name="adj" fmla="val 1764"/>
                </a:avLst>
              </a:prstGeom>
              <a:blipFill>
                <a:blip r:embed="rId5"/>
                <a:stretch>
                  <a:fillRect/>
                </a:stretch>
              </a:blipFill>
              <a:ln w="12700">
                <a:solidFill>
                  <a:srgbClr val="00B0F0"/>
                </a:solidFill>
              </a:ln>
            </p:spPr>
            <p:txBody>
              <a:bodyPr/>
              <a:lstStyle/>
              <a:p>
                <a:r>
                  <a:rPr lang="en-US">
                    <a:noFill/>
                  </a:rPr>
                  <a:t> </a:t>
                </a:r>
              </a:p>
            </p:txBody>
          </p:sp>
        </mc:Fallback>
      </mc:AlternateContent>
      <p:sp>
        <p:nvSpPr>
          <p:cNvPr id="48" name="מלבן: פינות מעוגלות 6">
            <a:extLst>
              <a:ext uri="{FF2B5EF4-FFF2-40B4-BE49-F238E27FC236}">
                <a16:creationId xmlns:a16="http://schemas.microsoft.com/office/drawing/2014/main" id="{1317B038-A444-73DD-404D-73954EA56245}"/>
              </a:ext>
            </a:extLst>
          </p:cNvPr>
          <p:cNvSpPr/>
          <p:nvPr/>
        </p:nvSpPr>
        <p:spPr>
          <a:xfrm>
            <a:off x="7162800" y="5187094"/>
            <a:ext cx="1069358" cy="485548"/>
          </a:xfrm>
          <a:prstGeom prst="roundRect">
            <a:avLst>
              <a:gd name="adj" fmla="val 1764"/>
            </a:avLst>
          </a:prstGeom>
          <a:noFill/>
          <a:ln w="12700">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LID4096" sz="2000">
              <a:solidFill>
                <a:schemeClr val="tx1"/>
              </a:solidFill>
            </a:endParaRPr>
          </a:p>
        </p:txBody>
      </p:sp>
      <p:grpSp>
        <p:nvGrpSpPr>
          <p:cNvPr id="3" name="Group 2">
            <a:extLst>
              <a:ext uri="{FF2B5EF4-FFF2-40B4-BE49-F238E27FC236}">
                <a16:creationId xmlns:a16="http://schemas.microsoft.com/office/drawing/2014/main" id="{2ABABAC2-6215-BDFC-4931-3F1CB2712286}"/>
              </a:ext>
            </a:extLst>
          </p:cNvPr>
          <p:cNvGrpSpPr/>
          <p:nvPr/>
        </p:nvGrpSpPr>
        <p:grpSpPr>
          <a:xfrm>
            <a:off x="223131" y="2214184"/>
            <a:ext cx="3125805" cy="2400574"/>
            <a:chOff x="5958055" y="4211289"/>
            <a:chExt cx="4791118" cy="3736788"/>
          </a:xfrm>
        </p:grpSpPr>
        <p:sp>
          <p:nvSpPr>
            <p:cNvPr id="4" name="מלבן: פינות מעוגלות 2">
              <a:extLst>
                <a:ext uri="{FF2B5EF4-FFF2-40B4-BE49-F238E27FC236}">
                  <a16:creationId xmlns:a16="http://schemas.microsoft.com/office/drawing/2014/main" id="{3C886826-923A-BEF7-AD84-F96F8A35B94D}"/>
                </a:ext>
              </a:extLst>
            </p:cNvPr>
            <p:cNvSpPr/>
            <p:nvPr/>
          </p:nvSpPr>
          <p:spPr>
            <a:xfrm>
              <a:off x="5958055" y="4211289"/>
              <a:ext cx="4791118" cy="3736788"/>
            </a:xfrm>
            <a:prstGeom prst="roundRect">
              <a:avLst>
                <a:gd name="adj" fmla="val 8509"/>
              </a:avLst>
            </a:prstGeom>
            <a:solidFill>
              <a:srgbClr val="00B0F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LID4096"/>
            </a:p>
          </p:txBody>
        </p:sp>
        <mc:AlternateContent xmlns:mc="http://schemas.openxmlformats.org/markup-compatibility/2006" xmlns:a14="http://schemas.microsoft.com/office/drawing/2010/main">
          <mc:Choice Requires="a14">
            <p:sp>
              <p:nvSpPr>
                <p:cNvPr id="10" name="תיבת טקסט 5">
                  <a:extLst>
                    <a:ext uri="{FF2B5EF4-FFF2-40B4-BE49-F238E27FC236}">
                      <a16:creationId xmlns:a16="http://schemas.microsoft.com/office/drawing/2014/main" id="{DB0E4241-5A6C-C670-0CCF-A8806568A0C1}"/>
                    </a:ext>
                  </a:extLst>
                </p:cNvPr>
                <p:cNvSpPr txBox="1"/>
                <p:nvPr/>
              </p:nvSpPr>
              <p:spPr>
                <a:xfrm>
                  <a:off x="6176671" y="4537190"/>
                  <a:ext cx="4441691" cy="2239157"/>
                </a:xfrm>
                <a:prstGeom prst="rect">
                  <a:avLst/>
                </a:prstGeom>
                <a:noFill/>
              </p:spPr>
              <p:txBody>
                <a:bodyPr wrap="square" rtlCol="0">
                  <a:spAutoFit/>
                </a:bodyPr>
                <a:lstStyle/>
                <a:p>
                  <a:r>
                    <a:rPr lang="he-IL">
                      <a:solidFill>
                        <a:schemeClr val="bg1"/>
                      </a:solidFill>
                      <a:latin typeface="Assistant" pitchFamily="2" charset="-79"/>
                      <a:cs typeface="Assistant" pitchFamily="2" charset="-79"/>
                    </a:rPr>
                    <a:t>אורי קיבל 16 גולות.</a:t>
                  </a:r>
                </a:p>
                <a:p>
                  <a:r>
                    <a:rPr lang="he-IL">
                      <a:solidFill>
                        <a:schemeClr val="bg1"/>
                      </a:solidFill>
                      <a:latin typeface="Assistant" pitchFamily="2" charset="-79"/>
                      <a:cs typeface="Assistant" pitchFamily="2" charset="-79"/>
                    </a:rPr>
                    <a:t>ד. אם לדן יש  </a:t>
                  </a:r>
                  <a14:m>
                    <m:oMath xmlns:m="http://schemas.openxmlformats.org/officeDocument/2006/math">
                      <m:f>
                        <m:fPr>
                          <m:ctrlPr>
                            <a:rPr lang="en-US" b="0" i="1" smtClean="0">
                              <a:solidFill>
                                <a:schemeClr val="bg1"/>
                              </a:solidFill>
                              <a:latin typeface="Cambria Math" panose="02040503050406030204" pitchFamily="18" charset="0"/>
                            </a:rPr>
                          </m:ctrlPr>
                        </m:fPr>
                        <m:num>
                          <m:r>
                            <a:rPr lang="en-US" b="0" i="1" smtClean="0">
                              <a:solidFill>
                                <a:schemeClr val="bg1"/>
                              </a:solidFill>
                              <a:latin typeface="Cambria Math" panose="02040503050406030204" pitchFamily="18" charset="0"/>
                            </a:rPr>
                            <m:t>5</m:t>
                          </m:r>
                        </m:num>
                        <m:den>
                          <m:r>
                            <a:rPr lang="en-US" i="1">
                              <a:solidFill>
                                <a:schemeClr val="bg1"/>
                              </a:solidFill>
                              <a:latin typeface="Cambria Math" panose="02040503050406030204" pitchFamily="18" charset="0"/>
                            </a:rPr>
                            <m:t>7</m:t>
                          </m:r>
                        </m:den>
                      </m:f>
                    </m:oMath>
                  </a14:m>
                  <a:r>
                    <a:rPr lang="he-IL">
                      <a:solidFill>
                        <a:schemeClr val="bg1"/>
                      </a:solidFill>
                      <a:latin typeface="Assistant" pitchFamily="2" charset="-79"/>
                      <a:cs typeface="Assistant" pitchFamily="2" charset="-79"/>
                    </a:rPr>
                    <a:t>  מהגולות, ויש סה"כ </a:t>
                  </a:r>
                  <a:r>
                    <a:rPr lang="en-US">
                      <a:solidFill>
                        <a:schemeClr val="bg1"/>
                      </a:solidFill>
                      <a:latin typeface="Assistant" pitchFamily="2" charset="-79"/>
                      <a:cs typeface="Assistant" pitchFamily="2" charset="-79"/>
                    </a:rPr>
                    <a:t>56</a:t>
                  </a:r>
                  <a:r>
                    <a:rPr lang="he-IL">
                      <a:solidFill>
                        <a:schemeClr val="bg1"/>
                      </a:solidFill>
                      <a:latin typeface="Assistant" pitchFamily="2" charset="-79"/>
                      <a:cs typeface="Assistant" pitchFamily="2" charset="-79"/>
                    </a:rPr>
                    <a:t> גולות, אז נוכל לחשב</a:t>
                  </a:r>
                </a:p>
                <a:p>
                  <a:r>
                    <a:rPr lang="he-IL">
                      <a:solidFill>
                        <a:schemeClr val="bg1"/>
                      </a:solidFill>
                      <a:latin typeface="Assistant" pitchFamily="2" charset="-79"/>
                      <a:cs typeface="Assistant" pitchFamily="2" charset="-79"/>
                    </a:rPr>
                    <a:t> </a:t>
                  </a:r>
                  <a14:m>
                    <m:oMath xmlns:m="http://schemas.openxmlformats.org/officeDocument/2006/math">
                      <m:f>
                        <m:fPr>
                          <m:ctrlPr>
                            <a:rPr lang="en-US" b="0" i="1" smtClean="0">
                              <a:solidFill>
                                <a:schemeClr val="bg1"/>
                              </a:solidFill>
                              <a:latin typeface="Cambria Math" panose="02040503050406030204" pitchFamily="18" charset="0"/>
                            </a:rPr>
                          </m:ctrlPr>
                        </m:fPr>
                        <m:num>
                          <m:r>
                            <a:rPr lang="en-US" b="0" i="1" smtClean="0">
                              <a:solidFill>
                                <a:schemeClr val="bg1"/>
                              </a:solidFill>
                              <a:latin typeface="Cambria Math" panose="02040503050406030204" pitchFamily="18" charset="0"/>
                            </a:rPr>
                            <m:t>5</m:t>
                          </m:r>
                        </m:num>
                        <m:den>
                          <m:r>
                            <a:rPr lang="en-US" i="1">
                              <a:solidFill>
                                <a:schemeClr val="bg1"/>
                              </a:solidFill>
                              <a:latin typeface="Cambria Math" panose="02040503050406030204" pitchFamily="18" charset="0"/>
                            </a:rPr>
                            <m:t>7</m:t>
                          </m:r>
                        </m:den>
                      </m:f>
                      <m:r>
                        <a:rPr lang="en-US" i="1">
                          <a:solidFill>
                            <a:schemeClr val="bg1"/>
                          </a:solidFill>
                          <a:latin typeface="Cambria Math" panose="02040503050406030204" pitchFamily="18" charset="0"/>
                        </a:rPr>
                        <m:t>⋅56= </m:t>
                      </m:r>
                      <m:r>
                        <a:rPr lang="en-US" b="1" i="1" smtClean="0">
                          <a:solidFill>
                            <a:schemeClr val="bg1"/>
                          </a:solidFill>
                          <a:latin typeface="Cambria Math" panose="02040503050406030204" pitchFamily="18" charset="0"/>
                        </a:rPr>
                        <m:t>?</m:t>
                      </m:r>
                      <m:r>
                        <a:rPr lang="en-US" i="1">
                          <a:solidFill>
                            <a:schemeClr val="bg1"/>
                          </a:solidFill>
                          <a:latin typeface="Cambria Math" panose="02040503050406030204" pitchFamily="18" charset="0"/>
                        </a:rPr>
                        <m:t> </m:t>
                      </m:r>
                    </m:oMath>
                  </a14:m>
                  <a:endParaRPr lang="en-US">
                    <a:solidFill>
                      <a:schemeClr val="bg1"/>
                    </a:solidFill>
                    <a:latin typeface="Assistant" pitchFamily="2" charset="-79"/>
                    <a:cs typeface="Assistant" pitchFamily="2" charset="-79"/>
                  </a:endParaRPr>
                </a:p>
              </p:txBody>
            </p:sp>
          </mc:Choice>
          <mc:Fallback xmlns="">
            <p:sp>
              <p:nvSpPr>
                <p:cNvPr id="10" name="תיבת טקסט 5">
                  <a:extLst>
                    <a:ext uri="{FF2B5EF4-FFF2-40B4-BE49-F238E27FC236}">
                      <a16:creationId xmlns:a16="http://schemas.microsoft.com/office/drawing/2014/main" id="{DB0E4241-5A6C-C670-0CCF-A8806568A0C1}"/>
                    </a:ext>
                  </a:extLst>
                </p:cNvPr>
                <p:cNvSpPr txBox="1">
                  <a:spLocks noRot="1" noChangeAspect="1" noMove="1" noResize="1" noEditPoints="1" noAdjustHandles="1" noChangeArrowheads="1" noChangeShapeType="1" noTextEdit="1"/>
                </p:cNvSpPr>
                <p:nvPr/>
              </p:nvSpPr>
              <p:spPr>
                <a:xfrm>
                  <a:off x="6176671" y="4537190"/>
                  <a:ext cx="4441691" cy="2239157"/>
                </a:xfrm>
                <a:prstGeom prst="rect">
                  <a:avLst/>
                </a:prstGeom>
                <a:blipFill>
                  <a:blip r:embed="rId6"/>
                  <a:stretch>
                    <a:fillRect t="-2542" r="-1684" b="-2119"/>
                  </a:stretch>
                </a:blipFill>
              </p:spPr>
              <p:txBody>
                <a:bodyPr/>
                <a:lstStyle/>
                <a:p>
                  <a:r>
                    <a:rPr lang="en-US">
                      <a:noFill/>
                    </a:rPr>
                    <a:t> </a:t>
                  </a:r>
                </a:p>
              </p:txBody>
            </p:sp>
          </mc:Fallback>
        </mc:AlternateContent>
      </p:grpSp>
      <p:sp>
        <p:nvSpPr>
          <p:cNvPr id="14" name="מלבן: פינות מעוגלות 12">
            <a:extLst>
              <a:ext uri="{FF2B5EF4-FFF2-40B4-BE49-F238E27FC236}">
                <a16:creationId xmlns:a16="http://schemas.microsoft.com/office/drawing/2014/main" id="{3B3AA17A-44DD-20C8-326E-2F4861984389}"/>
              </a:ext>
            </a:extLst>
          </p:cNvPr>
          <p:cNvSpPr/>
          <p:nvPr/>
        </p:nvSpPr>
        <p:spPr>
          <a:xfrm>
            <a:off x="352189" y="4067398"/>
            <a:ext cx="759829" cy="361530"/>
          </a:xfrm>
          <a:prstGeom prst="roundRect">
            <a:avLst>
              <a:gd name="adj" fmla="val 50000"/>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a:solidFill>
                  <a:schemeClr val="tx1"/>
                </a:solidFill>
                <a:latin typeface="Assistant" pitchFamily="2" charset="-79"/>
                <a:cs typeface="Assistant" pitchFamily="2" charset="-79"/>
              </a:rPr>
              <a:t>39</a:t>
            </a:r>
            <a:endParaRPr lang="LID4096" b="1">
              <a:solidFill>
                <a:schemeClr val="tx1"/>
              </a:solidFill>
              <a:latin typeface="Assistant" pitchFamily="2" charset="-79"/>
              <a:cs typeface="Assistant" pitchFamily="2" charset="-79"/>
            </a:endParaRPr>
          </a:p>
        </p:txBody>
      </p:sp>
      <mc:AlternateContent xmlns:mc="http://schemas.openxmlformats.org/markup-compatibility/2006" xmlns:a14="http://schemas.microsoft.com/office/drawing/2010/main">
        <mc:Choice Requires="a14">
          <p:sp>
            <p:nvSpPr>
              <p:cNvPr id="24" name="מלבן: פינות מעוגלות 6">
                <a:extLst>
                  <a:ext uri="{FF2B5EF4-FFF2-40B4-BE49-F238E27FC236}">
                    <a16:creationId xmlns:a16="http://schemas.microsoft.com/office/drawing/2014/main" id="{272FAA4D-59FD-1C9D-F1B5-4CA933EAC615}"/>
                  </a:ext>
                </a:extLst>
              </p:cNvPr>
              <p:cNvSpPr/>
              <p:nvPr/>
            </p:nvSpPr>
            <p:spPr>
              <a:xfrm>
                <a:off x="7310120" y="3628221"/>
                <a:ext cx="774718" cy="713518"/>
              </a:xfrm>
              <a:prstGeom prst="roundRect">
                <a:avLst>
                  <a:gd name="adj" fmla="val 1764"/>
                </a:avLst>
              </a:prstGeom>
              <a:noFill/>
              <a:ln w="12700">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
                    </m:oMathParaPr>
                    <m:oMath>
                      <m:f>
                        <m:fPr>
                          <m:ctrlPr>
                            <a:rPr lang="en-US" b="0" i="1" smtClean="0">
                              <a:solidFill>
                                <a:schemeClr val="tx1"/>
                              </a:solidFill>
                              <a:latin typeface="Cambria Math" panose="02040503050406030204" pitchFamily="18" charset="0"/>
                            </a:rPr>
                          </m:ctrlPr>
                        </m:fPr>
                        <m:num>
                          <m:r>
                            <a:rPr lang="en-US" b="0" i="1" smtClean="0">
                              <a:solidFill>
                                <a:schemeClr val="tx1"/>
                              </a:solidFill>
                              <a:latin typeface="Cambria Math" panose="02040503050406030204" pitchFamily="18" charset="0"/>
                            </a:rPr>
                            <m:t>5</m:t>
                          </m:r>
                        </m:num>
                        <m:den>
                          <m:r>
                            <a:rPr lang="en-US" i="1">
                              <a:solidFill>
                                <a:schemeClr val="tx1"/>
                              </a:solidFill>
                              <a:latin typeface="Cambria Math" panose="02040503050406030204" pitchFamily="18" charset="0"/>
                            </a:rPr>
                            <m:t>7</m:t>
                          </m:r>
                        </m:den>
                      </m:f>
                    </m:oMath>
                  </m:oMathPara>
                </a14:m>
                <a:endParaRPr lang="LID4096" sz="2000">
                  <a:solidFill>
                    <a:schemeClr val="tx1"/>
                  </a:solidFill>
                </a:endParaRPr>
              </a:p>
            </p:txBody>
          </p:sp>
        </mc:Choice>
        <mc:Fallback xmlns="">
          <p:sp>
            <p:nvSpPr>
              <p:cNvPr id="24" name="מלבן: פינות מעוגלות 6">
                <a:extLst>
                  <a:ext uri="{FF2B5EF4-FFF2-40B4-BE49-F238E27FC236}">
                    <a16:creationId xmlns:a16="http://schemas.microsoft.com/office/drawing/2014/main" id="{272FAA4D-59FD-1C9D-F1B5-4CA933EAC615}"/>
                  </a:ext>
                </a:extLst>
              </p:cNvPr>
              <p:cNvSpPr>
                <a:spLocks noRot="1" noChangeAspect="1" noMove="1" noResize="1" noEditPoints="1" noAdjustHandles="1" noChangeArrowheads="1" noChangeShapeType="1" noTextEdit="1"/>
              </p:cNvSpPr>
              <p:nvPr/>
            </p:nvSpPr>
            <p:spPr>
              <a:xfrm>
                <a:off x="7310120" y="3628221"/>
                <a:ext cx="774718" cy="713518"/>
              </a:xfrm>
              <a:prstGeom prst="roundRect">
                <a:avLst>
                  <a:gd name="adj" fmla="val 1764"/>
                </a:avLst>
              </a:prstGeom>
              <a:blipFill>
                <a:blip r:embed="rId7"/>
                <a:stretch>
                  <a:fillRect/>
                </a:stretch>
              </a:blipFill>
              <a:ln w="12700">
                <a:solidFill>
                  <a:srgbClr val="00B0F0"/>
                </a:solidFill>
              </a:ln>
            </p:spPr>
            <p:txBody>
              <a:bodyPr/>
              <a:lstStyle/>
              <a:p>
                <a:r>
                  <a:rPr lang="en-US">
                    <a:noFill/>
                  </a:rPr>
                  <a:t> </a:t>
                </a:r>
              </a:p>
            </p:txBody>
          </p:sp>
        </mc:Fallback>
      </mc:AlternateContent>
      <p:sp>
        <p:nvSpPr>
          <p:cNvPr id="25" name="תיבת טקסט 13">
            <a:extLst>
              <a:ext uri="{FF2B5EF4-FFF2-40B4-BE49-F238E27FC236}">
                <a16:creationId xmlns:a16="http://schemas.microsoft.com/office/drawing/2014/main" id="{56BCAE63-0401-4B10-79BD-DD6D0A2C64D3}"/>
              </a:ext>
            </a:extLst>
          </p:cNvPr>
          <p:cNvSpPr txBox="1"/>
          <p:nvPr/>
        </p:nvSpPr>
        <p:spPr>
          <a:xfrm>
            <a:off x="8717280" y="4614759"/>
            <a:ext cx="2532101" cy="369332"/>
          </a:xfrm>
          <a:prstGeom prst="rect">
            <a:avLst/>
          </a:prstGeom>
          <a:noFill/>
        </p:spPr>
        <p:txBody>
          <a:bodyPr wrap="square">
            <a:spAutoFit/>
          </a:bodyPr>
          <a:lstStyle/>
          <a:p>
            <a:r>
              <a:rPr lang="he-IL">
                <a:latin typeface="Assistant" pitchFamily="2" charset="-79"/>
                <a:cs typeface="Assistant" pitchFamily="2" charset="-79"/>
              </a:rPr>
              <a:t>ג. כמה גולות קיבל אורי?</a:t>
            </a:r>
            <a:endParaRPr lang="LID4096" sz="2000">
              <a:latin typeface="Assistant" pitchFamily="2" charset="-79"/>
              <a:cs typeface="Assistant" pitchFamily="2" charset="-79"/>
            </a:endParaRPr>
          </a:p>
        </p:txBody>
      </p:sp>
      <p:sp>
        <p:nvSpPr>
          <p:cNvPr id="27" name="תיבת טקסט 13">
            <a:extLst>
              <a:ext uri="{FF2B5EF4-FFF2-40B4-BE49-F238E27FC236}">
                <a16:creationId xmlns:a16="http://schemas.microsoft.com/office/drawing/2014/main" id="{CCD465E3-B7FE-4C47-E9D7-A544BCD6C156}"/>
              </a:ext>
            </a:extLst>
          </p:cNvPr>
          <p:cNvSpPr txBox="1"/>
          <p:nvPr/>
        </p:nvSpPr>
        <p:spPr>
          <a:xfrm>
            <a:off x="8900160" y="5187094"/>
            <a:ext cx="2349221" cy="369332"/>
          </a:xfrm>
          <a:prstGeom prst="rect">
            <a:avLst/>
          </a:prstGeom>
          <a:noFill/>
        </p:spPr>
        <p:txBody>
          <a:bodyPr wrap="square">
            <a:spAutoFit/>
          </a:bodyPr>
          <a:lstStyle/>
          <a:p>
            <a:r>
              <a:rPr lang="he-IL">
                <a:latin typeface="Assistant" pitchFamily="2" charset="-79"/>
                <a:cs typeface="Assistant" pitchFamily="2" charset="-79"/>
              </a:rPr>
              <a:t>ד. כמה גולות קיבל דן?</a:t>
            </a:r>
            <a:endParaRPr lang="LID4096" sz="2000">
              <a:latin typeface="Assistant" pitchFamily="2" charset="-79"/>
              <a:cs typeface="Assistant" pitchFamily="2" charset="-79"/>
            </a:endParaRPr>
          </a:p>
        </p:txBody>
      </p:sp>
      <p:sp>
        <p:nvSpPr>
          <p:cNvPr id="30" name="מלבן: פינות מעוגלות 6">
            <a:extLst>
              <a:ext uri="{FF2B5EF4-FFF2-40B4-BE49-F238E27FC236}">
                <a16:creationId xmlns:a16="http://schemas.microsoft.com/office/drawing/2014/main" id="{7A1555B9-3E97-B034-C81A-A584A922B6A1}"/>
              </a:ext>
            </a:extLst>
          </p:cNvPr>
          <p:cNvSpPr/>
          <p:nvPr/>
        </p:nvSpPr>
        <p:spPr>
          <a:xfrm>
            <a:off x="7162800" y="4513936"/>
            <a:ext cx="1069358" cy="485548"/>
          </a:xfrm>
          <a:prstGeom prst="roundRect">
            <a:avLst>
              <a:gd name="adj" fmla="val 1764"/>
            </a:avLst>
          </a:prstGeom>
          <a:noFill/>
          <a:ln w="12700">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he-IL">
                <a:solidFill>
                  <a:schemeClr val="tx1"/>
                </a:solidFill>
                <a:latin typeface="Assistant" pitchFamily="2" charset="-79"/>
                <a:cs typeface="Assistant" pitchFamily="2" charset="-79"/>
              </a:rPr>
              <a:t>16</a:t>
            </a:r>
            <a:endParaRPr lang="LID4096">
              <a:solidFill>
                <a:schemeClr val="tx1"/>
              </a:solidFill>
              <a:latin typeface="Assistant" pitchFamily="2" charset="-79"/>
              <a:cs typeface="Assistant" pitchFamily="2" charset="-79"/>
            </a:endParaRPr>
          </a:p>
        </p:txBody>
      </p:sp>
      <p:sp>
        <p:nvSpPr>
          <p:cNvPr id="15" name="מלבן: פינות מעוגלות 12">
            <a:extLst>
              <a:ext uri="{FF2B5EF4-FFF2-40B4-BE49-F238E27FC236}">
                <a16:creationId xmlns:a16="http://schemas.microsoft.com/office/drawing/2014/main" id="{3FC85DC4-AB80-BFAC-CC8C-7B3E070D9ED2}"/>
              </a:ext>
            </a:extLst>
          </p:cNvPr>
          <p:cNvSpPr/>
          <p:nvPr/>
        </p:nvSpPr>
        <p:spPr>
          <a:xfrm>
            <a:off x="1396796" y="4067398"/>
            <a:ext cx="759829" cy="361530"/>
          </a:xfrm>
          <a:prstGeom prst="roundRect">
            <a:avLst>
              <a:gd name="adj" fmla="val 50000"/>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a:solidFill>
                  <a:schemeClr val="tx1"/>
                </a:solidFill>
                <a:latin typeface="Assistant" pitchFamily="2" charset="-79"/>
                <a:cs typeface="Assistant" pitchFamily="2" charset="-79"/>
              </a:rPr>
              <a:t>40</a:t>
            </a:r>
            <a:endParaRPr lang="LID4096" b="1">
              <a:solidFill>
                <a:schemeClr val="tx1"/>
              </a:solidFill>
              <a:latin typeface="Assistant" pitchFamily="2" charset="-79"/>
              <a:cs typeface="Assistant" pitchFamily="2" charset="-79"/>
            </a:endParaRPr>
          </a:p>
        </p:txBody>
      </p:sp>
      <p:sp>
        <p:nvSpPr>
          <p:cNvPr id="19" name="מלבן: פינות מעוגלות 12">
            <a:extLst>
              <a:ext uri="{FF2B5EF4-FFF2-40B4-BE49-F238E27FC236}">
                <a16:creationId xmlns:a16="http://schemas.microsoft.com/office/drawing/2014/main" id="{BF9EBC9E-8F23-0E3B-E96B-5A0D2F6F4263}"/>
              </a:ext>
            </a:extLst>
          </p:cNvPr>
          <p:cNvSpPr/>
          <p:nvPr/>
        </p:nvSpPr>
        <p:spPr>
          <a:xfrm>
            <a:off x="2440122" y="4067398"/>
            <a:ext cx="759829" cy="361530"/>
          </a:xfrm>
          <a:prstGeom prst="roundRect">
            <a:avLst>
              <a:gd name="adj" fmla="val 50000"/>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a:solidFill>
                  <a:schemeClr val="tx1"/>
                </a:solidFill>
                <a:latin typeface="Assistant" pitchFamily="2" charset="-79"/>
                <a:cs typeface="Assistant" pitchFamily="2" charset="-79"/>
              </a:rPr>
              <a:t>45</a:t>
            </a:r>
            <a:endParaRPr lang="LID4096" b="1">
              <a:solidFill>
                <a:schemeClr val="tx1"/>
              </a:solidFill>
              <a:latin typeface="Assistant" pitchFamily="2" charset="-79"/>
              <a:cs typeface="Assistant" pitchFamily="2" charset="-79"/>
            </a:endParaRPr>
          </a:p>
        </p:txBody>
      </p:sp>
      <p:pic>
        <p:nvPicPr>
          <p:cNvPr id="20" name="Graphic 19" descr="Badge Tick1 outline">
            <a:extLst>
              <a:ext uri="{FF2B5EF4-FFF2-40B4-BE49-F238E27FC236}">
                <a16:creationId xmlns:a16="http://schemas.microsoft.com/office/drawing/2014/main" id="{F9CE6C2B-2772-20E0-7C5B-56F755A86DE5}"/>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1859193" y="3921175"/>
            <a:ext cx="607888" cy="607888"/>
          </a:xfrm>
          <a:prstGeom prst="rect">
            <a:avLst/>
          </a:prstGeom>
        </p:spPr>
      </p:pic>
      <p:sp>
        <p:nvSpPr>
          <p:cNvPr id="2" name="תיבת טקסט 4">
            <a:extLst>
              <a:ext uri="{FF2B5EF4-FFF2-40B4-BE49-F238E27FC236}">
                <a16:creationId xmlns:a16="http://schemas.microsoft.com/office/drawing/2014/main" id="{F46B263C-4FDC-FFDA-20A0-DE4BA701EB39}"/>
              </a:ext>
            </a:extLst>
          </p:cNvPr>
          <p:cNvSpPr txBox="1"/>
          <p:nvPr/>
        </p:nvSpPr>
        <p:spPr>
          <a:xfrm>
            <a:off x="1706215" y="1296887"/>
            <a:ext cx="10109199" cy="707886"/>
          </a:xfrm>
          <a:prstGeom prst="rect">
            <a:avLst/>
          </a:prstGeom>
          <a:noFill/>
        </p:spPr>
        <p:txBody>
          <a:bodyPr wrap="square" rtlCol="0">
            <a:spAutoFit/>
          </a:bodyPr>
          <a:lstStyle/>
          <a:p>
            <a:r>
              <a:rPr lang="he-IL" sz="2000" b="1">
                <a:latin typeface="Assistant" pitchFamily="2" charset="-79"/>
                <a:cs typeface="Assistant" pitchFamily="2" charset="-79"/>
              </a:rPr>
              <a:t>קראו את התרגיל הבא. אל תפתרו אותו, רק הסתכלו על הנתונים וחישבו האם יש לכם כיוון לפתרון. </a:t>
            </a:r>
          </a:p>
          <a:p>
            <a:endParaRPr lang="he-IL" sz="2000">
              <a:latin typeface="Assistant" pitchFamily="2" charset="-79"/>
              <a:cs typeface="Assistant" pitchFamily="2" charset="-79"/>
            </a:endParaRPr>
          </a:p>
        </p:txBody>
      </p:sp>
      <p:grpSp>
        <p:nvGrpSpPr>
          <p:cNvPr id="11" name="Group 10">
            <a:extLst>
              <a:ext uri="{FF2B5EF4-FFF2-40B4-BE49-F238E27FC236}">
                <a16:creationId xmlns:a16="http://schemas.microsoft.com/office/drawing/2014/main" id="{75471453-17BE-A2EC-2756-D26F6455B8D3}"/>
              </a:ext>
            </a:extLst>
          </p:cNvPr>
          <p:cNvGrpSpPr/>
          <p:nvPr/>
        </p:nvGrpSpPr>
        <p:grpSpPr>
          <a:xfrm>
            <a:off x="3637086" y="1848421"/>
            <a:ext cx="8074922" cy="4063955"/>
            <a:chOff x="3959791" y="2225164"/>
            <a:chExt cx="8074922" cy="4063955"/>
          </a:xfrm>
        </p:grpSpPr>
        <p:sp>
          <p:nvSpPr>
            <p:cNvPr id="16" name="תיבת טקסט 4">
              <a:extLst>
                <a:ext uri="{FF2B5EF4-FFF2-40B4-BE49-F238E27FC236}">
                  <a16:creationId xmlns:a16="http://schemas.microsoft.com/office/drawing/2014/main" id="{2202B546-F983-0F17-D0E6-092BFAE47028}"/>
                </a:ext>
              </a:extLst>
            </p:cNvPr>
            <p:cNvSpPr txBox="1"/>
            <p:nvPr/>
          </p:nvSpPr>
          <p:spPr>
            <a:xfrm>
              <a:off x="3959791" y="2372308"/>
              <a:ext cx="8074922" cy="707886"/>
            </a:xfrm>
            <a:prstGeom prst="rect">
              <a:avLst/>
            </a:prstGeom>
            <a:noFill/>
          </p:spPr>
          <p:txBody>
            <a:bodyPr wrap="square" lIns="91440" tIns="45720" rIns="91440" bIns="45720" rtlCol="0" anchor="t">
              <a:spAutoFit/>
            </a:bodyPr>
            <a:lstStyle/>
            <a:p>
              <a:r>
                <a:rPr lang="he-IL" sz="2000">
                  <a:latin typeface="Assistant"/>
                  <a:cs typeface="Assistant"/>
                </a:rPr>
                <a:t>לאורי ודן יש  56 גולות. היחס בין כמות הגולות האדומות לבין כמות הגולות הכחולות </a:t>
              </a:r>
              <a:endParaRPr lang="he-IL">
                <a:latin typeface="Aptos" panose="02110004020202020204"/>
                <a:cs typeface="Arial" panose="020B0604020202020204" pitchFamily="34" charset="0"/>
              </a:endParaRPr>
            </a:p>
            <a:p>
              <a:r>
                <a:rPr lang="he-IL" sz="2000">
                  <a:latin typeface="Assistant"/>
                  <a:cs typeface="Assistant"/>
                </a:rPr>
                <a:t>הוא 5 : 2 . אורי קיבל את הגולות האדומות ודן קיבל את הגולות הכחולות.</a:t>
              </a:r>
              <a:endParaRPr lang="he-IL">
                <a:cs typeface="Arial"/>
              </a:endParaRPr>
            </a:p>
          </p:txBody>
        </p:sp>
        <p:sp>
          <p:nvSpPr>
            <p:cNvPr id="17" name="Rectangle 16">
              <a:extLst>
                <a:ext uri="{FF2B5EF4-FFF2-40B4-BE49-F238E27FC236}">
                  <a16:creationId xmlns:a16="http://schemas.microsoft.com/office/drawing/2014/main" id="{F4631A26-D95A-E2C5-26E2-9DF313B7F2DC}"/>
                </a:ext>
              </a:extLst>
            </p:cNvPr>
            <p:cNvSpPr/>
            <p:nvPr/>
          </p:nvSpPr>
          <p:spPr>
            <a:xfrm>
              <a:off x="4134264" y="2225164"/>
              <a:ext cx="7900449" cy="4063955"/>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grpSp>
    </p:spTree>
    <p:custDataLst>
      <p:tags r:id="rId1"/>
    </p:custDataLst>
    <p:extLst>
      <p:ext uri="{BB962C8B-B14F-4D97-AF65-F5344CB8AC3E}">
        <p14:creationId xmlns:p14="http://schemas.microsoft.com/office/powerpoint/2010/main" val="144346823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EA5236-ACE2-7D27-AEE3-76F798930466}"/>
            </a:ext>
          </a:extLst>
        </p:cNvPr>
        <p:cNvGrpSpPr/>
        <p:nvPr/>
      </p:nvGrpSpPr>
      <p:grpSpPr>
        <a:xfrm>
          <a:off x="0" y="0"/>
          <a:ext cx="0" cy="0"/>
          <a:chOff x="0" y="0"/>
          <a:chExt cx="0" cy="0"/>
        </a:xfrm>
      </p:grpSpPr>
      <p:cxnSp>
        <p:nvCxnSpPr>
          <p:cNvPr id="7" name="מחבר ישר 6">
            <a:extLst>
              <a:ext uri="{FF2B5EF4-FFF2-40B4-BE49-F238E27FC236}">
                <a16:creationId xmlns:a16="http://schemas.microsoft.com/office/drawing/2014/main" id="{F6118B8F-F6C1-6655-C0C8-24E6CCE36C06}"/>
              </a:ext>
            </a:extLst>
          </p:cNvPr>
          <p:cNvCxnSpPr>
            <a:cxnSpLocks/>
          </p:cNvCxnSpPr>
          <p:nvPr/>
        </p:nvCxnSpPr>
        <p:spPr>
          <a:xfrm>
            <a:off x="0" y="6079252"/>
            <a:ext cx="12192000" cy="0"/>
          </a:xfrm>
          <a:prstGeom prst="line">
            <a:avLst/>
          </a:prstGeom>
          <a:ln>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8" name="תיבת טקסט 3">
            <a:extLst>
              <a:ext uri="{FF2B5EF4-FFF2-40B4-BE49-F238E27FC236}">
                <a16:creationId xmlns:a16="http://schemas.microsoft.com/office/drawing/2014/main" id="{E7EA25DD-87EA-34FD-D140-1D8CB253D275}"/>
              </a:ext>
            </a:extLst>
          </p:cNvPr>
          <p:cNvSpPr txBox="1"/>
          <p:nvPr/>
        </p:nvSpPr>
        <p:spPr>
          <a:xfrm>
            <a:off x="2120425" y="495079"/>
            <a:ext cx="8271803" cy="707886"/>
          </a:xfrm>
          <a:prstGeom prst="rect">
            <a:avLst/>
          </a:prstGeom>
          <a:noFill/>
        </p:spPr>
        <p:txBody>
          <a:bodyPr wrap="square" rtlCol="0">
            <a:spAutoFit/>
          </a:bodyPr>
          <a:lstStyle/>
          <a:p>
            <a:pPr algn="ctr"/>
            <a:r>
              <a:rPr lang="he-IL" sz="4000" b="1">
                <a:latin typeface="Assistant" pitchFamily="2" charset="-79"/>
                <a:cs typeface="Assistant" pitchFamily="2" charset="-79"/>
              </a:rPr>
              <a:t>יחס – בואו נפתור תרגיל ראשון יחד</a:t>
            </a:r>
            <a:endParaRPr lang="LID4096" sz="4000" b="1">
              <a:latin typeface="Assistant" pitchFamily="2" charset="-79"/>
              <a:cs typeface="Assistant" pitchFamily="2" charset="-79"/>
            </a:endParaRPr>
          </a:p>
        </p:txBody>
      </p:sp>
      <p:pic>
        <p:nvPicPr>
          <p:cNvPr id="41" name="תמונה 3">
            <a:extLst>
              <a:ext uri="{FF2B5EF4-FFF2-40B4-BE49-F238E27FC236}">
                <a16:creationId xmlns:a16="http://schemas.microsoft.com/office/drawing/2014/main" id="{A6EEAEE1-F7E9-A854-A005-4C90F5A0B0A1}"/>
              </a:ext>
            </a:extLst>
          </p:cNvPr>
          <p:cNvPicPr>
            <a:picLocks noChangeAspect="1"/>
          </p:cNvPicPr>
          <p:nvPr/>
        </p:nvPicPr>
        <p:blipFill>
          <a:blip r:embed="rId4">
            <a:extLst>
              <a:ext uri="{28A0092B-C50C-407E-A947-70E740481C1C}">
                <a14:useLocalDpi xmlns:a14="http://schemas.microsoft.com/office/drawing/2010/main"/>
              </a:ext>
            </a:extLst>
          </a:blip>
          <a:stretch>
            <a:fillRect/>
          </a:stretch>
        </p:blipFill>
        <p:spPr>
          <a:xfrm>
            <a:off x="223129" y="6246129"/>
            <a:ext cx="1777778" cy="495238"/>
          </a:xfrm>
          <a:prstGeom prst="rect">
            <a:avLst/>
          </a:prstGeom>
        </p:spPr>
      </p:pic>
      <p:grpSp>
        <p:nvGrpSpPr>
          <p:cNvPr id="13" name="Group 12">
            <a:extLst>
              <a:ext uri="{FF2B5EF4-FFF2-40B4-BE49-F238E27FC236}">
                <a16:creationId xmlns:a16="http://schemas.microsoft.com/office/drawing/2014/main" id="{0EF9CD76-6301-5518-F818-541E3C658F2C}"/>
              </a:ext>
            </a:extLst>
          </p:cNvPr>
          <p:cNvGrpSpPr/>
          <p:nvPr/>
        </p:nvGrpSpPr>
        <p:grpSpPr>
          <a:xfrm>
            <a:off x="223129" y="1848421"/>
            <a:ext cx="11259763" cy="4063955"/>
            <a:chOff x="774950" y="2225164"/>
            <a:chExt cx="11259763" cy="4063955"/>
          </a:xfrm>
        </p:grpSpPr>
        <p:grpSp>
          <p:nvGrpSpPr>
            <p:cNvPr id="31" name="Group 30">
              <a:extLst>
                <a:ext uri="{FF2B5EF4-FFF2-40B4-BE49-F238E27FC236}">
                  <a16:creationId xmlns:a16="http://schemas.microsoft.com/office/drawing/2014/main" id="{8C775E31-01E3-8189-B798-519FABE41C46}"/>
                </a:ext>
              </a:extLst>
            </p:cNvPr>
            <p:cNvGrpSpPr/>
            <p:nvPr/>
          </p:nvGrpSpPr>
          <p:grpSpPr>
            <a:xfrm>
              <a:off x="774950" y="2570588"/>
              <a:ext cx="2207736" cy="400110"/>
              <a:chOff x="674914" y="2325906"/>
              <a:chExt cx="4397829" cy="400110"/>
            </a:xfrm>
          </p:grpSpPr>
          <p:cxnSp>
            <p:nvCxnSpPr>
              <p:cNvPr id="18" name="Straight Arrow Connector 17">
                <a:extLst>
                  <a:ext uri="{FF2B5EF4-FFF2-40B4-BE49-F238E27FC236}">
                    <a16:creationId xmlns:a16="http://schemas.microsoft.com/office/drawing/2014/main" id="{E202C4B1-1ABD-3000-7C45-2EAEE347751F}"/>
                  </a:ext>
                </a:extLst>
              </p:cNvPr>
              <p:cNvCxnSpPr>
                <a:cxnSpLocks/>
              </p:cNvCxnSpPr>
              <p:nvPr/>
            </p:nvCxnSpPr>
            <p:spPr>
              <a:xfrm>
                <a:off x="674914" y="2726016"/>
                <a:ext cx="4397829" cy="0"/>
              </a:xfrm>
              <a:prstGeom prst="straightConnector1">
                <a:avLst/>
              </a:prstGeom>
              <a:ln>
                <a:solidFill>
                  <a:schemeClr val="bg1"/>
                </a:solidFill>
                <a:headEnd type="triangle"/>
                <a:tailEnd type="triangle"/>
              </a:ln>
            </p:spPr>
            <p:style>
              <a:lnRef idx="2">
                <a:schemeClr val="accent1"/>
              </a:lnRef>
              <a:fillRef idx="0">
                <a:schemeClr val="accent1"/>
              </a:fillRef>
              <a:effectRef idx="1">
                <a:schemeClr val="accent1"/>
              </a:effectRef>
              <a:fontRef idx="minor">
                <a:schemeClr val="tx1"/>
              </a:fontRef>
            </p:style>
          </p:cxnSp>
          <p:sp>
            <p:nvSpPr>
              <p:cNvPr id="22" name="תיבת טקסט 4">
                <a:extLst>
                  <a:ext uri="{FF2B5EF4-FFF2-40B4-BE49-F238E27FC236}">
                    <a16:creationId xmlns:a16="http://schemas.microsoft.com/office/drawing/2014/main" id="{4C348F82-A14F-A575-1578-1AFABCF54B8E}"/>
                  </a:ext>
                </a:extLst>
              </p:cNvPr>
              <p:cNvSpPr txBox="1"/>
              <p:nvPr/>
            </p:nvSpPr>
            <p:spPr>
              <a:xfrm>
                <a:off x="1981201" y="2325906"/>
                <a:ext cx="1812160" cy="400110"/>
              </a:xfrm>
              <a:prstGeom prst="rect">
                <a:avLst/>
              </a:prstGeom>
              <a:noFill/>
            </p:spPr>
            <p:txBody>
              <a:bodyPr wrap="square" rtlCol="0">
                <a:spAutoFit/>
              </a:bodyPr>
              <a:lstStyle/>
              <a:p>
                <a:r>
                  <a:rPr lang="he-IL" sz="2000">
                    <a:solidFill>
                      <a:schemeClr val="bg1"/>
                    </a:solidFill>
                    <a:latin typeface="Assistant" pitchFamily="2" charset="-79"/>
                    <a:cs typeface="Assistant" pitchFamily="2" charset="-79"/>
                  </a:rPr>
                  <a:t>5 ס"מ</a:t>
                </a:r>
              </a:p>
            </p:txBody>
          </p:sp>
        </p:grpSp>
        <p:sp>
          <p:nvSpPr>
            <p:cNvPr id="12" name="Rectangle 11">
              <a:extLst>
                <a:ext uri="{FF2B5EF4-FFF2-40B4-BE49-F238E27FC236}">
                  <a16:creationId xmlns:a16="http://schemas.microsoft.com/office/drawing/2014/main" id="{DC2FF952-4448-CD9B-D0BC-ED8F54E916E8}"/>
                </a:ext>
              </a:extLst>
            </p:cNvPr>
            <p:cNvSpPr/>
            <p:nvPr/>
          </p:nvSpPr>
          <p:spPr>
            <a:xfrm>
              <a:off x="4134264" y="2225164"/>
              <a:ext cx="7900449" cy="4063955"/>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grpSp>
      <p:sp>
        <p:nvSpPr>
          <p:cNvPr id="21" name="תיבת טקסט 13">
            <a:extLst>
              <a:ext uri="{FF2B5EF4-FFF2-40B4-BE49-F238E27FC236}">
                <a16:creationId xmlns:a16="http://schemas.microsoft.com/office/drawing/2014/main" id="{7D86CAFC-84AC-F117-5924-A57D10AA03C7}"/>
              </a:ext>
            </a:extLst>
          </p:cNvPr>
          <p:cNvSpPr txBox="1"/>
          <p:nvPr/>
        </p:nvSpPr>
        <p:spPr>
          <a:xfrm>
            <a:off x="8337865" y="2966488"/>
            <a:ext cx="2911516" cy="369332"/>
          </a:xfrm>
          <a:prstGeom prst="rect">
            <a:avLst/>
          </a:prstGeom>
          <a:noFill/>
        </p:spPr>
        <p:txBody>
          <a:bodyPr wrap="square">
            <a:spAutoFit/>
          </a:bodyPr>
          <a:lstStyle/>
          <a:p>
            <a:r>
              <a:rPr lang="he-IL">
                <a:latin typeface="Assistant" pitchFamily="2" charset="-79"/>
                <a:cs typeface="Assistant" pitchFamily="2" charset="-79"/>
              </a:rPr>
              <a:t>א. איזה חלק מהגולות קיבל אורי?</a:t>
            </a:r>
            <a:endParaRPr lang="LID4096">
              <a:latin typeface="Assistant" pitchFamily="2" charset="-79"/>
              <a:cs typeface="Assistant" pitchFamily="2" charset="-79"/>
            </a:endParaRPr>
          </a:p>
        </p:txBody>
      </p:sp>
      <p:sp>
        <p:nvSpPr>
          <p:cNvPr id="6" name="תיבת טקסט 13">
            <a:extLst>
              <a:ext uri="{FF2B5EF4-FFF2-40B4-BE49-F238E27FC236}">
                <a16:creationId xmlns:a16="http://schemas.microsoft.com/office/drawing/2014/main" id="{EDC78FD3-E779-9978-3300-B55EAC5470E2}"/>
              </a:ext>
            </a:extLst>
          </p:cNvPr>
          <p:cNvSpPr txBox="1"/>
          <p:nvPr/>
        </p:nvSpPr>
        <p:spPr>
          <a:xfrm>
            <a:off x="8505000" y="3752293"/>
            <a:ext cx="2744381" cy="369332"/>
          </a:xfrm>
          <a:prstGeom prst="rect">
            <a:avLst/>
          </a:prstGeom>
          <a:noFill/>
        </p:spPr>
        <p:txBody>
          <a:bodyPr wrap="square">
            <a:spAutoFit/>
          </a:bodyPr>
          <a:lstStyle/>
          <a:p>
            <a:r>
              <a:rPr lang="he-IL">
                <a:latin typeface="Assistant" pitchFamily="2" charset="-79"/>
                <a:cs typeface="Assistant" pitchFamily="2" charset="-79"/>
              </a:rPr>
              <a:t>ב. איזה חלק מהגולות קיבל דן?</a:t>
            </a:r>
            <a:endParaRPr lang="LID4096" sz="2000">
              <a:latin typeface="Assistant" pitchFamily="2" charset="-79"/>
              <a:cs typeface="Assistant" pitchFamily="2" charset="-79"/>
            </a:endParaRPr>
          </a:p>
        </p:txBody>
      </p:sp>
      <mc:AlternateContent xmlns:mc="http://schemas.openxmlformats.org/markup-compatibility/2006" xmlns:a14="http://schemas.microsoft.com/office/drawing/2010/main">
        <mc:Choice Requires="a14">
          <p:sp>
            <p:nvSpPr>
              <p:cNvPr id="5" name="מלבן: פינות מעוגלות 6">
                <a:extLst>
                  <a:ext uri="{FF2B5EF4-FFF2-40B4-BE49-F238E27FC236}">
                    <a16:creationId xmlns:a16="http://schemas.microsoft.com/office/drawing/2014/main" id="{14F5536C-42A8-857A-9BD9-E4FD15795486}"/>
                  </a:ext>
                </a:extLst>
              </p:cNvPr>
              <p:cNvSpPr/>
              <p:nvPr/>
            </p:nvSpPr>
            <p:spPr>
              <a:xfrm>
                <a:off x="7310120" y="2794395"/>
                <a:ext cx="774718" cy="713518"/>
              </a:xfrm>
              <a:prstGeom prst="roundRect">
                <a:avLst>
                  <a:gd name="adj" fmla="val 1764"/>
                </a:avLst>
              </a:prstGeom>
              <a:noFill/>
              <a:ln w="12700">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
                    </m:oMathParaPr>
                    <m:oMath>
                      <m:f>
                        <m:fPr>
                          <m:ctrlPr>
                            <a:rPr lang="en-US" i="1">
                              <a:solidFill>
                                <a:schemeClr val="tx1"/>
                              </a:solidFill>
                              <a:latin typeface="Cambria Math" panose="02040503050406030204" pitchFamily="18" charset="0"/>
                            </a:rPr>
                          </m:ctrlPr>
                        </m:fPr>
                        <m:num>
                          <m:r>
                            <a:rPr lang="en-US" i="1">
                              <a:solidFill>
                                <a:schemeClr val="tx1"/>
                              </a:solidFill>
                              <a:latin typeface="Cambria Math" panose="02040503050406030204" pitchFamily="18" charset="0"/>
                            </a:rPr>
                            <m:t>2</m:t>
                          </m:r>
                        </m:num>
                        <m:den>
                          <m:r>
                            <a:rPr lang="en-US" i="1">
                              <a:solidFill>
                                <a:schemeClr val="tx1"/>
                              </a:solidFill>
                              <a:latin typeface="Cambria Math" panose="02040503050406030204" pitchFamily="18" charset="0"/>
                            </a:rPr>
                            <m:t>7</m:t>
                          </m:r>
                        </m:den>
                      </m:f>
                    </m:oMath>
                  </m:oMathPara>
                </a14:m>
                <a:endParaRPr lang="LID4096" sz="2000">
                  <a:solidFill>
                    <a:schemeClr val="tx1"/>
                  </a:solidFill>
                </a:endParaRPr>
              </a:p>
            </p:txBody>
          </p:sp>
        </mc:Choice>
        <mc:Fallback xmlns="">
          <p:sp>
            <p:nvSpPr>
              <p:cNvPr id="5" name="מלבן: פינות מעוגלות 6">
                <a:extLst>
                  <a:ext uri="{FF2B5EF4-FFF2-40B4-BE49-F238E27FC236}">
                    <a16:creationId xmlns:a16="http://schemas.microsoft.com/office/drawing/2014/main" id="{14F5536C-42A8-857A-9BD9-E4FD15795486}"/>
                  </a:ext>
                </a:extLst>
              </p:cNvPr>
              <p:cNvSpPr>
                <a:spLocks noRot="1" noChangeAspect="1" noMove="1" noResize="1" noEditPoints="1" noAdjustHandles="1" noChangeArrowheads="1" noChangeShapeType="1" noTextEdit="1"/>
              </p:cNvSpPr>
              <p:nvPr/>
            </p:nvSpPr>
            <p:spPr>
              <a:xfrm>
                <a:off x="7310120" y="2794395"/>
                <a:ext cx="774718" cy="713518"/>
              </a:xfrm>
              <a:prstGeom prst="roundRect">
                <a:avLst>
                  <a:gd name="adj" fmla="val 1764"/>
                </a:avLst>
              </a:prstGeom>
              <a:blipFill>
                <a:blip r:embed="rId5"/>
                <a:stretch>
                  <a:fillRect/>
                </a:stretch>
              </a:blipFill>
              <a:ln w="12700">
                <a:solidFill>
                  <a:srgbClr val="00B0F0"/>
                </a:solidFill>
              </a:ln>
            </p:spPr>
            <p:txBody>
              <a:bodyPr/>
              <a:lstStyle/>
              <a:p>
                <a:r>
                  <a:rPr lang="en-US">
                    <a:noFill/>
                  </a:rPr>
                  <a:t> </a:t>
                </a:r>
              </a:p>
            </p:txBody>
          </p:sp>
        </mc:Fallback>
      </mc:AlternateContent>
      <p:sp>
        <p:nvSpPr>
          <p:cNvPr id="48" name="מלבן: פינות מעוגלות 6">
            <a:extLst>
              <a:ext uri="{FF2B5EF4-FFF2-40B4-BE49-F238E27FC236}">
                <a16:creationId xmlns:a16="http://schemas.microsoft.com/office/drawing/2014/main" id="{ED5E90BD-B2D0-6E2B-86AD-374A6DB73B02}"/>
              </a:ext>
            </a:extLst>
          </p:cNvPr>
          <p:cNvSpPr/>
          <p:nvPr/>
        </p:nvSpPr>
        <p:spPr>
          <a:xfrm>
            <a:off x="7162800" y="5187094"/>
            <a:ext cx="1069358" cy="485548"/>
          </a:xfrm>
          <a:prstGeom prst="roundRect">
            <a:avLst>
              <a:gd name="adj" fmla="val 1764"/>
            </a:avLst>
          </a:prstGeom>
          <a:noFill/>
          <a:ln w="12700">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LID4096" sz="2000">
              <a:solidFill>
                <a:schemeClr val="tx1"/>
              </a:solidFill>
            </a:endParaRPr>
          </a:p>
        </p:txBody>
      </p:sp>
      <p:grpSp>
        <p:nvGrpSpPr>
          <p:cNvPr id="3" name="Group 2">
            <a:extLst>
              <a:ext uri="{FF2B5EF4-FFF2-40B4-BE49-F238E27FC236}">
                <a16:creationId xmlns:a16="http://schemas.microsoft.com/office/drawing/2014/main" id="{6DF4D33D-5C94-EDAB-DDE4-4347D43080B0}"/>
              </a:ext>
            </a:extLst>
          </p:cNvPr>
          <p:cNvGrpSpPr/>
          <p:nvPr/>
        </p:nvGrpSpPr>
        <p:grpSpPr>
          <a:xfrm>
            <a:off x="223131" y="2214184"/>
            <a:ext cx="3125805" cy="2400574"/>
            <a:chOff x="5958055" y="4211289"/>
            <a:chExt cx="4791118" cy="3736788"/>
          </a:xfrm>
        </p:grpSpPr>
        <p:sp>
          <p:nvSpPr>
            <p:cNvPr id="4" name="מלבן: פינות מעוגלות 2">
              <a:extLst>
                <a:ext uri="{FF2B5EF4-FFF2-40B4-BE49-F238E27FC236}">
                  <a16:creationId xmlns:a16="http://schemas.microsoft.com/office/drawing/2014/main" id="{A7A7C952-4460-B5B2-AB29-9EFE892EF5B2}"/>
                </a:ext>
              </a:extLst>
            </p:cNvPr>
            <p:cNvSpPr/>
            <p:nvPr/>
          </p:nvSpPr>
          <p:spPr>
            <a:xfrm>
              <a:off x="5958055" y="4211289"/>
              <a:ext cx="4791118" cy="3736788"/>
            </a:xfrm>
            <a:prstGeom prst="roundRect">
              <a:avLst>
                <a:gd name="adj" fmla="val 8509"/>
              </a:avLst>
            </a:prstGeom>
            <a:solidFill>
              <a:srgbClr val="00B0F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LID4096"/>
            </a:p>
          </p:txBody>
        </p:sp>
        <mc:AlternateContent xmlns:mc="http://schemas.openxmlformats.org/markup-compatibility/2006" xmlns:a14="http://schemas.microsoft.com/office/drawing/2010/main">
          <mc:Choice Requires="a14">
            <p:sp>
              <p:nvSpPr>
                <p:cNvPr id="10" name="תיבת טקסט 5">
                  <a:extLst>
                    <a:ext uri="{FF2B5EF4-FFF2-40B4-BE49-F238E27FC236}">
                      <a16:creationId xmlns:a16="http://schemas.microsoft.com/office/drawing/2014/main" id="{3FD98969-5676-CE23-E27B-A8A991152E0E}"/>
                    </a:ext>
                  </a:extLst>
                </p:cNvPr>
                <p:cNvSpPr txBox="1"/>
                <p:nvPr/>
              </p:nvSpPr>
              <p:spPr>
                <a:xfrm>
                  <a:off x="6176671" y="4537190"/>
                  <a:ext cx="4441691" cy="2783425"/>
                </a:xfrm>
                <a:prstGeom prst="rect">
                  <a:avLst/>
                </a:prstGeom>
                <a:noFill/>
              </p:spPr>
              <p:txBody>
                <a:bodyPr wrap="square" rtlCol="0">
                  <a:spAutoFit/>
                </a:bodyPr>
                <a:lstStyle/>
                <a:p>
                  <a:r>
                    <a:rPr lang="he-IL">
                      <a:solidFill>
                        <a:schemeClr val="bg1"/>
                      </a:solidFill>
                      <a:latin typeface="Assistant" pitchFamily="2" charset="-79"/>
                      <a:cs typeface="Assistant" pitchFamily="2" charset="-79"/>
                    </a:rPr>
                    <a:t>ד. </a:t>
                  </a:r>
                  <a:r>
                    <a:rPr lang="he-IL" b="1">
                      <a:solidFill>
                        <a:schemeClr val="bg1"/>
                      </a:solidFill>
                      <a:latin typeface="Assistant" pitchFamily="2" charset="-79"/>
                      <a:cs typeface="Assistant" pitchFamily="2" charset="-79"/>
                    </a:rPr>
                    <a:t>דרך נוספת:</a:t>
                  </a:r>
                </a:p>
                <a:p>
                  <a:r>
                    <a:rPr lang="he-IL">
                      <a:solidFill>
                        <a:schemeClr val="bg1"/>
                      </a:solidFill>
                      <a:latin typeface="Assistant" pitchFamily="2" charset="-79"/>
                      <a:cs typeface="Assistant" pitchFamily="2" charset="-79"/>
                    </a:rPr>
                    <a:t>סך כל הגולות הוא 56.</a:t>
                  </a:r>
                </a:p>
                <a:p>
                  <a:r>
                    <a:rPr lang="he-IL">
                      <a:solidFill>
                        <a:schemeClr val="bg1"/>
                      </a:solidFill>
                      <a:latin typeface="Assistant" pitchFamily="2" charset="-79"/>
                      <a:cs typeface="Assistant" pitchFamily="2" charset="-79"/>
                    </a:rPr>
                    <a:t>אורי קיבל 16 גולות.</a:t>
                  </a:r>
                </a:p>
                <a:p>
                  <a:r>
                    <a:rPr lang="he-IL">
                      <a:solidFill>
                        <a:schemeClr val="bg1"/>
                      </a:solidFill>
                      <a:latin typeface="Assistant" pitchFamily="2" charset="-79"/>
                      <a:cs typeface="Assistant" pitchFamily="2" charset="-79"/>
                    </a:rPr>
                    <a:t>לכן, דן קיבל:</a:t>
                  </a:r>
                </a:p>
                <a:p>
                  <a:r>
                    <a:rPr lang="he-IL">
                      <a:solidFill>
                        <a:schemeClr val="bg1"/>
                      </a:solidFill>
                      <a:latin typeface="Assistant" pitchFamily="2" charset="-79"/>
                      <a:cs typeface="Assistant" pitchFamily="2" charset="-79"/>
                    </a:rPr>
                    <a:t> </a:t>
                  </a:r>
                  <a14:m>
                    <m:oMath xmlns:m="http://schemas.openxmlformats.org/officeDocument/2006/math">
                      <m:r>
                        <a:rPr lang="he-IL" b="0" i="1" smtClean="0">
                          <a:solidFill>
                            <a:schemeClr val="bg1"/>
                          </a:solidFill>
                          <a:latin typeface="Cambria Math" panose="02040503050406030204" pitchFamily="18" charset="0"/>
                          <a:cs typeface="Assistant" pitchFamily="2" charset="-79"/>
                        </a:rPr>
                        <m:t>56−16= גולות 40</m:t>
                      </m:r>
                    </m:oMath>
                  </a14:m>
                  <a:endParaRPr lang="he-IL">
                    <a:solidFill>
                      <a:schemeClr val="bg1"/>
                    </a:solidFill>
                    <a:latin typeface="Assistant" pitchFamily="2" charset="-79"/>
                    <a:cs typeface="Assistant" pitchFamily="2" charset="-79"/>
                  </a:endParaRPr>
                </a:p>
                <a:p>
                  <a:r>
                    <a:rPr lang="he-IL">
                      <a:solidFill>
                        <a:schemeClr val="bg1"/>
                      </a:solidFill>
                      <a:latin typeface="Assistant" pitchFamily="2" charset="-79"/>
                      <a:cs typeface="Assistant" pitchFamily="2" charset="-79"/>
                    </a:rPr>
                    <a:t> </a:t>
                  </a:r>
                  <a:endParaRPr lang="en-US">
                    <a:solidFill>
                      <a:schemeClr val="bg1"/>
                    </a:solidFill>
                    <a:latin typeface="Assistant" pitchFamily="2" charset="-79"/>
                    <a:cs typeface="Assistant" pitchFamily="2" charset="-79"/>
                  </a:endParaRPr>
                </a:p>
              </p:txBody>
            </p:sp>
          </mc:Choice>
          <mc:Fallback xmlns="">
            <p:sp>
              <p:nvSpPr>
                <p:cNvPr id="10" name="תיבת טקסט 5">
                  <a:extLst>
                    <a:ext uri="{FF2B5EF4-FFF2-40B4-BE49-F238E27FC236}">
                      <a16:creationId xmlns:a16="http://schemas.microsoft.com/office/drawing/2014/main" id="{3FD98969-5676-CE23-E27B-A8A991152E0E}"/>
                    </a:ext>
                  </a:extLst>
                </p:cNvPr>
                <p:cNvSpPr txBox="1">
                  <a:spLocks noRot="1" noChangeAspect="1" noMove="1" noResize="1" noEditPoints="1" noAdjustHandles="1" noChangeArrowheads="1" noChangeShapeType="1" noTextEdit="1"/>
                </p:cNvSpPr>
                <p:nvPr/>
              </p:nvSpPr>
              <p:spPr>
                <a:xfrm>
                  <a:off x="6176671" y="4537190"/>
                  <a:ext cx="4441691" cy="2783425"/>
                </a:xfrm>
                <a:prstGeom prst="rect">
                  <a:avLst/>
                </a:prstGeom>
                <a:blipFill>
                  <a:blip r:embed="rId6"/>
                  <a:stretch>
                    <a:fillRect t="-2048" r="-1684" b="-4778"/>
                  </a:stretch>
                </a:blipFill>
              </p:spPr>
              <p:txBody>
                <a:bodyPr/>
                <a:lstStyle/>
                <a:p>
                  <a:r>
                    <a:rPr lang="en-US">
                      <a:noFill/>
                    </a:rPr>
                    <a:t> </a:t>
                  </a:r>
                </a:p>
              </p:txBody>
            </p:sp>
          </mc:Fallback>
        </mc:AlternateContent>
      </p:grpSp>
      <p:sp>
        <p:nvSpPr>
          <p:cNvPr id="14" name="מלבן: פינות מעוגלות 12">
            <a:extLst>
              <a:ext uri="{FF2B5EF4-FFF2-40B4-BE49-F238E27FC236}">
                <a16:creationId xmlns:a16="http://schemas.microsoft.com/office/drawing/2014/main" id="{4784924C-AD69-447C-4E5F-F3A5AB54FD43}"/>
              </a:ext>
            </a:extLst>
          </p:cNvPr>
          <p:cNvSpPr/>
          <p:nvPr/>
        </p:nvSpPr>
        <p:spPr>
          <a:xfrm>
            <a:off x="352189" y="4067398"/>
            <a:ext cx="759829" cy="361530"/>
          </a:xfrm>
          <a:prstGeom prst="roundRect">
            <a:avLst>
              <a:gd name="adj" fmla="val 50000"/>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a:solidFill>
                  <a:schemeClr val="tx1"/>
                </a:solidFill>
                <a:latin typeface="Assistant" pitchFamily="2" charset="-79"/>
                <a:cs typeface="Assistant" pitchFamily="2" charset="-79"/>
              </a:rPr>
              <a:t>39</a:t>
            </a:r>
            <a:endParaRPr lang="LID4096" b="1">
              <a:solidFill>
                <a:schemeClr val="tx1"/>
              </a:solidFill>
              <a:latin typeface="Assistant" pitchFamily="2" charset="-79"/>
              <a:cs typeface="Assistant" pitchFamily="2" charset="-79"/>
            </a:endParaRPr>
          </a:p>
        </p:txBody>
      </p:sp>
      <mc:AlternateContent xmlns:mc="http://schemas.openxmlformats.org/markup-compatibility/2006" xmlns:a14="http://schemas.microsoft.com/office/drawing/2010/main">
        <mc:Choice Requires="a14">
          <p:sp>
            <p:nvSpPr>
              <p:cNvPr id="24" name="מלבן: פינות מעוגלות 6">
                <a:extLst>
                  <a:ext uri="{FF2B5EF4-FFF2-40B4-BE49-F238E27FC236}">
                    <a16:creationId xmlns:a16="http://schemas.microsoft.com/office/drawing/2014/main" id="{ACA654E3-1E2D-2504-3081-DD2FEB7DC232}"/>
                  </a:ext>
                </a:extLst>
              </p:cNvPr>
              <p:cNvSpPr/>
              <p:nvPr/>
            </p:nvSpPr>
            <p:spPr>
              <a:xfrm>
                <a:off x="7310120" y="3628221"/>
                <a:ext cx="774718" cy="713518"/>
              </a:xfrm>
              <a:prstGeom prst="roundRect">
                <a:avLst>
                  <a:gd name="adj" fmla="val 1764"/>
                </a:avLst>
              </a:prstGeom>
              <a:noFill/>
              <a:ln w="12700">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
                    </m:oMathParaPr>
                    <m:oMath>
                      <m:f>
                        <m:fPr>
                          <m:ctrlPr>
                            <a:rPr lang="en-US" b="0" i="1" smtClean="0">
                              <a:solidFill>
                                <a:schemeClr val="tx1"/>
                              </a:solidFill>
                              <a:latin typeface="Cambria Math" panose="02040503050406030204" pitchFamily="18" charset="0"/>
                            </a:rPr>
                          </m:ctrlPr>
                        </m:fPr>
                        <m:num>
                          <m:r>
                            <a:rPr lang="en-US" b="0" i="1" smtClean="0">
                              <a:solidFill>
                                <a:schemeClr val="tx1"/>
                              </a:solidFill>
                              <a:latin typeface="Cambria Math" panose="02040503050406030204" pitchFamily="18" charset="0"/>
                            </a:rPr>
                            <m:t>5</m:t>
                          </m:r>
                        </m:num>
                        <m:den>
                          <m:r>
                            <a:rPr lang="en-US" i="1">
                              <a:solidFill>
                                <a:schemeClr val="tx1"/>
                              </a:solidFill>
                              <a:latin typeface="Cambria Math" panose="02040503050406030204" pitchFamily="18" charset="0"/>
                            </a:rPr>
                            <m:t>7</m:t>
                          </m:r>
                        </m:den>
                      </m:f>
                    </m:oMath>
                  </m:oMathPara>
                </a14:m>
                <a:endParaRPr lang="LID4096" sz="2000">
                  <a:solidFill>
                    <a:schemeClr val="tx1"/>
                  </a:solidFill>
                </a:endParaRPr>
              </a:p>
            </p:txBody>
          </p:sp>
        </mc:Choice>
        <mc:Fallback xmlns="">
          <p:sp>
            <p:nvSpPr>
              <p:cNvPr id="24" name="מלבן: פינות מעוגלות 6">
                <a:extLst>
                  <a:ext uri="{FF2B5EF4-FFF2-40B4-BE49-F238E27FC236}">
                    <a16:creationId xmlns:a16="http://schemas.microsoft.com/office/drawing/2014/main" id="{ACA654E3-1E2D-2504-3081-DD2FEB7DC232}"/>
                  </a:ext>
                </a:extLst>
              </p:cNvPr>
              <p:cNvSpPr>
                <a:spLocks noRot="1" noChangeAspect="1" noMove="1" noResize="1" noEditPoints="1" noAdjustHandles="1" noChangeArrowheads="1" noChangeShapeType="1" noTextEdit="1"/>
              </p:cNvSpPr>
              <p:nvPr/>
            </p:nvSpPr>
            <p:spPr>
              <a:xfrm>
                <a:off x="7310120" y="3628221"/>
                <a:ext cx="774718" cy="713518"/>
              </a:xfrm>
              <a:prstGeom prst="roundRect">
                <a:avLst>
                  <a:gd name="adj" fmla="val 1764"/>
                </a:avLst>
              </a:prstGeom>
              <a:blipFill>
                <a:blip r:embed="rId7"/>
                <a:stretch>
                  <a:fillRect/>
                </a:stretch>
              </a:blipFill>
              <a:ln w="12700">
                <a:solidFill>
                  <a:srgbClr val="00B0F0"/>
                </a:solidFill>
              </a:ln>
            </p:spPr>
            <p:txBody>
              <a:bodyPr/>
              <a:lstStyle/>
              <a:p>
                <a:r>
                  <a:rPr lang="en-US">
                    <a:noFill/>
                  </a:rPr>
                  <a:t> </a:t>
                </a:r>
              </a:p>
            </p:txBody>
          </p:sp>
        </mc:Fallback>
      </mc:AlternateContent>
      <p:sp>
        <p:nvSpPr>
          <p:cNvPr id="25" name="תיבת טקסט 13">
            <a:extLst>
              <a:ext uri="{FF2B5EF4-FFF2-40B4-BE49-F238E27FC236}">
                <a16:creationId xmlns:a16="http://schemas.microsoft.com/office/drawing/2014/main" id="{7731ED95-856E-BC63-85BC-0DF73EF72655}"/>
              </a:ext>
            </a:extLst>
          </p:cNvPr>
          <p:cNvSpPr txBox="1"/>
          <p:nvPr/>
        </p:nvSpPr>
        <p:spPr>
          <a:xfrm>
            <a:off x="8717280" y="4614759"/>
            <a:ext cx="2532101" cy="369332"/>
          </a:xfrm>
          <a:prstGeom prst="rect">
            <a:avLst/>
          </a:prstGeom>
          <a:noFill/>
        </p:spPr>
        <p:txBody>
          <a:bodyPr wrap="square">
            <a:spAutoFit/>
          </a:bodyPr>
          <a:lstStyle/>
          <a:p>
            <a:r>
              <a:rPr lang="he-IL">
                <a:latin typeface="Assistant" pitchFamily="2" charset="-79"/>
                <a:cs typeface="Assistant" pitchFamily="2" charset="-79"/>
              </a:rPr>
              <a:t>ג. כמה גולות קיבל אורי?</a:t>
            </a:r>
            <a:endParaRPr lang="LID4096" sz="2000">
              <a:latin typeface="Assistant" pitchFamily="2" charset="-79"/>
              <a:cs typeface="Assistant" pitchFamily="2" charset="-79"/>
            </a:endParaRPr>
          </a:p>
        </p:txBody>
      </p:sp>
      <p:sp>
        <p:nvSpPr>
          <p:cNvPr id="27" name="תיבת טקסט 13">
            <a:extLst>
              <a:ext uri="{FF2B5EF4-FFF2-40B4-BE49-F238E27FC236}">
                <a16:creationId xmlns:a16="http://schemas.microsoft.com/office/drawing/2014/main" id="{10B28598-58BE-53CC-05B6-622FBA440CA5}"/>
              </a:ext>
            </a:extLst>
          </p:cNvPr>
          <p:cNvSpPr txBox="1"/>
          <p:nvPr/>
        </p:nvSpPr>
        <p:spPr>
          <a:xfrm>
            <a:off x="8900160" y="5187094"/>
            <a:ext cx="2349221" cy="369332"/>
          </a:xfrm>
          <a:prstGeom prst="rect">
            <a:avLst/>
          </a:prstGeom>
          <a:noFill/>
        </p:spPr>
        <p:txBody>
          <a:bodyPr wrap="square">
            <a:spAutoFit/>
          </a:bodyPr>
          <a:lstStyle/>
          <a:p>
            <a:r>
              <a:rPr lang="he-IL">
                <a:latin typeface="Assistant" pitchFamily="2" charset="-79"/>
                <a:cs typeface="Assistant" pitchFamily="2" charset="-79"/>
              </a:rPr>
              <a:t>ד. כמה גולות קיבל דן?</a:t>
            </a:r>
            <a:endParaRPr lang="LID4096" sz="2000">
              <a:latin typeface="Assistant" pitchFamily="2" charset="-79"/>
              <a:cs typeface="Assistant" pitchFamily="2" charset="-79"/>
            </a:endParaRPr>
          </a:p>
        </p:txBody>
      </p:sp>
      <p:sp>
        <p:nvSpPr>
          <p:cNvPr id="30" name="מלבן: פינות מעוגלות 6">
            <a:extLst>
              <a:ext uri="{FF2B5EF4-FFF2-40B4-BE49-F238E27FC236}">
                <a16:creationId xmlns:a16="http://schemas.microsoft.com/office/drawing/2014/main" id="{0E2EF854-CE56-9AD3-7695-66B880530424}"/>
              </a:ext>
            </a:extLst>
          </p:cNvPr>
          <p:cNvSpPr/>
          <p:nvPr/>
        </p:nvSpPr>
        <p:spPr>
          <a:xfrm>
            <a:off x="7162800" y="4513936"/>
            <a:ext cx="1069358" cy="485548"/>
          </a:xfrm>
          <a:prstGeom prst="roundRect">
            <a:avLst>
              <a:gd name="adj" fmla="val 1764"/>
            </a:avLst>
          </a:prstGeom>
          <a:noFill/>
          <a:ln w="12700">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he-IL">
                <a:solidFill>
                  <a:schemeClr val="tx1"/>
                </a:solidFill>
                <a:latin typeface="Assistant" pitchFamily="2" charset="-79"/>
                <a:cs typeface="Assistant" pitchFamily="2" charset="-79"/>
              </a:rPr>
              <a:t>16</a:t>
            </a:r>
            <a:endParaRPr lang="LID4096">
              <a:solidFill>
                <a:schemeClr val="tx1"/>
              </a:solidFill>
              <a:latin typeface="Assistant" pitchFamily="2" charset="-79"/>
              <a:cs typeface="Assistant" pitchFamily="2" charset="-79"/>
            </a:endParaRPr>
          </a:p>
        </p:txBody>
      </p:sp>
      <p:sp>
        <p:nvSpPr>
          <p:cNvPr id="15" name="מלבן: פינות מעוגלות 12">
            <a:extLst>
              <a:ext uri="{FF2B5EF4-FFF2-40B4-BE49-F238E27FC236}">
                <a16:creationId xmlns:a16="http://schemas.microsoft.com/office/drawing/2014/main" id="{FE24E03A-F185-D8FD-1E54-8F941FE5228D}"/>
              </a:ext>
            </a:extLst>
          </p:cNvPr>
          <p:cNvSpPr/>
          <p:nvPr/>
        </p:nvSpPr>
        <p:spPr>
          <a:xfrm>
            <a:off x="1396796" y="4067398"/>
            <a:ext cx="759829" cy="361530"/>
          </a:xfrm>
          <a:prstGeom prst="roundRect">
            <a:avLst>
              <a:gd name="adj" fmla="val 50000"/>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a:solidFill>
                  <a:schemeClr val="tx1"/>
                </a:solidFill>
                <a:latin typeface="Assistant" pitchFamily="2" charset="-79"/>
                <a:cs typeface="Assistant" pitchFamily="2" charset="-79"/>
              </a:rPr>
              <a:t>40</a:t>
            </a:r>
            <a:endParaRPr lang="LID4096" b="1">
              <a:solidFill>
                <a:schemeClr val="tx1"/>
              </a:solidFill>
              <a:latin typeface="Assistant" pitchFamily="2" charset="-79"/>
              <a:cs typeface="Assistant" pitchFamily="2" charset="-79"/>
            </a:endParaRPr>
          </a:p>
        </p:txBody>
      </p:sp>
      <p:sp>
        <p:nvSpPr>
          <p:cNvPr id="19" name="מלבן: פינות מעוגלות 12">
            <a:extLst>
              <a:ext uri="{FF2B5EF4-FFF2-40B4-BE49-F238E27FC236}">
                <a16:creationId xmlns:a16="http://schemas.microsoft.com/office/drawing/2014/main" id="{C364F848-B32C-8D89-7451-5F0F05BB1AEF}"/>
              </a:ext>
            </a:extLst>
          </p:cNvPr>
          <p:cNvSpPr/>
          <p:nvPr/>
        </p:nvSpPr>
        <p:spPr>
          <a:xfrm>
            <a:off x="2440122" y="4067398"/>
            <a:ext cx="759829" cy="361530"/>
          </a:xfrm>
          <a:prstGeom prst="roundRect">
            <a:avLst>
              <a:gd name="adj" fmla="val 50000"/>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a:solidFill>
                  <a:schemeClr val="tx1"/>
                </a:solidFill>
                <a:latin typeface="Assistant" pitchFamily="2" charset="-79"/>
                <a:cs typeface="Assistant" pitchFamily="2" charset="-79"/>
              </a:rPr>
              <a:t>45</a:t>
            </a:r>
            <a:endParaRPr lang="LID4096" b="1">
              <a:solidFill>
                <a:schemeClr val="tx1"/>
              </a:solidFill>
              <a:latin typeface="Assistant" pitchFamily="2" charset="-79"/>
              <a:cs typeface="Assistant" pitchFamily="2" charset="-79"/>
            </a:endParaRPr>
          </a:p>
        </p:txBody>
      </p:sp>
      <p:pic>
        <p:nvPicPr>
          <p:cNvPr id="20" name="Graphic 19" descr="Badge Tick1 outline">
            <a:extLst>
              <a:ext uri="{FF2B5EF4-FFF2-40B4-BE49-F238E27FC236}">
                <a16:creationId xmlns:a16="http://schemas.microsoft.com/office/drawing/2014/main" id="{1D217A47-9533-688B-2AF5-906C97B4E0FF}"/>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1859193" y="3921175"/>
            <a:ext cx="607888" cy="607888"/>
          </a:xfrm>
          <a:prstGeom prst="rect">
            <a:avLst/>
          </a:prstGeom>
        </p:spPr>
      </p:pic>
      <p:sp>
        <p:nvSpPr>
          <p:cNvPr id="11" name="תיבת טקסט 4">
            <a:extLst>
              <a:ext uri="{FF2B5EF4-FFF2-40B4-BE49-F238E27FC236}">
                <a16:creationId xmlns:a16="http://schemas.microsoft.com/office/drawing/2014/main" id="{1F0F8566-D379-4FFF-7A2A-3A57241AFB94}"/>
              </a:ext>
            </a:extLst>
          </p:cNvPr>
          <p:cNvSpPr txBox="1"/>
          <p:nvPr/>
        </p:nvSpPr>
        <p:spPr>
          <a:xfrm>
            <a:off x="1706215" y="1296887"/>
            <a:ext cx="10109199" cy="707886"/>
          </a:xfrm>
          <a:prstGeom prst="rect">
            <a:avLst/>
          </a:prstGeom>
          <a:noFill/>
        </p:spPr>
        <p:txBody>
          <a:bodyPr wrap="square" rtlCol="0">
            <a:spAutoFit/>
          </a:bodyPr>
          <a:lstStyle/>
          <a:p>
            <a:r>
              <a:rPr lang="he-IL" sz="2000" b="1">
                <a:latin typeface="Assistant" pitchFamily="2" charset="-79"/>
                <a:cs typeface="Assistant" pitchFamily="2" charset="-79"/>
              </a:rPr>
              <a:t>קראו את התרגיל הבא. אל תפתרו אותו, רק הסתכלו על הנתונים וחישבו האם יש לכם כיוון לפתרון. </a:t>
            </a:r>
          </a:p>
          <a:p>
            <a:endParaRPr lang="he-IL" sz="2000">
              <a:latin typeface="Assistant" pitchFamily="2" charset="-79"/>
              <a:cs typeface="Assistant" pitchFamily="2" charset="-79"/>
            </a:endParaRPr>
          </a:p>
        </p:txBody>
      </p:sp>
      <p:sp>
        <p:nvSpPr>
          <p:cNvPr id="17" name="תיבת טקסט 4">
            <a:extLst>
              <a:ext uri="{FF2B5EF4-FFF2-40B4-BE49-F238E27FC236}">
                <a16:creationId xmlns:a16="http://schemas.microsoft.com/office/drawing/2014/main" id="{B96A6CAC-2F2B-AC11-A914-62DA9765B0E9}"/>
              </a:ext>
            </a:extLst>
          </p:cNvPr>
          <p:cNvSpPr txBox="1"/>
          <p:nvPr/>
        </p:nvSpPr>
        <p:spPr>
          <a:xfrm>
            <a:off x="3277164" y="1917290"/>
            <a:ext cx="8074922" cy="707886"/>
          </a:xfrm>
          <a:prstGeom prst="rect">
            <a:avLst/>
          </a:prstGeom>
          <a:noFill/>
        </p:spPr>
        <p:txBody>
          <a:bodyPr wrap="square" lIns="91440" tIns="45720" rIns="91440" bIns="45720" rtlCol="0" anchor="t">
            <a:spAutoFit/>
          </a:bodyPr>
          <a:lstStyle/>
          <a:p>
            <a:r>
              <a:rPr lang="he-IL" sz="2000">
                <a:latin typeface="Assistant"/>
                <a:cs typeface="Assistant"/>
              </a:rPr>
              <a:t>לאורי ודן יש  56 גולות. היחס בין כמות הגולות האדומות לבין כמות הגולות הכחולות </a:t>
            </a:r>
            <a:endParaRPr lang="he-IL">
              <a:latin typeface="Aptos" panose="02110004020202020204"/>
              <a:cs typeface="Arial" panose="020B0604020202020204" pitchFamily="34" charset="0"/>
            </a:endParaRPr>
          </a:p>
          <a:p>
            <a:r>
              <a:rPr lang="he-IL" sz="2000">
                <a:latin typeface="Assistant"/>
                <a:cs typeface="Assistant"/>
              </a:rPr>
              <a:t>הוא 5 : 2 . אורי קיבל את הגולות האדומות ודן קיבל את הגולות הכחולות.</a:t>
            </a:r>
            <a:endParaRPr lang="he-IL">
              <a:cs typeface="Arial"/>
            </a:endParaRPr>
          </a:p>
        </p:txBody>
      </p:sp>
    </p:spTree>
    <p:custDataLst>
      <p:tags r:id="rId1"/>
    </p:custDataLst>
    <p:extLst>
      <p:ext uri="{BB962C8B-B14F-4D97-AF65-F5344CB8AC3E}">
        <p14:creationId xmlns:p14="http://schemas.microsoft.com/office/powerpoint/2010/main" val="230806653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60A1F7-E808-3A9F-2478-E1D0B72F2B8E}"/>
            </a:ext>
          </a:extLst>
        </p:cNvPr>
        <p:cNvGrpSpPr/>
        <p:nvPr/>
      </p:nvGrpSpPr>
      <p:grpSpPr>
        <a:xfrm>
          <a:off x="0" y="0"/>
          <a:ext cx="0" cy="0"/>
          <a:chOff x="0" y="0"/>
          <a:chExt cx="0" cy="0"/>
        </a:xfrm>
      </p:grpSpPr>
      <p:cxnSp>
        <p:nvCxnSpPr>
          <p:cNvPr id="7" name="מחבר ישר 6">
            <a:extLst>
              <a:ext uri="{FF2B5EF4-FFF2-40B4-BE49-F238E27FC236}">
                <a16:creationId xmlns:a16="http://schemas.microsoft.com/office/drawing/2014/main" id="{B52C0E81-3BE2-CAA6-F994-F5A8CF1D805A}"/>
              </a:ext>
            </a:extLst>
          </p:cNvPr>
          <p:cNvCxnSpPr>
            <a:cxnSpLocks/>
          </p:cNvCxnSpPr>
          <p:nvPr/>
        </p:nvCxnSpPr>
        <p:spPr>
          <a:xfrm>
            <a:off x="0" y="6079252"/>
            <a:ext cx="12192000" cy="0"/>
          </a:xfrm>
          <a:prstGeom prst="line">
            <a:avLst/>
          </a:prstGeom>
          <a:ln>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8" name="תיבת טקסט 3">
            <a:extLst>
              <a:ext uri="{FF2B5EF4-FFF2-40B4-BE49-F238E27FC236}">
                <a16:creationId xmlns:a16="http://schemas.microsoft.com/office/drawing/2014/main" id="{5BA8714E-EDF5-DF18-5AC2-50FBA1F9EECD}"/>
              </a:ext>
            </a:extLst>
          </p:cNvPr>
          <p:cNvSpPr txBox="1"/>
          <p:nvPr/>
        </p:nvSpPr>
        <p:spPr>
          <a:xfrm>
            <a:off x="2120425" y="495079"/>
            <a:ext cx="8271803" cy="707886"/>
          </a:xfrm>
          <a:prstGeom prst="rect">
            <a:avLst/>
          </a:prstGeom>
          <a:noFill/>
        </p:spPr>
        <p:txBody>
          <a:bodyPr wrap="square" rtlCol="0">
            <a:spAutoFit/>
          </a:bodyPr>
          <a:lstStyle/>
          <a:p>
            <a:pPr algn="ctr"/>
            <a:r>
              <a:rPr lang="he-IL" sz="4000" b="1">
                <a:latin typeface="Assistant" pitchFamily="2" charset="-79"/>
                <a:cs typeface="Assistant" pitchFamily="2" charset="-79"/>
              </a:rPr>
              <a:t>יחס – בואו נפתור תרגיל ראשון יחד</a:t>
            </a:r>
            <a:endParaRPr lang="LID4096" sz="4000" b="1">
              <a:latin typeface="Assistant" pitchFamily="2" charset="-79"/>
              <a:cs typeface="Assistant" pitchFamily="2" charset="-79"/>
            </a:endParaRPr>
          </a:p>
        </p:txBody>
      </p:sp>
      <p:pic>
        <p:nvPicPr>
          <p:cNvPr id="41" name="תמונה 3">
            <a:extLst>
              <a:ext uri="{FF2B5EF4-FFF2-40B4-BE49-F238E27FC236}">
                <a16:creationId xmlns:a16="http://schemas.microsoft.com/office/drawing/2014/main" id="{F79BABF8-5A46-D764-1515-C7EEEE4AF399}"/>
              </a:ext>
            </a:extLst>
          </p:cNvPr>
          <p:cNvPicPr>
            <a:picLocks noChangeAspect="1"/>
          </p:cNvPicPr>
          <p:nvPr/>
        </p:nvPicPr>
        <p:blipFill>
          <a:blip r:embed="rId4">
            <a:extLst>
              <a:ext uri="{28A0092B-C50C-407E-A947-70E740481C1C}">
                <a14:useLocalDpi xmlns:a14="http://schemas.microsoft.com/office/drawing/2010/main"/>
              </a:ext>
            </a:extLst>
          </a:blip>
          <a:stretch>
            <a:fillRect/>
          </a:stretch>
        </p:blipFill>
        <p:spPr>
          <a:xfrm>
            <a:off x="223129" y="6246129"/>
            <a:ext cx="1777778" cy="495238"/>
          </a:xfrm>
          <a:prstGeom prst="rect">
            <a:avLst/>
          </a:prstGeom>
        </p:spPr>
      </p:pic>
      <p:grpSp>
        <p:nvGrpSpPr>
          <p:cNvPr id="13" name="Group 12">
            <a:extLst>
              <a:ext uri="{FF2B5EF4-FFF2-40B4-BE49-F238E27FC236}">
                <a16:creationId xmlns:a16="http://schemas.microsoft.com/office/drawing/2014/main" id="{96758A89-7554-1496-CB07-88CAD31C8D58}"/>
              </a:ext>
            </a:extLst>
          </p:cNvPr>
          <p:cNvGrpSpPr/>
          <p:nvPr/>
        </p:nvGrpSpPr>
        <p:grpSpPr>
          <a:xfrm>
            <a:off x="223129" y="1848421"/>
            <a:ext cx="11259763" cy="4063955"/>
            <a:chOff x="774950" y="2225164"/>
            <a:chExt cx="11259763" cy="4063955"/>
          </a:xfrm>
        </p:grpSpPr>
        <p:grpSp>
          <p:nvGrpSpPr>
            <p:cNvPr id="31" name="Group 30">
              <a:extLst>
                <a:ext uri="{FF2B5EF4-FFF2-40B4-BE49-F238E27FC236}">
                  <a16:creationId xmlns:a16="http://schemas.microsoft.com/office/drawing/2014/main" id="{30C7E564-9E9C-F36B-182C-D10005D430E7}"/>
                </a:ext>
              </a:extLst>
            </p:cNvPr>
            <p:cNvGrpSpPr/>
            <p:nvPr/>
          </p:nvGrpSpPr>
          <p:grpSpPr>
            <a:xfrm>
              <a:off x="774950" y="2570588"/>
              <a:ext cx="2207736" cy="400110"/>
              <a:chOff x="674914" y="2325906"/>
              <a:chExt cx="4397829" cy="400110"/>
            </a:xfrm>
          </p:grpSpPr>
          <p:cxnSp>
            <p:nvCxnSpPr>
              <p:cNvPr id="18" name="Straight Arrow Connector 17">
                <a:extLst>
                  <a:ext uri="{FF2B5EF4-FFF2-40B4-BE49-F238E27FC236}">
                    <a16:creationId xmlns:a16="http://schemas.microsoft.com/office/drawing/2014/main" id="{C9156BE0-D0A7-1383-C270-2719DF02972F}"/>
                  </a:ext>
                </a:extLst>
              </p:cNvPr>
              <p:cNvCxnSpPr>
                <a:cxnSpLocks/>
              </p:cNvCxnSpPr>
              <p:nvPr/>
            </p:nvCxnSpPr>
            <p:spPr>
              <a:xfrm>
                <a:off x="674914" y="2726016"/>
                <a:ext cx="4397829" cy="0"/>
              </a:xfrm>
              <a:prstGeom prst="straightConnector1">
                <a:avLst/>
              </a:prstGeom>
              <a:ln>
                <a:solidFill>
                  <a:schemeClr val="bg1"/>
                </a:solidFill>
                <a:headEnd type="triangle"/>
                <a:tailEnd type="triangle"/>
              </a:ln>
            </p:spPr>
            <p:style>
              <a:lnRef idx="2">
                <a:schemeClr val="accent1"/>
              </a:lnRef>
              <a:fillRef idx="0">
                <a:schemeClr val="accent1"/>
              </a:fillRef>
              <a:effectRef idx="1">
                <a:schemeClr val="accent1"/>
              </a:effectRef>
              <a:fontRef idx="minor">
                <a:schemeClr val="tx1"/>
              </a:fontRef>
            </p:style>
          </p:cxnSp>
          <p:sp>
            <p:nvSpPr>
              <p:cNvPr id="22" name="תיבת טקסט 4">
                <a:extLst>
                  <a:ext uri="{FF2B5EF4-FFF2-40B4-BE49-F238E27FC236}">
                    <a16:creationId xmlns:a16="http://schemas.microsoft.com/office/drawing/2014/main" id="{00E2B57B-0680-39B5-780F-7CD7C71EE96D}"/>
                  </a:ext>
                </a:extLst>
              </p:cNvPr>
              <p:cNvSpPr txBox="1"/>
              <p:nvPr/>
            </p:nvSpPr>
            <p:spPr>
              <a:xfrm>
                <a:off x="1981201" y="2325906"/>
                <a:ext cx="1812160" cy="400110"/>
              </a:xfrm>
              <a:prstGeom prst="rect">
                <a:avLst/>
              </a:prstGeom>
              <a:noFill/>
            </p:spPr>
            <p:txBody>
              <a:bodyPr wrap="square" rtlCol="0">
                <a:spAutoFit/>
              </a:bodyPr>
              <a:lstStyle/>
              <a:p>
                <a:r>
                  <a:rPr lang="he-IL" sz="2000">
                    <a:solidFill>
                      <a:schemeClr val="bg1"/>
                    </a:solidFill>
                    <a:latin typeface="Assistant" pitchFamily="2" charset="-79"/>
                    <a:cs typeface="Assistant" pitchFamily="2" charset="-79"/>
                  </a:rPr>
                  <a:t>5 ס"מ</a:t>
                </a:r>
              </a:p>
            </p:txBody>
          </p:sp>
        </p:grpSp>
        <p:sp>
          <p:nvSpPr>
            <p:cNvPr id="12" name="Rectangle 11">
              <a:extLst>
                <a:ext uri="{FF2B5EF4-FFF2-40B4-BE49-F238E27FC236}">
                  <a16:creationId xmlns:a16="http://schemas.microsoft.com/office/drawing/2014/main" id="{632F2281-6C66-0FFA-8CC5-6172352327A4}"/>
                </a:ext>
              </a:extLst>
            </p:cNvPr>
            <p:cNvSpPr/>
            <p:nvPr/>
          </p:nvSpPr>
          <p:spPr>
            <a:xfrm>
              <a:off x="4134264" y="2225164"/>
              <a:ext cx="7900449" cy="4063955"/>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grpSp>
      <p:sp>
        <p:nvSpPr>
          <p:cNvPr id="21" name="תיבת טקסט 13">
            <a:extLst>
              <a:ext uri="{FF2B5EF4-FFF2-40B4-BE49-F238E27FC236}">
                <a16:creationId xmlns:a16="http://schemas.microsoft.com/office/drawing/2014/main" id="{654BEAD7-5CCE-50EA-9476-ED51C78B9711}"/>
              </a:ext>
            </a:extLst>
          </p:cNvPr>
          <p:cNvSpPr txBox="1"/>
          <p:nvPr/>
        </p:nvSpPr>
        <p:spPr>
          <a:xfrm>
            <a:off x="8337865" y="2966488"/>
            <a:ext cx="2911516" cy="369332"/>
          </a:xfrm>
          <a:prstGeom prst="rect">
            <a:avLst/>
          </a:prstGeom>
          <a:noFill/>
        </p:spPr>
        <p:txBody>
          <a:bodyPr wrap="square">
            <a:spAutoFit/>
          </a:bodyPr>
          <a:lstStyle/>
          <a:p>
            <a:r>
              <a:rPr lang="he-IL">
                <a:latin typeface="Assistant" pitchFamily="2" charset="-79"/>
                <a:cs typeface="Assistant" pitchFamily="2" charset="-79"/>
              </a:rPr>
              <a:t>א. איזה חלק מהגולות קיבל אורי?</a:t>
            </a:r>
            <a:endParaRPr lang="LID4096">
              <a:latin typeface="Assistant" pitchFamily="2" charset="-79"/>
              <a:cs typeface="Assistant" pitchFamily="2" charset="-79"/>
            </a:endParaRPr>
          </a:p>
        </p:txBody>
      </p:sp>
      <p:sp>
        <p:nvSpPr>
          <p:cNvPr id="6" name="תיבת טקסט 13">
            <a:extLst>
              <a:ext uri="{FF2B5EF4-FFF2-40B4-BE49-F238E27FC236}">
                <a16:creationId xmlns:a16="http://schemas.microsoft.com/office/drawing/2014/main" id="{F1FBF0BD-D256-816B-EBC3-294661253EBE}"/>
              </a:ext>
            </a:extLst>
          </p:cNvPr>
          <p:cNvSpPr txBox="1"/>
          <p:nvPr/>
        </p:nvSpPr>
        <p:spPr>
          <a:xfrm>
            <a:off x="8505000" y="3752293"/>
            <a:ext cx="2744381" cy="369332"/>
          </a:xfrm>
          <a:prstGeom prst="rect">
            <a:avLst/>
          </a:prstGeom>
          <a:noFill/>
        </p:spPr>
        <p:txBody>
          <a:bodyPr wrap="square">
            <a:spAutoFit/>
          </a:bodyPr>
          <a:lstStyle/>
          <a:p>
            <a:r>
              <a:rPr lang="he-IL">
                <a:latin typeface="Assistant" pitchFamily="2" charset="-79"/>
                <a:cs typeface="Assistant" pitchFamily="2" charset="-79"/>
              </a:rPr>
              <a:t>ב. איזה חלק מהגולות קיבל דן?</a:t>
            </a:r>
            <a:endParaRPr lang="LID4096" sz="2000">
              <a:latin typeface="Assistant" pitchFamily="2" charset="-79"/>
              <a:cs typeface="Assistant" pitchFamily="2" charset="-79"/>
            </a:endParaRPr>
          </a:p>
        </p:txBody>
      </p:sp>
      <mc:AlternateContent xmlns:mc="http://schemas.openxmlformats.org/markup-compatibility/2006" xmlns:a14="http://schemas.microsoft.com/office/drawing/2010/main">
        <mc:Choice Requires="a14">
          <p:sp>
            <p:nvSpPr>
              <p:cNvPr id="5" name="מלבן: פינות מעוגלות 6">
                <a:extLst>
                  <a:ext uri="{FF2B5EF4-FFF2-40B4-BE49-F238E27FC236}">
                    <a16:creationId xmlns:a16="http://schemas.microsoft.com/office/drawing/2014/main" id="{3DFFF062-DDE7-CB83-CF82-29F0F620BC0B}"/>
                  </a:ext>
                </a:extLst>
              </p:cNvPr>
              <p:cNvSpPr/>
              <p:nvPr/>
            </p:nvSpPr>
            <p:spPr>
              <a:xfrm>
                <a:off x="7310120" y="2794395"/>
                <a:ext cx="774718" cy="713518"/>
              </a:xfrm>
              <a:prstGeom prst="roundRect">
                <a:avLst>
                  <a:gd name="adj" fmla="val 1764"/>
                </a:avLst>
              </a:prstGeom>
              <a:noFill/>
              <a:ln w="12700">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
                    </m:oMathParaPr>
                    <m:oMath>
                      <m:f>
                        <m:fPr>
                          <m:ctrlPr>
                            <a:rPr lang="en-US" i="1">
                              <a:solidFill>
                                <a:schemeClr val="tx1"/>
                              </a:solidFill>
                              <a:latin typeface="Cambria Math" panose="02040503050406030204" pitchFamily="18" charset="0"/>
                            </a:rPr>
                          </m:ctrlPr>
                        </m:fPr>
                        <m:num>
                          <m:r>
                            <a:rPr lang="en-US" i="1">
                              <a:solidFill>
                                <a:schemeClr val="tx1"/>
                              </a:solidFill>
                              <a:latin typeface="Cambria Math" panose="02040503050406030204" pitchFamily="18" charset="0"/>
                            </a:rPr>
                            <m:t>2</m:t>
                          </m:r>
                        </m:num>
                        <m:den>
                          <m:r>
                            <a:rPr lang="en-US" i="1">
                              <a:solidFill>
                                <a:schemeClr val="tx1"/>
                              </a:solidFill>
                              <a:latin typeface="Cambria Math" panose="02040503050406030204" pitchFamily="18" charset="0"/>
                            </a:rPr>
                            <m:t>7</m:t>
                          </m:r>
                        </m:den>
                      </m:f>
                    </m:oMath>
                  </m:oMathPara>
                </a14:m>
                <a:endParaRPr lang="LID4096" sz="2000">
                  <a:solidFill>
                    <a:schemeClr val="tx1"/>
                  </a:solidFill>
                </a:endParaRPr>
              </a:p>
            </p:txBody>
          </p:sp>
        </mc:Choice>
        <mc:Fallback xmlns="">
          <p:sp>
            <p:nvSpPr>
              <p:cNvPr id="5" name="מלבן: פינות מעוגלות 6">
                <a:extLst>
                  <a:ext uri="{FF2B5EF4-FFF2-40B4-BE49-F238E27FC236}">
                    <a16:creationId xmlns:a16="http://schemas.microsoft.com/office/drawing/2014/main" id="{3DFFF062-DDE7-CB83-CF82-29F0F620BC0B}"/>
                  </a:ext>
                </a:extLst>
              </p:cNvPr>
              <p:cNvSpPr>
                <a:spLocks noRot="1" noChangeAspect="1" noMove="1" noResize="1" noEditPoints="1" noAdjustHandles="1" noChangeArrowheads="1" noChangeShapeType="1" noTextEdit="1"/>
              </p:cNvSpPr>
              <p:nvPr/>
            </p:nvSpPr>
            <p:spPr>
              <a:xfrm>
                <a:off x="7310120" y="2794395"/>
                <a:ext cx="774718" cy="713518"/>
              </a:xfrm>
              <a:prstGeom prst="roundRect">
                <a:avLst>
                  <a:gd name="adj" fmla="val 1764"/>
                </a:avLst>
              </a:prstGeom>
              <a:blipFill>
                <a:blip r:embed="rId5"/>
                <a:stretch>
                  <a:fillRect/>
                </a:stretch>
              </a:blipFill>
              <a:ln w="12700">
                <a:solidFill>
                  <a:srgbClr val="00B0F0"/>
                </a:solidFill>
              </a:ln>
            </p:spPr>
            <p:txBody>
              <a:bodyPr/>
              <a:lstStyle/>
              <a:p>
                <a:r>
                  <a:rPr lang="en-US">
                    <a:noFill/>
                  </a:rPr>
                  <a:t> </a:t>
                </a:r>
              </a:p>
            </p:txBody>
          </p:sp>
        </mc:Fallback>
      </mc:AlternateContent>
      <p:sp>
        <p:nvSpPr>
          <p:cNvPr id="48" name="מלבן: פינות מעוגלות 6">
            <a:extLst>
              <a:ext uri="{FF2B5EF4-FFF2-40B4-BE49-F238E27FC236}">
                <a16:creationId xmlns:a16="http://schemas.microsoft.com/office/drawing/2014/main" id="{BB77642E-ABC1-59DF-C5A5-F05730D335E1}"/>
              </a:ext>
            </a:extLst>
          </p:cNvPr>
          <p:cNvSpPr/>
          <p:nvPr/>
        </p:nvSpPr>
        <p:spPr>
          <a:xfrm>
            <a:off x="7162800" y="5187094"/>
            <a:ext cx="1069358" cy="485548"/>
          </a:xfrm>
          <a:prstGeom prst="roundRect">
            <a:avLst>
              <a:gd name="adj" fmla="val 1764"/>
            </a:avLst>
          </a:prstGeom>
          <a:noFill/>
          <a:ln w="12700">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he-IL">
                <a:solidFill>
                  <a:schemeClr val="tx1"/>
                </a:solidFill>
                <a:latin typeface="Assistant" pitchFamily="2" charset="-79"/>
                <a:cs typeface="Assistant" pitchFamily="2" charset="-79"/>
              </a:rPr>
              <a:t>40</a:t>
            </a:r>
            <a:endParaRPr lang="LID4096">
              <a:solidFill>
                <a:schemeClr val="tx1"/>
              </a:solidFill>
              <a:latin typeface="Assistant" pitchFamily="2" charset="-79"/>
              <a:cs typeface="Assistant" pitchFamily="2" charset="-79"/>
            </a:endParaRPr>
          </a:p>
        </p:txBody>
      </p:sp>
      <p:grpSp>
        <p:nvGrpSpPr>
          <p:cNvPr id="3" name="Group 2">
            <a:extLst>
              <a:ext uri="{FF2B5EF4-FFF2-40B4-BE49-F238E27FC236}">
                <a16:creationId xmlns:a16="http://schemas.microsoft.com/office/drawing/2014/main" id="{FE7DB951-DE95-BC98-BD52-4F1CF838227D}"/>
              </a:ext>
            </a:extLst>
          </p:cNvPr>
          <p:cNvGrpSpPr/>
          <p:nvPr/>
        </p:nvGrpSpPr>
        <p:grpSpPr>
          <a:xfrm>
            <a:off x="212772" y="1887141"/>
            <a:ext cx="3136164" cy="3669286"/>
            <a:chOff x="5942177" y="3669403"/>
            <a:chExt cx="4806996" cy="4121733"/>
          </a:xfrm>
        </p:grpSpPr>
        <p:sp>
          <p:nvSpPr>
            <p:cNvPr id="4" name="מלבן: פינות מעוגלות 2">
              <a:extLst>
                <a:ext uri="{FF2B5EF4-FFF2-40B4-BE49-F238E27FC236}">
                  <a16:creationId xmlns:a16="http://schemas.microsoft.com/office/drawing/2014/main" id="{2D449190-DFCD-CE3C-7535-07413CE76DF6}"/>
                </a:ext>
              </a:extLst>
            </p:cNvPr>
            <p:cNvSpPr/>
            <p:nvPr/>
          </p:nvSpPr>
          <p:spPr>
            <a:xfrm>
              <a:off x="5958055" y="3669403"/>
              <a:ext cx="4791118" cy="4121733"/>
            </a:xfrm>
            <a:prstGeom prst="roundRect">
              <a:avLst>
                <a:gd name="adj" fmla="val 8509"/>
              </a:avLst>
            </a:prstGeom>
            <a:solidFill>
              <a:srgbClr val="00B0F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LID4096"/>
            </a:p>
          </p:txBody>
        </p:sp>
        <mc:AlternateContent xmlns:mc="http://schemas.openxmlformats.org/markup-compatibility/2006" xmlns:a14="http://schemas.microsoft.com/office/drawing/2010/main">
          <mc:Choice Requires="a14">
            <p:sp>
              <p:nvSpPr>
                <p:cNvPr id="10" name="תיבת טקסט 5">
                  <a:extLst>
                    <a:ext uri="{FF2B5EF4-FFF2-40B4-BE49-F238E27FC236}">
                      <a16:creationId xmlns:a16="http://schemas.microsoft.com/office/drawing/2014/main" id="{4548D681-6612-E95D-A369-D98B7BF87E47}"/>
                    </a:ext>
                  </a:extLst>
                </p:cNvPr>
                <p:cNvSpPr txBox="1"/>
                <p:nvPr/>
              </p:nvSpPr>
              <p:spPr>
                <a:xfrm>
                  <a:off x="5942177" y="3763129"/>
                  <a:ext cx="4660309" cy="3913490"/>
                </a:xfrm>
                <a:prstGeom prst="rect">
                  <a:avLst/>
                </a:prstGeom>
                <a:noFill/>
              </p:spPr>
              <p:txBody>
                <a:bodyPr wrap="square" rtlCol="0">
                  <a:spAutoFit/>
                </a:bodyPr>
                <a:lstStyle/>
                <a:p>
                  <a:r>
                    <a:rPr lang="he-IL">
                      <a:solidFill>
                        <a:schemeClr val="bg1"/>
                      </a:solidFill>
                      <a:latin typeface="Assistant" pitchFamily="2" charset="-79"/>
                      <a:cs typeface="Assistant" pitchFamily="2" charset="-79"/>
                    </a:rPr>
                    <a:t>דן קיבל 40 גולות.</a:t>
                  </a:r>
                </a:p>
                <a:p>
                  <a:r>
                    <a:rPr lang="he-IL">
                      <a:solidFill>
                        <a:schemeClr val="bg1"/>
                      </a:solidFill>
                      <a:latin typeface="Assistant" pitchFamily="2" charset="-79"/>
                      <a:cs typeface="Assistant" pitchFamily="2" charset="-79"/>
                    </a:rPr>
                    <a:t>נוכל גם לסדר את הגולות בקבוצות של </a:t>
                  </a:r>
                  <a:r>
                    <a:rPr lang="he-IL" b="1">
                      <a:solidFill>
                        <a:schemeClr val="bg1"/>
                      </a:solidFill>
                      <a:latin typeface="Assistant" pitchFamily="2" charset="-79"/>
                      <a:cs typeface="Assistant" pitchFamily="2" charset="-79"/>
                    </a:rPr>
                    <a:t>7</a:t>
                  </a:r>
                  <a:r>
                    <a:rPr lang="he-IL">
                      <a:solidFill>
                        <a:schemeClr val="bg1"/>
                      </a:solidFill>
                      <a:latin typeface="Assistant" pitchFamily="2" charset="-79"/>
                      <a:cs typeface="Assistant" pitchFamily="2" charset="-79"/>
                    </a:rPr>
                    <a:t>. </a:t>
                  </a:r>
                </a:p>
                <a:p>
                  <a:r>
                    <a:rPr lang="he-IL">
                      <a:solidFill>
                        <a:schemeClr val="bg1"/>
                      </a:solidFill>
                      <a:latin typeface="Assistant" pitchFamily="2" charset="-79"/>
                      <a:cs typeface="Assistant" pitchFamily="2" charset="-79"/>
                    </a:rPr>
                    <a:t>בכל קבוצה יהיו </a:t>
                  </a:r>
                  <a:r>
                    <a:rPr lang="he-IL" b="1">
                      <a:solidFill>
                        <a:schemeClr val="bg1"/>
                      </a:solidFill>
                      <a:latin typeface="Assistant" pitchFamily="2" charset="-79"/>
                      <a:cs typeface="Assistant" pitchFamily="2" charset="-79"/>
                    </a:rPr>
                    <a:t>2 גולות אדומות</a:t>
                  </a:r>
                  <a:r>
                    <a:rPr lang="he-IL">
                      <a:solidFill>
                        <a:schemeClr val="bg1"/>
                      </a:solidFill>
                      <a:latin typeface="Assistant" pitchFamily="2" charset="-79"/>
                      <a:cs typeface="Assistant" pitchFamily="2" charset="-79"/>
                    </a:rPr>
                    <a:t> ו־</a:t>
                  </a:r>
                  <a:r>
                    <a:rPr lang="he-IL" b="1">
                      <a:solidFill>
                        <a:schemeClr val="bg1"/>
                      </a:solidFill>
                      <a:latin typeface="Assistant" pitchFamily="2" charset="-79"/>
                      <a:cs typeface="Assistant" pitchFamily="2" charset="-79"/>
                    </a:rPr>
                    <a:t>5 גולות כחולות</a:t>
                  </a:r>
                  <a:r>
                    <a:rPr lang="he-IL">
                      <a:solidFill>
                        <a:schemeClr val="bg1"/>
                      </a:solidFill>
                      <a:latin typeface="Assistant" pitchFamily="2" charset="-79"/>
                      <a:cs typeface="Assistant" pitchFamily="2" charset="-79"/>
                    </a:rPr>
                    <a:t>. </a:t>
                  </a:r>
                </a:p>
                <a:p>
                  <a:r>
                    <a:rPr lang="he-IL">
                      <a:solidFill>
                        <a:schemeClr val="bg1"/>
                      </a:solidFill>
                      <a:latin typeface="Assistant" pitchFamily="2" charset="-79"/>
                      <a:cs typeface="Assistant" pitchFamily="2" charset="-79"/>
                    </a:rPr>
                    <a:t>מכיוון ש- 8 = 7 ÷</a:t>
                  </a:r>
                  <a:r>
                    <a:rPr lang="he-IL" b="1">
                      <a:solidFill>
                        <a:schemeClr val="bg1"/>
                      </a:solidFill>
                      <a:latin typeface="Assistant" pitchFamily="2" charset="-79"/>
                      <a:cs typeface="Assistant" pitchFamily="2" charset="-79"/>
                    </a:rPr>
                    <a:t> </a:t>
                  </a:r>
                  <a:r>
                    <a:rPr lang="he-IL">
                      <a:solidFill>
                        <a:schemeClr val="bg1"/>
                      </a:solidFill>
                      <a:latin typeface="Assistant" pitchFamily="2" charset="-79"/>
                      <a:cs typeface="Assistant" pitchFamily="2" charset="-79"/>
                    </a:rPr>
                    <a:t>56, </a:t>
                  </a:r>
                </a:p>
                <a:p>
                  <a:r>
                    <a:rPr lang="he-IL">
                      <a:solidFill>
                        <a:schemeClr val="bg1"/>
                      </a:solidFill>
                      <a:latin typeface="Assistant" pitchFamily="2" charset="-79"/>
                      <a:cs typeface="Assistant" pitchFamily="2" charset="-79"/>
                    </a:rPr>
                    <a:t>נוצרו </a:t>
                  </a:r>
                  <a:r>
                    <a:rPr lang="he-IL" b="1">
                      <a:solidFill>
                        <a:schemeClr val="bg1"/>
                      </a:solidFill>
                      <a:latin typeface="Assistant" pitchFamily="2" charset="-79"/>
                      <a:cs typeface="Assistant" pitchFamily="2" charset="-79"/>
                    </a:rPr>
                    <a:t>8 קבוצות (בתמונה כל קבוצה מסודרת בשורה)</a:t>
                  </a:r>
                  <a:r>
                    <a:rPr lang="he-IL">
                      <a:solidFill>
                        <a:schemeClr val="bg1"/>
                      </a:solidFill>
                      <a:latin typeface="Assistant" pitchFamily="2" charset="-79"/>
                      <a:cs typeface="Assistant" pitchFamily="2" charset="-79"/>
                    </a:rPr>
                    <a:t>.</a:t>
                  </a:r>
                </a:p>
                <a:p>
                  <a:r>
                    <a:rPr lang="he-IL">
                      <a:solidFill>
                        <a:schemeClr val="bg1"/>
                      </a:solidFill>
                      <a:latin typeface="Assistant" pitchFamily="2" charset="-79"/>
                      <a:cs typeface="Assistant" pitchFamily="2" charset="-79"/>
                    </a:rPr>
                    <a:t>לכן, יהיו </a:t>
                  </a:r>
                  <a14:m>
                    <m:oMath xmlns:m="http://schemas.openxmlformats.org/officeDocument/2006/math">
                      <m:r>
                        <a:rPr lang="en-US" b="0" i="0" smtClean="0">
                          <a:solidFill>
                            <a:schemeClr val="bg1"/>
                          </a:solidFill>
                          <a:latin typeface="Cambria Math" panose="02040503050406030204" pitchFamily="18" charset="0"/>
                        </a:rPr>
                        <m:t> 8</m:t>
                      </m:r>
                      <m:r>
                        <a:rPr lang="en-US" i="1">
                          <a:solidFill>
                            <a:schemeClr val="bg1"/>
                          </a:solidFill>
                          <a:latin typeface="Cambria Math" panose="02040503050406030204" pitchFamily="18" charset="0"/>
                        </a:rPr>
                        <m:t>⋅</m:t>
                      </m:r>
                      <m:r>
                        <a:rPr lang="he-IL" b="0" i="1" smtClean="0">
                          <a:solidFill>
                            <a:schemeClr val="bg1"/>
                          </a:solidFill>
                          <a:latin typeface="Cambria Math" panose="02040503050406030204" pitchFamily="18" charset="0"/>
                        </a:rPr>
                        <m:t>שורות </m:t>
                      </m:r>
                      <m:r>
                        <a:rPr lang="en-US" b="0" i="1" smtClean="0">
                          <a:solidFill>
                            <a:schemeClr val="bg1"/>
                          </a:solidFill>
                          <a:latin typeface="Cambria Math" panose="02040503050406030204" pitchFamily="18" charset="0"/>
                        </a:rPr>
                        <m:t>2=16</m:t>
                      </m:r>
                    </m:oMath>
                  </a14:m>
                  <a:r>
                    <a:rPr lang="he-IL">
                      <a:solidFill>
                        <a:schemeClr val="bg1"/>
                      </a:solidFill>
                      <a:latin typeface="Assistant" pitchFamily="2" charset="-79"/>
                      <a:cs typeface="Assistant" pitchFamily="2" charset="-79"/>
                    </a:rPr>
                    <a:t> גולות אדומות,</a:t>
                  </a:r>
                </a:p>
                <a:p>
                  <a:r>
                    <a:rPr lang="he-IL">
                      <a:solidFill>
                        <a:schemeClr val="bg1"/>
                      </a:solidFill>
                      <a:latin typeface="Assistant" pitchFamily="2" charset="-79"/>
                      <a:cs typeface="Assistant" pitchFamily="2" charset="-79"/>
                    </a:rPr>
                    <a:t>ו- </a:t>
                  </a:r>
                  <a14:m>
                    <m:oMath xmlns:m="http://schemas.openxmlformats.org/officeDocument/2006/math">
                      <m:r>
                        <a:rPr lang="en-US" b="0" i="1" smtClean="0">
                          <a:solidFill>
                            <a:schemeClr val="bg1"/>
                          </a:solidFill>
                          <a:latin typeface="Cambria Math" panose="02040503050406030204" pitchFamily="18" charset="0"/>
                        </a:rPr>
                        <m:t>8</m:t>
                      </m:r>
                      <m:r>
                        <a:rPr lang="en-US" i="1">
                          <a:solidFill>
                            <a:schemeClr val="bg1"/>
                          </a:solidFill>
                          <a:latin typeface="Cambria Math" panose="02040503050406030204" pitchFamily="18" charset="0"/>
                        </a:rPr>
                        <m:t>⋅</m:t>
                      </m:r>
                      <m:r>
                        <a:rPr lang="he-IL" b="0" i="1" smtClean="0">
                          <a:solidFill>
                            <a:schemeClr val="bg1"/>
                          </a:solidFill>
                          <a:latin typeface="Cambria Math" panose="02040503050406030204" pitchFamily="18" charset="0"/>
                        </a:rPr>
                        <m:t>שורות</m:t>
                      </m:r>
                      <m:r>
                        <a:rPr lang="en-US" b="0" i="1" smtClean="0">
                          <a:solidFill>
                            <a:schemeClr val="bg1"/>
                          </a:solidFill>
                          <a:latin typeface="Cambria Math" panose="02040503050406030204" pitchFamily="18" charset="0"/>
                        </a:rPr>
                        <m:t> 5</m:t>
                      </m:r>
                      <m:r>
                        <a:rPr lang="en-US" i="1">
                          <a:solidFill>
                            <a:schemeClr val="bg1"/>
                          </a:solidFill>
                          <a:latin typeface="Cambria Math" panose="02040503050406030204" pitchFamily="18" charset="0"/>
                        </a:rPr>
                        <m:t>=40</m:t>
                      </m:r>
                    </m:oMath>
                  </a14:m>
                  <a:r>
                    <a:rPr lang="he-IL">
                      <a:solidFill>
                        <a:schemeClr val="bg1"/>
                      </a:solidFill>
                      <a:latin typeface="Assistant" pitchFamily="2" charset="-79"/>
                      <a:cs typeface="Assistant" pitchFamily="2" charset="-79"/>
                    </a:rPr>
                    <a:t> גולות כחולות. </a:t>
                  </a:r>
                  <a:endParaRPr lang="en-US">
                    <a:solidFill>
                      <a:schemeClr val="bg1"/>
                    </a:solidFill>
                    <a:latin typeface="Assistant" pitchFamily="2" charset="-79"/>
                    <a:cs typeface="Assistant" pitchFamily="2" charset="-79"/>
                  </a:endParaRPr>
                </a:p>
              </p:txBody>
            </p:sp>
          </mc:Choice>
          <mc:Fallback xmlns="">
            <p:sp>
              <p:nvSpPr>
                <p:cNvPr id="10" name="תיבת טקסט 5">
                  <a:extLst>
                    <a:ext uri="{FF2B5EF4-FFF2-40B4-BE49-F238E27FC236}">
                      <a16:creationId xmlns:a16="http://schemas.microsoft.com/office/drawing/2014/main" id="{4548D681-6612-E95D-A369-D98B7BF87E47}"/>
                    </a:ext>
                  </a:extLst>
                </p:cNvPr>
                <p:cNvSpPr txBox="1">
                  <a:spLocks noRot="1" noChangeAspect="1" noMove="1" noResize="1" noEditPoints="1" noAdjustHandles="1" noChangeArrowheads="1" noChangeShapeType="1" noTextEdit="1"/>
                </p:cNvSpPr>
                <p:nvPr/>
              </p:nvSpPr>
              <p:spPr>
                <a:xfrm>
                  <a:off x="5942177" y="3763129"/>
                  <a:ext cx="4660309" cy="3913490"/>
                </a:xfrm>
                <a:prstGeom prst="rect">
                  <a:avLst/>
                </a:prstGeom>
                <a:blipFill>
                  <a:blip r:embed="rId6"/>
                  <a:stretch>
                    <a:fillRect l="-2004" t="-874" r="-1603" b="-1748"/>
                  </a:stretch>
                </a:blipFill>
              </p:spPr>
              <p:txBody>
                <a:bodyPr/>
                <a:lstStyle/>
                <a:p>
                  <a:r>
                    <a:rPr lang="en-US">
                      <a:noFill/>
                    </a:rPr>
                    <a:t> </a:t>
                  </a:r>
                </a:p>
              </p:txBody>
            </p:sp>
          </mc:Fallback>
        </mc:AlternateContent>
      </p:grpSp>
      <mc:AlternateContent xmlns:mc="http://schemas.openxmlformats.org/markup-compatibility/2006" xmlns:a14="http://schemas.microsoft.com/office/drawing/2010/main">
        <mc:Choice Requires="a14">
          <p:sp>
            <p:nvSpPr>
              <p:cNvPr id="24" name="מלבן: פינות מעוגלות 6">
                <a:extLst>
                  <a:ext uri="{FF2B5EF4-FFF2-40B4-BE49-F238E27FC236}">
                    <a16:creationId xmlns:a16="http://schemas.microsoft.com/office/drawing/2014/main" id="{CADD1861-B1BD-D63F-F3B1-89CF1AC6A4F2}"/>
                  </a:ext>
                </a:extLst>
              </p:cNvPr>
              <p:cNvSpPr/>
              <p:nvPr/>
            </p:nvSpPr>
            <p:spPr>
              <a:xfrm>
                <a:off x="7310120" y="3628221"/>
                <a:ext cx="774718" cy="713518"/>
              </a:xfrm>
              <a:prstGeom prst="roundRect">
                <a:avLst>
                  <a:gd name="adj" fmla="val 1764"/>
                </a:avLst>
              </a:prstGeom>
              <a:noFill/>
              <a:ln w="12700">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
                    </m:oMathParaPr>
                    <m:oMath>
                      <m:f>
                        <m:fPr>
                          <m:ctrlPr>
                            <a:rPr lang="en-US" b="0" i="1" smtClean="0">
                              <a:solidFill>
                                <a:schemeClr val="tx1"/>
                              </a:solidFill>
                              <a:latin typeface="Cambria Math" panose="02040503050406030204" pitchFamily="18" charset="0"/>
                            </a:rPr>
                          </m:ctrlPr>
                        </m:fPr>
                        <m:num>
                          <m:r>
                            <a:rPr lang="en-US" b="0" i="1" smtClean="0">
                              <a:solidFill>
                                <a:schemeClr val="tx1"/>
                              </a:solidFill>
                              <a:latin typeface="Cambria Math" panose="02040503050406030204" pitchFamily="18" charset="0"/>
                            </a:rPr>
                            <m:t>5</m:t>
                          </m:r>
                        </m:num>
                        <m:den>
                          <m:r>
                            <a:rPr lang="en-US" i="1">
                              <a:solidFill>
                                <a:schemeClr val="tx1"/>
                              </a:solidFill>
                              <a:latin typeface="Cambria Math" panose="02040503050406030204" pitchFamily="18" charset="0"/>
                            </a:rPr>
                            <m:t>7</m:t>
                          </m:r>
                        </m:den>
                      </m:f>
                    </m:oMath>
                  </m:oMathPara>
                </a14:m>
                <a:endParaRPr lang="LID4096" sz="2000">
                  <a:solidFill>
                    <a:schemeClr val="tx1"/>
                  </a:solidFill>
                </a:endParaRPr>
              </a:p>
            </p:txBody>
          </p:sp>
        </mc:Choice>
        <mc:Fallback xmlns="">
          <p:sp>
            <p:nvSpPr>
              <p:cNvPr id="24" name="מלבן: פינות מעוגלות 6">
                <a:extLst>
                  <a:ext uri="{FF2B5EF4-FFF2-40B4-BE49-F238E27FC236}">
                    <a16:creationId xmlns:a16="http://schemas.microsoft.com/office/drawing/2014/main" id="{CADD1861-B1BD-D63F-F3B1-89CF1AC6A4F2}"/>
                  </a:ext>
                </a:extLst>
              </p:cNvPr>
              <p:cNvSpPr>
                <a:spLocks noRot="1" noChangeAspect="1" noMove="1" noResize="1" noEditPoints="1" noAdjustHandles="1" noChangeArrowheads="1" noChangeShapeType="1" noTextEdit="1"/>
              </p:cNvSpPr>
              <p:nvPr/>
            </p:nvSpPr>
            <p:spPr>
              <a:xfrm>
                <a:off x="7310120" y="3628221"/>
                <a:ext cx="774718" cy="713518"/>
              </a:xfrm>
              <a:prstGeom prst="roundRect">
                <a:avLst>
                  <a:gd name="adj" fmla="val 1764"/>
                </a:avLst>
              </a:prstGeom>
              <a:blipFill>
                <a:blip r:embed="rId7"/>
                <a:stretch>
                  <a:fillRect/>
                </a:stretch>
              </a:blipFill>
              <a:ln w="12700">
                <a:solidFill>
                  <a:srgbClr val="00B0F0"/>
                </a:solidFill>
              </a:ln>
            </p:spPr>
            <p:txBody>
              <a:bodyPr/>
              <a:lstStyle/>
              <a:p>
                <a:r>
                  <a:rPr lang="en-US">
                    <a:noFill/>
                  </a:rPr>
                  <a:t> </a:t>
                </a:r>
              </a:p>
            </p:txBody>
          </p:sp>
        </mc:Fallback>
      </mc:AlternateContent>
      <p:sp>
        <p:nvSpPr>
          <p:cNvPr id="25" name="תיבת טקסט 13">
            <a:extLst>
              <a:ext uri="{FF2B5EF4-FFF2-40B4-BE49-F238E27FC236}">
                <a16:creationId xmlns:a16="http://schemas.microsoft.com/office/drawing/2014/main" id="{7E5690D9-8FCC-2709-4124-A598022E17D5}"/>
              </a:ext>
            </a:extLst>
          </p:cNvPr>
          <p:cNvSpPr txBox="1"/>
          <p:nvPr/>
        </p:nvSpPr>
        <p:spPr>
          <a:xfrm>
            <a:off x="8717280" y="4614759"/>
            <a:ext cx="2532101" cy="369332"/>
          </a:xfrm>
          <a:prstGeom prst="rect">
            <a:avLst/>
          </a:prstGeom>
          <a:noFill/>
        </p:spPr>
        <p:txBody>
          <a:bodyPr wrap="square">
            <a:spAutoFit/>
          </a:bodyPr>
          <a:lstStyle/>
          <a:p>
            <a:r>
              <a:rPr lang="he-IL">
                <a:latin typeface="Assistant" pitchFamily="2" charset="-79"/>
                <a:cs typeface="Assistant" pitchFamily="2" charset="-79"/>
              </a:rPr>
              <a:t>ג. כמה גולות קיבל אורי?</a:t>
            </a:r>
            <a:endParaRPr lang="LID4096" sz="2000">
              <a:latin typeface="Assistant" pitchFamily="2" charset="-79"/>
              <a:cs typeface="Assistant" pitchFamily="2" charset="-79"/>
            </a:endParaRPr>
          </a:p>
        </p:txBody>
      </p:sp>
      <p:sp>
        <p:nvSpPr>
          <p:cNvPr id="27" name="תיבת טקסט 13">
            <a:extLst>
              <a:ext uri="{FF2B5EF4-FFF2-40B4-BE49-F238E27FC236}">
                <a16:creationId xmlns:a16="http://schemas.microsoft.com/office/drawing/2014/main" id="{44521149-5DAC-7122-87A6-E56F2F8534EA}"/>
              </a:ext>
            </a:extLst>
          </p:cNvPr>
          <p:cNvSpPr txBox="1"/>
          <p:nvPr/>
        </p:nvSpPr>
        <p:spPr>
          <a:xfrm>
            <a:off x="8900160" y="5187094"/>
            <a:ext cx="2349221" cy="369332"/>
          </a:xfrm>
          <a:prstGeom prst="rect">
            <a:avLst/>
          </a:prstGeom>
          <a:noFill/>
        </p:spPr>
        <p:txBody>
          <a:bodyPr wrap="square">
            <a:spAutoFit/>
          </a:bodyPr>
          <a:lstStyle/>
          <a:p>
            <a:r>
              <a:rPr lang="he-IL">
                <a:latin typeface="Assistant" pitchFamily="2" charset="-79"/>
                <a:cs typeface="Assistant" pitchFamily="2" charset="-79"/>
              </a:rPr>
              <a:t>ד. כמה גולות קיבל דן?</a:t>
            </a:r>
            <a:endParaRPr lang="LID4096" sz="2000">
              <a:latin typeface="Assistant" pitchFamily="2" charset="-79"/>
              <a:cs typeface="Assistant" pitchFamily="2" charset="-79"/>
            </a:endParaRPr>
          </a:p>
        </p:txBody>
      </p:sp>
      <p:sp>
        <p:nvSpPr>
          <p:cNvPr id="30" name="מלבן: פינות מעוגלות 6">
            <a:extLst>
              <a:ext uri="{FF2B5EF4-FFF2-40B4-BE49-F238E27FC236}">
                <a16:creationId xmlns:a16="http://schemas.microsoft.com/office/drawing/2014/main" id="{52E19556-8255-5853-DD52-FA6501065CD5}"/>
              </a:ext>
            </a:extLst>
          </p:cNvPr>
          <p:cNvSpPr/>
          <p:nvPr/>
        </p:nvSpPr>
        <p:spPr>
          <a:xfrm>
            <a:off x="7162800" y="4513936"/>
            <a:ext cx="1069358" cy="485548"/>
          </a:xfrm>
          <a:prstGeom prst="roundRect">
            <a:avLst>
              <a:gd name="adj" fmla="val 1764"/>
            </a:avLst>
          </a:prstGeom>
          <a:noFill/>
          <a:ln w="12700">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he-IL">
                <a:solidFill>
                  <a:schemeClr val="tx1"/>
                </a:solidFill>
                <a:latin typeface="Assistant" pitchFamily="2" charset="-79"/>
                <a:cs typeface="Assistant" pitchFamily="2" charset="-79"/>
              </a:rPr>
              <a:t>16</a:t>
            </a:r>
            <a:endParaRPr lang="LID4096">
              <a:solidFill>
                <a:schemeClr val="tx1"/>
              </a:solidFill>
              <a:latin typeface="Assistant" pitchFamily="2" charset="-79"/>
              <a:cs typeface="Assistant" pitchFamily="2" charset="-79"/>
            </a:endParaRPr>
          </a:p>
        </p:txBody>
      </p:sp>
      <p:pic>
        <p:nvPicPr>
          <p:cNvPr id="11" name="Picture 10">
            <a:extLst>
              <a:ext uri="{FF2B5EF4-FFF2-40B4-BE49-F238E27FC236}">
                <a16:creationId xmlns:a16="http://schemas.microsoft.com/office/drawing/2014/main" id="{9F024EAC-3427-0E7F-D698-77D5E5F278B0}"/>
              </a:ext>
            </a:extLst>
          </p:cNvPr>
          <p:cNvPicPr>
            <a:picLocks noChangeAspect="1"/>
          </p:cNvPicPr>
          <p:nvPr/>
        </p:nvPicPr>
        <p:blipFill>
          <a:blip r:embed="rId8" cstate="email">
            <a:extLst>
              <a:ext uri="{28A0092B-C50C-407E-A947-70E740481C1C}">
                <a14:useLocalDpi xmlns:a14="http://schemas.microsoft.com/office/drawing/2010/main"/>
              </a:ext>
            </a:extLst>
          </a:blip>
          <a:stretch>
            <a:fillRect/>
          </a:stretch>
        </p:blipFill>
        <p:spPr>
          <a:xfrm>
            <a:off x="3748714" y="2973313"/>
            <a:ext cx="3031957" cy="2341428"/>
          </a:xfrm>
          <a:prstGeom prst="rect">
            <a:avLst/>
          </a:prstGeom>
        </p:spPr>
      </p:pic>
      <p:sp>
        <p:nvSpPr>
          <p:cNvPr id="14" name="תיבת טקסט 4">
            <a:extLst>
              <a:ext uri="{FF2B5EF4-FFF2-40B4-BE49-F238E27FC236}">
                <a16:creationId xmlns:a16="http://schemas.microsoft.com/office/drawing/2014/main" id="{5604ABF7-A830-903B-85C4-BE304E3B5B99}"/>
              </a:ext>
            </a:extLst>
          </p:cNvPr>
          <p:cNvSpPr txBox="1"/>
          <p:nvPr/>
        </p:nvSpPr>
        <p:spPr>
          <a:xfrm>
            <a:off x="1706215" y="1296887"/>
            <a:ext cx="10109199" cy="707886"/>
          </a:xfrm>
          <a:prstGeom prst="rect">
            <a:avLst/>
          </a:prstGeom>
          <a:noFill/>
        </p:spPr>
        <p:txBody>
          <a:bodyPr wrap="square" rtlCol="0">
            <a:spAutoFit/>
          </a:bodyPr>
          <a:lstStyle/>
          <a:p>
            <a:r>
              <a:rPr lang="he-IL" sz="2000" b="1">
                <a:latin typeface="Assistant" pitchFamily="2" charset="-79"/>
                <a:cs typeface="Assistant" pitchFamily="2" charset="-79"/>
              </a:rPr>
              <a:t>קראו את התרגיל הבא. אל תפתרו אותו, רק הסתכלו על הנתונים וחישבו האם יש לכם כיוון לפתרון. </a:t>
            </a:r>
          </a:p>
          <a:p>
            <a:endParaRPr lang="he-IL" sz="2000">
              <a:latin typeface="Assistant" pitchFamily="2" charset="-79"/>
              <a:cs typeface="Assistant" pitchFamily="2" charset="-79"/>
            </a:endParaRPr>
          </a:p>
        </p:txBody>
      </p:sp>
      <p:sp>
        <p:nvSpPr>
          <p:cNvPr id="16" name="תיבת טקסט 4">
            <a:extLst>
              <a:ext uri="{FF2B5EF4-FFF2-40B4-BE49-F238E27FC236}">
                <a16:creationId xmlns:a16="http://schemas.microsoft.com/office/drawing/2014/main" id="{B2459FD9-012C-EF2E-93FA-6D60B5A0C355}"/>
              </a:ext>
            </a:extLst>
          </p:cNvPr>
          <p:cNvSpPr txBox="1"/>
          <p:nvPr/>
        </p:nvSpPr>
        <p:spPr>
          <a:xfrm>
            <a:off x="3359295" y="1946217"/>
            <a:ext cx="8074922" cy="707886"/>
          </a:xfrm>
          <a:prstGeom prst="rect">
            <a:avLst/>
          </a:prstGeom>
          <a:noFill/>
        </p:spPr>
        <p:txBody>
          <a:bodyPr wrap="square" lIns="91440" tIns="45720" rIns="91440" bIns="45720" rtlCol="0" anchor="t">
            <a:spAutoFit/>
          </a:bodyPr>
          <a:lstStyle/>
          <a:p>
            <a:r>
              <a:rPr lang="he-IL" sz="2000">
                <a:latin typeface="Assistant"/>
                <a:cs typeface="Assistant"/>
              </a:rPr>
              <a:t>לאורי ודן יש  56 גולות. היחס בין כמות הגולות האדומות לבין כמות הגולות הכחולות </a:t>
            </a:r>
            <a:endParaRPr lang="he-IL">
              <a:latin typeface="Aptos" panose="02110004020202020204"/>
              <a:cs typeface="Arial" panose="020B0604020202020204" pitchFamily="34" charset="0"/>
            </a:endParaRPr>
          </a:p>
          <a:p>
            <a:r>
              <a:rPr lang="he-IL" sz="2000">
                <a:latin typeface="Assistant"/>
                <a:cs typeface="Assistant"/>
              </a:rPr>
              <a:t>הוא 5 : 2 . אורי קיבל את הגולות האדומות ודן קיבל את הגולות הכחולות.</a:t>
            </a:r>
            <a:endParaRPr lang="he-IL">
              <a:cs typeface="Arial"/>
            </a:endParaRPr>
          </a:p>
        </p:txBody>
      </p:sp>
    </p:spTree>
    <p:custDataLst>
      <p:tags r:id="rId1"/>
    </p:custDataLst>
    <p:extLst>
      <p:ext uri="{BB962C8B-B14F-4D97-AF65-F5344CB8AC3E}">
        <p14:creationId xmlns:p14="http://schemas.microsoft.com/office/powerpoint/2010/main" val="130854486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19400C-4FD5-DE7E-86E0-E2AF128ADB98}"/>
            </a:ext>
          </a:extLst>
        </p:cNvPr>
        <p:cNvGrpSpPr/>
        <p:nvPr/>
      </p:nvGrpSpPr>
      <p:grpSpPr>
        <a:xfrm>
          <a:off x="0" y="0"/>
          <a:ext cx="0" cy="0"/>
          <a:chOff x="0" y="0"/>
          <a:chExt cx="0" cy="0"/>
        </a:xfrm>
      </p:grpSpPr>
      <p:pic>
        <p:nvPicPr>
          <p:cNvPr id="4" name="תמונה 3">
            <a:extLst>
              <a:ext uri="{FF2B5EF4-FFF2-40B4-BE49-F238E27FC236}">
                <a16:creationId xmlns:a16="http://schemas.microsoft.com/office/drawing/2014/main" id="{E118F2F1-8160-896E-D71C-264453554A6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92984" y="6236080"/>
            <a:ext cx="1777778" cy="495238"/>
          </a:xfrm>
          <a:prstGeom prst="rect">
            <a:avLst/>
          </a:prstGeom>
        </p:spPr>
      </p:pic>
      <p:cxnSp>
        <p:nvCxnSpPr>
          <p:cNvPr id="5" name="מחבר ישר 4">
            <a:extLst>
              <a:ext uri="{FF2B5EF4-FFF2-40B4-BE49-F238E27FC236}">
                <a16:creationId xmlns:a16="http://schemas.microsoft.com/office/drawing/2014/main" id="{BE2EA784-649F-65DD-11DB-CF96A2B0EC95}"/>
              </a:ext>
            </a:extLst>
          </p:cNvPr>
          <p:cNvCxnSpPr>
            <a:cxnSpLocks/>
          </p:cNvCxnSpPr>
          <p:nvPr/>
        </p:nvCxnSpPr>
        <p:spPr>
          <a:xfrm>
            <a:off x="0" y="6079252"/>
            <a:ext cx="12192000" cy="0"/>
          </a:xfrm>
          <a:prstGeom prst="line">
            <a:avLst/>
          </a:prstGeom>
          <a:ln>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6" name="תיבת טקסט 5">
            <a:extLst>
              <a:ext uri="{FF2B5EF4-FFF2-40B4-BE49-F238E27FC236}">
                <a16:creationId xmlns:a16="http://schemas.microsoft.com/office/drawing/2014/main" id="{223BD797-65F5-2F37-9E35-9CF33F2F9BB0}"/>
              </a:ext>
            </a:extLst>
          </p:cNvPr>
          <p:cNvSpPr txBox="1"/>
          <p:nvPr/>
        </p:nvSpPr>
        <p:spPr>
          <a:xfrm>
            <a:off x="2228193" y="833169"/>
            <a:ext cx="7735614" cy="707886"/>
          </a:xfrm>
          <a:prstGeom prst="rect">
            <a:avLst/>
          </a:prstGeom>
          <a:noFill/>
        </p:spPr>
        <p:txBody>
          <a:bodyPr wrap="square" rtlCol="0">
            <a:spAutoFit/>
          </a:bodyPr>
          <a:lstStyle/>
          <a:p>
            <a:pPr algn="ctr"/>
            <a:r>
              <a:rPr lang="he-IL" sz="4000" b="1">
                <a:latin typeface="Assistant" pitchFamily="2" charset="-79"/>
                <a:cs typeface="Assistant" pitchFamily="2" charset="-79"/>
              </a:rPr>
              <a:t>מה נשאר לנו בראש? </a:t>
            </a:r>
            <a:endParaRPr lang="LID4096" sz="4000" b="1">
              <a:latin typeface="Assistant" pitchFamily="2" charset="-79"/>
              <a:cs typeface="Assistant" pitchFamily="2" charset="-79"/>
            </a:endParaRPr>
          </a:p>
        </p:txBody>
      </p:sp>
      <p:sp>
        <p:nvSpPr>
          <p:cNvPr id="7" name="תיבת טקסט 6">
            <a:extLst>
              <a:ext uri="{FF2B5EF4-FFF2-40B4-BE49-F238E27FC236}">
                <a16:creationId xmlns:a16="http://schemas.microsoft.com/office/drawing/2014/main" id="{FA7307E6-C2A1-07D8-8398-A5E41CC18DED}"/>
              </a:ext>
            </a:extLst>
          </p:cNvPr>
          <p:cNvSpPr txBox="1"/>
          <p:nvPr/>
        </p:nvSpPr>
        <p:spPr>
          <a:xfrm>
            <a:off x="2228193" y="1707931"/>
            <a:ext cx="7735614" cy="400110"/>
          </a:xfrm>
          <a:prstGeom prst="rect">
            <a:avLst/>
          </a:prstGeom>
          <a:noFill/>
        </p:spPr>
        <p:txBody>
          <a:bodyPr wrap="square" rtlCol="0">
            <a:spAutoFit/>
          </a:bodyPr>
          <a:lstStyle/>
          <a:p>
            <a:pPr algn="ctr"/>
            <a:r>
              <a:rPr lang="he-IL" sz="2000">
                <a:latin typeface="Assistant" pitchFamily="2" charset="-79"/>
                <a:cs typeface="Assistant" pitchFamily="2" charset="-79"/>
              </a:rPr>
              <a:t>2 שאלות קלילות לחימום לפני שנתקדם</a:t>
            </a:r>
            <a:endParaRPr lang="LID4096" sz="2000">
              <a:latin typeface="Assistant" pitchFamily="2" charset="-79"/>
              <a:cs typeface="Assistant" pitchFamily="2" charset="-79"/>
            </a:endParaRPr>
          </a:p>
        </p:txBody>
      </p:sp>
      <p:sp>
        <p:nvSpPr>
          <p:cNvPr id="8" name="Rectangle 7">
            <a:extLst>
              <a:ext uri="{FF2B5EF4-FFF2-40B4-BE49-F238E27FC236}">
                <a16:creationId xmlns:a16="http://schemas.microsoft.com/office/drawing/2014/main" id="{1F4EEB9B-13DD-C959-19EA-032BECABC301}"/>
              </a:ext>
            </a:extLst>
          </p:cNvPr>
          <p:cNvSpPr/>
          <p:nvPr/>
        </p:nvSpPr>
        <p:spPr>
          <a:xfrm>
            <a:off x="259101" y="6274670"/>
            <a:ext cx="1645544" cy="418058"/>
          </a:xfrm>
          <a:prstGeom prst="rect">
            <a:avLst/>
          </a:prstGeom>
          <a:solidFill>
            <a:schemeClr val="tx2">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he-IL">
                <a:latin typeface="Assistant" pitchFamily="2" charset="-79"/>
                <a:cs typeface="Assistant" pitchFamily="2" charset="-79"/>
              </a:rPr>
              <a:t>קחו אותי לשאלות</a:t>
            </a:r>
            <a:endParaRPr lang="en-US">
              <a:latin typeface="Assistant" pitchFamily="2" charset="-79"/>
              <a:cs typeface="Assistant" pitchFamily="2" charset="-79"/>
            </a:endParaRPr>
          </a:p>
        </p:txBody>
      </p:sp>
      <p:pic>
        <p:nvPicPr>
          <p:cNvPr id="10" name="Picture 9">
            <a:extLst>
              <a:ext uri="{FF2B5EF4-FFF2-40B4-BE49-F238E27FC236}">
                <a16:creationId xmlns:a16="http://schemas.microsoft.com/office/drawing/2014/main" id="{554AE249-41C5-4BBF-B4A8-1668CC970F3A}"/>
              </a:ext>
            </a:extLst>
          </p:cNvPr>
          <p:cNvPicPr>
            <a:picLocks noChangeAspect="1"/>
          </p:cNvPicPr>
          <p:nvPr/>
        </p:nvPicPr>
        <p:blipFill>
          <a:blip r:embed="rId5"/>
          <a:stretch>
            <a:fillRect/>
          </a:stretch>
        </p:blipFill>
        <p:spPr>
          <a:xfrm>
            <a:off x="10371417" y="6124170"/>
            <a:ext cx="1820583" cy="622831"/>
          </a:xfrm>
          <a:prstGeom prst="rect">
            <a:avLst/>
          </a:prstGeom>
        </p:spPr>
      </p:pic>
      <p:pic>
        <p:nvPicPr>
          <p:cNvPr id="12" name="תמונה 2">
            <a:extLst>
              <a:ext uri="{FF2B5EF4-FFF2-40B4-BE49-F238E27FC236}">
                <a16:creationId xmlns:a16="http://schemas.microsoft.com/office/drawing/2014/main" id="{90855483-DAC0-0971-7DF5-032547147E7C}"/>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0" y="57121"/>
            <a:ext cx="933869" cy="721626"/>
          </a:xfrm>
          <a:prstGeom prst="rect">
            <a:avLst/>
          </a:prstGeom>
        </p:spPr>
      </p:pic>
      <p:pic>
        <p:nvPicPr>
          <p:cNvPr id="3" name="Picture 2">
            <a:extLst>
              <a:ext uri="{FF2B5EF4-FFF2-40B4-BE49-F238E27FC236}">
                <a16:creationId xmlns:a16="http://schemas.microsoft.com/office/drawing/2014/main" id="{23FA1A90-B275-1747-389C-D9101965C813}"/>
              </a:ext>
            </a:extLst>
          </p:cNvPr>
          <p:cNvPicPr>
            <a:picLocks noChangeAspect="1"/>
          </p:cNvPicPr>
          <p:nvPr/>
        </p:nvPicPr>
        <p:blipFill>
          <a:blip r:embed="rId7">
            <a:extLst>
              <a:ext uri="{28A0092B-C50C-407E-A947-70E740481C1C}">
                <a14:useLocalDpi xmlns:a14="http://schemas.microsoft.com/office/drawing/2010/main" val="0"/>
              </a:ext>
            </a:extLst>
          </a:blip>
          <a:srcRect l="34370" r="35011"/>
          <a:stretch>
            <a:fillRect/>
          </a:stretch>
        </p:blipFill>
        <p:spPr>
          <a:xfrm>
            <a:off x="5060841" y="2191479"/>
            <a:ext cx="2070317" cy="3804335"/>
          </a:xfrm>
          <a:prstGeom prst="rect">
            <a:avLst/>
          </a:prstGeom>
        </p:spPr>
      </p:pic>
    </p:spTree>
    <p:custDataLst>
      <p:tags r:id="rId1"/>
    </p:custDataLst>
    <p:extLst>
      <p:ext uri="{BB962C8B-B14F-4D97-AF65-F5344CB8AC3E}">
        <p14:creationId xmlns:p14="http://schemas.microsoft.com/office/powerpoint/2010/main" val="370671686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5E1F2E-558E-FE3D-0BEE-DDB7520441D2}"/>
            </a:ext>
          </a:extLst>
        </p:cNvPr>
        <p:cNvGrpSpPr/>
        <p:nvPr/>
      </p:nvGrpSpPr>
      <p:grpSpPr>
        <a:xfrm>
          <a:off x="0" y="0"/>
          <a:ext cx="0" cy="0"/>
          <a:chOff x="0" y="0"/>
          <a:chExt cx="0" cy="0"/>
        </a:xfrm>
      </p:grpSpPr>
      <p:cxnSp>
        <p:nvCxnSpPr>
          <p:cNvPr id="4" name="מחבר ישר 3">
            <a:extLst>
              <a:ext uri="{FF2B5EF4-FFF2-40B4-BE49-F238E27FC236}">
                <a16:creationId xmlns:a16="http://schemas.microsoft.com/office/drawing/2014/main" id="{43EEFC5D-B7A2-BB8D-FE2F-2AB7A25921FA}"/>
              </a:ext>
            </a:extLst>
          </p:cNvPr>
          <p:cNvCxnSpPr>
            <a:cxnSpLocks/>
          </p:cNvCxnSpPr>
          <p:nvPr/>
        </p:nvCxnSpPr>
        <p:spPr>
          <a:xfrm>
            <a:off x="0" y="6079252"/>
            <a:ext cx="12192000" cy="0"/>
          </a:xfrm>
          <a:prstGeom prst="line">
            <a:avLst/>
          </a:prstGeom>
          <a:ln>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5" name="מלבן: פינות מעוגלות 4">
            <a:extLst>
              <a:ext uri="{FF2B5EF4-FFF2-40B4-BE49-F238E27FC236}">
                <a16:creationId xmlns:a16="http://schemas.microsoft.com/office/drawing/2014/main" id="{A8E35547-95E0-6861-F33B-35EBE7E0033B}"/>
              </a:ext>
            </a:extLst>
          </p:cNvPr>
          <p:cNvSpPr/>
          <p:nvPr/>
        </p:nvSpPr>
        <p:spPr>
          <a:xfrm>
            <a:off x="268356" y="6182143"/>
            <a:ext cx="1798983" cy="506891"/>
          </a:xfrm>
          <a:prstGeom prst="roundRect">
            <a:avLst>
              <a:gd name="adj" fmla="val 50000"/>
            </a:avLst>
          </a:prstGeom>
          <a:solidFill>
            <a:schemeClr val="bg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he-IL"/>
              <a:t>צדקתי?</a:t>
            </a:r>
            <a:endParaRPr lang="LID4096"/>
          </a:p>
        </p:txBody>
      </p:sp>
      <p:sp>
        <p:nvSpPr>
          <p:cNvPr id="6" name="תיבת טקסט 5">
            <a:extLst>
              <a:ext uri="{FF2B5EF4-FFF2-40B4-BE49-F238E27FC236}">
                <a16:creationId xmlns:a16="http://schemas.microsoft.com/office/drawing/2014/main" id="{532AA96D-93D7-8DD6-F7D1-67B47623EE9E}"/>
              </a:ext>
            </a:extLst>
          </p:cNvPr>
          <p:cNvSpPr txBox="1"/>
          <p:nvPr/>
        </p:nvSpPr>
        <p:spPr>
          <a:xfrm>
            <a:off x="7416800" y="1159283"/>
            <a:ext cx="3960223" cy="2554545"/>
          </a:xfrm>
          <a:prstGeom prst="rect">
            <a:avLst/>
          </a:prstGeom>
          <a:noFill/>
        </p:spPr>
        <p:txBody>
          <a:bodyPr wrap="square" rtlCol="0">
            <a:spAutoFit/>
          </a:bodyPr>
          <a:lstStyle/>
          <a:p>
            <a:r>
              <a:rPr lang="he-IL" sz="2000">
                <a:latin typeface="Assistant" pitchFamily="2" charset="-79"/>
                <a:cs typeface="Assistant" pitchFamily="2" charset="-79"/>
              </a:rPr>
              <a:t>במכולת של שלומי יש 60 בקבוקי שתייה מוגזים, חלקם בטעם תות וחלקם בטעם מנגו. היחס בין מספר בקבוקי השתייה בטעם תות למספר בקבוקי השתייה בטעם מנגו הוא 3 : 2.</a:t>
            </a:r>
          </a:p>
          <a:p>
            <a:r>
              <a:rPr lang="he-IL" sz="2000" b="1">
                <a:solidFill>
                  <a:srgbClr val="00B0F0"/>
                </a:solidFill>
                <a:latin typeface="Assistant" pitchFamily="2" charset="-79"/>
                <a:cs typeface="Assistant" pitchFamily="2" charset="-79"/>
              </a:rPr>
              <a:t>השתמשו ביישומון ועזרו לשלומי לסדר את הבקבוקים על המדפים, לפי היחס שצוין.</a:t>
            </a:r>
          </a:p>
        </p:txBody>
      </p:sp>
      <p:pic>
        <p:nvPicPr>
          <p:cNvPr id="3" name="תמונה 2">
            <a:extLst>
              <a:ext uri="{FF2B5EF4-FFF2-40B4-BE49-F238E27FC236}">
                <a16:creationId xmlns:a16="http://schemas.microsoft.com/office/drawing/2014/main" id="{01FD8EAB-C1BC-5E6B-46A4-E6E2D86D9A02}"/>
              </a:ext>
            </a:extLst>
          </p:cNvPr>
          <p:cNvPicPr>
            <a:picLocks noChangeAspect="1"/>
          </p:cNvPicPr>
          <p:nvPr/>
        </p:nvPicPr>
        <p:blipFill>
          <a:blip r:embed="rId5">
            <a:extLst>
              <a:ext uri="{28A0092B-C50C-407E-A947-70E740481C1C}">
                <a14:useLocalDpi xmlns:a14="http://schemas.microsoft.com/office/drawing/2010/main"/>
              </a:ext>
            </a:extLst>
          </a:blip>
          <a:stretch>
            <a:fillRect/>
          </a:stretch>
        </p:blipFill>
        <p:spPr>
          <a:xfrm>
            <a:off x="0" y="57121"/>
            <a:ext cx="933869" cy="721626"/>
          </a:xfrm>
          <a:prstGeom prst="rect">
            <a:avLst/>
          </a:prstGeom>
        </p:spPr>
      </p:pic>
      <p:sp>
        <p:nvSpPr>
          <p:cNvPr id="8" name="מלבן: פינות מעוגלות 7">
            <a:extLst>
              <a:ext uri="{FF2B5EF4-FFF2-40B4-BE49-F238E27FC236}">
                <a16:creationId xmlns:a16="http://schemas.microsoft.com/office/drawing/2014/main" id="{D21BF2C4-6BF1-2511-4D6C-37E3212430F0}"/>
              </a:ext>
            </a:extLst>
          </p:cNvPr>
          <p:cNvSpPr/>
          <p:nvPr/>
        </p:nvSpPr>
        <p:spPr>
          <a:xfrm>
            <a:off x="10244695" y="6193485"/>
            <a:ext cx="1798983" cy="506891"/>
          </a:xfrm>
          <a:prstGeom prst="roundRect">
            <a:avLst>
              <a:gd name="adj" fmla="val 50000"/>
            </a:avLst>
          </a:prstGeom>
          <a:noFill/>
          <a:ln>
            <a:solidFill>
              <a:srgbClr val="019DE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he-IL">
                <a:solidFill>
                  <a:srgbClr val="019DE5"/>
                </a:solidFill>
                <a:latin typeface="Assistant" pitchFamily="2" charset="-79"/>
                <a:cs typeface="Assistant" pitchFamily="2" charset="-79"/>
              </a:rPr>
              <a:t>חזרה</a:t>
            </a:r>
            <a:endParaRPr lang="LID4096">
              <a:solidFill>
                <a:srgbClr val="019DE5"/>
              </a:solidFill>
              <a:latin typeface="Assistant" pitchFamily="2" charset="-79"/>
              <a:cs typeface="Assistant" pitchFamily="2" charset="-79"/>
            </a:endParaRPr>
          </a:p>
        </p:txBody>
      </p:sp>
      <p:pic>
        <p:nvPicPr>
          <p:cNvPr id="14" name="תמונה 13">
            <a:extLst>
              <a:ext uri="{FF2B5EF4-FFF2-40B4-BE49-F238E27FC236}">
                <a16:creationId xmlns:a16="http://schemas.microsoft.com/office/drawing/2014/main" id="{D6E7346F-DDCD-C0E0-01D7-F0EA7CA3A00C}"/>
              </a:ext>
            </a:extLst>
          </p:cNvPr>
          <p:cNvPicPr>
            <a:picLocks noChangeAspect="1"/>
          </p:cNvPicPr>
          <p:nvPr/>
        </p:nvPicPr>
        <p:blipFill>
          <a:blip r:embed="rId6">
            <a:extLst>
              <a:ext uri="{28A0092B-C50C-407E-A947-70E740481C1C}">
                <a14:useLocalDpi xmlns:a14="http://schemas.microsoft.com/office/drawing/2010/main"/>
              </a:ext>
            </a:extLst>
          </a:blip>
          <a:stretch>
            <a:fillRect/>
          </a:stretch>
        </p:blipFill>
        <p:spPr>
          <a:xfrm>
            <a:off x="2803561" y="417934"/>
            <a:ext cx="7847619" cy="558730"/>
          </a:xfrm>
          <a:prstGeom prst="rect">
            <a:avLst/>
          </a:prstGeom>
        </p:spPr>
      </p:pic>
      <p:pic>
        <p:nvPicPr>
          <p:cNvPr id="9" name="Picture 8">
            <a:extLst>
              <a:ext uri="{FF2B5EF4-FFF2-40B4-BE49-F238E27FC236}">
                <a16:creationId xmlns:a16="http://schemas.microsoft.com/office/drawing/2014/main" id="{69D4CB88-1518-DF2F-A02C-BEF8DA8E827D}"/>
              </a:ext>
            </a:extLst>
          </p:cNvPr>
          <p:cNvPicPr>
            <a:picLocks noChangeAspect="1"/>
          </p:cNvPicPr>
          <p:nvPr/>
        </p:nvPicPr>
        <p:blipFill>
          <a:blip r:embed="rId7" cstate="email">
            <a:extLst>
              <a:ext uri="{28A0092B-C50C-407E-A947-70E740481C1C}">
                <a14:useLocalDpi xmlns:a14="http://schemas.microsoft.com/office/drawing/2010/main"/>
              </a:ext>
            </a:extLst>
          </a:blip>
          <a:stretch>
            <a:fillRect/>
          </a:stretch>
        </p:blipFill>
        <p:spPr>
          <a:xfrm>
            <a:off x="466934" y="1211387"/>
            <a:ext cx="6675698" cy="4435224"/>
          </a:xfrm>
          <a:prstGeom prst="rect">
            <a:avLst/>
          </a:prstGeom>
        </p:spPr>
      </p:pic>
      <p:sp>
        <p:nvSpPr>
          <p:cNvPr id="7" name="מלבן 7">
            <a:extLst>
              <a:ext uri="{FF2B5EF4-FFF2-40B4-BE49-F238E27FC236}">
                <a16:creationId xmlns:a16="http://schemas.microsoft.com/office/drawing/2014/main" id="{9EA6628B-8D53-34E1-3CFB-13AED4914D3C}"/>
              </a:ext>
            </a:extLst>
          </p:cNvPr>
          <p:cNvSpPr/>
          <p:nvPr/>
        </p:nvSpPr>
        <p:spPr>
          <a:xfrm>
            <a:off x="11896440" y="332438"/>
            <a:ext cx="45719" cy="5474677"/>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LID4096"/>
          </a:p>
        </p:txBody>
      </p:sp>
      <p:sp>
        <p:nvSpPr>
          <p:cNvPr id="11" name="מלבן 8">
            <a:extLst>
              <a:ext uri="{FF2B5EF4-FFF2-40B4-BE49-F238E27FC236}">
                <a16:creationId xmlns:a16="http://schemas.microsoft.com/office/drawing/2014/main" id="{EE65D95F-9E25-BC46-7669-83A1D4D601C6}"/>
              </a:ext>
            </a:extLst>
          </p:cNvPr>
          <p:cNvSpPr/>
          <p:nvPr/>
        </p:nvSpPr>
        <p:spPr>
          <a:xfrm>
            <a:off x="11896440" y="332438"/>
            <a:ext cx="45719" cy="3526971"/>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LID4096"/>
          </a:p>
        </p:txBody>
      </p:sp>
    </p:spTree>
    <p:custDataLst>
      <p:tags r:id="rId1"/>
    </p:custDataLst>
    <p:extLst>
      <p:ext uri="{BB962C8B-B14F-4D97-AF65-F5344CB8AC3E}">
        <p14:creationId xmlns:p14="http://schemas.microsoft.com/office/powerpoint/2010/main" val="374429243"/>
      </p:ext>
    </p:extLst>
  </p:cSld>
  <p:clrMapOvr>
    <a:masterClrMapping/>
  </p:clrMapOvr>
  <p:extLst>
    <p:ext uri="{6950BFC3-D8DA-4A85-94F7-54DA5524770B}">
      <p188:commentRel xmlns:p188="http://schemas.microsoft.com/office/powerpoint/2018/8/main" r:id="rId4"/>
    </p:ext>
  </p:extLs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7A7878-0D6E-95C4-6E95-0FB934724964}"/>
            </a:ext>
          </a:extLst>
        </p:cNvPr>
        <p:cNvGrpSpPr/>
        <p:nvPr/>
      </p:nvGrpSpPr>
      <p:grpSpPr>
        <a:xfrm>
          <a:off x="0" y="0"/>
          <a:ext cx="0" cy="0"/>
          <a:chOff x="0" y="0"/>
          <a:chExt cx="0" cy="0"/>
        </a:xfrm>
      </p:grpSpPr>
      <p:cxnSp>
        <p:nvCxnSpPr>
          <p:cNvPr id="4" name="מחבר ישר 3">
            <a:extLst>
              <a:ext uri="{FF2B5EF4-FFF2-40B4-BE49-F238E27FC236}">
                <a16:creationId xmlns:a16="http://schemas.microsoft.com/office/drawing/2014/main" id="{E20E3143-36C1-73CA-18CE-BECBB80141ED}"/>
              </a:ext>
            </a:extLst>
          </p:cNvPr>
          <p:cNvCxnSpPr>
            <a:cxnSpLocks/>
          </p:cNvCxnSpPr>
          <p:nvPr/>
        </p:nvCxnSpPr>
        <p:spPr>
          <a:xfrm>
            <a:off x="0" y="6079252"/>
            <a:ext cx="12192000" cy="0"/>
          </a:xfrm>
          <a:prstGeom prst="line">
            <a:avLst/>
          </a:prstGeom>
          <a:ln>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5" name="מלבן: פינות מעוגלות 4">
            <a:extLst>
              <a:ext uri="{FF2B5EF4-FFF2-40B4-BE49-F238E27FC236}">
                <a16:creationId xmlns:a16="http://schemas.microsoft.com/office/drawing/2014/main" id="{2DA0A27E-111F-DE93-3A22-9C0E801970FF}"/>
              </a:ext>
            </a:extLst>
          </p:cNvPr>
          <p:cNvSpPr/>
          <p:nvPr/>
        </p:nvSpPr>
        <p:spPr>
          <a:xfrm>
            <a:off x="268356" y="6182143"/>
            <a:ext cx="1798983" cy="506891"/>
          </a:xfrm>
          <a:prstGeom prst="roundRect">
            <a:avLst>
              <a:gd name="adj" fmla="val 50000"/>
            </a:avLst>
          </a:prstGeom>
          <a:solidFill>
            <a:schemeClr val="bg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he-IL"/>
              <a:t>צדקתי?</a:t>
            </a:r>
            <a:endParaRPr lang="LID4096"/>
          </a:p>
        </p:txBody>
      </p:sp>
      <p:sp>
        <p:nvSpPr>
          <p:cNvPr id="6" name="תיבת טקסט 5">
            <a:extLst>
              <a:ext uri="{FF2B5EF4-FFF2-40B4-BE49-F238E27FC236}">
                <a16:creationId xmlns:a16="http://schemas.microsoft.com/office/drawing/2014/main" id="{D9C1BBFB-39F4-7ED2-4B97-C717257EB630}"/>
              </a:ext>
            </a:extLst>
          </p:cNvPr>
          <p:cNvSpPr txBox="1"/>
          <p:nvPr/>
        </p:nvSpPr>
        <p:spPr>
          <a:xfrm>
            <a:off x="6527800" y="1563126"/>
            <a:ext cx="4747623" cy="2862322"/>
          </a:xfrm>
          <a:prstGeom prst="rect">
            <a:avLst/>
          </a:prstGeom>
          <a:noFill/>
        </p:spPr>
        <p:txBody>
          <a:bodyPr wrap="square" rtlCol="0">
            <a:spAutoFit/>
          </a:bodyPr>
          <a:lstStyle/>
          <a:p>
            <a:r>
              <a:rPr lang="he-IL" sz="2000">
                <a:latin typeface="Assistant" pitchFamily="2" charset="-79"/>
                <a:cs typeface="Assistant" pitchFamily="2" charset="-79"/>
              </a:rPr>
              <a:t>א. בכמה מדפים סידרתם את בקבוקי השתייה?</a:t>
            </a:r>
          </a:p>
          <a:p>
            <a:endParaRPr lang="he-IL" sz="2000">
              <a:latin typeface="Assistant" pitchFamily="2" charset="-79"/>
              <a:cs typeface="Assistant" pitchFamily="2" charset="-79"/>
            </a:endParaRPr>
          </a:p>
          <a:p>
            <a:endParaRPr lang="he-IL" sz="2000">
              <a:latin typeface="Assistant" pitchFamily="2" charset="-79"/>
              <a:cs typeface="Assistant" pitchFamily="2" charset="-79"/>
            </a:endParaRPr>
          </a:p>
          <a:p>
            <a:r>
              <a:rPr lang="he-IL" sz="2000">
                <a:latin typeface="Assistant" pitchFamily="2" charset="-79"/>
                <a:cs typeface="Assistant" pitchFamily="2" charset="-79"/>
              </a:rPr>
              <a:t>ב. כמה בקבוקי שתייה בטעם תות יש על המדפים?</a:t>
            </a:r>
          </a:p>
          <a:p>
            <a:endParaRPr lang="he-IL" sz="2000">
              <a:latin typeface="Assistant" pitchFamily="2" charset="-79"/>
              <a:cs typeface="Assistant" pitchFamily="2" charset="-79"/>
            </a:endParaRPr>
          </a:p>
          <a:p>
            <a:endParaRPr lang="he-IL" sz="2000">
              <a:latin typeface="Assistant" pitchFamily="2" charset="-79"/>
              <a:cs typeface="Assistant" pitchFamily="2" charset="-79"/>
            </a:endParaRPr>
          </a:p>
          <a:p>
            <a:r>
              <a:rPr lang="he-IL" sz="2000">
                <a:latin typeface="Assistant" pitchFamily="2" charset="-79"/>
                <a:cs typeface="Assistant" pitchFamily="2" charset="-79"/>
              </a:rPr>
              <a:t>ג. כמה בקבוקי שתייה בטעם מנגו יש על המדפים?</a:t>
            </a:r>
          </a:p>
          <a:p>
            <a:endParaRPr lang="he-IL" sz="2000">
              <a:latin typeface="Assistant" pitchFamily="2" charset="-79"/>
              <a:cs typeface="Assistant" pitchFamily="2" charset="-79"/>
            </a:endParaRPr>
          </a:p>
          <a:p>
            <a:endParaRPr lang="he-IL" sz="2000">
              <a:latin typeface="Assistant" pitchFamily="2" charset="-79"/>
              <a:cs typeface="Assistant" pitchFamily="2" charset="-79"/>
            </a:endParaRPr>
          </a:p>
        </p:txBody>
      </p:sp>
      <p:sp>
        <p:nvSpPr>
          <p:cNvPr id="10" name="מלבן: פינות מעוגלות 9">
            <a:extLst>
              <a:ext uri="{FF2B5EF4-FFF2-40B4-BE49-F238E27FC236}">
                <a16:creationId xmlns:a16="http://schemas.microsoft.com/office/drawing/2014/main" id="{19177C3B-CB40-EB05-2A69-7A03D7215C3D}"/>
              </a:ext>
            </a:extLst>
          </p:cNvPr>
          <p:cNvSpPr/>
          <p:nvPr/>
        </p:nvSpPr>
        <p:spPr>
          <a:xfrm>
            <a:off x="5130801" y="1563126"/>
            <a:ext cx="1169188" cy="526581"/>
          </a:xfrm>
          <a:prstGeom prst="roundRect">
            <a:avLst>
              <a:gd name="adj" fmla="val 1764"/>
            </a:avLst>
          </a:prstGeom>
          <a:noFill/>
          <a:ln w="12700">
            <a:solidFill>
              <a:srgbClr val="92D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he-IL" sz="2400">
                <a:solidFill>
                  <a:schemeClr val="tx1"/>
                </a:solidFill>
                <a:latin typeface="Assistant" pitchFamily="2" charset="-79"/>
                <a:cs typeface="Assistant" pitchFamily="2" charset="-79"/>
              </a:rPr>
              <a:t>12</a:t>
            </a:r>
            <a:endParaRPr lang="LID4096" sz="2400">
              <a:solidFill>
                <a:schemeClr val="tx1"/>
              </a:solidFill>
              <a:latin typeface="Assistant" pitchFamily="2" charset="-79"/>
              <a:cs typeface="Assistant" pitchFamily="2" charset="-79"/>
            </a:endParaRPr>
          </a:p>
        </p:txBody>
      </p:sp>
      <p:pic>
        <p:nvPicPr>
          <p:cNvPr id="3" name="תמונה 2">
            <a:extLst>
              <a:ext uri="{FF2B5EF4-FFF2-40B4-BE49-F238E27FC236}">
                <a16:creationId xmlns:a16="http://schemas.microsoft.com/office/drawing/2014/main" id="{173D1A53-4BC5-CCF6-BF4C-CF887073D4D3}"/>
              </a:ext>
            </a:extLst>
          </p:cNvPr>
          <p:cNvPicPr>
            <a:picLocks noChangeAspect="1"/>
          </p:cNvPicPr>
          <p:nvPr/>
        </p:nvPicPr>
        <p:blipFill>
          <a:blip r:embed="rId4">
            <a:extLst>
              <a:ext uri="{28A0092B-C50C-407E-A947-70E740481C1C}">
                <a14:useLocalDpi xmlns:a14="http://schemas.microsoft.com/office/drawing/2010/main"/>
              </a:ext>
            </a:extLst>
          </a:blip>
          <a:stretch>
            <a:fillRect/>
          </a:stretch>
        </p:blipFill>
        <p:spPr>
          <a:xfrm>
            <a:off x="0" y="57121"/>
            <a:ext cx="933869" cy="721626"/>
          </a:xfrm>
          <a:prstGeom prst="rect">
            <a:avLst/>
          </a:prstGeom>
        </p:spPr>
      </p:pic>
      <p:sp>
        <p:nvSpPr>
          <p:cNvPr id="8" name="מלבן: פינות מעוגלות 7">
            <a:extLst>
              <a:ext uri="{FF2B5EF4-FFF2-40B4-BE49-F238E27FC236}">
                <a16:creationId xmlns:a16="http://schemas.microsoft.com/office/drawing/2014/main" id="{9F6CBAFE-E841-E375-33FB-EECB6D01BFEE}"/>
              </a:ext>
            </a:extLst>
          </p:cNvPr>
          <p:cNvSpPr/>
          <p:nvPr/>
        </p:nvSpPr>
        <p:spPr>
          <a:xfrm>
            <a:off x="10244695" y="6193485"/>
            <a:ext cx="1798983" cy="506891"/>
          </a:xfrm>
          <a:prstGeom prst="roundRect">
            <a:avLst>
              <a:gd name="adj" fmla="val 50000"/>
            </a:avLst>
          </a:prstGeom>
          <a:noFill/>
          <a:ln>
            <a:solidFill>
              <a:srgbClr val="019DE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he-IL">
                <a:solidFill>
                  <a:srgbClr val="019DE5"/>
                </a:solidFill>
                <a:latin typeface="Assistant" pitchFamily="2" charset="-79"/>
                <a:cs typeface="Assistant" pitchFamily="2" charset="-79"/>
              </a:rPr>
              <a:t>חזרה</a:t>
            </a:r>
            <a:endParaRPr lang="LID4096">
              <a:solidFill>
                <a:srgbClr val="019DE5"/>
              </a:solidFill>
              <a:latin typeface="Assistant" pitchFamily="2" charset="-79"/>
              <a:cs typeface="Assistant" pitchFamily="2" charset="-79"/>
            </a:endParaRPr>
          </a:p>
        </p:txBody>
      </p:sp>
      <p:pic>
        <p:nvPicPr>
          <p:cNvPr id="14" name="תמונה 13">
            <a:extLst>
              <a:ext uri="{FF2B5EF4-FFF2-40B4-BE49-F238E27FC236}">
                <a16:creationId xmlns:a16="http://schemas.microsoft.com/office/drawing/2014/main" id="{B2617E12-E36C-A560-8876-0587E989C582}"/>
              </a:ext>
            </a:extLst>
          </p:cNvPr>
          <p:cNvPicPr>
            <a:picLocks noChangeAspect="1"/>
          </p:cNvPicPr>
          <p:nvPr/>
        </p:nvPicPr>
        <p:blipFill>
          <a:blip r:embed="rId5">
            <a:extLst>
              <a:ext uri="{28A0092B-C50C-407E-A947-70E740481C1C}">
                <a14:useLocalDpi xmlns:a14="http://schemas.microsoft.com/office/drawing/2010/main"/>
              </a:ext>
            </a:extLst>
          </a:blip>
          <a:stretch>
            <a:fillRect/>
          </a:stretch>
        </p:blipFill>
        <p:spPr>
          <a:xfrm>
            <a:off x="2803561" y="417934"/>
            <a:ext cx="7847619" cy="558730"/>
          </a:xfrm>
          <a:prstGeom prst="rect">
            <a:avLst/>
          </a:prstGeom>
        </p:spPr>
      </p:pic>
      <p:sp>
        <p:nvSpPr>
          <p:cNvPr id="20" name="מלבן 19">
            <a:extLst>
              <a:ext uri="{FF2B5EF4-FFF2-40B4-BE49-F238E27FC236}">
                <a16:creationId xmlns:a16="http://schemas.microsoft.com/office/drawing/2014/main" id="{E81725D9-1C18-6B16-5F01-4FCE6D499069}"/>
              </a:ext>
            </a:extLst>
          </p:cNvPr>
          <p:cNvSpPr/>
          <p:nvPr/>
        </p:nvSpPr>
        <p:spPr>
          <a:xfrm>
            <a:off x="1" y="-1103086"/>
            <a:ext cx="2295396" cy="976083"/>
          </a:xfrm>
          <a:prstGeom prst="rect">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he-IL" sz="1800" b="1" i="0" u="none" strike="noStrike" kern="1200" cap="none" spc="0" normalizeH="0" baseline="0" noProof="0">
                <a:ln>
                  <a:noFill/>
                </a:ln>
                <a:solidFill>
                  <a:prstClr val="black"/>
                </a:solidFill>
                <a:effectLst/>
                <a:uLnTx/>
                <a:uFillTx/>
                <a:latin typeface="Assistant" pitchFamily="2" charset="-79"/>
                <a:ea typeface="+mn-ea"/>
                <a:cs typeface="Assistant" pitchFamily="2" charset="-79"/>
                <a:hlinkClick r:id="rId6"/>
              </a:rPr>
              <a:t>רמת חשיבה</a:t>
            </a:r>
            <a:endParaRPr kumimoji="0" lang="he-IL" sz="1800" b="1" i="0" u="none" strike="noStrike" kern="1200" cap="none" spc="0" normalizeH="0" baseline="0" noProof="0">
              <a:ln>
                <a:noFill/>
              </a:ln>
              <a:solidFill>
                <a:prstClr val="black"/>
              </a:solidFill>
              <a:effectLst/>
              <a:uLnTx/>
              <a:uFillTx/>
              <a:latin typeface="Assistant" pitchFamily="2" charset="-79"/>
              <a:ea typeface="+mn-ea"/>
              <a:cs typeface="Assistant" pitchFamily="2" charset="-79"/>
            </a:endParaRPr>
          </a:p>
          <a:p>
            <a:pPr marL="285750" marR="0" lvl="0" indent="-285750" defTabSz="91440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he-IL" sz="1800" i="0" u="none" strike="noStrike" kern="1200" cap="none" spc="0" normalizeH="0" baseline="0" noProof="0">
                <a:ln>
                  <a:noFill/>
                </a:ln>
                <a:solidFill>
                  <a:prstClr val="black"/>
                </a:solidFill>
                <a:effectLst/>
                <a:uLnTx/>
                <a:uFillTx/>
                <a:latin typeface="Assistant" pitchFamily="2" charset="-79"/>
                <a:ea typeface="+mn-ea"/>
                <a:cs typeface="Assistant" pitchFamily="2" charset="-79"/>
              </a:rPr>
              <a:t>טקסט </a:t>
            </a:r>
          </a:p>
          <a:p>
            <a:pPr marL="285750" marR="0" lvl="0" indent="-285750" defTabSz="914400" eaLnBrk="1" fontAlgn="auto" latinLnBrk="0" hangingPunct="1">
              <a:lnSpc>
                <a:spcPct val="100000"/>
              </a:lnSpc>
              <a:spcBef>
                <a:spcPts val="0"/>
              </a:spcBef>
              <a:spcAft>
                <a:spcPts val="0"/>
              </a:spcAft>
              <a:buClrTx/>
              <a:buSzTx/>
              <a:buFont typeface="Arial" panose="020B0604020202020204" pitchFamily="34" charset="0"/>
              <a:buChar char="•"/>
              <a:tabLst/>
              <a:defRPr/>
            </a:pPr>
            <a:r>
              <a:rPr lang="he-IL">
                <a:solidFill>
                  <a:prstClr val="black"/>
                </a:solidFill>
                <a:latin typeface="Assistant" pitchFamily="2" charset="-79"/>
                <a:cs typeface="Assistant" pitchFamily="2" charset="-79"/>
              </a:rPr>
              <a:t>טקסט</a:t>
            </a:r>
            <a:endParaRPr kumimoji="0" lang="he-IL" sz="1800" i="0" u="none" strike="noStrike" kern="1200" cap="none" spc="0" normalizeH="0" baseline="0" noProof="0">
              <a:ln>
                <a:noFill/>
              </a:ln>
              <a:solidFill>
                <a:prstClr val="black"/>
              </a:solidFill>
              <a:effectLst/>
              <a:uLnTx/>
              <a:uFillTx/>
              <a:latin typeface="Assistant" pitchFamily="2" charset="-79"/>
              <a:ea typeface="+mn-ea"/>
              <a:cs typeface="Assistant" pitchFamily="2" charset="-79"/>
            </a:endParaRPr>
          </a:p>
        </p:txBody>
      </p:sp>
      <mc:AlternateContent xmlns:mc="http://schemas.openxmlformats.org/markup-compatibility/2006" xmlns:a14="http://schemas.microsoft.com/office/drawing/2010/main">
        <mc:Choice Requires="a14">
          <p:sp>
            <p:nvSpPr>
              <p:cNvPr id="26" name="מלבן: פינות מעוגלות 16">
                <a:extLst>
                  <a:ext uri="{FF2B5EF4-FFF2-40B4-BE49-F238E27FC236}">
                    <a16:creationId xmlns:a16="http://schemas.microsoft.com/office/drawing/2014/main" id="{94B5633D-D136-25E7-E0BD-7B5B6F0D0149}"/>
                  </a:ext>
                </a:extLst>
              </p:cNvPr>
              <p:cNvSpPr/>
              <p:nvPr/>
            </p:nvSpPr>
            <p:spPr>
              <a:xfrm>
                <a:off x="-4494614" y="1130302"/>
                <a:ext cx="4167984" cy="5333997"/>
              </a:xfrm>
              <a:prstGeom prst="roundRect">
                <a:avLst>
                  <a:gd name="adj" fmla="val 1647"/>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he-IL" sz="2000" b="1">
                    <a:solidFill>
                      <a:schemeClr val="tx1"/>
                    </a:solidFill>
                    <a:latin typeface="Assistant" pitchFamily="2" charset="-79"/>
                    <a:cs typeface="Assistant" pitchFamily="2" charset="-79"/>
                  </a:rPr>
                  <a:t>כל הכבוד, צדקתם!</a:t>
                </a:r>
              </a:p>
              <a:p>
                <a:pPr algn="ctr"/>
                <a:endParaRPr lang="he-IL" sz="2000" b="1">
                  <a:solidFill>
                    <a:schemeClr val="tx1"/>
                  </a:solidFill>
                  <a:latin typeface="Assistant" pitchFamily="2" charset="-79"/>
                  <a:cs typeface="Assistant" pitchFamily="2" charset="-79"/>
                </a:endParaRPr>
              </a:p>
              <a:p>
                <a:r>
                  <a:rPr lang="he-IL" sz="2000">
                    <a:solidFill>
                      <a:schemeClr val="tx1"/>
                    </a:solidFill>
                    <a:latin typeface="Assistant" pitchFamily="2" charset="-79"/>
                    <a:cs typeface="Assistant" pitchFamily="2" charset="-79"/>
                  </a:rPr>
                  <a:t>א. בכל מדף נסדר 2 בקבוקי תות ו־3 בקבוקי מנגו, כלומר 5 בקבוקים בסך הכול. נחלק את סך כל הבקבוקים במספר הבקבוקים בכל מדף ונקבל: 12 = 5 : 60.</a:t>
                </a:r>
              </a:p>
              <a:p>
                <a:endParaRPr lang="he-IL" sz="2000">
                  <a:solidFill>
                    <a:schemeClr val="tx1"/>
                  </a:solidFill>
                  <a:latin typeface="Assistant" pitchFamily="2" charset="-79"/>
                  <a:cs typeface="Assistant" pitchFamily="2" charset="-79"/>
                </a:endParaRPr>
              </a:p>
              <a:p>
                <a:r>
                  <a:rPr lang="he-IL" sz="2000">
                    <a:solidFill>
                      <a:schemeClr val="tx1"/>
                    </a:solidFill>
                    <a:latin typeface="Assistant" pitchFamily="2" charset="-79"/>
                    <a:cs typeface="Assistant" pitchFamily="2" charset="-79"/>
                  </a:rPr>
                  <a:t>ב. סידרנו את הבקבוקים ב־12 מדפים, ובכל מדף יש 2 בקבוקי תות. </a:t>
                </a:r>
              </a:p>
              <a:p>
                <a:r>
                  <a:rPr lang="he-IL" sz="2000">
                    <a:solidFill>
                      <a:schemeClr val="tx1"/>
                    </a:solidFill>
                    <a:latin typeface="Assistant" pitchFamily="2" charset="-79"/>
                    <a:cs typeface="Assistant" pitchFamily="2" charset="-79"/>
                  </a:rPr>
                  <a:t>לכן מספר הבקבוקים בטעם תות הוא:</a:t>
                </a:r>
              </a:p>
              <a:p>
                <a:pPr/>
                <a14:m>
                  <m:oMathPara xmlns:m="http://schemas.openxmlformats.org/officeDocument/2006/math">
                    <m:oMathParaPr>
                      <m:jc m:val="right"/>
                    </m:oMathParaPr>
                    <m:oMath>
                      <m:r>
                        <a:rPr lang="en-US" i="1" smtClean="0">
                          <a:solidFill>
                            <a:schemeClr val="tx1"/>
                          </a:solidFill>
                          <a:latin typeface="Cambria Math" panose="02040503050406030204" pitchFamily="18" charset="0"/>
                        </a:rPr>
                        <m:t>12⋅2=24</m:t>
                      </m:r>
                    </m:oMath>
                  </m:oMathPara>
                </a14:m>
                <a:endParaRPr lang="en-US">
                  <a:solidFill>
                    <a:schemeClr val="tx1"/>
                  </a:solidFill>
                </a:endParaRPr>
              </a:p>
              <a:p>
                <a:endParaRPr lang="he-IL" sz="2000">
                  <a:solidFill>
                    <a:schemeClr val="tx1"/>
                  </a:solidFill>
                  <a:latin typeface="Assistant" pitchFamily="2" charset="-79"/>
                  <a:cs typeface="Assistant" pitchFamily="2" charset="-79"/>
                </a:endParaRPr>
              </a:p>
              <a:p>
                <a:r>
                  <a:rPr lang="he-IL" sz="2000">
                    <a:solidFill>
                      <a:schemeClr val="tx1"/>
                    </a:solidFill>
                    <a:latin typeface="Assistant" pitchFamily="2" charset="-79"/>
                    <a:cs typeface="Assistant" pitchFamily="2" charset="-79"/>
                  </a:rPr>
                  <a:t>ג. אם בכל מדף יש 3 בקבוקים בטעם מנגו, אז נחשב: </a:t>
                </a:r>
                <a14:m>
                  <m:oMath xmlns:m="http://schemas.openxmlformats.org/officeDocument/2006/math">
                    <m:r>
                      <a:rPr lang="en-US" i="1" smtClean="0">
                        <a:solidFill>
                          <a:schemeClr val="tx1"/>
                        </a:solidFill>
                        <a:latin typeface="Cambria Math" panose="02040503050406030204" pitchFamily="18" charset="0"/>
                      </a:rPr>
                      <m:t>12⋅3=36</m:t>
                    </m:r>
                  </m:oMath>
                </a14:m>
                <a:endParaRPr lang="en-US">
                  <a:solidFill>
                    <a:schemeClr val="tx1"/>
                  </a:solidFill>
                </a:endParaRPr>
              </a:p>
            </p:txBody>
          </p:sp>
        </mc:Choice>
        <mc:Fallback xmlns="">
          <p:sp>
            <p:nvSpPr>
              <p:cNvPr id="26" name="מלבן: פינות מעוגלות 16">
                <a:extLst>
                  <a:ext uri="{FF2B5EF4-FFF2-40B4-BE49-F238E27FC236}">
                    <a16:creationId xmlns:a16="http://schemas.microsoft.com/office/drawing/2014/main" id="{94B5633D-D136-25E7-E0BD-7B5B6F0D0149}"/>
                  </a:ext>
                </a:extLst>
              </p:cNvPr>
              <p:cNvSpPr>
                <a:spLocks noRot="1" noChangeAspect="1" noMove="1" noResize="1" noEditPoints="1" noAdjustHandles="1" noChangeArrowheads="1" noChangeShapeType="1" noTextEdit="1"/>
              </p:cNvSpPr>
              <p:nvPr/>
            </p:nvSpPr>
            <p:spPr>
              <a:xfrm>
                <a:off x="-4494614" y="1130302"/>
                <a:ext cx="4167984" cy="5333997"/>
              </a:xfrm>
              <a:prstGeom prst="roundRect">
                <a:avLst>
                  <a:gd name="adj" fmla="val 1647"/>
                </a:avLst>
              </a:prstGeom>
              <a:blipFill>
                <a:blip r:embed="rId7"/>
                <a:stretch>
                  <a:fillRect l="-2050" r="-1025"/>
                </a:stretch>
              </a:blipFill>
              <a:ln>
                <a:no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8" name="מלבן: פינות מעוגלות 16">
                <a:extLst>
                  <a:ext uri="{FF2B5EF4-FFF2-40B4-BE49-F238E27FC236}">
                    <a16:creationId xmlns:a16="http://schemas.microsoft.com/office/drawing/2014/main" id="{42389E2A-3EC3-CC59-F597-8D60C97A7CAA}"/>
                  </a:ext>
                </a:extLst>
              </p:cNvPr>
              <p:cNvSpPr/>
              <p:nvPr/>
            </p:nvSpPr>
            <p:spPr>
              <a:xfrm>
                <a:off x="-8825913" y="1130302"/>
                <a:ext cx="4167984" cy="5333997"/>
              </a:xfrm>
              <a:prstGeom prst="roundRect">
                <a:avLst>
                  <a:gd name="adj" fmla="val 1647"/>
                </a:avLst>
              </a:prstGeom>
              <a:solidFill>
                <a:srgbClr val="FFE5E5"/>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he-IL" sz="2000" b="1">
                    <a:solidFill>
                      <a:schemeClr val="tx1"/>
                    </a:solidFill>
                    <a:latin typeface="Assistant" pitchFamily="2" charset="-79"/>
                    <a:cs typeface="Assistant" pitchFamily="2" charset="-79"/>
                  </a:rPr>
                  <a:t>טעיתם. לא נורא, מטעויות לומדים</a:t>
                </a:r>
              </a:p>
              <a:p>
                <a:pPr algn="ctr"/>
                <a:endParaRPr lang="he-IL" sz="2000" b="1">
                  <a:solidFill>
                    <a:schemeClr val="tx1"/>
                  </a:solidFill>
                  <a:latin typeface="Assistant" pitchFamily="2" charset="-79"/>
                  <a:cs typeface="Assistant" pitchFamily="2" charset="-79"/>
                </a:endParaRPr>
              </a:p>
              <a:p>
                <a:r>
                  <a:rPr lang="he-IL" sz="2000">
                    <a:solidFill>
                      <a:schemeClr val="tx1"/>
                    </a:solidFill>
                    <a:latin typeface="Assistant" pitchFamily="2" charset="-79"/>
                    <a:cs typeface="Assistant" pitchFamily="2" charset="-79"/>
                  </a:rPr>
                  <a:t>א. בכל מדף נסדר 2 בקבוקי תות ו־3 בקבוקי מנגו, כלומר 5 בקבוקים בסך הכול. נחלק את סך כל הבקבוקים במספר הבקבוקים בכל מדף ונקבל: 12 = 5 : 60.</a:t>
                </a:r>
              </a:p>
              <a:p>
                <a:endParaRPr lang="he-IL" sz="2000">
                  <a:solidFill>
                    <a:schemeClr val="tx1"/>
                  </a:solidFill>
                  <a:latin typeface="Assistant" pitchFamily="2" charset="-79"/>
                  <a:cs typeface="Assistant" pitchFamily="2" charset="-79"/>
                </a:endParaRPr>
              </a:p>
              <a:p>
                <a:r>
                  <a:rPr lang="he-IL" sz="2000">
                    <a:solidFill>
                      <a:schemeClr val="tx1"/>
                    </a:solidFill>
                    <a:latin typeface="Assistant" pitchFamily="2" charset="-79"/>
                    <a:cs typeface="Assistant" pitchFamily="2" charset="-79"/>
                  </a:rPr>
                  <a:t>ב. סידרנו את הבקבוקים ב־12 מדפים, ובכל מדף יש 2 בקבוקי תות. </a:t>
                </a:r>
              </a:p>
              <a:p>
                <a:r>
                  <a:rPr lang="he-IL" sz="2000">
                    <a:solidFill>
                      <a:schemeClr val="tx1"/>
                    </a:solidFill>
                    <a:latin typeface="Assistant" pitchFamily="2" charset="-79"/>
                    <a:cs typeface="Assistant" pitchFamily="2" charset="-79"/>
                  </a:rPr>
                  <a:t>לכן מספר הבקבוקים בטעם תות הוא:</a:t>
                </a:r>
              </a:p>
              <a:p>
                <a:pPr/>
                <a14:m>
                  <m:oMathPara xmlns:m="http://schemas.openxmlformats.org/officeDocument/2006/math">
                    <m:oMathParaPr>
                      <m:jc m:val="right"/>
                    </m:oMathParaPr>
                    <m:oMath>
                      <m:r>
                        <a:rPr lang="en-US" sz="2000" i="1">
                          <a:solidFill>
                            <a:schemeClr val="tx1"/>
                          </a:solidFill>
                          <a:latin typeface="Cambria Math" panose="02040503050406030204" pitchFamily="18" charset="0"/>
                        </a:rPr>
                        <m:t>12⋅2=24</m:t>
                      </m:r>
                    </m:oMath>
                  </m:oMathPara>
                </a14:m>
                <a:endParaRPr lang="en-US" sz="2000">
                  <a:solidFill>
                    <a:schemeClr val="tx1"/>
                  </a:solidFill>
                </a:endParaRPr>
              </a:p>
              <a:p>
                <a:endParaRPr lang="he-IL" sz="2000">
                  <a:solidFill>
                    <a:schemeClr val="tx1"/>
                  </a:solidFill>
                  <a:latin typeface="Assistant" pitchFamily="2" charset="-79"/>
                  <a:cs typeface="Assistant" pitchFamily="2" charset="-79"/>
                </a:endParaRPr>
              </a:p>
              <a:p>
                <a:r>
                  <a:rPr lang="he-IL" sz="2000">
                    <a:solidFill>
                      <a:schemeClr val="tx1"/>
                    </a:solidFill>
                    <a:latin typeface="Assistant" pitchFamily="2" charset="-79"/>
                    <a:cs typeface="Assistant" pitchFamily="2" charset="-79"/>
                  </a:rPr>
                  <a:t>ג. אם בכל מדף יש 3 בקבוקים בטעם מנגו, אז נחשב: </a:t>
                </a:r>
                <a14:m>
                  <m:oMath xmlns:m="http://schemas.openxmlformats.org/officeDocument/2006/math">
                    <m:r>
                      <a:rPr lang="en-US" sz="2000" i="1">
                        <a:solidFill>
                          <a:schemeClr val="tx1"/>
                        </a:solidFill>
                        <a:latin typeface="Cambria Math" panose="02040503050406030204" pitchFamily="18" charset="0"/>
                      </a:rPr>
                      <m:t>12⋅3=36</m:t>
                    </m:r>
                  </m:oMath>
                </a14:m>
                <a:endParaRPr lang="en-US" sz="2000">
                  <a:solidFill>
                    <a:schemeClr val="tx1"/>
                  </a:solidFill>
                </a:endParaRPr>
              </a:p>
            </p:txBody>
          </p:sp>
        </mc:Choice>
        <mc:Fallback xmlns="">
          <p:sp>
            <p:nvSpPr>
              <p:cNvPr id="28" name="מלבן: פינות מעוגלות 16">
                <a:extLst>
                  <a:ext uri="{FF2B5EF4-FFF2-40B4-BE49-F238E27FC236}">
                    <a16:creationId xmlns:a16="http://schemas.microsoft.com/office/drawing/2014/main" id="{42389E2A-3EC3-CC59-F597-8D60C97A7CAA}"/>
                  </a:ext>
                </a:extLst>
              </p:cNvPr>
              <p:cNvSpPr>
                <a:spLocks noRot="1" noChangeAspect="1" noMove="1" noResize="1" noEditPoints="1" noAdjustHandles="1" noChangeArrowheads="1" noChangeShapeType="1" noTextEdit="1"/>
              </p:cNvSpPr>
              <p:nvPr/>
            </p:nvSpPr>
            <p:spPr>
              <a:xfrm>
                <a:off x="-8825913" y="1130302"/>
                <a:ext cx="4167984" cy="5333997"/>
              </a:xfrm>
              <a:prstGeom prst="roundRect">
                <a:avLst>
                  <a:gd name="adj" fmla="val 1647"/>
                </a:avLst>
              </a:prstGeom>
              <a:blipFill>
                <a:blip r:embed="rId8"/>
                <a:stretch>
                  <a:fillRect l="-1901" r="-1023"/>
                </a:stretch>
              </a:blipFill>
              <a:ln>
                <a:noFill/>
              </a:ln>
            </p:spPr>
            <p:txBody>
              <a:bodyPr/>
              <a:lstStyle/>
              <a:p>
                <a:r>
                  <a:rPr lang="en-US">
                    <a:noFill/>
                  </a:rPr>
                  <a:t> </a:t>
                </a:r>
              </a:p>
            </p:txBody>
          </p:sp>
        </mc:Fallback>
      </mc:AlternateContent>
      <p:sp>
        <p:nvSpPr>
          <p:cNvPr id="18" name="מלבן: פינות מעוגלות 9">
            <a:extLst>
              <a:ext uri="{FF2B5EF4-FFF2-40B4-BE49-F238E27FC236}">
                <a16:creationId xmlns:a16="http://schemas.microsoft.com/office/drawing/2014/main" id="{89A3D835-A37A-C092-35B1-30F536115F0D}"/>
              </a:ext>
            </a:extLst>
          </p:cNvPr>
          <p:cNvSpPr/>
          <p:nvPr/>
        </p:nvSpPr>
        <p:spPr>
          <a:xfrm>
            <a:off x="5130801" y="2442315"/>
            <a:ext cx="1169188" cy="526581"/>
          </a:xfrm>
          <a:prstGeom prst="roundRect">
            <a:avLst>
              <a:gd name="adj" fmla="val 1764"/>
            </a:avLst>
          </a:prstGeom>
          <a:noFill/>
          <a:ln w="12700">
            <a:solidFill>
              <a:srgbClr val="92D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he-IL" sz="2400">
                <a:solidFill>
                  <a:schemeClr val="tx1"/>
                </a:solidFill>
                <a:latin typeface="Assistant" pitchFamily="2" charset="-79"/>
                <a:cs typeface="Assistant" pitchFamily="2" charset="-79"/>
              </a:rPr>
              <a:t>24</a:t>
            </a:r>
            <a:endParaRPr lang="LID4096" sz="2400">
              <a:solidFill>
                <a:schemeClr val="tx1"/>
              </a:solidFill>
              <a:latin typeface="Assistant" pitchFamily="2" charset="-79"/>
              <a:cs typeface="Assistant" pitchFamily="2" charset="-79"/>
            </a:endParaRPr>
          </a:p>
        </p:txBody>
      </p:sp>
      <p:sp>
        <p:nvSpPr>
          <p:cNvPr id="27" name="מלבן: פינות מעוגלות 9">
            <a:extLst>
              <a:ext uri="{FF2B5EF4-FFF2-40B4-BE49-F238E27FC236}">
                <a16:creationId xmlns:a16="http://schemas.microsoft.com/office/drawing/2014/main" id="{41C1DA81-BA1D-B4BD-9070-A775F6FC936B}"/>
              </a:ext>
            </a:extLst>
          </p:cNvPr>
          <p:cNvSpPr/>
          <p:nvPr/>
        </p:nvSpPr>
        <p:spPr>
          <a:xfrm>
            <a:off x="5130801" y="3350611"/>
            <a:ext cx="1169188" cy="526581"/>
          </a:xfrm>
          <a:prstGeom prst="roundRect">
            <a:avLst>
              <a:gd name="adj" fmla="val 1764"/>
            </a:avLst>
          </a:prstGeom>
          <a:noFill/>
          <a:ln w="12700">
            <a:solidFill>
              <a:srgbClr val="92D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he-IL" sz="2400">
                <a:solidFill>
                  <a:schemeClr val="tx1"/>
                </a:solidFill>
                <a:latin typeface="Assistant" pitchFamily="2" charset="-79"/>
                <a:cs typeface="Assistant" pitchFamily="2" charset="-79"/>
              </a:rPr>
              <a:t>36</a:t>
            </a:r>
            <a:endParaRPr lang="LID4096" sz="2400">
              <a:solidFill>
                <a:schemeClr val="tx1"/>
              </a:solidFill>
              <a:latin typeface="Assistant" pitchFamily="2" charset="-79"/>
              <a:cs typeface="Assistant" pitchFamily="2" charset="-79"/>
            </a:endParaRPr>
          </a:p>
        </p:txBody>
      </p:sp>
      <p:sp>
        <p:nvSpPr>
          <p:cNvPr id="9" name="מלבן 7">
            <a:extLst>
              <a:ext uri="{FF2B5EF4-FFF2-40B4-BE49-F238E27FC236}">
                <a16:creationId xmlns:a16="http://schemas.microsoft.com/office/drawing/2014/main" id="{5A345ACC-ED7D-040B-17C3-F7641945B8D4}"/>
              </a:ext>
            </a:extLst>
          </p:cNvPr>
          <p:cNvSpPr/>
          <p:nvPr/>
        </p:nvSpPr>
        <p:spPr>
          <a:xfrm>
            <a:off x="11896440" y="332438"/>
            <a:ext cx="45719" cy="5474677"/>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LID4096"/>
          </a:p>
        </p:txBody>
      </p:sp>
      <p:sp>
        <p:nvSpPr>
          <p:cNvPr id="13" name="מלבן 8">
            <a:extLst>
              <a:ext uri="{FF2B5EF4-FFF2-40B4-BE49-F238E27FC236}">
                <a16:creationId xmlns:a16="http://schemas.microsoft.com/office/drawing/2014/main" id="{AECB5B7B-2F49-C0D7-D549-AE967CCEA969}"/>
              </a:ext>
            </a:extLst>
          </p:cNvPr>
          <p:cNvSpPr/>
          <p:nvPr/>
        </p:nvSpPr>
        <p:spPr>
          <a:xfrm>
            <a:off x="11882820" y="942119"/>
            <a:ext cx="45719" cy="3526971"/>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LID4096"/>
          </a:p>
        </p:txBody>
      </p:sp>
    </p:spTree>
    <p:custDataLst>
      <p:tags r:id="rId1"/>
    </p:custDataLst>
    <p:extLst>
      <p:ext uri="{BB962C8B-B14F-4D97-AF65-F5344CB8AC3E}">
        <p14:creationId xmlns:p14="http://schemas.microsoft.com/office/powerpoint/2010/main" val="188010323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D82C38-A2CE-68C0-E1C8-EBF8A75D2B9D}"/>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6" name="תיבת טקסט 5">
                <a:extLst>
                  <a:ext uri="{FF2B5EF4-FFF2-40B4-BE49-F238E27FC236}">
                    <a16:creationId xmlns:a16="http://schemas.microsoft.com/office/drawing/2014/main" id="{33C69358-A9B1-0041-4F32-23827C45AAC5}"/>
                  </a:ext>
                </a:extLst>
              </p:cNvPr>
              <p:cNvSpPr txBox="1"/>
              <p:nvPr/>
            </p:nvSpPr>
            <p:spPr>
              <a:xfrm>
                <a:off x="6591301" y="1156726"/>
                <a:ext cx="4976222" cy="2339102"/>
              </a:xfrm>
              <a:prstGeom prst="rect">
                <a:avLst/>
              </a:prstGeom>
              <a:noFill/>
            </p:spPr>
            <p:txBody>
              <a:bodyPr wrap="square" rtlCol="0">
                <a:spAutoFit/>
              </a:bodyPr>
              <a:lstStyle/>
              <a:p>
                <a:r>
                  <a:rPr lang="he-IL">
                    <a:latin typeface="Assistant" pitchFamily="2" charset="-79"/>
                    <a:cs typeface="Assistant" pitchFamily="2" charset="-79"/>
                  </a:rPr>
                  <a:t>בסרטוט נתונה זווית </a:t>
                </a:r>
                <a14:m>
                  <m:oMath xmlns:m="http://schemas.openxmlformats.org/officeDocument/2006/math">
                    <m:r>
                      <a:rPr lang="en-US" i="1">
                        <a:latin typeface="Cambria Math" panose="02040503050406030204" pitchFamily="18" charset="0"/>
                      </a:rPr>
                      <m:t>∢ </m:t>
                    </m:r>
                  </m:oMath>
                </a14:m>
                <a:r>
                  <a:rPr lang="en-US">
                    <a:latin typeface="Assistant" pitchFamily="2" charset="-79"/>
                    <a:cs typeface="Assistant" pitchFamily="2" charset="-79"/>
                  </a:rPr>
                  <a:t>ABC = 90</a:t>
                </a:r>
                <a14:m>
                  <m:oMath xmlns:m="http://schemas.openxmlformats.org/officeDocument/2006/math">
                    <m:r>
                      <a:rPr lang="en-US" i="1">
                        <a:latin typeface="Cambria Math" panose="02040503050406030204" pitchFamily="18" charset="0"/>
                      </a:rPr>
                      <m:t>°</m:t>
                    </m:r>
                  </m:oMath>
                </a14:m>
                <a:r>
                  <a:rPr lang="he-IL">
                    <a:latin typeface="Assistant" pitchFamily="2" charset="-79"/>
                    <a:cs typeface="Assistant" pitchFamily="2" charset="-79"/>
                  </a:rPr>
                  <a:t>. </a:t>
                </a:r>
              </a:p>
              <a:p>
                <a:r>
                  <a:rPr lang="he-IL">
                    <a:latin typeface="Assistant" pitchFamily="2" charset="-79"/>
                    <a:cs typeface="Assistant" pitchFamily="2" charset="-79"/>
                  </a:rPr>
                  <a:t>היחס בין גודלה של </a:t>
                </a:r>
                <a14:m>
                  <m:oMath xmlns:m="http://schemas.openxmlformats.org/officeDocument/2006/math">
                    <m:r>
                      <a:rPr lang="en-US" i="1">
                        <a:latin typeface="Cambria Math" panose="02040503050406030204" pitchFamily="18" charset="0"/>
                      </a:rPr>
                      <m:t> </m:t>
                    </m:r>
                    <m:r>
                      <a:rPr lang="en-US" i="1">
                        <a:latin typeface="Cambria Math" panose="02040503050406030204" pitchFamily="18" charset="0"/>
                      </a:rPr>
                      <m:t>𝛼</m:t>
                    </m:r>
                    <m:r>
                      <a:rPr lang="en-US" i="1">
                        <a:latin typeface="Cambria Math" panose="02040503050406030204" pitchFamily="18" charset="0"/>
                      </a:rPr>
                      <m:t> </m:t>
                    </m:r>
                  </m:oMath>
                </a14:m>
                <a:r>
                  <a:rPr lang="he-IL">
                    <a:latin typeface="Assistant" pitchFamily="2" charset="-79"/>
                    <a:cs typeface="Assistant" pitchFamily="2" charset="-79"/>
                  </a:rPr>
                  <a:t>לבין גודלה של זווית </a:t>
                </a:r>
                <a14:m>
                  <m:oMath xmlns:m="http://schemas.openxmlformats.org/officeDocument/2006/math">
                    <m:r>
                      <a:rPr lang="en-US" i="1">
                        <a:latin typeface="Cambria Math" panose="02040503050406030204" pitchFamily="18" charset="0"/>
                      </a:rPr>
                      <m:t>𝛽</m:t>
                    </m:r>
                  </m:oMath>
                </a14:m>
                <a:r>
                  <a:rPr lang="he-IL">
                    <a:latin typeface="Assistant" pitchFamily="2" charset="-79"/>
                    <a:cs typeface="Assistant" pitchFamily="2" charset="-79"/>
                  </a:rPr>
                  <a:t> הוא </a:t>
                </a:r>
                <a:r>
                  <a:rPr lang="en-US">
                    <a:latin typeface="Assistant" pitchFamily="2" charset="-79"/>
                    <a:cs typeface="Assistant" pitchFamily="2" charset="-79"/>
                  </a:rPr>
                  <a:t>1:4 </a:t>
                </a:r>
                <a:r>
                  <a:rPr lang="he-IL">
                    <a:latin typeface="Assistant" pitchFamily="2" charset="-79"/>
                    <a:cs typeface="Assistant" pitchFamily="2" charset="-79"/>
                  </a:rPr>
                  <a:t>.</a:t>
                </a:r>
              </a:p>
              <a:p>
                <a:r>
                  <a:rPr lang="he-IL" sz="2000" b="1">
                    <a:solidFill>
                      <a:srgbClr val="019DE5"/>
                    </a:solidFill>
                    <a:latin typeface="Assistant" pitchFamily="2" charset="-79"/>
                    <a:cs typeface="Assistant" pitchFamily="2" charset="-79"/>
                  </a:rPr>
                  <a:t>השלימו:</a:t>
                </a:r>
              </a:p>
              <a:p>
                <a:endParaRPr lang="he-IL" sz="2000">
                  <a:latin typeface="Assistant" pitchFamily="2" charset="-79"/>
                  <a:cs typeface="Assistant" pitchFamily="2" charset="-79"/>
                </a:endParaRPr>
              </a:p>
              <a:p>
                <a:pPr>
                  <a:spcBef>
                    <a:spcPts val="1200"/>
                  </a:spcBef>
                  <a:spcAft>
                    <a:spcPts val="1200"/>
                  </a:spcAft>
                </a:pPr>
                <a:r>
                  <a:rPr lang="he-IL" sz="2000">
                    <a:latin typeface="Assistant" pitchFamily="2" charset="-79"/>
                    <a:cs typeface="Assistant" pitchFamily="2" charset="-79"/>
                  </a:rPr>
                  <a:t>א. </a:t>
                </a:r>
                <a:r>
                  <a:rPr lang="he-IL">
                    <a:latin typeface="Assistant" pitchFamily="2" charset="-79"/>
                    <a:cs typeface="Assistant" pitchFamily="2" charset="-79"/>
                  </a:rPr>
                  <a:t>גודלה של זווית </a:t>
                </a:r>
                <a14:m>
                  <m:oMath xmlns:m="http://schemas.openxmlformats.org/officeDocument/2006/math">
                    <m:r>
                      <a:rPr lang="en-US" i="1">
                        <a:latin typeface="Cambria Math" panose="02040503050406030204" pitchFamily="18" charset="0"/>
                      </a:rPr>
                      <m:t>𝛼</m:t>
                    </m:r>
                  </m:oMath>
                </a14:m>
                <a:r>
                  <a:rPr lang="he-IL">
                    <a:latin typeface="Assistant" pitchFamily="2" charset="-79"/>
                    <a:cs typeface="Assistant" pitchFamily="2" charset="-79"/>
                  </a:rPr>
                  <a:t> הוא </a:t>
                </a:r>
              </a:p>
              <a:p>
                <a:pPr>
                  <a:spcBef>
                    <a:spcPts val="1200"/>
                  </a:spcBef>
                  <a:spcAft>
                    <a:spcPts val="1200"/>
                  </a:spcAft>
                </a:pPr>
                <a:r>
                  <a:rPr lang="he-IL" sz="2000">
                    <a:latin typeface="Assistant" pitchFamily="2" charset="-79"/>
                    <a:cs typeface="Assistant" pitchFamily="2" charset="-79"/>
                  </a:rPr>
                  <a:t>ב. </a:t>
                </a:r>
                <a:r>
                  <a:rPr lang="he-IL">
                    <a:latin typeface="Assistant" pitchFamily="2" charset="-79"/>
                    <a:cs typeface="Assistant" pitchFamily="2" charset="-79"/>
                  </a:rPr>
                  <a:t>גודלה של זווית </a:t>
                </a:r>
                <a14:m>
                  <m:oMath xmlns:m="http://schemas.openxmlformats.org/officeDocument/2006/math">
                    <m:r>
                      <a:rPr lang="en-US" i="1">
                        <a:latin typeface="Cambria Math" panose="02040503050406030204" pitchFamily="18" charset="0"/>
                      </a:rPr>
                      <m:t>𝛽</m:t>
                    </m:r>
                  </m:oMath>
                </a14:m>
                <a:r>
                  <a:rPr lang="he-IL">
                    <a:latin typeface="Assistant" pitchFamily="2" charset="-79"/>
                    <a:cs typeface="Assistant" pitchFamily="2" charset="-79"/>
                  </a:rPr>
                  <a:t> הוא </a:t>
                </a:r>
              </a:p>
            </p:txBody>
          </p:sp>
        </mc:Choice>
        <mc:Fallback xmlns="">
          <p:sp>
            <p:nvSpPr>
              <p:cNvPr id="6" name="תיבת טקסט 5">
                <a:extLst>
                  <a:ext uri="{FF2B5EF4-FFF2-40B4-BE49-F238E27FC236}">
                    <a16:creationId xmlns:a16="http://schemas.microsoft.com/office/drawing/2014/main" id="{33C69358-A9B1-0041-4F32-23827C45AAC5}"/>
                  </a:ext>
                </a:extLst>
              </p:cNvPr>
              <p:cNvSpPr txBox="1">
                <a:spLocks noRot="1" noChangeAspect="1" noMove="1" noResize="1" noEditPoints="1" noAdjustHandles="1" noChangeArrowheads="1" noChangeShapeType="1" noTextEdit="1"/>
              </p:cNvSpPr>
              <p:nvPr/>
            </p:nvSpPr>
            <p:spPr>
              <a:xfrm>
                <a:off x="6591301" y="1156726"/>
                <a:ext cx="4976222" cy="2339102"/>
              </a:xfrm>
              <a:prstGeom prst="rect">
                <a:avLst/>
              </a:prstGeom>
              <a:blipFill>
                <a:blip r:embed="rId4"/>
                <a:stretch>
                  <a:fillRect t="-1567" r="-1224" b="-3916"/>
                </a:stretch>
              </a:blipFill>
            </p:spPr>
            <p:txBody>
              <a:bodyPr/>
              <a:lstStyle/>
              <a:p>
                <a:r>
                  <a:rPr lang="en-US">
                    <a:noFill/>
                  </a:rPr>
                  <a:t> </a:t>
                </a:r>
              </a:p>
            </p:txBody>
          </p:sp>
        </mc:Fallback>
      </mc:AlternateContent>
      <p:cxnSp>
        <p:nvCxnSpPr>
          <p:cNvPr id="4" name="מחבר ישר 3">
            <a:extLst>
              <a:ext uri="{FF2B5EF4-FFF2-40B4-BE49-F238E27FC236}">
                <a16:creationId xmlns:a16="http://schemas.microsoft.com/office/drawing/2014/main" id="{C9B91DBB-60FE-290F-D8DC-960D82CB20E1}"/>
              </a:ext>
            </a:extLst>
          </p:cNvPr>
          <p:cNvCxnSpPr>
            <a:cxnSpLocks/>
          </p:cNvCxnSpPr>
          <p:nvPr/>
        </p:nvCxnSpPr>
        <p:spPr>
          <a:xfrm>
            <a:off x="0" y="6079252"/>
            <a:ext cx="12192000" cy="0"/>
          </a:xfrm>
          <a:prstGeom prst="line">
            <a:avLst/>
          </a:prstGeom>
          <a:ln>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5" name="מלבן: פינות מעוגלות 4">
            <a:extLst>
              <a:ext uri="{FF2B5EF4-FFF2-40B4-BE49-F238E27FC236}">
                <a16:creationId xmlns:a16="http://schemas.microsoft.com/office/drawing/2014/main" id="{430F9F60-3B64-ED1D-A9D5-38F43631B5AA}"/>
              </a:ext>
            </a:extLst>
          </p:cNvPr>
          <p:cNvSpPr/>
          <p:nvPr/>
        </p:nvSpPr>
        <p:spPr>
          <a:xfrm>
            <a:off x="268356" y="6182143"/>
            <a:ext cx="1798983" cy="506891"/>
          </a:xfrm>
          <a:prstGeom prst="roundRect">
            <a:avLst>
              <a:gd name="adj" fmla="val 50000"/>
            </a:avLst>
          </a:prstGeom>
          <a:solidFill>
            <a:schemeClr val="bg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he-IL"/>
              <a:t>צדקתי?</a:t>
            </a:r>
            <a:endParaRPr lang="LID4096"/>
          </a:p>
        </p:txBody>
      </p:sp>
      <mc:AlternateContent xmlns:mc="http://schemas.openxmlformats.org/markup-compatibility/2006" xmlns:a14="http://schemas.microsoft.com/office/drawing/2010/main">
        <mc:Choice Requires="a14">
          <p:sp>
            <p:nvSpPr>
              <p:cNvPr id="7" name="מלבן: פינות מעוגלות 6">
                <a:extLst>
                  <a:ext uri="{FF2B5EF4-FFF2-40B4-BE49-F238E27FC236}">
                    <a16:creationId xmlns:a16="http://schemas.microsoft.com/office/drawing/2014/main" id="{ED93DB32-378D-944D-9896-5D26D9A4E082}"/>
                  </a:ext>
                </a:extLst>
              </p:cNvPr>
              <p:cNvSpPr/>
              <p:nvPr/>
            </p:nvSpPr>
            <p:spPr>
              <a:xfrm>
                <a:off x="7615043" y="2356961"/>
                <a:ext cx="1562888" cy="526581"/>
              </a:xfrm>
              <a:prstGeom prst="roundRect">
                <a:avLst>
                  <a:gd name="adj" fmla="val 1764"/>
                </a:avLst>
              </a:prstGeom>
              <a:noFill/>
              <a:ln w="12700">
                <a:solidFill>
                  <a:srgbClr val="92D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 </a:t>
                </a:r>
                <a14:m>
                  <m:oMath xmlns:m="http://schemas.openxmlformats.org/officeDocument/2006/math">
                    <m:r>
                      <a:rPr lang="en-US" b="0" i="0" smtClean="0">
                        <a:solidFill>
                          <a:schemeClr val="tx1"/>
                        </a:solidFill>
                        <a:latin typeface="Cambria Math" panose="02040503050406030204" pitchFamily="18" charset="0"/>
                      </a:rPr>
                      <m:t>18</m:t>
                    </m:r>
                    <m:r>
                      <a:rPr lang="en-US" i="1">
                        <a:solidFill>
                          <a:schemeClr val="tx1"/>
                        </a:solidFill>
                        <a:latin typeface="Cambria Math" panose="02040503050406030204" pitchFamily="18" charset="0"/>
                      </a:rPr>
                      <m:t>°</m:t>
                    </m:r>
                  </m:oMath>
                </a14:m>
                <a:endParaRPr lang="LID4096" sz="2800">
                  <a:solidFill>
                    <a:schemeClr val="tx1"/>
                  </a:solidFill>
                </a:endParaRPr>
              </a:p>
            </p:txBody>
          </p:sp>
        </mc:Choice>
        <mc:Fallback xmlns="">
          <p:sp>
            <p:nvSpPr>
              <p:cNvPr id="7" name="מלבן: פינות מעוגלות 6">
                <a:extLst>
                  <a:ext uri="{FF2B5EF4-FFF2-40B4-BE49-F238E27FC236}">
                    <a16:creationId xmlns:a16="http://schemas.microsoft.com/office/drawing/2014/main" id="{ED93DB32-378D-944D-9896-5D26D9A4E082}"/>
                  </a:ext>
                </a:extLst>
              </p:cNvPr>
              <p:cNvSpPr>
                <a:spLocks noRot="1" noChangeAspect="1" noMove="1" noResize="1" noEditPoints="1" noAdjustHandles="1" noChangeArrowheads="1" noChangeShapeType="1" noTextEdit="1"/>
              </p:cNvSpPr>
              <p:nvPr/>
            </p:nvSpPr>
            <p:spPr>
              <a:xfrm>
                <a:off x="7615043" y="2356961"/>
                <a:ext cx="1562888" cy="526581"/>
              </a:xfrm>
              <a:prstGeom prst="roundRect">
                <a:avLst>
                  <a:gd name="adj" fmla="val 1764"/>
                </a:avLst>
              </a:prstGeom>
              <a:blipFill>
                <a:blip r:embed="rId5"/>
                <a:stretch>
                  <a:fillRect/>
                </a:stretch>
              </a:blipFill>
              <a:ln w="12700">
                <a:solidFill>
                  <a:srgbClr val="92D050"/>
                </a:solidFill>
              </a:ln>
            </p:spPr>
            <p:txBody>
              <a:bodyPr/>
              <a:lstStyle/>
              <a:p>
                <a:r>
                  <a:rPr lang="en-US">
                    <a:noFill/>
                  </a:rPr>
                  <a:t> </a:t>
                </a:r>
              </a:p>
            </p:txBody>
          </p:sp>
        </mc:Fallback>
      </mc:AlternateContent>
      <p:pic>
        <p:nvPicPr>
          <p:cNvPr id="3" name="תמונה 2">
            <a:extLst>
              <a:ext uri="{FF2B5EF4-FFF2-40B4-BE49-F238E27FC236}">
                <a16:creationId xmlns:a16="http://schemas.microsoft.com/office/drawing/2014/main" id="{FF9B1D2D-170E-D621-61A1-C9FA0DF31E48}"/>
              </a:ext>
            </a:extLst>
          </p:cNvPr>
          <p:cNvPicPr>
            <a:picLocks noChangeAspect="1"/>
          </p:cNvPicPr>
          <p:nvPr/>
        </p:nvPicPr>
        <p:blipFill>
          <a:blip r:embed="rId6">
            <a:extLst>
              <a:ext uri="{28A0092B-C50C-407E-A947-70E740481C1C}">
                <a14:useLocalDpi xmlns:a14="http://schemas.microsoft.com/office/drawing/2010/main"/>
              </a:ext>
            </a:extLst>
          </a:blip>
          <a:stretch>
            <a:fillRect/>
          </a:stretch>
        </p:blipFill>
        <p:spPr>
          <a:xfrm>
            <a:off x="0" y="57121"/>
            <a:ext cx="933869" cy="721626"/>
          </a:xfrm>
          <a:prstGeom prst="rect">
            <a:avLst/>
          </a:prstGeom>
        </p:spPr>
      </p:pic>
      <p:sp>
        <p:nvSpPr>
          <p:cNvPr id="8" name="מלבן: פינות מעוגלות 7">
            <a:extLst>
              <a:ext uri="{FF2B5EF4-FFF2-40B4-BE49-F238E27FC236}">
                <a16:creationId xmlns:a16="http://schemas.microsoft.com/office/drawing/2014/main" id="{276D0649-9B9E-94F1-C737-4E341B40F163}"/>
              </a:ext>
            </a:extLst>
          </p:cNvPr>
          <p:cNvSpPr/>
          <p:nvPr/>
        </p:nvSpPr>
        <p:spPr>
          <a:xfrm>
            <a:off x="10244695" y="6193485"/>
            <a:ext cx="1798983" cy="506891"/>
          </a:xfrm>
          <a:prstGeom prst="roundRect">
            <a:avLst>
              <a:gd name="adj" fmla="val 50000"/>
            </a:avLst>
          </a:prstGeom>
          <a:noFill/>
          <a:ln>
            <a:solidFill>
              <a:srgbClr val="019DE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he-IL">
                <a:solidFill>
                  <a:srgbClr val="019DE5"/>
                </a:solidFill>
                <a:latin typeface="Assistant" pitchFamily="2" charset="-79"/>
                <a:cs typeface="Assistant" pitchFamily="2" charset="-79"/>
              </a:rPr>
              <a:t>חזרה</a:t>
            </a:r>
            <a:endParaRPr lang="LID4096">
              <a:solidFill>
                <a:srgbClr val="019DE5"/>
              </a:solidFill>
              <a:latin typeface="Assistant" pitchFamily="2" charset="-79"/>
              <a:cs typeface="Assistant" pitchFamily="2" charset="-79"/>
            </a:endParaRPr>
          </a:p>
        </p:txBody>
      </p:sp>
      <p:pic>
        <p:nvPicPr>
          <p:cNvPr id="14" name="תמונה 13">
            <a:extLst>
              <a:ext uri="{FF2B5EF4-FFF2-40B4-BE49-F238E27FC236}">
                <a16:creationId xmlns:a16="http://schemas.microsoft.com/office/drawing/2014/main" id="{42173F81-141A-B4F4-6F80-65765F7F713A}"/>
              </a:ext>
            </a:extLst>
          </p:cNvPr>
          <p:cNvPicPr>
            <a:picLocks noChangeAspect="1"/>
          </p:cNvPicPr>
          <p:nvPr/>
        </p:nvPicPr>
        <p:blipFill>
          <a:blip r:embed="rId7">
            <a:extLst>
              <a:ext uri="{28A0092B-C50C-407E-A947-70E740481C1C}">
                <a14:useLocalDpi xmlns:a14="http://schemas.microsoft.com/office/drawing/2010/main"/>
              </a:ext>
            </a:extLst>
          </a:blip>
          <a:stretch>
            <a:fillRect/>
          </a:stretch>
        </p:blipFill>
        <p:spPr>
          <a:xfrm>
            <a:off x="2803561" y="417934"/>
            <a:ext cx="7847619" cy="558730"/>
          </a:xfrm>
          <a:prstGeom prst="rect">
            <a:avLst/>
          </a:prstGeom>
        </p:spPr>
      </p:pic>
      <p:sp>
        <p:nvSpPr>
          <p:cNvPr id="20" name="מלבן 19">
            <a:extLst>
              <a:ext uri="{FF2B5EF4-FFF2-40B4-BE49-F238E27FC236}">
                <a16:creationId xmlns:a16="http://schemas.microsoft.com/office/drawing/2014/main" id="{914913D1-9BF4-99D0-3198-1CD940FA1F3A}"/>
              </a:ext>
            </a:extLst>
          </p:cNvPr>
          <p:cNvSpPr/>
          <p:nvPr/>
        </p:nvSpPr>
        <p:spPr>
          <a:xfrm>
            <a:off x="1" y="-1103086"/>
            <a:ext cx="2295396" cy="976083"/>
          </a:xfrm>
          <a:prstGeom prst="rect">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he-IL" sz="1800" b="1" i="0" u="none" strike="noStrike" kern="1200" cap="none" spc="0" normalizeH="0" baseline="0" noProof="0">
                <a:ln>
                  <a:noFill/>
                </a:ln>
                <a:solidFill>
                  <a:prstClr val="black"/>
                </a:solidFill>
                <a:effectLst/>
                <a:uLnTx/>
                <a:uFillTx/>
                <a:latin typeface="Assistant" pitchFamily="2" charset="-79"/>
                <a:ea typeface="+mn-ea"/>
                <a:cs typeface="Assistant" pitchFamily="2" charset="-79"/>
                <a:hlinkClick r:id="rId8"/>
              </a:rPr>
              <a:t>רמת חשיבה</a:t>
            </a:r>
            <a:endParaRPr kumimoji="0" lang="he-IL" sz="1800" b="1" i="0" u="none" strike="noStrike" kern="1200" cap="none" spc="0" normalizeH="0" baseline="0" noProof="0">
              <a:ln>
                <a:noFill/>
              </a:ln>
              <a:solidFill>
                <a:prstClr val="black"/>
              </a:solidFill>
              <a:effectLst/>
              <a:uLnTx/>
              <a:uFillTx/>
              <a:latin typeface="Assistant" pitchFamily="2" charset="-79"/>
              <a:ea typeface="+mn-ea"/>
              <a:cs typeface="Assistant" pitchFamily="2" charset="-79"/>
            </a:endParaRPr>
          </a:p>
          <a:p>
            <a:pPr marL="285750" marR="0" lvl="0" indent="-285750" defTabSz="91440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he-IL" sz="1800" i="0" u="none" strike="noStrike" kern="1200" cap="none" spc="0" normalizeH="0" baseline="0" noProof="0">
                <a:ln>
                  <a:noFill/>
                </a:ln>
                <a:solidFill>
                  <a:prstClr val="black"/>
                </a:solidFill>
                <a:effectLst/>
                <a:uLnTx/>
                <a:uFillTx/>
                <a:latin typeface="Assistant" pitchFamily="2" charset="-79"/>
                <a:ea typeface="+mn-ea"/>
                <a:cs typeface="Assistant" pitchFamily="2" charset="-79"/>
              </a:rPr>
              <a:t>טקסט </a:t>
            </a:r>
          </a:p>
          <a:p>
            <a:pPr marL="285750" marR="0" lvl="0" indent="-285750" defTabSz="914400" eaLnBrk="1" fontAlgn="auto" latinLnBrk="0" hangingPunct="1">
              <a:lnSpc>
                <a:spcPct val="100000"/>
              </a:lnSpc>
              <a:spcBef>
                <a:spcPts val="0"/>
              </a:spcBef>
              <a:spcAft>
                <a:spcPts val="0"/>
              </a:spcAft>
              <a:buClrTx/>
              <a:buSzTx/>
              <a:buFont typeface="Arial" panose="020B0604020202020204" pitchFamily="34" charset="0"/>
              <a:buChar char="•"/>
              <a:tabLst/>
              <a:defRPr/>
            </a:pPr>
            <a:r>
              <a:rPr lang="he-IL">
                <a:solidFill>
                  <a:prstClr val="black"/>
                </a:solidFill>
                <a:latin typeface="Assistant" pitchFamily="2" charset="-79"/>
                <a:cs typeface="Assistant" pitchFamily="2" charset="-79"/>
              </a:rPr>
              <a:t>טקסט</a:t>
            </a:r>
            <a:endParaRPr kumimoji="0" lang="he-IL" sz="1800" i="0" u="none" strike="noStrike" kern="1200" cap="none" spc="0" normalizeH="0" baseline="0" noProof="0">
              <a:ln>
                <a:noFill/>
              </a:ln>
              <a:solidFill>
                <a:prstClr val="black"/>
              </a:solidFill>
              <a:effectLst/>
              <a:uLnTx/>
              <a:uFillTx/>
              <a:latin typeface="Assistant" pitchFamily="2" charset="-79"/>
              <a:ea typeface="+mn-ea"/>
              <a:cs typeface="Assistant" pitchFamily="2" charset="-79"/>
            </a:endParaRPr>
          </a:p>
        </p:txBody>
      </p:sp>
      <mc:AlternateContent xmlns:mc="http://schemas.openxmlformats.org/markup-compatibility/2006" xmlns:a14="http://schemas.microsoft.com/office/drawing/2010/main">
        <mc:Choice Requires="a14">
          <p:sp>
            <p:nvSpPr>
              <p:cNvPr id="26" name="מלבן: פינות מעוגלות 16">
                <a:extLst>
                  <a:ext uri="{FF2B5EF4-FFF2-40B4-BE49-F238E27FC236}">
                    <a16:creationId xmlns:a16="http://schemas.microsoft.com/office/drawing/2014/main" id="{72D8A373-AE45-93F7-3EB0-2EB2A2D77C4D}"/>
                  </a:ext>
                </a:extLst>
              </p:cNvPr>
              <p:cNvSpPr/>
              <p:nvPr/>
            </p:nvSpPr>
            <p:spPr>
              <a:xfrm>
                <a:off x="-1872587" y="3547272"/>
                <a:ext cx="4167984" cy="4463680"/>
              </a:xfrm>
              <a:prstGeom prst="roundRect">
                <a:avLst>
                  <a:gd name="adj" fmla="val 1647"/>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he-IL" sz="2000" b="1">
                    <a:solidFill>
                      <a:schemeClr val="tx1"/>
                    </a:solidFill>
                    <a:latin typeface="Assistant" pitchFamily="2" charset="-79"/>
                    <a:cs typeface="Assistant" pitchFamily="2" charset="-79"/>
                  </a:rPr>
                  <a:t>כל הכבוד, צדקתם!</a:t>
                </a:r>
              </a:p>
              <a:p>
                <a:pPr>
                  <a:spcAft>
                    <a:spcPts val="600"/>
                  </a:spcAft>
                </a:pPr>
                <a:endParaRPr lang="he-IL">
                  <a:solidFill>
                    <a:schemeClr val="tx1"/>
                  </a:solidFill>
                  <a:latin typeface="Assistant" pitchFamily="2" charset="-79"/>
                  <a:cs typeface="Assistant" pitchFamily="2" charset="-79"/>
                </a:endParaRPr>
              </a:p>
              <a:p>
                <a:pPr>
                  <a:spcAft>
                    <a:spcPts val="600"/>
                  </a:spcAft>
                </a:pPr>
                <a:r>
                  <a:rPr lang="he-IL">
                    <a:solidFill>
                      <a:schemeClr val="tx1"/>
                    </a:solidFill>
                    <a:latin typeface="Assistant" pitchFamily="2" charset="-79"/>
                    <a:cs typeface="Assistant" pitchFamily="2" charset="-79"/>
                  </a:rPr>
                  <a:t>א. ידוע כי </a:t>
                </a:r>
                <a:r>
                  <a:rPr lang="he-IL" sz="2000">
                    <a:solidFill>
                      <a:schemeClr val="tx1"/>
                    </a:solidFill>
                    <a:latin typeface="Assistant" pitchFamily="2" charset="-79"/>
                    <a:cs typeface="Assistant" pitchFamily="2" charset="-79"/>
                  </a:rPr>
                  <a:t>זווית </a:t>
                </a:r>
                <a14:m>
                  <m:oMath xmlns:m="http://schemas.openxmlformats.org/officeDocument/2006/math">
                    <m:r>
                      <a:rPr lang="en-US" sz="2000" i="1">
                        <a:solidFill>
                          <a:schemeClr val="tx1"/>
                        </a:solidFill>
                        <a:latin typeface="Cambria Math" panose="02040503050406030204" pitchFamily="18" charset="0"/>
                      </a:rPr>
                      <m:t>∢ </m:t>
                    </m:r>
                  </m:oMath>
                </a14:m>
                <a:r>
                  <a:rPr lang="en-US" sz="2000">
                    <a:solidFill>
                      <a:schemeClr val="tx1"/>
                    </a:solidFill>
                    <a:latin typeface="Assistant" pitchFamily="2" charset="-79"/>
                    <a:cs typeface="Assistant" pitchFamily="2" charset="-79"/>
                  </a:rPr>
                  <a:t>ABC = 90</a:t>
                </a:r>
                <a14:m>
                  <m:oMath xmlns:m="http://schemas.openxmlformats.org/officeDocument/2006/math">
                    <m:r>
                      <a:rPr lang="en-US" sz="2000" i="1">
                        <a:solidFill>
                          <a:schemeClr val="tx1"/>
                        </a:solidFill>
                        <a:latin typeface="Cambria Math" panose="02040503050406030204" pitchFamily="18" charset="0"/>
                      </a:rPr>
                      <m:t>°</m:t>
                    </m:r>
                  </m:oMath>
                </a14:m>
                <a:r>
                  <a:rPr lang="he-IL" sz="2000">
                    <a:solidFill>
                      <a:schemeClr val="tx1"/>
                    </a:solidFill>
                    <a:latin typeface="Assistant" pitchFamily="2" charset="-79"/>
                    <a:cs typeface="Assistant" pitchFamily="2" charset="-79"/>
                  </a:rPr>
                  <a:t>, ושהיחס בין זווית </a:t>
                </a:r>
                <a14:m>
                  <m:oMath xmlns:m="http://schemas.openxmlformats.org/officeDocument/2006/math">
                    <m:r>
                      <a:rPr lang="en-US" sz="2000" i="1">
                        <a:solidFill>
                          <a:schemeClr val="tx1"/>
                        </a:solidFill>
                        <a:latin typeface="Cambria Math" panose="02040503050406030204" pitchFamily="18" charset="0"/>
                      </a:rPr>
                      <m:t>𝛼</m:t>
                    </m:r>
                  </m:oMath>
                </a14:m>
                <a:r>
                  <a:rPr lang="he-IL" sz="2000">
                    <a:solidFill>
                      <a:schemeClr val="tx1"/>
                    </a:solidFill>
                    <a:latin typeface="Assistant" pitchFamily="2" charset="-79"/>
                    <a:cs typeface="Assistant" pitchFamily="2" charset="-79"/>
                  </a:rPr>
                  <a:t> ל-</a:t>
                </a:r>
                <a:r>
                  <a:rPr lang="en-US" sz="2000">
                    <a:solidFill>
                      <a:schemeClr val="tx1"/>
                    </a:solidFill>
                    <a:latin typeface="Assistant" pitchFamily="2" charset="-79"/>
                    <a:cs typeface="Assistant" pitchFamily="2" charset="-79"/>
                  </a:rPr>
                  <a:t> </a:t>
                </a:r>
                <a14:m>
                  <m:oMath xmlns:m="http://schemas.openxmlformats.org/officeDocument/2006/math">
                    <m:r>
                      <a:rPr lang="en-US" sz="2000" i="1">
                        <a:solidFill>
                          <a:schemeClr val="tx1"/>
                        </a:solidFill>
                        <a:latin typeface="Cambria Math" panose="02040503050406030204" pitchFamily="18" charset="0"/>
                      </a:rPr>
                      <m:t>𝛽</m:t>
                    </m:r>
                  </m:oMath>
                </a14:m>
                <a:r>
                  <a:rPr lang="he-IL" sz="2000">
                    <a:solidFill>
                      <a:schemeClr val="tx1"/>
                    </a:solidFill>
                    <a:latin typeface="Assistant" pitchFamily="2" charset="-79"/>
                    <a:cs typeface="Assistant" pitchFamily="2" charset="-79"/>
                  </a:rPr>
                  <a:t>הוא 4 : 1.</a:t>
                </a:r>
              </a:p>
              <a:p>
                <a:pPr>
                  <a:spcAft>
                    <a:spcPts val="600"/>
                  </a:spcAft>
                </a:pPr>
                <a:r>
                  <a:rPr lang="he-IL" sz="2000">
                    <a:solidFill>
                      <a:schemeClr val="tx1"/>
                    </a:solidFill>
                    <a:latin typeface="Assistant" pitchFamily="2" charset="-79"/>
                    <a:cs typeface="Assistant" pitchFamily="2" charset="-79"/>
                  </a:rPr>
                  <a:t>ה"שלם" שלנו הוא 1+4=5 חלקים ולכן: </a:t>
                </a:r>
              </a:p>
              <a:p>
                <a:pPr>
                  <a:spcAft>
                    <a:spcPts val="600"/>
                  </a:spcAft>
                </a:pPr>
                <a:r>
                  <a:rPr lang="he-IL">
                    <a:solidFill>
                      <a:schemeClr val="tx1"/>
                    </a:solidFill>
                    <a:latin typeface="Assistant" pitchFamily="2" charset="-79"/>
                    <a:cs typeface="Assistant" pitchFamily="2" charset="-79"/>
                  </a:rPr>
                  <a:t>גודלה של </a:t>
                </a:r>
                <a14:m>
                  <m:oMath xmlns:m="http://schemas.openxmlformats.org/officeDocument/2006/math">
                    <m:r>
                      <a:rPr lang="en-US" i="1">
                        <a:solidFill>
                          <a:schemeClr val="tx1"/>
                        </a:solidFill>
                        <a:latin typeface="Cambria Math" panose="02040503050406030204" pitchFamily="18" charset="0"/>
                      </a:rPr>
                      <m:t>𝛼</m:t>
                    </m:r>
                  </m:oMath>
                </a14:m>
                <a:r>
                  <a:rPr lang="he-IL">
                    <a:solidFill>
                      <a:schemeClr val="tx1"/>
                    </a:solidFill>
                    <a:latin typeface="Assistant" pitchFamily="2" charset="-79"/>
                    <a:cs typeface="Assistant" pitchFamily="2" charset="-79"/>
                  </a:rPr>
                  <a:t> הוא: </a:t>
                </a:r>
                <a14:m>
                  <m:oMath xmlns:m="http://schemas.openxmlformats.org/officeDocument/2006/math">
                    <m:f>
                      <m:fPr>
                        <m:ctrlPr>
                          <a:rPr lang="en-US" i="1">
                            <a:solidFill>
                              <a:schemeClr val="tx1"/>
                            </a:solidFill>
                            <a:latin typeface="Cambria Math" panose="02040503050406030204" pitchFamily="18" charset="0"/>
                          </a:rPr>
                        </m:ctrlPr>
                      </m:fPr>
                      <m:num>
                        <m:r>
                          <a:rPr lang="en-US" i="1">
                            <a:solidFill>
                              <a:schemeClr val="tx1"/>
                            </a:solidFill>
                            <a:latin typeface="Cambria Math" panose="02040503050406030204" pitchFamily="18" charset="0"/>
                          </a:rPr>
                          <m:t>1</m:t>
                        </m:r>
                      </m:num>
                      <m:den>
                        <m:r>
                          <a:rPr lang="en-US" i="1">
                            <a:solidFill>
                              <a:schemeClr val="tx1"/>
                            </a:solidFill>
                            <a:latin typeface="Cambria Math" panose="02040503050406030204" pitchFamily="18" charset="0"/>
                          </a:rPr>
                          <m:t>5</m:t>
                        </m:r>
                      </m:den>
                    </m:f>
                    <m:r>
                      <a:rPr lang="en-US" i="1">
                        <a:solidFill>
                          <a:schemeClr val="tx1"/>
                        </a:solidFill>
                        <a:latin typeface="Cambria Math" panose="02040503050406030204" pitchFamily="18" charset="0"/>
                      </a:rPr>
                      <m:t>⋅90 °=</m:t>
                    </m:r>
                    <m:r>
                      <a:rPr lang="en-US" b="1" i="1">
                        <a:solidFill>
                          <a:schemeClr val="tx1"/>
                        </a:solidFill>
                        <a:latin typeface="Cambria Math" panose="02040503050406030204" pitchFamily="18" charset="0"/>
                      </a:rPr>
                      <m:t>𝟏𝟖</m:t>
                    </m:r>
                    <m:r>
                      <a:rPr lang="en-US" b="1" i="1" smtClean="0">
                        <a:solidFill>
                          <a:schemeClr val="tx1"/>
                        </a:solidFill>
                        <a:latin typeface="Cambria Math" panose="02040503050406030204" pitchFamily="18" charset="0"/>
                      </a:rPr>
                      <m:t> </m:t>
                    </m:r>
                    <m:r>
                      <a:rPr lang="en-US" b="1" i="1" smtClean="0">
                        <a:solidFill>
                          <a:schemeClr val="tx1"/>
                        </a:solidFill>
                        <a:latin typeface="Cambria Math" panose="02040503050406030204" pitchFamily="18" charset="0"/>
                        <a:ea typeface="Cambria Math" panose="02040503050406030204" pitchFamily="18" charset="0"/>
                      </a:rPr>
                      <m:t>°</m:t>
                    </m:r>
                    <m:r>
                      <a:rPr lang="en-US" i="1">
                        <a:solidFill>
                          <a:schemeClr val="tx1"/>
                        </a:solidFill>
                        <a:latin typeface="Cambria Math" panose="02040503050406030204" pitchFamily="18" charset="0"/>
                      </a:rPr>
                      <m:t> </m:t>
                    </m:r>
                  </m:oMath>
                </a14:m>
                <a:endParaRPr lang="en-US">
                  <a:solidFill>
                    <a:schemeClr val="tx1"/>
                  </a:solidFill>
                  <a:latin typeface="Assistant" pitchFamily="2" charset="-79"/>
                  <a:cs typeface="Assistant" pitchFamily="2" charset="-79"/>
                </a:endParaRPr>
              </a:p>
              <a:p>
                <a:pPr>
                  <a:spcAft>
                    <a:spcPts val="600"/>
                  </a:spcAft>
                </a:pPr>
                <a:r>
                  <a:rPr lang="he-IL" sz="2000">
                    <a:solidFill>
                      <a:schemeClr val="tx1"/>
                    </a:solidFill>
                    <a:latin typeface="Assistant" pitchFamily="2" charset="-79"/>
                    <a:cs typeface="Assistant" pitchFamily="2" charset="-79"/>
                  </a:rPr>
                  <a:t>ב. </a:t>
                </a:r>
                <a:r>
                  <a:rPr lang="he-IL">
                    <a:solidFill>
                      <a:schemeClr val="tx1"/>
                    </a:solidFill>
                    <a:latin typeface="Assistant" pitchFamily="2" charset="-79"/>
                    <a:cs typeface="Assistant" pitchFamily="2" charset="-79"/>
                  </a:rPr>
                  <a:t>גודלה של </a:t>
                </a:r>
                <a14:m>
                  <m:oMath xmlns:m="http://schemas.openxmlformats.org/officeDocument/2006/math">
                    <m:r>
                      <a:rPr lang="en-US" i="1">
                        <a:solidFill>
                          <a:schemeClr val="tx1"/>
                        </a:solidFill>
                        <a:latin typeface="Cambria Math" panose="02040503050406030204" pitchFamily="18" charset="0"/>
                      </a:rPr>
                      <m:t>𝛽</m:t>
                    </m:r>
                  </m:oMath>
                </a14:m>
                <a:r>
                  <a:rPr lang="he-IL">
                    <a:solidFill>
                      <a:schemeClr val="tx1"/>
                    </a:solidFill>
                    <a:latin typeface="Assistant" pitchFamily="2" charset="-79"/>
                    <a:cs typeface="Assistant" pitchFamily="2" charset="-79"/>
                  </a:rPr>
                  <a:t> : </a:t>
                </a:r>
                <a14:m>
                  <m:oMath xmlns:m="http://schemas.openxmlformats.org/officeDocument/2006/math">
                    <m:f>
                      <m:fPr>
                        <m:ctrlPr>
                          <a:rPr lang="en-US" i="1">
                            <a:solidFill>
                              <a:schemeClr val="tx1"/>
                            </a:solidFill>
                            <a:latin typeface="Cambria Math" panose="02040503050406030204" pitchFamily="18" charset="0"/>
                          </a:rPr>
                        </m:ctrlPr>
                      </m:fPr>
                      <m:num>
                        <m:r>
                          <a:rPr lang="en-US" i="1">
                            <a:solidFill>
                              <a:schemeClr val="tx1"/>
                            </a:solidFill>
                            <a:latin typeface="Cambria Math" panose="02040503050406030204" pitchFamily="18" charset="0"/>
                          </a:rPr>
                          <m:t>4</m:t>
                        </m:r>
                      </m:num>
                      <m:den>
                        <m:r>
                          <a:rPr lang="en-US" i="1">
                            <a:solidFill>
                              <a:schemeClr val="tx1"/>
                            </a:solidFill>
                            <a:latin typeface="Cambria Math" panose="02040503050406030204" pitchFamily="18" charset="0"/>
                          </a:rPr>
                          <m:t>5</m:t>
                        </m:r>
                      </m:den>
                    </m:f>
                    <m:r>
                      <a:rPr lang="en-US" i="1">
                        <a:solidFill>
                          <a:schemeClr val="tx1"/>
                        </a:solidFill>
                        <a:latin typeface="Cambria Math" panose="02040503050406030204" pitchFamily="18" charset="0"/>
                      </a:rPr>
                      <m:t>⋅90 °=</m:t>
                    </m:r>
                    <m:r>
                      <a:rPr lang="en-US" b="1" i="1">
                        <a:solidFill>
                          <a:schemeClr val="tx1"/>
                        </a:solidFill>
                        <a:latin typeface="Cambria Math" panose="02040503050406030204" pitchFamily="18" charset="0"/>
                      </a:rPr>
                      <m:t>𝟕𝟐</m:t>
                    </m:r>
                    <m:r>
                      <a:rPr lang="en-US" b="1" i="1" smtClean="0">
                        <a:solidFill>
                          <a:schemeClr val="tx1"/>
                        </a:solidFill>
                        <a:latin typeface="Cambria Math" panose="02040503050406030204" pitchFamily="18" charset="0"/>
                      </a:rPr>
                      <m:t> </m:t>
                    </m:r>
                    <m:r>
                      <a:rPr lang="en-US" b="1" i="1" smtClean="0">
                        <a:solidFill>
                          <a:schemeClr val="tx1"/>
                        </a:solidFill>
                        <a:latin typeface="Cambria Math" panose="02040503050406030204" pitchFamily="18" charset="0"/>
                        <a:ea typeface="Cambria Math" panose="02040503050406030204" pitchFamily="18" charset="0"/>
                      </a:rPr>
                      <m:t>°</m:t>
                    </m:r>
                    <m:r>
                      <a:rPr lang="en-US" i="1">
                        <a:solidFill>
                          <a:schemeClr val="tx1"/>
                        </a:solidFill>
                        <a:latin typeface="Cambria Math" panose="02040503050406030204" pitchFamily="18" charset="0"/>
                      </a:rPr>
                      <m:t> </m:t>
                    </m:r>
                  </m:oMath>
                </a14:m>
                <a:endParaRPr lang="en-US">
                  <a:solidFill>
                    <a:schemeClr val="tx1"/>
                  </a:solidFill>
                  <a:latin typeface="Assistant" pitchFamily="2" charset="-79"/>
                  <a:cs typeface="Assistant" pitchFamily="2" charset="-79"/>
                </a:endParaRPr>
              </a:p>
              <a:p>
                <a:pPr>
                  <a:spcAft>
                    <a:spcPts val="600"/>
                  </a:spcAft>
                </a:pPr>
                <a:endParaRPr lang="en-US" sz="2000">
                  <a:solidFill>
                    <a:schemeClr val="tx1"/>
                  </a:solidFill>
                  <a:latin typeface="Assistant" pitchFamily="2" charset="-79"/>
                  <a:cs typeface="Assistant" pitchFamily="2" charset="-79"/>
                </a:endParaRPr>
              </a:p>
            </p:txBody>
          </p:sp>
        </mc:Choice>
        <mc:Fallback xmlns="">
          <p:sp>
            <p:nvSpPr>
              <p:cNvPr id="26" name="מלבן: פינות מעוגלות 16">
                <a:extLst>
                  <a:ext uri="{FF2B5EF4-FFF2-40B4-BE49-F238E27FC236}">
                    <a16:creationId xmlns:a16="http://schemas.microsoft.com/office/drawing/2014/main" id="{72D8A373-AE45-93F7-3EB0-2EB2A2D77C4D}"/>
                  </a:ext>
                </a:extLst>
              </p:cNvPr>
              <p:cNvSpPr>
                <a:spLocks noRot="1" noChangeAspect="1" noMove="1" noResize="1" noEditPoints="1" noAdjustHandles="1" noChangeArrowheads="1" noChangeShapeType="1" noTextEdit="1"/>
              </p:cNvSpPr>
              <p:nvPr/>
            </p:nvSpPr>
            <p:spPr>
              <a:xfrm>
                <a:off x="-1872587" y="3547272"/>
                <a:ext cx="4167984" cy="4463680"/>
              </a:xfrm>
              <a:prstGeom prst="roundRect">
                <a:avLst>
                  <a:gd name="adj" fmla="val 1647"/>
                </a:avLst>
              </a:prstGeom>
              <a:blipFill>
                <a:blip r:embed="rId9"/>
                <a:stretch>
                  <a:fillRect r="-1023"/>
                </a:stretch>
              </a:blipFill>
              <a:ln>
                <a:no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8" name="מלבן: פינות מעוגלות 16">
                <a:extLst>
                  <a:ext uri="{FF2B5EF4-FFF2-40B4-BE49-F238E27FC236}">
                    <a16:creationId xmlns:a16="http://schemas.microsoft.com/office/drawing/2014/main" id="{AACAE474-5BF4-A708-16C7-7CF71B51CFDB}"/>
                  </a:ext>
                </a:extLst>
              </p:cNvPr>
              <p:cNvSpPr/>
              <p:nvPr/>
            </p:nvSpPr>
            <p:spPr>
              <a:xfrm>
                <a:off x="-6237926" y="3452491"/>
                <a:ext cx="4298496" cy="4463680"/>
              </a:xfrm>
              <a:prstGeom prst="roundRect">
                <a:avLst>
                  <a:gd name="adj" fmla="val 1647"/>
                </a:avLst>
              </a:prstGeom>
              <a:solidFill>
                <a:srgbClr val="FFE5E5"/>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he-IL" sz="2000" b="1">
                    <a:solidFill>
                      <a:schemeClr val="tx1"/>
                    </a:solidFill>
                    <a:latin typeface="Assistant" pitchFamily="2" charset="-79"/>
                    <a:cs typeface="Assistant" pitchFamily="2" charset="-79"/>
                  </a:rPr>
                  <a:t>טעיתם. לא נורא, מטעויות לומדים</a:t>
                </a:r>
              </a:p>
              <a:p>
                <a:pPr algn="ctr"/>
                <a:endParaRPr lang="he-IL" sz="2000" b="1">
                  <a:solidFill>
                    <a:schemeClr val="tx1"/>
                  </a:solidFill>
                  <a:latin typeface="Assistant" pitchFamily="2" charset="-79"/>
                  <a:cs typeface="Assistant" pitchFamily="2" charset="-79"/>
                </a:endParaRPr>
              </a:p>
              <a:p>
                <a:pPr>
                  <a:spcAft>
                    <a:spcPts val="600"/>
                  </a:spcAft>
                </a:pPr>
                <a:r>
                  <a:rPr lang="he-IL" sz="2000">
                    <a:solidFill>
                      <a:schemeClr val="tx1"/>
                    </a:solidFill>
                    <a:latin typeface="Assistant" pitchFamily="2" charset="-79"/>
                    <a:cs typeface="Assistant" pitchFamily="2" charset="-79"/>
                  </a:rPr>
                  <a:t>א. ידוע כי זווית </a:t>
                </a:r>
                <a14:m>
                  <m:oMath xmlns:m="http://schemas.openxmlformats.org/officeDocument/2006/math">
                    <m:r>
                      <a:rPr lang="en-US" sz="2000" i="1">
                        <a:solidFill>
                          <a:schemeClr val="tx1"/>
                        </a:solidFill>
                        <a:latin typeface="Cambria Math" panose="02040503050406030204" pitchFamily="18" charset="0"/>
                      </a:rPr>
                      <m:t>∢ </m:t>
                    </m:r>
                  </m:oMath>
                </a14:m>
                <a:r>
                  <a:rPr lang="en-US" sz="2000">
                    <a:solidFill>
                      <a:schemeClr val="tx1"/>
                    </a:solidFill>
                    <a:latin typeface="Assistant" pitchFamily="2" charset="-79"/>
                    <a:cs typeface="Assistant" pitchFamily="2" charset="-79"/>
                  </a:rPr>
                  <a:t>ABC = 90</a:t>
                </a:r>
                <a14:m>
                  <m:oMath xmlns:m="http://schemas.openxmlformats.org/officeDocument/2006/math">
                    <m:r>
                      <a:rPr lang="en-US" sz="2000" i="1">
                        <a:solidFill>
                          <a:schemeClr val="tx1"/>
                        </a:solidFill>
                        <a:latin typeface="Cambria Math" panose="02040503050406030204" pitchFamily="18" charset="0"/>
                      </a:rPr>
                      <m:t>°</m:t>
                    </m:r>
                  </m:oMath>
                </a14:m>
                <a:r>
                  <a:rPr lang="he-IL" sz="2000">
                    <a:solidFill>
                      <a:schemeClr val="tx1"/>
                    </a:solidFill>
                    <a:latin typeface="Assistant" pitchFamily="2" charset="-79"/>
                    <a:cs typeface="Assistant" pitchFamily="2" charset="-79"/>
                  </a:rPr>
                  <a:t>, ושהיחס בין זווית </a:t>
                </a:r>
                <a14:m>
                  <m:oMath xmlns:m="http://schemas.openxmlformats.org/officeDocument/2006/math">
                    <m:r>
                      <a:rPr lang="en-US" sz="2000" i="1">
                        <a:solidFill>
                          <a:schemeClr val="tx1"/>
                        </a:solidFill>
                        <a:latin typeface="Cambria Math" panose="02040503050406030204" pitchFamily="18" charset="0"/>
                      </a:rPr>
                      <m:t>𝛼</m:t>
                    </m:r>
                  </m:oMath>
                </a14:m>
                <a:r>
                  <a:rPr lang="he-IL" sz="2000">
                    <a:solidFill>
                      <a:schemeClr val="tx1"/>
                    </a:solidFill>
                    <a:latin typeface="Assistant" pitchFamily="2" charset="-79"/>
                    <a:cs typeface="Assistant" pitchFamily="2" charset="-79"/>
                  </a:rPr>
                  <a:t> ל-</a:t>
                </a:r>
                <a:r>
                  <a:rPr lang="en-US" sz="2000">
                    <a:solidFill>
                      <a:schemeClr val="tx1"/>
                    </a:solidFill>
                    <a:latin typeface="Assistant" pitchFamily="2" charset="-79"/>
                    <a:cs typeface="Assistant" pitchFamily="2" charset="-79"/>
                  </a:rPr>
                  <a:t> </a:t>
                </a:r>
                <a14:m>
                  <m:oMath xmlns:m="http://schemas.openxmlformats.org/officeDocument/2006/math">
                    <m:r>
                      <a:rPr lang="en-US" sz="2000" i="1">
                        <a:solidFill>
                          <a:schemeClr val="tx1"/>
                        </a:solidFill>
                        <a:latin typeface="Cambria Math" panose="02040503050406030204" pitchFamily="18" charset="0"/>
                      </a:rPr>
                      <m:t>𝛽</m:t>
                    </m:r>
                  </m:oMath>
                </a14:m>
                <a:r>
                  <a:rPr lang="he-IL" sz="2000">
                    <a:solidFill>
                      <a:schemeClr val="tx1"/>
                    </a:solidFill>
                    <a:latin typeface="Assistant" pitchFamily="2" charset="-79"/>
                    <a:cs typeface="Assistant" pitchFamily="2" charset="-79"/>
                  </a:rPr>
                  <a:t>הוא 4 : 1.</a:t>
                </a:r>
              </a:p>
              <a:p>
                <a:pPr>
                  <a:spcAft>
                    <a:spcPts val="600"/>
                  </a:spcAft>
                </a:pPr>
                <a:r>
                  <a:rPr lang="he-IL" sz="2000">
                    <a:solidFill>
                      <a:schemeClr val="tx1"/>
                    </a:solidFill>
                    <a:latin typeface="Assistant" pitchFamily="2" charset="-79"/>
                    <a:cs typeface="Assistant" pitchFamily="2" charset="-79"/>
                  </a:rPr>
                  <a:t>נחשב את גודלה של </a:t>
                </a:r>
                <a14:m>
                  <m:oMath xmlns:m="http://schemas.openxmlformats.org/officeDocument/2006/math">
                    <m:r>
                      <a:rPr lang="en-US" sz="2000" i="1">
                        <a:solidFill>
                          <a:schemeClr val="tx1"/>
                        </a:solidFill>
                        <a:latin typeface="Cambria Math" panose="02040503050406030204" pitchFamily="18" charset="0"/>
                      </a:rPr>
                      <m:t>𝛼</m:t>
                    </m:r>
                  </m:oMath>
                </a14:m>
                <a:r>
                  <a:rPr lang="he-IL" sz="2000">
                    <a:solidFill>
                      <a:schemeClr val="tx1"/>
                    </a:solidFill>
                    <a:latin typeface="Assistant" pitchFamily="2" charset="-79"/>
                    <a:cs typeface="Assistant" pitchFamily="2" charset="-79"/>
                  </a:rPr>
                  <a:t>: </a:t>
                </a:r>
                <a14:m>
                  <m:oMath xmlns:m="http://schemas.openxmlformats.org/officeDocument/2006/math">
                    <m:f>
                      <m:fPr>
                        <m:ctrlPr>
                          <a:rPr lang="en-US" sz="2000" i="1">
                            <a:solidFill>
                              <a:schemeClr val="tx1"/>
                            </a:solidFill>
                            <a:latin typeface="Cambria Math" panose="02040503050406030204" pitchFamily="18" charset="0"/>
                          </a:rPr>
                        </m:ctrlPr>
                      </m:fPr>
                      <m:num>
                        <m:r>
                          <a:rPr lang="en-US" sz="2000" i="1">
                            <a:solidFill>
                              <a:schemeClr val="tx1"/>
                            </a:solidFill>
                            <a:latin typeface="Cambria Math" panose="02040503050406030204" pitchFamily="18" charset="0"/>
                          </a:rPr>
                          <m:t>1</m:t>
                        </m:r>
                      </m:num>
                      <m:den>
                        <m:r>
                          <a:rPr lang="en-US" sz="2000" i="1">
                            <a:solidFill>
                              <a:schemeClr val="tx1"/>
                            </a:solidFill>
                            <a:latin typeface="Cambria Math" panose="02040503050406030204" pitchFamily="18" charset="0"/>
                          </a:rPr>
                          <m:t>5</m:t>
                        </m:r>
                      </m:den>
                    </m:f>
                    <m:r>
                      <a:rPr lang="en-US" sz="2000" i="1">
                        <a:solidFill>
                          <a:schemeClr val="tx1"/>
                        </a:solidFill>
                        <a:latin typeface="Cambria Math" panose="02040503050406030204" pitchFamily="18" charset="0"/>
                      </a:rPr>
                      <m:t>⋅90 °=</m:t>
                    </m:r>
                    <m:r>
                      <a:rPr lang="en-US" sz="2000" b="1" i="1">
                        <a:solidFill>
                          <a:schemeClr val="tx1"/>
                        </a:solidFill>
                        <a:latin typeface="Cambria Math" panose="02040503050406030204" pitchFamily="18" charset="0"/>
                      </a:rPr>
                      <m:t>𝟏𝟖</m:t>
                    </m:r>
                    <m:r>
                      <a:rPr lang="en-US" sz="2000" b="1" i="1">
                        <a:solidFill>
                          <a:schemeClr val="tx1"/>
                        </a:solidFill>
                        <a:latin typeface="Cambria Math" panose="02040503050406030204" pitchFamily="18" charset="0"/>
                      </a:rPr>
                      <m:t> ° </m:t>
                    </m:r>
                  </m:oMath>
                </a14:m>
                <a:endParaRPr lang="en-US" sz="2000">
                  <a:solidFill>
                    <a:schemeClr val="tx1"/>
                  </a:solidFill>
                  <a:latin typeface="Assistant" pitchFamily="2" charset="-79"/>
                  <a:cs typeface="Assistant" pitchFamily="2" charset="-79"/>
                </a:endParaRPr>
              </a:p>
              <a:p>
                <a:pPr>
                  <a:spcAft>
                    <a:spcPts val="600"/>
                  </a:spcAft>
                </a:pPr>
                <a:r>
                  <a:rPr lang="he-IL" sz="2000">
                    <a:solidFill>
                      <a:schemeClr val="tx1"/>
                    </a:solidFill>
                    <a:latin typeface="Assistant" pitchFamily="2" charset="-79"/>
                    <a:cs typeface="Assistant" pitchFamily="2" charset="-79"/>
                  </a:rPr>
                  <a:t>ב. נחשב את גודלה של </a:t>
                </a:r>
                <a14:m>
                  <m:oMath xmlns:m="http://schemas.openxmlformats.org/officeDocument/2006/math">
                    <m:r>
                      <a:rPr lang="en-US" sz="2000" i="1">
                        <a:solidFill>
                          <a:schemeClr val="tx1"/>
                        </a:solidFill>
                        <a:latin typeface="Cambria Math" panose="02040503050406030204" pitchFamily="18" charset="0"/>
                      </a:rPr>
                      <m:t>𝛽</m:t>
                    </m:r>
                  </m:oMath>
                </a14:m>
                <a:r>
                  <a:rPr lang="he-IL" sz="2000">
                    <a:solidFill>
                      <a:schemeClr val="tx1"/>
                    </a:solidFill>
                    <a:latin typeface="Assistant" pitchFamily="2" charset="-79"/>
                    <a:cs typeface="Assistant" pitchFamily="2" charset="-79"/>
                  </a:rPr>
                  <a:t> : </a:t>
                </a:r>
                <a14:m>
                  <m:oMath xmlns:m="http://schemas.openxmlformats.org/officeDocument/2006/math">
                    <m:f>
                      <m:fPr>
                        <m:ctrlPr>
                          <a:rPr lang="en-US" sz="2000" i="1">
                            <a:solidFill>
                              <a:schemeClr val="tx1"/>
                            </a:solidFill>
                            <a:latin typeface="Cambria Math" panose="02040503050406030204" pitchFamily="18" charset="0"/>
                          </a:rPr>
                        </m:ctrlPr>
                      </m:fPr>
                      <m:num>
                        <m:r>
                          <a:rPr lang="en-US" sz="2000" i="1">
                            <a:solidFill>
                              <a:schemeClr val="tx1"/>
                            </a:solidFill>
                            <a:latin typeface="Cambria Math" panose="02040503050406030204" pitchFamily="18" charset="0"/>
                          </a:rPr>
                          <m:t>4</m:t>
                        </m:r>
                      </m:num>
                      <m:den>
                        <m:r>
                          <a:rPr lang="en-US" sz="2000" i="1">
                            <a:solidFill>
                              <a:schemeClr val="tx1"/>
                            </a:solidFill>
                            <a:latin typeface="Cambria Math" panose="02040503050406030204" pitchFamily="18" charset="0"/>
                          </a:rPr>
                          <m:t>5</m:t>
                        </m:r>
                      </m:den>
                    </m:f>
                    <m:r>
                      <a:rPr lang="en-US" sz="2000" i="1">
                        <a:solidFill>
                          <a:schemeClr val="tx1"/>
                        </a:solidFill>
                        <a:latin typeface="Cambria Math" panose="02040503050406030204" pitchFamily="18" charset="0"/>
                      </a:rPr>
                      <m:t>⋅90 °=</m:t>
                    </m:r>
                    <m:r>
                      <a:rPr lang="en-US" sz="2000" b="1" i="1">
                        <a:solidFill>
                          <a:schemeClr val="tx1"/>
                        </a:solidFill>
                        <a:latin typeface="Cambria Math" panose="02040503050406030204" pitchFamily="18" charset="0"/>
                      </a:rPr>
                      <m:t>𝟕𝟐</m:t>
                    </m:r>
                    <m:r>
                      <a:rPr lang="en-US" sz="2000" b="1" i="1">
                        <a:solidFill>
                          <a:schemeClr val="tx1"/>
                        </a:solidFill>
                        <a:latin typeface="Cambria Math" panose="02040503050406030204" pitchFamily="18" charset="0"/>
                      </a:rPr>
                      <m:t> ° </m:t>
                    </m:r>
                  </m:oMath>
                </a14:m>
                <a:endParaRPr lang="en-US" sz="2000">
                  <a:solidFill>
                    <a:schemeClr val="tx1"/>
                  </a:solidFill>
                  <a:latin typeface="Assistant" pitchFamily="2" charset="-79"/>
                  <a:cs typeface="Assistant" pitchFamily="2" charset="-79"/>
                </a:endParaRPr>
              </a:p>
              <a:p>
                <a:pPr algn="ctr"/>
                <a:endParaRPr lang="he-IL" sz="2000" b="1">
                  <a:solidFill>
                    <a:schemeClr val="tx1"/>
                  </a:solidFill>
                  <a:latin typeface="Assistant" pitchFamily="2" charset="-79"/>
                  <a:cs typeface="Assistant" pitchFamily="2" charset="-79"/>
                </a:endParaRPr>
              </a:p>
            </p:txBody>
          </p:sp>
        </mc:Choice>
        <mc:Fallback xmlns="">
          <p:sp>
            <p:nvSpPr>
              <p:cNvPr id="28" name="מלבן: פינות מעוגלות 16">
                <a:extLst>
                  <a:ext uri="{FF2B5EF4-FFF2-40B4-BE49-F238E27FC236}">
                    <a16:creationId xmlns:a16="http://schemas.microsoft.com/office/drawing/2014/main" id="{AACAE474-5BF4-A708-16C7-7CF71B51CFDB}"/>
                  </a:ext>
                </a:extLst>
              </p:cNvPr>
              <p:cNvSpPr>
                <a:spLocks noRot="1" noChangeAspect="1" noMove="1" noResize="1" noEditPoints="1" noAdjustHandles="1" noChangeArrowheads="1" noChangeShapeType="1" noTextEdit="1"/>
              </p:cNvSpPr>
              <p:nvPr/>
            </p:nvSpPr>
            <p:spPr>
              <a:xfrm>
                <a:off x="-6237926" y="3452491"/>
                <a:ext cx="4298496" cy="4463680"/>
              </a:xfrm>
              <a:prstGeom prst="roundRect">
                <a:avLst>
                  <a:gd name="adj" fmla="val 1647"/>
                </a:avLst>
              </a:prstGeom>
              <a:blipFill>
                <a:blip r:embed="rId10"/>
                <a:stretch>
                  <a:fillRect l="-426" r="-993"/>
                </a:stretch>
              </a:blipFill>
              <a:ln>
                <a:noFill/>
              </a:ln>
            </p:spPr>
            <p:txBody>
              <a:bodyPr/>
              <a:lstStyle/>
              <a:p>
                <a:r>
                  <a:rPr lang="en-US">
                    <a:noFill/>
                  </a:rPr>
                  <a:t> </a:t>
                </a:r>
              </a:p>
            </p:txBody>
          </p:sp>
        </mc:Fallback>
      </mc:AlternateContent>
      <p:grpSp>
        <p:nvGrpSpPr>
          <p:cNvPr id="15" name="Group 14">
            <a:extLst>
              <a:ext uri="{FF2B5EF4-FFF2-40B4-BE49-F238E27FC236}">
                <a16:creationId xmlns:a16="http://schemas.microsoft.com/office/drawing/2014/main" id="{CA4402A3-3984-E31C-E050-577FD5E56DDE}"/>
              </a:ext>
            </a:extLst>
          </p:cNvPr>
          <p:cNvGrpSpPr/>
          <p:nvPr/>
        </p:nvGrpSpPr>
        <p:grpSpPr>
          <a:xfrm>
            <a:off x="2564517" y="1440067"/>
            <a:ext cx="2395601" cy="2012424"/>
            <a:chOff x="2238175" y="62500"/>
            <a:chExt cx="1513550" cy="1201425"/>
          </a:xfrm>
        </p:grpSpPr>
        <p:cxnSp>
          <p:nvCxnSpPr>
            <p:cNvPr id="17" name="Straight Arrow Connector 16">
              <a:extLst>
                <a:ext uri="{FF2B5EF4-FFF2-40B4-BE49-F238E27FC236}">
                  <a16:creationId xmlns:a16="http://schemas.microsoft.com/office/drawing/2014/main" id="{AF59A5CD-7965-F04E-538F-41FA12DDFCC3}"/>
                </a:ext>
              </a:extLst>
            </p:cNvPr>
            <p:cNvCxnSpPr/>
            <p:nvPr/>
          </p:nvCxnSpPr>
          <p:spPr>
            <a:xfrm>
              <a:off x="2442800" y="338575"/>
              <a:ext cx="0" cy="848700"/>
            </a:xfrm>
            <a:prstGeom prst="straightConnector1">
              <a:avLst/>
            </a:prstGeom>
            <a:noFill/>
            <a:ln w="9525" cap="flat" cmpd="sng">
              <a:solidFill>
                <a:srgbClr val="000000"/>
              </a:solidFill>
              <a:prstDash val="solid"/>
              <a:round/>
              <a:headEnd type="none" w="med" len="med"/>
              <a:tailEnd type="none" w="med" len="med"/>
            </a:ln>
          </p:spPr>
        </p:cxnSp>
        <p:cxnSp>
          <p:nvCxnSpPr>
            <p:cNvPr id="22" name="Straight Arrow Connector 21">
              <a:extLst>
                <a:ext uri="{FF2B5EF4-FFF2-40B4-BE49-F238E27FC236}">
                  <a16:creationId xmlns:a16="http://schemas.microsoft.com/office/drawing/2014/main" id="{7331E690-E0BA-CD38-DFD0-EB270D96661C}"/>
                </a:ext>
              </a:extLst>
            </p:cNvPr>
            <p:cNvCxnSpPr/>
            <p:nvPr/>
          </p:nvCxnSpPr>
          <p:spPr>
            <a:xfrm>
              <a:off x="2453025" y="1177075"/>
              <a:ext cx="1104300" cy="0"/>
            </a:xfrm>
            <a:prstGeom prst="straightConnector1">
              <a:avLst/>
            </a:prstGeom>
            <a:noFill/>
            <a:ln w="9525" cap="flat" cmpd="sng">
              <a:solidFill>
                <a:srgbClr val="000000"/>
              </a:solidFill>
              <a:prstDash val="solid"/>
              <a:round/>
              <a:headEnd type="none" w="med" len="med"/>
              <a:tailEnd type="none" w="med" len="med"/>
            </a:ln>
          </p:spPr>
        </p:cxnSp>
        <p:cxnSp>
          <p:nvCxnSpPr>
            <p:cNvPr id="23" name="Straight Arrow Connector 22">
              <a:extLst>
                <a:ext uri="{FF2B5EF4-FFF2-40B4-BE49-F238E27FC236}">
                  <a16:creationId xmlns:a16="http://schemas.microsoft.com/office/drawing/2014/main" id="{04A49F6F-DBC7-8FAD-4E5D-3B91F9D6817E}"/>
                </a:ext>
              </a:extLst>
            </p:cNvPr>
            <p:cNvCxnSpPr/>
            <p:nvPr/>
          </p:nvCxnSpPr>
          <p:spPr>
            <a:xfrm rot="10800000" flipH="1">
              <a:off x="2463250" y="379350"/>
              <a:ext cx="327300" cy="787500"/>
            </a:xfrm>
            <a:prstGeom prst="straightConnector1">
              <a:avLst/>
            </a:prstGeom>
            <a:noFill/>
            <a:ln w="9525" cap="flat" cmpd="sng">
              <a:solidFill>
                <a:srgbClr val="000000"/>
              </a:solidFill>
              <a:prstDash val="solid"/>
              <a:round/>
              <a:headEnd type="none" w="med" len="med"/>
              <a:tailEnd type="none" w="med" len="med"/>
            </a:ln>
          </p:spPr>
        </p:cxnSp>
        <p:sp>
          <p:nvSpPr>
            <p:cNvPr id="24" name="Text Box 651390208">
              <a:extLst>
                <a:ext uri="{FF2B5EF4-FFF2-40B4-BE49-F238E27FC236}">
                  <a16:creationId xmlns:a16="http://schemas.microsoft.com/office/drawing/2014/main" id="{6A92AB49-DB78-263B-CD9D-B8DADBB405DA}"/>
                </a:ext>
              </a:extLst>
            </p:cNvPr>
            <p:cNvSpPr txBox="1"/>
            <p:nvPr/>
          </p:nvSpPr>
          <p:spPr>
            <a:xfrm>
              <a:off x="2268850" y="62500"/>
              <a:ext cx="194400" cy="122700"/>
            </a:xfrm>
            <a:prstGeom prst="rect">
              <a:avLst/>
            </a:prstGeom>
            <a:noFill/>
            <a:ln>
              <a:noFill/>
            </a:ln>
          </p:spPr>
          <p:txBody>
            <a:bodyPr spcFirstLastPara="1" wrap="square" lIns="91425" tIns="91425" rIns="91425" bIns="91425" anchor="t" anchorCtr="0">
              <a:noAutofit/>
            </a:bodyPr>
            <a:lstStyle/>
            <a:p>
              <a:pPr marL="0" marR="0">
                <a:lnSpc>
                  <a:spcPct val="115000"/>
                </a:lnSpc>
                <a:spcAft>
                  <a:spcPts val="800"/>
                </a:spcAft>
                <a:buNone/>
              </a:pPr>
              <a:r>
                <a:rPr lang="en-US" sz="1400">
                  <a:solidFill>
                    <a:srgbClr val="000000"/>
                  </a:solidFill>
                  <a:effectLst/>
                  <a:latin typeface="Arial" panose="020B0604020202020204" pitchFamily="34" charset="0"/>
                  <a:ea typeface="Arial" panose="020B0604020202020204" pitchFamily="34" charset="0"/>
                  <a:cs typeface="Aptos" panose="020B0004020202020204" pitchFamily="34" charset="0"/>
                </a:rPr>
                <a:t>A</a:t>
              </a:r>
              <a:endParaRPr lang="en-US" sz="1200">
                <a:effectLst/>
                <a:latin typeface="Aptos" panose="020B0004020202020204" pitchFamily="34" charset="0"/>
                <a:ea typeface="Aptos" panose="020B0004020202020204" pitchFamily="34" charset="0"/>
                <a:cs typeface="Aptos" panose="020B0004020202020204" pitchFamily="34" charset="0"/>
              </a:endParaRPr>
            </a:p>
          </p:txBody>
        </p:sp>
        <p:sp>
          <p:nvSpPr>
            <p:cNvPr id="25" name="Text Box 2085797179">
              <a:extLst>
                <a:ext uri="{FF2B5EF4-FFF2-40B4-BE49-F238E27FC236}">
                  <a16:creationId xmlns:a16="http://schemas.microsoft.com/office/drawing/2014/main" id="{C2EDB5B7-F6A1-912E-D143-CC2FBC908AFF}"/>
                </a:ext>
              </a:extLst>
            </p:cNvPr>
            <p:cNvSpPr txBox="1"/>
            <p:nvPr/>
          </p:nvSpPr>
          <p:spPr>
            <a:xfrm>
              <a:off x="2238175" y="1090225"/>
              <a:ext cx="194400" cy="173700"/>
            </a:xfrm>
            <a:prstGeom prst="rect">
              <a:avLst/>
            </a:prstGeom>
            <a:noFill/>
            <a:ln>
              <a:noFill/>
            </a:ln>
          </p:spPr>
          <p:txBody>
            <a:bodyPr spcFirstLastPara="1" wrap="square" lIns="91425" tIns="91425" rIns="91425" bIns="91425" anchor="t" anchorCtr="0">
              <a:noAutofit/>
            </a:bodyPr>
            <a:lstStyle/>
            <a:p>
              <a:pPr marL="0" marR="0">
                <a:lnSpc>
                  <a:spcPct val="115000"/>
                </a:lnSpc>
                <a:spcAft>
                  <a:spcPts val="800"/>
                </a:spcAft>
                <a:buNone/>
              </a:pPr>
              <a:r>
                <a:rPr lang="en-US" sz="1400">
                  <a:solidFill>
                    <a:srgbClr val="000000"/>
                  </a:solidFill>
                  <a:effectLst/>
                  <a:latin typeface="Arial" panose="020B0604020202020204" pitchFamily="34" charset="0"/>
                  <a:ea typeface="Arial" panose="020B0604020202020204" pitchFamily="34" charset="0"/>
                  <a:cs typeface="Aptos" panose="020B0004020202020204" pitchFamily="34" charset="0"/>
                </a:rPr>
                <a:t>B</a:t>
              </a:r>
              <a:endParaRPr lang="en-US" sz="1200">
                <a:effectLst/>
                <a:latin typeface="Aptos" panose="020B0004020202020204" pitchFamily="34" charset="0"/>
                <a:ea typeface="Aptos" panose="020B0004020202020204" pitchFamily="34" charset="0"/>
                <a:cs typeface="Aptos" panose="020B0004020202020204" pitchFamily="34" charset="0"/>
              </a:endParaRPr>
            </a:p>
          </p:txBody>
        </p:sp>
        <p:sp>
          <p:nvSpPr>
            <p:cNvPr id="27" name="Text Box 1709373851">
              <a:extLst>
                <a:ext uri="{FF2B5EF4-FFF2-40B4-BE49-F238E27FC236}">
                  <a16:creationId xmlns:a16="http://schemas.microsoft.com/office/drawing/2014/main" id="{ACEFBD2E-8CD4-3618-4BA3-8C59246BD332}"/>
                </a:ext>
              </a:extLst>
            </p:cNvPr>
            <p:cNvSpPr txBox="1"/>
            <p:nvPr/>
          </p:nvSpPr>
          <p:spPr>
            <a:xfrm>
              <a:off x="3557325" y="1013575"/>
              <a:ext cx="194400" cy="173700"/>
            </a:xfrm>
            <a:prstGeom prst="rect">
              <a:avLst/>
            </a:prstGeom>
            <a:noFill/>
            <a:ln>
              <a:noFill/>
            </a:ln>
          </p:spPr>
          <p:txBody>
            <a:bodyPr spcFirstLastPara="1" wrap="square" lIns="91425" tIns="91425" rIns="91425" bIns="91425" anchor="t" anchorCtr="0">
              <a:noAutofit/>
            </a:bodyPr>
            <a:lstStyle/>
            <a:p>
              <a:pPr marL="0" marR="0">
                <a:lnSpc>
                  <a:spcPct val="115000"/>
                </a:lnSpc>
                <a:spcAft>
                  <a:spcPts val="800"/>
                </a:spcAft>
                <a:buNone/>
              </a:pPr>
              <a:r>
                <a:rPr lang="en-US" sz="1400">
                  <a:solidFill>
                    <a:srgbClr val="000000"/>
                  </a:solidFill>
                  <a:effectLst/>
                  <a:latin typeface="Arial" panose="020B0604020202020204" pitchFamily="34" charset="0"/>
                  <a:ea typeface="Arial" panose="020B0604020202020204" pitchFamily="34" charset="0"/>
                  <a:cs typeface="Aptos" panose="020B0004020202020204" pitchFamily="34" charset="0"/>
                </a:rPr>
                <a:t>C</a:t>
              </a:r>
              <a:endParaRPr lang="en-US" sz="1200">
                <a:effectLst/>
                <a:latin typeface="Aptos" panose="020B0004020202020204" pitchFamily="34" charset="0"/>
                <a:ea typeface="Aptos" panose="020B0004020202020204" pitchFamily="34" charset="0"/>
                <a:cs typeface="Aptos" panose="020B0004020202020204" pitchFamily="34" charset="0"/>
              </a:endParaRPr>
            </a:p>
          </p:txBody>
        </p:sp>
        <p:cxnSp>
          <p:nvCxnSpPr>
            <p:cNvPr id="29" name="Straight Arrow Connector 28">
              <a:extLst>
                <a:ext uri="{FF2B5EF4-FFF2-40B4-BE49-F238E27FC236}">
                  <a16:creationId xmlns:a16="http://schemas.microsoft.com/office/drawing/2014/main" id="{582F0381-A721-1DF6-B36F-3834B1B71887}"/>
                </a:ext>
              </a:extLst>
            </p:cNvPr>
            <p:cNvCxnSpPr/>
            <p:nvPr/>
          </p:nvCxnSpPr>
          <p:spPr>
            <a:xfrm>
              <a:off x="2453025" y="1013575"/>
              <a:ext cx="204600" cy="0"/>
            </a:xfrm>
            <a:prstGeom prst="straightConnector1">
              <a:avLst/>
            </a:prstGeom>
            <a:noFill/>
            <a:ln w="9525" cap="flat" cmpd="sng">
              <a:solidFill>
                <a:srgbClr val="000000"/>
              </a:solidFill>
              <a:prstDash val="solid"/>
              <a:round/>
              <a:headEnd type="none" w="med" len="med"/>
              <a:tailEnd type="none" w="med" len="med"/>
            </a:ln>
          </p:spPr>
        </p:cxnSp>
        <p:cxnSp>
          <p:nvCxnSpPr>
            <p:cNvPr id="30" name="Straight Arrow Connector 29">
              <a:extLst>
                <a:ext uri="{FF2B5EF4-FFF2-40B4-BE49-F238E27FC236}">
                  <a16:creationId xmlns:a16="http://schemas.microsoft.com/office/drawing/2014/main" id="{30F641AC-4213-84F1-4E3F-902B861ED3C6}"/>
                </a:ext>
              </a:extLst>
            </p:cNvPr>
            <p:cNvCxnSpPr/>
            <p:nvPr/>
          </p:nvCxnSpPr>
          <p:spPr>
            <a:xfrm flipH="1">
              <a:off x="2621800" y="1028875"/>
              <a:ext cx="10200" cy="132900"/>
            </a:xfrm>
            <a:prstGeom prst="straightConnector1">
              <a:avLst/>
            </a:prstGeom>
            <a:noFill/>
            <a:ln w="9525" cap="flat" cmpd="sng">
              <a:solidFill>
                <a:srgbClr val="000000"/>
              </a:solidFill>
              <a:prstDash val="solid"/>
              <a:round/>
              <a:headEnd type="none" w="med" len="med"/>
              <a:tailEnd type="none" w="med" len="med"/>
            </a:ln>
          </p:spPr>
        </p:cxnSp>
        <p:pic>
          <p:nvPicPr>
            <p:cNvPr id="31" name="Shape 53">
              <a:extLst>
                <a:ext uri="{FF2B5EF4-FFF2-40B4-BE49-F238E27FC236}">
                  <a16:creationId xmlns:a16="http://schemas.microsoft.com/office/drawing/2014/main" id="{C8D115C1-47E3-FA34-0EF9-DBF5E0050F8A}"/>
                </a:ext>
              </a:extLst>
            </p:cNvPr>
            <p:cNvPicPr preferRelativeResize="0"/>
            <p:nvPr/>
          </p:nvPicPr>
          <p:blipFill>
            <a:blip r:embed="rId11">
              <a:alphaModFix/>
            </a:blip>
            <a:stretch>
              <a:fillRect/>
            </a:stretch>
          </p:blipFill>
          <p:spPr>
            <a:xfrm>
              <a:off x="2483613" y="611150"/>
              <a:ext cx="143425" cy="238925"/>
            </a:xfrm>
            <a:prstGeom prst="rect">
              <a:avLst/>
            </a:prstGeom>
            <a:noFill/>
            <a:ln>
              <a:noFill/>
            </a:ln>
          </p:spPr>
        </p:pic>
        <p:pic>
          <p:nvPicPr>
            <p:cNvPr id="32" name="Shape 54">
              <a:extLst>
                <a:ext uri="{FF2B5EF4-FFF2-40B4-BE49-F238E27FC236}">
                  <a16:creationId xmlns:a16="http://schemas.microsoft.com/office/drawing/2014/main" id="{57BD8A1D-023C-D3E9-1DC8-D02AE88F57EF}"/>
                </a:ext>
              </a:extLst>
            </p:cNvPr>
            <p:cNvPicPr preferRelativeResize="0"/>
            <p:nvPr/>
          </p:nvPicPr>
          <p:blipFill>
            <a:blip r:embed="rId12">
              <a:alphaModFix/>
            </a:blip>
            <a:stretch>
              <a:fillRect/>
            </a:stretch>
          </p:blipFill>
          <p:spPr>
            <a:xfrm>
              <a:off x="2667850" y="850083"/>
              <a:ext cx="143425" cy="240969"/>
            </a:xfrm>
            <a:prstGeom prst="rect">
              <a:avLst/>
            </a:prstGeom>
            <a:noFill/>
            <a:ln>
              <a:noFill/>
            </a:ln>
          </p:spPr>
        </p:pic>
      </p:grpSp>
      <mc:AlternateContent xmlns:mc="http://schemas.openxmlformats.org/markup-compatibility/2006" xmlns:a14="http://schemas.microsoft.com/office/drawing/2010/main">
        <mc:Choice Requires="a14">
          <p:sp>
            <p:nvSpPr>
              <p:cNvPr id="34" name="מלבן: פינות מעוגלות 6">
                <a:extLst>
                  <a:ext uri="{FF2B5EF4-FFF2-40B4-BE49-F238E27FC236}">
                    <a16:creationId xmlns:a16="http://schemas.microsoft.com/office/drawing/2014/main" id="{C3E8941F-1D58-2D23-9ABB-32AF27C7853B}"/>
                  </a:ext>
                </a:extLst>
              </p:cNvPr>
              <p:cNvSpPr/>
              <p:nvPr/>
            </p:nvSpPr>
            <p:spPr>
              <a:xfrm>
                <a:off x="7615043" y="3020691"/>
                <a:ext cx="1562888" cy="526581"/>
              </a:xfrm>
              <a:prstGeom prst="roundRect">
                <a:avLst>
                  <a:gd name="adj" fmla="val 1764"/>
                </a:avLst>
              </a:prstGeom>
              <a:noFill/>
              <a:ln w="12700">
                <a:solidFill>
                  <a:srgbClr val="92D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 </a:t>
                </a:r>
                <a14:m>
                  <m:oMath xmlns:m="http://schemas.openxmlformats.org/officeDocument/2006/math">
                    <m:r>
                      <a:rPr lang="en-US" b="0" i="0" smtClean="0">
                        <a:solidFill>
                          <a:schemeClr val="tx1"/>
                        </a:solidFill>
                        <a:latin typeface="Cambria Math" panose="02040503050406030204" pitchFamily="18" charset="0"/>
                      </a:rPr>
                      <m:t>72</m:t>
                    </m:r>
                    <m:r>
                      <a:rPr lang="en-US" i="1">
                        <a:solidFill>
                          <a:schemeClr val="tx1"/>
                        </a:solidFill>
                        <a:latin typeface="Cambria Math" panose="02040503050406030204" pitchFamily="18" charset="0"/>
                      </a:rPr>
                      <m:t>°</m:t>
                    </m:r>
                  </m:oMath>
                </a14:m>
                <a:endParaRPr lang="LID4096" sz="2800">
                  <a:solidFill>
                    <a:schemeClr val="tx1"/>
                  </a:solidFill>
                </a:endParaRPr>
              </a:p>
            </p:txBody>
          </p:sp>
        </mc:Choice>
        <mc:Fallback xmlns="">
          <p:sp>
            <p:nvSpPr>
              <p:cNvPr id="34" name="מלבן: פינות מעוגלות 6">
                <a:extLst>
                  <a:ext uri="{FF2B5EF4-FFF2-40B4-BE49-F238E27FC236}">
                    <a16:creationId xmlns:a16="http://schemas.microsoft.com/office/drawing/2014/main" id="{C3E8941F-1D58-2D23-9ABB-32AF27C7853B}"/>
                  </a:ext>
                </a:extLst>
              </p:cNvPr>
              <p:cNvSpPr>
                <a:spLocks noRot="1" noChangeAspect="1" noMove="1" noResize="1" noEditPoints="1" noAdjustHandles="1" noChangeArrowheads="1" noChangeShapeType="1" noTextEdit="1"/>
              </p:cNvSpPr>
              <p:nvPr/>
            </p:nvSpPr>
            <p:spPr>
              <a:xfrm>
                <a:off x="7615043" y="3020691"/>
                <a:ext cx="1562888" cy="526581"/>
              </a:xfrm>
              <a:prstGeom prst="roundRect">
                <a:avLst>
                  <a:gd name="adj" fmla="val 1764"/>
                </a:avLst>
              </a:prstGeom>
              <a:blipFill>
                <a:blip r:embed="rId13"/>
                <a:stretch>
                  <a:fillRect/>
                </a:stretch>
              </a:blipFill>
              <a:ln w="12700">
                <a:solidFill>
                  <a:srgbClr val="92D050"/>
                </a:solidFill>
              </a:ln>
            </p:spPr>
            <p:txBody>
              <a:bodyPr/>
              <a:lstStyle/>
              <a:p>
                <a:r>
                  <a:rPr lang="en-US">
                    <a:noFill/>
                  </a:rPr>
                  <a:t> </a:t>
                </a:r>
              </a:p>
            </p:txBody>
          </p:sp>
        </mc:Fallback>
      </mc:AlternateContent>
      <p:grpSp>
        <p:nvGrpSpPr>
          <p:cNvPr id="2" name="קבוצה 1">
            <a:extLst>
              <a:ext uri="{FF2B5EF4-FFF2-40B4-BE49-F238E27FC236}">
                <a16:creationId xmlns:a16="http://schemas.microsoft.com/office/drawing/2014/main" id="{C9CE3D76-FE9A-1650-FD71-F14C8AAE556F}"/>
              </a:ext>
            </a:extLst>
          </p:cNvPr>
          <p:cNvGrpSpPr/>
          <p:nvPr/>
        </p:nvGrpSpPr>
        <p:grpSpPr>
          <a:xfrm>
            <a:off x="-7351740" y="-271100"/>
            <a:ext cx="9123904" cy="3818372"/>
            <a:chOff x="-8818156" y="172364"/>
            <a:chExt cx="9123904" cy="3818372"/>
          </a:xfrm>
        </p:grpSpPr>
        <p:sp>
          <p:nvSpPr>
            <p:cNvPr id="9" name="מלבן: פינות מעוגלות 8">
              <a:extLst>
                <a:ext uri="{FF2B5EF4-FFF2-40B4-BE49-F238E27FC236}">
                  <a16:creationId xmlns:a16="http://schemas.microsoft.com/office/drawing/2014/main" id="{02D3E99A-2AF8-15CB-1095-9E3EC68D39B6}"/>
                </a:ext>
              </a:extLst>
            </p:cNvPr>
            <p:cNvSpPr/>
            <p:nvPr/>
          </p:nvSpPr>
          <p:spPr>
            <a:xfrm>
              <a:off x="-8818156" y="172364"/>
              <a:ext cx="9123904" cy="3818372"/>
            </a:xfrm>
            <a:prstGeom prst="roundRect">
              <a:avLst>
                <a:gd name="adj" fmla="val 8509"/>
              </a:avLst>
            </a:prstGeom>
            <a:solidFill>
              <a:srgbClr val="00B0F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LID4096"/>
              </a:defPPr>
              <a:lvl1pPr marL="0" algn="r" defTabSz="914400" rtl="1" eaLnBrk="1" latinLnBrk="0" hangingPunct="1">
                <a:defRPr sz="1800" kern="1200">
                  <a:solidFill>
                    <a:schemeClr val="lt1"/>
                  </a:solidFill>
                  <a:latin typeface="+mn-lt"/>
                  <a:ea typeface="+mn-ea"/>
                  <a:cs typeface="+mn-cs"/>
                </a:defRPr>
              </a:lvl1pPr>
              <a:lvl2pPr marL="457200" algn="r" defTabSz="914400" rtl="1" eaLnBrk="1" latinLnBrk="0" hangingPunct="1">
                <a:defRPr sz="1800" kern="1200">
                  <a:solidFill>
                    <a:schemeClr val="lt1"/>
                  </a:solidFill>
                  <a:latin typeface="+mn-lt"/>
                  <a:ea typeface="+mn-ea"/>
                  <a:cs typeface="+mn-cs"/>
                </a:defRPr>
              </a:lvl2pPr>
              <a:lvl3pPr marL="914400" algn="r" defTabSz="914400" rtl="1" eaLnBrk="1" latinLnBrk="0" hangingPunct="1">
                <a:defRPr sz="1800" kern="1200">
                  <a:solidFill>
                    <a:schemeClr val="lt1"/>
                  </a:solidFill>
                  <a:latin typeface="+mn-lt"/>
                  <a:ea typeface="+mn-ea"/>
                  <a:cs typeface="+mn-cs"/>
                </a:defRPr>
              </a:lvl3pPr>
              <a:lvl4pPr marL="1371600" algn="r" defTabSz="914400" rtl="1" eaLnBrk="1" latinLnBrk="0" hangingPunct="1">
                <a:defRPr sz="1800" kern="1200">
                  <a:solidFill>
                    <a:schemeClr val="lt1"/>
                  </a:solidFill>
                  <a:latin typeface="+mn-lt"/>
                  <a:ea typeface="+mn-ea"/>
                  <a:cs typeface="+mn-cs"/>
                </a:defRPr>
              </a:lvl4pPr>
              <a:lvl5pPr marL="1828800" algn="r" defTabSz="914400" rtl="1" eaLnBrk="1" latinLnBrk="0" hangingPunct="1">
                <a:defRPr sz="1800" kern="1200">
                  <a:solidFill>
                    <a:schemeClr val="lt1"/>
                  </a:solidFill>
                  <a:latin typeface="+mn-lt"/>
                  <a:ea typeface="+mn-ea"/>
                  <a:cs typeface="+mn-cs"/>
                </a:defRPr>
              </a:lvl5pPr>
              <a:lvl6pPr marL="2286000" algn="r" defTabSz="914400" rtl="1" eaLnBrk="1" latinLnBrk="0" hangingPunct="1">
                <a:defRPr sz="1800" kern="1200">
                  <a:solidFill>
                    <a:schemeClr val="lt1"/>
                  </a:solidFill>
                  <a:latin typeface="+mn-lt"/>
                  <a:ea typeface="+mn-ea"/>
                  <a:cs typeface="+mn-cs"/>
                </a:defRPr>
              </a:lvl6pPr>
              <a:lvl7pPr marL="2743200" algn="r" defTabSz="914400" rtl="1" eaLnBrk="1" latinLnBrk="0" hangingPunct="1">
                <a:defRPr sz="1800" kern="1200">
                  <a:solidFill>
                    <a:schemeClr val="lt1"/>
                  </a:solidFill>
                  <a:latin typeface="+mn-lt"/>
                  <a:ea typeface="+mn-ea"/>
                  <a:cs typeface="+mn-cs"/>
                </a:defRPr>
              </a:lvl7pPr>
              <a:lvl8pPr marL="3200400" algn="r" defTabSz="914400" rtl="1" eaLnBrk="1" latinLnBrk="0" hangingPunct="1">
                <a:defRPr sz="1800" kern="1200">
                  <a:solidFill>
                    <a:schemeClr val="lt1"/>
                  </a:solidFill>
                  <a:latin typeface="+mn-lt"/>
                  <a:ea typeface="+mn-ea"/>
                  <a:cs typeface="+mn-cs"/>
                </a:defRPr>
              </a:lvl8pPr>
              <a:lvl9pPr marL="3657600" algn="r" defTabSz="914400" rtl="1" eaLnBrk="1" latinLnBrk="0" hangingPunct="1">
                <a:defRPr sz="1800" kern="1200">
                  <a:solidFill>
                    <a:schemeClr val="lt1"/>
                  </a:solidFill>
                  <a:latin typeface="+mn-lt"/>
                  <a:ea typeface="+mn-ea"/>
                  <a:cs typeface="+mn-cs"/>
                </a:defRPr>
              </a:lvl9pPr>
            </a:lstStyle>
            <a:p>
              <a:pPr algn="ctr"/>
              <a:endParaRPr lang="LID4096"/>
            </a:p>
          </p:txBody>
        </p:sp>
        <mc:AlternateContent xmlns:mc="http://schemas.openxmlformats.org/markup-compatibility/2006" xmlns:a14="http://schemas.microsoft.com/office/drawing/2010/main">
          <mc:Choice Requires="a14">
            <p:sp>
              <p:nvSpPr>
                <p:cNvPr id="10" name="תיבת טקסט 44">
                  <a:extLst>
                    <a:ext uri="{FF2B5EF4-FFF2-40B4-BE49-F238E27FC236}">
                      <a16:creationId xmlns:a16="http://schemas.microsoft.com/office/drawing/2014/main" id="{DB41AD79-CE48-9565-D47D-ADF7E8A0EF78}"/>
                    </a:ext>
                  </a:extLst>
                </p:cNvPr>
                <p:cNvSpPr txBox="1"/>
                <p:nvPr/>
              </p:nvSpPr>
              <p:spPr>
                <a:xfrm>
                  <a:off x="-7704341" y="474122"/>
                  <a:ext cx="6720784" cy="1053237"/>
                </a:xfrm>
                <a:prstGeom prst="rect">
                  <a:avLst/>
                </a:prstGeom>
                <a:noFill/>
              </p:spPr>
              <p:txBody>
                <a:bodyPr wrap="square" rtlCol="0">
                  <a:spAutoFit/>
                </a:bodyPr>
                <a:lstStyle>
                  <a:defPPr>
                    <a:defRPr lang="LID4096"/>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a:lstStyle>
                <a:p>
                  <a:r>
                    <a:rPr lang="he-IL" sz="2000" b="1">
                      <a:solidFill>
                        <a:schemeClr val="bg1"/>
                      </a:solidFill>
                      <a:latin typeface="Assistant" pitchFamily="2" charset="-79"/>
                      <a:cs typeface="Assistant" pitchFamily="2" charset="-79"/>
                    </a:rPr>
                    <a:t>טקסט רמז </a:t>
                  </a:r>
                </a:p>
                <a:p>
                  <a:r>
                    <a:rPr lang="he-IL" sz="2000">
                      <a:solidFill>
                        <a:schemeClr val="bg1"/>
                      </a:solidFill>
                      <a:latin typeface="Assistant" pitchFamily="2" charset="-79"/>
                      <a:cs typeface="Assistant" pitchFamily="2" charset="-79"/>
                    </a:rPr>
                    <a:t>לפי היחס 1:4 לכמה חלקים יש לחלק את גודל הזווית השלמה, </a:t>
                  </a:r>
                  <a14:m>
                    <m:oMath xmlns:m="http://schemas.openxmlformats.org/officeDocument/2006/math">
                      <m:r>
                        <a:rPr lang="he-IL" sz="2000" b="0" i="1" smtClean="0">
                          <a:solidFill>
                            <a:schemeClr val="bg1"/>
                          </a:solidFill>
                          <a:latin typeface="Cambria Math" panose="02040503050406030204" pitchFamily="18" charset="0"/>
                          <a:cs typeface="Assistant" pitchFamily="2" charset="-79"/>
                        </a:rPr>
                        <m:t>90</m:t>
                      </m:r>
                      <m:r>
                        <a:rPr lang="he-IL" sz="2000" b="0" i="1" smtClean="0">
                          <a:solidFill>
                            <a:schemeClr val="bg1"/>
                          </a:solidFill>
                          <a:latin typeface="Cambria Math" panose="02040503050406030204" pitchFamily="18" charset="0"/>
                          <a:ea typeface="Cambria Math" panose="02040503050406030204" pitchFamily="18" charset="0"/>
                          <a:cs typeface="Assistant" pitchFamily="2" charset="-79"/>
                        </a:rPr>
                        <m:t>°</m:t>
                      </m:r>
                    </m:oMath>
                  </a14:m>
                  <a:r>
                    <a:rPr lang="he-IL" sz="2000">
                      <a:solidFill>
                        <a:schemeClr val="bg1"/>
                      </a:solidFill>
                      <a:latin typeface="Assistant" pitchFamily="2" charset="-79"/>
                      <a:cs typeface="Assistant" pitchFamily="2" charset="-79"/>
                    </a:rPr>
                    <a:t>, על מנת לקבל את זווית </a:t>
                  </a:r>
                  <a14:m>
                    <m:oMath xmlns:m="http://schemas.openxmlformats.org/officeDocument/2006/math">
                      <m:r>
                        <a:rPr lang="en-US" sz="2000">
                          <a:solidFill>
                            <a:schemeClr val="bg1"/>
                          </a:solidFill>
                          <a:latin typeface="Cambria Math" panose="02040503050406030204" pitchFamily="18" charset="0"/>
                          <a:cs typeface="Assistant" pitchFamily="2" charset="-79"/>
                        </a:rPr>
                        <m:t>𝛼</m:t>
                      </m:r>
                    </m:oMath>
                  </a14:m>
                  <a:r>
                    <a:rPr lang="he-IL" sz="2000">
                      <a:solidFill>
                        <a:schemeClr val="bg1"/>
                      </a:solidFill>
                      <a:latin typeface="Assistant" pitchFamily="2" charset="-79"/>
                      <a:cs typeface="Assistant" pitchFamily="2" charset="-79"/>
                    </a:rPr>
                    <a:t> ?</a:t>
                  </a:r>
                  <a:endParaRPr lang="LID4096" sz="2000">
                    <a:solidFill>
                      <a:schemeClr val="bg1"/>
                    </a:solidFill>
                    <a:latin typeface="Assistant" pitchFamily="2" charset="-79"/>
                    <a:cs typeface="Assistant" pitchFamily="2" charset="-79"/>
                  </a:endParaRPr>
                </a:p>
              </p:txBody>
            </p:sp>
          </mc:Choice>
          <mc:Fallback xmlns="">
            <p:sp>
              <p:nvSpPr>
                <p:cNvPr id="10" name="תיבת טקסט 44">
                  <a:extLst>
                    <a:ext uri="{FF2B5EF4-FFF2-40B4-BE49-F238E27FC236}">
                      <a16:creationId xmlns:a16="http://schemas.microsoft.com/office/drawing/2014/main" id="{DB41AD79-CE48-9565-D47D-ADF7E8A0EF78}"/>
                    </a:ext>
                  </a:extLst>
                </p:cNvPr>
                <p:cNvSpPr txBox="1">
                  <a:spLocks noRot="1" noChangeAspect="1" noMove="1" noResize="1" noEditPoints="1" noAdjustHandles="1" noChangeArrowheads="1" noChangeShapeType="1" noTextEdit="1"/>
                </p:cNvSpPr>
                <p:nvPr/>
              </p:nvSpPr>
              <p:spPr>
                <a:xfrm>
                  <a:off x="-7704341" y="474122"/>
                  <a:ext cx="6720784" cy="1053237"/>
                </a:xfrm>
                <a:prstGeom prst="rect">
                  <a:avLst/>
                </a:prstGeom>
                <a:blipFill>
                  <a:blip r:embed="rId14"/>
                  <a:stretch>
                    <a:fillRect t="-2890" r="-907" b="-5780"/>
                  </a:stretch>
                </a:blipFill>
              </p:spPr>
              <p:txBody>
                <a:bodyPr/>
                <a:lstStyle/>
                <a:p>
                  <a:r>
                    <a:rPr lang="en-US">
                      <a:noFill/>
                    </a:rPr>
                    <a:t> </a:t>
                  </a:r>
                </a:p>
              </p:txBody>
            </p:sp>
          </mc:Fallback>
        </mc:AlternateContent>
        <p:sp>
          <p:nvSpPr>
            <p:cNvPr id="11" name="מלבן: פינות מעוגלות 10">
              <a:extLst>
                <a:ext uri="{FF2B5EF4-FFF2-40B4-BE49-F238E27FC236}">
                  <a16:creationId xmlns:a16="http://schemas.microsoft.com/office/drawing/2014/main" id="{3B5B3A38-174D-6B33-37AE-B9B848EC1AFC}"/>
                </a:ext>
              </a:extLst>
            </p:cNvPr>
            <p:cNvSpPr/>
            <p:nvPr/>
          </p:nvSpPr>
          <p:spPr>
            <a:xfrm>
              <a:off x="-5861703" y="3135618"/>
              <a:ext cx="1798983" cy="506891"/>
            </a:xfrm>
            <a:prstGeom prst="roundRect">
              <a:avLst>
                <a:gd name="adj" fmla="val 50000"/>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LID4096"/>
              </a:defPPr>
              <a:lvl1pPr marL="0" algn="r" defTabSz="914400" rtl="1" eaLnBrk="1" latinLnBrk="0" hangingPunct="1">
                <a:defRPr sz="1800" kern="1200">
                  <a:solidFill>
                    <a:schemeClr val="lt1"/>
                  </a:solidFill>
                  <a:latin typeface="+mn-lt"/>
                  <a:ea typeface="+mn-ea"/>
                  <a:cs typeface="+mn-cs"/>
                </a:defRPr>
              </a:lvl1pPr>
              <a:lvl2pPr marL="457200" algn="r" defTabSz="914400" rtl="1" eaLnBrk="1" latinLnBrk="0" hangingPunct="1">
                <a:defRPr sz="1800" kern="1200">
                  <a:solidFill>
                    <a:schemeClr val="lt1"/>
                  </a:solidFill>
                  <a:latin typeface="+mn-lt"/>
                  <a:ea typeface="+mn-ea"/>
                  <a:cs typeface="+mn-cs"/>
                </a:defRPr>
              </a:lvl2pPr>
              <a:lvl3pPr marL="914400" algn="r" defTabSz="914400" rtl="1" eaLnBrk="1" latinLnBrk="0" hangingPunct="1">
                <a:defRPr sz="1800" kern="1200">
                  <a:solidFill>
                    <a:schemeClr val="lt1"/>
                  </a:solidFill>
                  <a:latin typeface="+mn-lt"/>
                  <a:ea typeface="+mn-ea"/>
                  <a:cs typeface="+mn-cs"/>
                </a:defRPr>
              </a:lvl3pPr>
              <a:lvl4pPr marL="1371600" algn="r" defTabSz="914400" rtl="1" eaLnBrk="1" latinLnBrk="0" hangingPunct="1">
                <a:defRPr sz="1800" kern="1200">
                  <a:solidFill>
                    <a:schemeClr val="lt1"/>
                  </a:solidFill>
                  <a:latin typeface="+mn-lt"/>
                  <a:ea typeface="+mn-ea"/>
                  <a:cs typeface="+mn-cs"/>
                </a:defRPr>
              </a:lvl4pPr>
              <a:lvl5pPr marL="1828800" algn="r" defTabSz="914400" rtl="1" eaLnBrk="1" latinLnBrk="0" hangingPunct="1">
                <a:defRPr sz="1800" kern="1200">
                  <a:solidFill>
                    <a:schemeClr val="lt1"/>
                  </a:solidFill>
                  <a:latin typeface="+mn-lt"/>
                  <a:ea typeface="+mn-ea"/>
                  <a:cs typeface="+mn-cs"/>
                </a:defRPr>
              </a:lvl5pPr>
              <a:lvl6pPr marL="2286000" algn="r" defTabSz="914400" rtl="1" eaLnBrk="1" latinLnBrk="0" hangingPunct="1">
                <a:defRPr sz="1800" kern="1200">
                  <a:solidFill>
                    <a:schemeClr val="lt1"/>
                  </a:solidFill>
                  <a:latin typeface="+mn-lt"/>
                  <a:ea typeface="+mn-ea"/>
                  <a:cs typeface="+mn-cs"/>
                </a:defRPr>
              </a:lvl6pPr>
              <a:lvl7pPr marL="2743200" algn="r" defTabSz="914400" rtl="1" eaLnBrk="1" latinLnBrk="0" hangingPunct="1">
                <a:defRPr sz="1800" kern="1200">
                  <a:solidFill>
                    <a:schemeClr val="lt1"/>
                  </a:solidFill>
                  <a:latin typeface="+mn-lt"/>
                  <a:ea typeface="+mn-ea"/>
                  <a:cs typeface="+mn-cs"/>
                </a:defRPr>
              </a:lvl7pPr>
              <a:lvl8pPr marL="3200400" algn="r" defTabSz="914400" rtl="1" eaLnBrk="1" latinLnBrk="0" hangingPunct="1">
                <a:defRPr sz="1800" kern="1200">
                  <a:solidFill>
                    <a:schemeClr val="lt1"/>
                  </a:solidFill>
                  <a:latin typeface="+mn-lt"/>
                  <a:ea typeface="+mn-ea"/>
                  <a:cs typeface="+mn-cs"/>
                </a:defRPr>
              </a:lvl8pPr>
              <a:lvl9pPr marL="3657600" algn="r" defTabSz="914400" rtl="1" eaLnBrk="1" latinLnBrk="0" hangingPunct="1">
                <a:defRPr sz="1800" kern="1200">
                  <a:solidFill>
                    <a:schemeClr val="lt1"/>
                  </a:solidFill>
                  <a:latin typeface="+mn-lt"/>
                  <a:ea typeface="+mn-ea"/>
                  <a:cs typeface="+mn-cs"/>
                </a:defRPr>
              </a:lvl9pPr>
            </a:lstStyle>
            <a:p>
              <a:pPr algn="ctr"/>
              <a:r>
                <a:rPr lang="he-IL">
                  <a:solidFill>
                    <a:schemeClr val="tx1"/>
                  </a:solidFill>
                  <a:latin typeface="Assistant" pitchFamily="2" charset="-79"/>
                  <a:cs typeface="Assistant" pitchFamily="2" charset="-79"/>
                </a:rPr>
                <a:t>חזרה לשאלה</a:t>
              </a:r>
              <a:endParaRPr lang="LID4096">
                <a:solidFill>
                  <a:schemeClr val="tx1"/>
                </a:solidFill>
                <a:latin typeface="Assistant" pitchFamily="2" charset="-79"/>
                <a:cs typeface="Assistant" pitchFamily="2" charset="-79"/>
              </a:endParaRPr>
            </a:p>
          </p:txBody>
        </p:sp>
        <p:pic>
          <p:nvPicPr>
            <p:cNvPr id="12" name="גרפיקה 46" descr="נורת חשמל וגלגל שיניים עם מילוי מלא">
              <a:extLst>
                <a:ext uri="{FF2B5EF4-FFF2-40B4-BE49-F238E27FC236}">
                  <a16:creationId xmlns:a16="http://schemas.microsoft.com/office/drawing/2014/main" id="{DA4EC63D-F47E-3E99-EA68-500C918FA69D}"/>
                </a:ext>
              </a:extLst>
            </p:cNvPr>
            <p:cNvPicPr>
              <a:picLocks noChangeAspect="1"/>
            </p:cNvPicPr>
            <p:nvPr/>
          </p:nvPicPr>
          <p:blipFill>
            <a:blip>
              <a:extLst>
                <a:ext uri="{96DAC541-7B7A-43D3-8B79-37D633B846F1}">
                  <asvg:svgBlip xmlns:asvg="http://schemas.microsoft.com/office/drawing/2016/SVG/main" r:embed="rId15"/>
                </a:ext>
              </a:extLst>
            </a:blip>
            <a:stretch>
              <a:fillRect/>
            </a:stretch>
          </p:blipFill>
          <p:spPr>
            <a:xfrm>
              <a:off x="-983558" y="489982"/>
              <a:ext cx="338083" cy="338083"/>
            </a:xfrm>
            <a:prstGeom prst="rect">
              <a:avLst/>
            </a:prstGeom>
          </p:spPr>
        </p:pic>
      </p:grpSp>
      <p:sp>
        <p:nvSpPr>
          <p:cNvPr id="16" name="מלבן 7">
            <a:extLst>
              <a:ext uri="{FF2B5EF4-FFF2-40B4-BE49-F238E27FC236}">
                <a16:creationId xmlns:a16="http://schemas.microsoft.com/office/drawing/2014/main" id="{A1DD8347-DD11-1431-4DE5-3028195D8EE5}"/>
              </a:ext>
            </a:extLst>
          </p:cNvPr>
          <p:cNvSpPr/>
          <p:nvPr/>
        </p:nvSpPr>
        <p:spPr>
          <a:xfrm>
            <a:off x="11896440" y="332438"/>
            <a:ext cx="45719" cy="5474677"/>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LID4096"/>
          </a:p>
        </p:txBody>
      </p:sp>
      <p:sp>
        <p:nvSpPr>
          <p:cNvPr id="19" name="מלבן 8">
            <a:extLst>
              <a:ext uri="{FF2B5EF4-FFF2-40B4-BE49-F238E27FC236}">
                <a16:creationId xmlns:a16="http://schemas.microsoft.com/office/drawing/2014/main" id="{3165FB6B-61EE-206D-CBA5-D780BA2753C5}"/>
              </a:ext>
            </a:extLst>
          </p:cNvPr>
          <p:cNvSpPr/>
          <p:nvPr/>
        </p:nvSpPr>
        <p:spPr>
          <a:xfrm>
            <a:off x="11896439" y="1257205"/>
            <a:ext cx="45719" cy="3526971"/>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LID4096"/>
          </a:p>
        </p:txBody>
      </p:sp>
    </p:spTree>
    <p:custDataLst>
      <p:tags r:id="rId1"/>
    </p:custDataLst>
    <p:extLst>
      <p:ext uri="{BB962C8B-B14F-4D97-AF65-F5344CB8AC3E}">
        <p14:creationId xmlns:p14="http://schemas.microsoft.com/office/powerpoint/2010/main" val="14165557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30930D-E94D-0974-6362-EEF9519CEA45}"/>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C2667FBA-24FF-89A6-A7F3-0A432DC33024}"/>
              </a:ext>
            </a:extLst>
          </p:cNvPr>
          <p:cNvSpPr txBox="1"/>
          <p:nvPr/>
        </p:nvSpPr>
        <p:spPr>
          <a:xfrm>
            <a:off x="2621280" y="3167390"/>
            <a:ext cx="5815584" cy="954107"/>
          </a:xfrm>
          <a:prstGeom prst="rect">
            <a:avLst/>
          </a:prstGeom>
          <a:noFill/>
        </p:spPr>
        <p:txBody>
          <a:bodyPr wrap="square">
            <a:spAutoFit/>
          </a:bodyPr>
          <a:lstStyle/>
          <a:p>
            <a:pPr algn="ctr"/>
            <a:r>
              <a:rPr lang="he-IL" sz="2800" b="0" i="0" kern="1200" dirty="0">
                <a:solidFill>
                  <a:schemeClr val="dk1"/>
                </a:solidFill>
                <a:effectLst/>
                <a:latin typeface="+mn-lt"/>
                <a:ea typeface="+mn-ea"/>
                <a:cs typeface="+mn-cs"/>
              </a:rPr>
              <a:t> רכיב </a:t>
            </a:r>
            <a:r>
              <a:rPr lang="en-US" sz="2800" b="0" i="0" kern="1200" dirty="0">
                <a:solidFill>
                  <a:schemeClr val="dk1"/>
                </a:solidFill>
                <a:effectLst/>
                <a:latin typeface="+mn-lt"/>
                <a:ea typeface="+mn-ea"/>
                <a:cs typeface="+mn-cs"/>
              </a:rPr>
              <a:t>2</a:t>
            </a:r>
            <a:endParaRPr lang="he-IL" sz="2800" b="0" i="0" kern="1200" dirty="0">
              <a:solidFill>
                <a:schemeClr val="dk1"/>
              </a:solidFill>
              <a:effectLst/>
              <a:latin typeface="+mn-lt"/>
              <a:ea typeface="+mn-ea"/>
              <a:cs typeface="+mn-cs"/>
            </a:endParaRPr>
          </a:p>
          <a:p>
            <a:pPr algn="ctr"/>
            <a:r>
              <a:rPr lang="en-IL" sz="2800" b="0" i="0" kern="1200" dirty="0">
                <a:solidFill>
                  <a:schemeClr val="dk1"/>
                </a:solidFill>
                <a:effectLst/>
                <a:latin typeface="+mn-lt"/>
                <a:ea typeface="+mn-ea"/>
                <a:cs typeface="+mn-cs"/>
              </a:rPr>
              <a:t>methodica-math-ratio-01</a:t>
            </a:r>
            <a:r>
              <a:rPr lang="en-US" sz="2800" dirty="0">
                <a:solidFill>
                  <a:schemeClr val="dk1"/>
                </a:solidFill>
              </a:rPr>
              <a:t>-02</a:t>
            </a:r>
            <a:endParaRPr lang="LID4096" sz="2800" dirty="0">
              <a:latin typeface="Assistant" pitchFamily="2" charset="-79"/>
              <a:cs typeface="Assistant" pitchFamily="2" charset="-79"/>
            </a:endParaRPr>
          </a:p>
        </p:txBody>
      </p:sp>
    </p:spTree>
    <p:extLst>
      <p:ext uri="{BB962C8B-B14F-4D97-AF65-F5344CB8AC3E}">
        <p14:creationId xmlns:p14="http://schemas.microsoft.com/office/powerpoint/2010/main" val="37566984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E50E6D-61C1-121B-5285-6BBBC1FE5FC3}"/>
            </a:ext>
          </a:extLst>
        </p:cNvPr>
        <p:cNvGrpSpPr/>
        <p:nvPr/>
      </p:nvGrpSpPr>
      <p:grpSpPr>
        <a:xfrm>
          <a:off x="0" y="0"/>
          <a:ext cx="0" cy="0"/>
          <a:chOff x="0" y="0"/>
          <a:chExt cx="0" cy="0"/>
        </a:xfrm>
      </p:grpSpPr>
      <p:pic>
        <p:nvPicPr>
          <p:cNvPr id="4" name="תמונה 3">
            <a:extLst>
              <a:ext uri="{FF2B5EF4-FFF2-40B4-BE49-F238E27FC236}">
                <a16:creationId xmlns:a16="http://schemas.microsoft.com/office/drawing/2014/main" id="{BE482F08-55EC-5173-C440-B0F394762F5E}"/>
              </a:ext>
            </a:extLst>
          </p:cNvPr>
          <p:cNvPicPr>
            <a:picLocks noChangeAspect="1"/>
          </p:cNvPicPr>
          <p:nvPr/>
        </p:nvPicPr>
        <p:blipFill>
          <a:blip r:embed="rId4">
            <a:extLst>
              <a:ext uri="{28A0092B-C50C-407E-A947-70E740481C1C}">
                <a14:useLocalDpi xmlns:a14="http://schemas.microsoft.com/office/drawing/2010/main"/>
              </a:ext>
            </a:extLst>
          </a:blip>
          <a:stretch>
            <a:fillRect/>
          </a:stretch>
        </p:blipFill>
        <p:spPr>
          <a:xfrm>
            <a:off x="192984" y="6236080"/>
            <a:ext cx="1777778" cy="495238"/>
          </a:xfrm>
          <a:prstGeom prst="rect">
            <a:avLst/>
          </a:prstGeom>
        </p:spPr>
      </p:pic>
      <p:cxnSp>
        <p:nvCxnSpPr>
          <p:cNvPr id="5" name="מחבר ישר 4">
            <a:extLst>
              <a:ext uri="{FF2B5EF4-FFF2-40B4-BE49-F238E27FC236}">
                <a16:creationId xmlns:a16="http://schemas.microsoft.com/office/drawing/2014/main" id="{8544FAE9-F138-F97D-CD52-D1B8F1D6BD58}"/>
              </a:ext>
            </a:extLst>
          </p:cNvPr>
          <p:cNvCxnSpPr>
            <a:cxnSpLocks/>
          </p:cNvCxnSpPr>
          <p:nvPr/>
        </p:nvCxnSpPr>
        <p:spPr>
          <a:xfrm>
            <a:off x="0" y="6079252"/>
            <a:ext cx="12192000" cy="0"/>
          </a:xfrm>
          <a:prstGeom prst="line">
            <a:avLst/>
          </a:prstGeom>
          <a:ln>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8" name="Rectangle 7">
            <a:extLst>
              <a:ext uri="{FF2B5EF4-FFF2-40B4-BE49-F238E27FC236}">
                <a16:creationId xmlns:a16="http://schemas.microsoft.com/office/drawing/2014/main" id="{5D92504D-02AC-4BFA-0629-7F9B75C2C13B}"/>
              </a:ext>
            </a:extLst>
          </p:cNvPr>
          <p:cNvSpPr/>
          <p:nvPr/>
        </p:nvSpPr>
        <p:spPr>
          <a:xfrm>
            <a:off x="259101" y="6274670"/>
            <a:ext cx="1645544" cy="418058"/>
          </a:xfrm>
          <a:prstGeom prst="rect">
            <a:avLst/>
          </a:prstGeom>
          <a:solidFill>
            <a:schemeClr val="tx2">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he-IL">
                <a:latin typeface="Assistant" pitchFamily="2" charset="-79"/>
                <a:cs typeface="Assistant" pitchFamily="2" charset="-79"/>
              </a:rPr>
              <a:t>אפשר להתחיל! </a:t>
            </a:r>
            <a:endParaRPr lang="en-US">
              <a:latin typeface="Assistant" pitchFamily="2" charset="-79"/>
              <a:cs typeface="Assistant" pitchFamily="2" charset="-79"/>
            </a:endParaRPr>
          </a:p>
        </p:txBody>
      </p:sp>
      <p:pic>
        <p:nvPicPr>
          <p:cNvPr id="10" name="Picture 9">
            <a:extLst>
              <a:ext uri="{FF2B5EF4-FFF2-40B4-BE49-F238E27FC236}">
                <a16:creationId xmlns:a16="http://schemas.microsoft.com/office/drawing/2014/main" id="{D4607746-686A-70D9-3C47-A9CF2650CE23}"/>
              </a:ext>
            </a:extLst>
          </p:cNvPr>
          <p:cNvPicPr>
            <a:picLocks noChangeAspect="1"/>
          </p:cNvPicPr>
          <p:nvPr/>
        </p:nvPicPr>
        <p:blipFill>
          <a:blip r:embed="rId5"/>
          <a:stretch>
            <a:fillRect/>
          </a:stretch>
        </p:blipFill>
        <p:spPr>
          <a:xfrm>
            <a:off x="10371417" y="6124170"/>
            <a:ext cx="1820583" cy="622831"/>
          </a:xfrm>
          <a:prstGeom prst="rect">
            <a:avLst/>
          </a:prstGeom>
        </p:spPr>
      </p:pic>
      <p:pic>
        <p:nvPicPr>
          <p:cNvPr id="2" name="תמונה 2">
            <a:extLst>
              <a:ext uri="{FF2B5EF4-FFF2-40B4-BE49-F238E27FC236}">
                <a16:creationId xmlns:a16="http://schemas.microsoft.com/office/drawing/2014/main" id="{A0D829E4-E15C-8827-20B1-B2E296C74F03}"/>
              </a:ext>
            </a:extLst>
          </p:cNvPr>
          <p:cNvPicPr>
            <a:picLocks noChangeAspect="1"/>
          </p:cNvPicPr>
          <p:nvPr/>
        </p:nvPicPr>
        <p:blipFill>
          <a:blip r:embed="rId6">
            <a:extLst>
              <a:ext uri="{28A0092B-C50C-407E-A947-70E740481C1C}">
                <a14:useLocalDpi xmlns:a14="http://schemas.microsoft.com/office/drawing/2010/main"/>
              </a:ext>
            </a:extLst>
          </a:blip>
          <a:stretch>
            <a:fillRect/>
          </a:stretch>
        </p:blipFill>
        <p:spPr>
          <a:xfrm>
            <a:off x="0" y="57121"/>
            <a:ext cx="933869" cy="721626"/>
          </a:xfrm>
          <a:prstGeom prst="rect">
            <a:avLst/>
          </a:prstGeom>
        </p:spPr>
      </p:pic>
      <p:sp>
        <p:nvSpPr>
          <p:cNvPr id="11" name="תיבת טקסט 2">
            <a:extLst>
              <a:ext uri="{FF2B5EF4-FFF2-40B4-BE49-F238E27FC236}">
                <a16:creationId xmlns:a16="http://schemas.microsoft.com/office/drawing/2014/main" id="{186F3006-9ED7-D1DB-F5AE-775AD3417B20}"/>
              </a:ext>
            </a:extLst>
          </p:cNvPr>
          <p:cNvSpPr txBox="1"/>
          <p:nvPr/>
        </p:nvSpPr>
        <p:spPr>
          <a:xfrm>
            <a:off x="2483011" y="875823"/>
            <a:ext cx="7458718" cy="1323439"/>
          </a:xfrm>
          <a:prstGeom prst="rect">
            <a:avLst/>
          </a:prstGeom>
          <a:noFill/>
        </p:spPr>
        <p:txBody>
          <a:bodyPr wrap="square" lIns="91440" tIns="45720" rIns="91440" bIns="45720" anchor="t">
            <a:spAutoFit/>
          </a:bodyPr>
          <a:lstStyle/>
          <a:p>
            <a:pPr algn="ctr"/>
            <a:r>
              <a:rPr lang="he-IL" sz="2000">
                <a:latin typeface="Assistant" pitchFamily="2" charset="-79"/>
                <a:cs typeface="Assistant" pitchFamily="2" charset="-79"/>
              </a:rPr>
              <a:t>סיימנו את שלב הלימוד, נעבור לתרגול ונענה על</a:t>
            </a:r>
          </a:p>
          <a:p>
            <a:pPr algn="ctr"/>
            <a:r>
              <a:rPr lang="he-IL" sz="2800">
                <a:solidFill>
                  <a:srgbClr val="0070C0"/>
                </a:solidFill>
                <a:latin typeface="Assistant"/>
                <a:cs typeface="Assistant"/>
              </a:rPr>
              <a:t> </a:t>
            </a:r>
            <a:r>
              <a:rPr lang="he-IL" sz="4000" b="1">
                <a:latin typeface="Assistant"/>
                <a:cs typeface="Assistant"/>
              </a:rPr>
              <a:t>4 שאלות </a:t>
            </a:r>
          </a:p>
          <a:p>
            <a:pPr algn="ctr"/>
            <a:r>
              <a:rPr lang="he-IL" sz="2000" b="1">
                <a:latin typeface="Assistant"/>
                <a:cs typeface="Assistant"/>
              </a:rPr>
              <a:t>צריך לענות נכון על 3 שאלות לפחות. </a:t>
            </a:r>
          </a:p>
        </p:txBody>
      </p:sp>
      <p:pic>
        <p:nvPicPr>
          <p:cNvPr id="7" name="Picture 6">
            <a:extLst>
              <a:ext uri="{FF2B5EF4-FFF2-40B4-BE49-F238E27FC236}">
                <a16:creationId xmlns:a16="http://schemas.microsoft.com/office/drawing/2014/main" id="{94B371E8-A68B-156E-5426-FCACE53058E7}"/>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4255877" y="2253811"/>
            <a:ext cx="3825442" cy="3825442"/>
          </a:xfrm>
          <a:prstGeom prst="rect">
            <a:avLst/>
          </a:prstGeom>
        </p:spPr>
      </p:pic>
    </p:spTree>
    <p:custDataLst>
      <p:tags r:id="rId1"/>
    </p:custDataLst>
    <p:extLst>
      <p:ext uri="{BB962C8B-B14F-4D97-AF65-F5344CB8AC3E}">
        <p14:creationId xmlns:p14="http://schemas.microsoft.com/office/powerpoint/2010/main" val="351682039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BFF059-62A3-4AC4-E337-AF699122D058}"/>
            </a:ext>
          </a:extLst>
        </p:cNvPr>
        <p:cNvGrpSpPr/>
        <p:nvPr/>
      </p:nvGrpSpPr>
      <p:grpSpPr>
        <a:xfrm>
          <a:off x="0" y="0"/>
          <a:ext cx="0" cy="0"/>
          <a:chOff x="0" y="0"/>
          <a:chExt cx="0" cy="0"/>
        </a:xfrm>
      </p:grpSpPr>
      <p:cxnSp>
        <p:nvCxnSpPr>
          <p:cNvPr id="4" name="מחבר ישר 3">
            <a:extLst>
              <a:ext uri="{FF2B5EF4-FFF2-40B4-BE49-F238E27FC236}">
                <a16:creationId xmlns:a16="http://schemas.microsoft.com/office/drawing/2014/main" id="{336053F6-9ECB-7B9A-9264-C7AE875602F1}"/>
              </a:ext>
            </a:extLst>
          </p:cNvPr>
          <p:cNvCxnSpPr>
            <a:cxnSpLocks/>
          </p:cNvCxnSpPr>
          <p:nvPr/>
        </p:nvCxnSpPr>
        <p:spPr>
          <a:xfrm>
            <a:off x="0" y="6079252"/>
            <a:ext cx="12192000" cy="0"/>
          </a:xfrm>
          <a:prstGeom prst="line">
            <a:avLst/>
          </a:prstGeom>
          <a:ln>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5" name="מלבן: פינות מעוגלות 4">
            <a:extLst>
              <a:ext uri="{FF2B5EF4-FFF2-40B4-BE49-F238E27FC236}">
                <a16:creationId xmlns:a16="http://schemas.microsoft.com/office/drawing/2014/main" id="{040ED41F-643C-FCCA-9DEC-77809A289AD1}"/>
              </a:ext>
            </a:extLst>
          </p:cNvPr>
          <p:cNvSpPr/>
          <p:nvPr/>
        </p:nvSpPr>
        <p:spPr>
          <a:xfrm>
            <a:off x="268356" y="6182143"/>
            <a:ext cx="1798983" cy="506891"/>
          </a:xfrm>
          <a:prstGeom prst="roundRect">
            <a:avLst>
              <a:gd name="adj" fmla="val 50000"/>
            </a:avLst>
          </a:prstGeom>
          <a:solidFill>
            <a:schemeClr val="bg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he-IL"/>
              <a:t>צדקתי?</a:t>
            </a:r>
            <a:endParaRPr lang="LID4096"/>
          </a:p>
        </p:txBody>
      </p:sp>
      <p:sp>
        <p:nvSpPr>
          <p:cNvPr id="6" name="תיבת טקסט 5">
            <a:extLst>
              <a:ext uri="{FF2B5EF4-FFF2-40B4-BE49-F238E27FC236}">
                <a16:creationId xmlns:a16="http://schemas.microsoft.com/office/drawing/2014/main" id="{E73B5B86-C42C-BEB4-D27A-D278A5BEEEDB}"/>
              </a:ext>
            </a:extLst>
          </p:cNvPr>
          <p:cNvSpPr txBox="1"/>
          <p:nvPr/>
        </p:nvSpPr>
        <p:spPr>
          <a:xfrm>
            <a:off x="4267813" y="1275060"/>
            <a:ext cx="7342742" cy="4401205"/>
          </a:xfrm>
          <a:prstGeom prst="rect">
            <a:avLst/>
          </a:prstGeom>
          <a:noFill/>
        </p:spPr>
        <p:txBody>
          <a:bodyPr wrap="square" rtlCol="0">
            <a:spAutoFit/>
          </a:bodyPr>
          <a:lstStyle/>
          <a:p>
            <a:r>
              <a:rPr lang="he-IL" sz="2000">
                <a:latin typeface="Assistant" pitchFamily="2" charset="-79"/>
                <a:cs typeface="Assistant" pitchFamily="2" charset="-79"/>
              </a:rPr>
              <a:t>1. בטורניר הגיימינג השנתי של בית הספר, קבוצה של 30 תלמידים פתחה ערוץ משותף ברשת כדי להעלות סרטונים מהטורניר.</a:t>
            </a:r>
          </a:p>
          <a:p>
            <a:endParaRPr lang="he-IL" sz="2000">
              <a:latin typeface="Assistant" pitchFamily="2" charset="-79"/>
              <a:cs typeface="Assistant" pitchFamily="2" charset="-79"/>
            </a:endParaRPr>
          </a:p>
          <a:p>
            <a:r>
              <a:rPr lang="he-IL" sz="2000">
                <a:latin typeface="Assistant" pitchFamily="2" charset="-79"/>
                <a:cs typeface="Assistant" pitchFamily="2" charset="-79"/>
              </a:rPr>
              <a:t>התלמידים חילקו ביניהם את העבודה לשני תפקידים בלבד: </a:t>
            </a:r>
          </a:p>
          <a:p>
            <a:r>
              <a:rPr lang="he-IL" sz="2000">
                <a:latin typeface="Assistant" pitchFamily="2" charset="-79"/>
                <a:cs typeface="Assistant" pitchFamily="2" charset="-79"/>
              </a:rPr>
              <a:t>חלקם שחקנים שיצלמו את עצמם משחקים וחלקם עורכי וידאו.</a:t>
            </a:r>
          </a:p>
          <a:p>
            <a:endParaRPr lang="he-IL" sz="2000">
              <a:latin typeface="Assistant" pitchFamily="2" charset="-79"/>
              <a:cs typeface="Assistant" pitchFamily="2" charset="-79"/>
            </a:endParaRPr>
          </a:p>
          <a:p>
            <a:r>
              <a:rPr lang="he-IL" sz="2000">
                <a:latin typeface="Assistant" pitchFamily="2" charset="-79"/>
                <a:cs typeface="Assistant" pitchFamily="2" charset="-79"/>
              </a:rPr>
              <a:t>על כל 3 עורכי וידאו יש 7 שחקנים.</a:t>
            </a:r>
          </a:p>
          <a:p>
            <a:endParaRPr lang="he-IL" sz="2000" b="1">
              <a:solidFill>
                <a:srgbClr val="019DE5"/>
              </a:solidFill>
              <a:latin typeface="Assistant" pitchFamily="2" charset="-79"/>
              <a:cs typeface="Assistant" pitchFamily="2" charset="-79"/>
            </a:endParaRPr>
          </a:p>
          <a:p>
            <a:r>
              <a:rPr lang="he-IL" sz="2000" b="1">
                <a:solidFill>
                  <a:srgbClr val="019DE5"/>
                </a:solidFill>
                <a:latin typeface="Assistant" pitchFamily="2" charset="-79"/>
                <a:cs typeface="Assistant" pitchFamily="2" charset="-79"/>
              </a:rPr>
              <a:t>ענו על השאלות הבאות:</a:t>
            </a:r>
            <a:endParaRPr lang="he-IL" sz="2000">
              <a:latin typeface="Assistant" pitchFamily="2" charset="-79"/>
              <a:cs typeface="Assistant" pitchFamily="2" charset="-79"/>
            </a:endParaRPr>
          </a:p>
          <a:p>
            <a:endParaRPr lang="he-IL" sz="2000">
              <a:latin typeface="Assistant" pitchFamily="2" charset="-79"/>
              <a:cs typeface="Assistant" pitchFamily="2" charset="-79"/>
            </a:endParaRPr>
          </a:p>
          <a:p>
            <a:r>
              <a:rPr lang="he-IL" sz="2000">
                <a:latin typeface="Assistant" pitchFamily="2" charset="-79"/>
                <a:cs typeface="Assistant" pitchFamily="2" charset="-79"/>
              </a:rPr>
              <a:t>א. כמה תלמידים בערוץ הם שחקנים?</a:t>
            </a:r>
          </a:p>
          <a:p>
            <a:endParaRPr lang="he-IL" sz="2000">
              <a:latin typeface="Assistant" pitchFamily="2" charset="-79"/>
              <a:cs typeface="Assistant" pitchFamily="2" charset="-79"/>
            </a:endParaRPr>
          </a:p>
          <a:p>
            <a:endParaRPr lang="he-IL" sz="2000">
              <a:latin typeface="Assistant" pitchFamily="2" charset="-79"/>
              <a:cs typeface="Assistant" pitchFamily="2" charset="-79"/>
            </a:endParaRPr>
          </a:p>
          <a:p>
            <a:r>
              <a:rPr lang="he-IL" sz="2000">
                <a:latin typeface="Assistant" pitchFamily="2" charset="-79"/>
                <a:cs typeface="Assistant" pitchFamily="2" charset="-79"/>
              </a:rPr>
              <a:t>ב. כמה תלמידים בערוץ הם עורכי וידאו?</a:t>
            </a:r>
          </a:p>
        </p:txBody>
      </p:sp>
      <p:sp>
        <p:nvSpPr>
          <p:cNvPr id="2" name="מלבן: פינות מעוגלות 1">
            <a:extLst>
              <a:ext uri="{FF2B5EF4-FFF2-40B4-BE49-F238E27FC236}">
                <a16:creationId xmlns:a16="http://schemas.microsoft.com/office/drawing/2014/main" id="{914B2982-CBFC-06E0-B4C7-F3048F69F2C4}"/>
              </a:ext>
            </a:extLst>
          </p:cNvPr>
          <p:cNvSpPr/>
          <p:nvPr/>
        </p:nvSpPr>
        <p:spPr>
          <a:xfrm>
            <a:off x="2179982" y="6182142"/>
            <a:ext cx="2481470" cy="506891"/>
          </a:xfrm>
          <a:prstGeom prst="roundRect">
            <a:avLst>
              <a:gd name="adj" fmla="val 50000"/>
            </a:avLst>
          </a:prstGeom>
          <a:noFill/>
          <a:ln>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he-IL">
                <a:solidFill>
                  <a:srgbClr val="00B0F0"/>
                </a:solidFill>
              </a:rPr>
              <a:t>     אפשר רמז?</a:t>
            </a:r>
            <a:endParaRPr lang="LID4096">
              <a:solidFill>
                <a:srgbClr val="00B0F0"/>
              </a:solidFill>
            </a:endParaRPr>
          </a:p>
        </p:txBody>
      </p:sp>
      <p:pic>
        <p:nvPicPr>
          <p:cNvPr id="12" name="גרפיקה 11" descr="נורת חשמל וגלגל שיניים עם מילוי מלא">
            <a:extLst>
              <a:ext uri="{FF2B5EF4-FFF2-40B4-BE49-F238E27FC236}">
                <a16:creationId xmlns:a16="http://schemas.microsoft.com/office/drawing/2014/main" id="{40E5718B-3805-17D6-B886-41E1A2E813E0}"/>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831910" y="6266545"/>
            <a:ext cx="338083" cy="338083"/>
          </a:xfrm>
          <a:prstGeom prst="rect">
            <a:avLst/>
          </a:prstGeom>
        </p:spPr>
      </p:pic>
      <p:pic>
        <p:nvPicPr>
          <p:cNvPr id="3" name="תמונה 2">
            <a:extLst>
              <a:ext uri="{FF2B5EF4-FFF2-40B4-BE49-F238E27FC236}">
                <a16:creationId xmlns:a16="http://schemas.microsoft.com/office/drawing/2014/main" id="{77F07F50-F853-908A-35DF-66F926890D16}"/>
              </a:ext>
            </a:extLst>
          </p:cNvPr>
          <p:cNvPicPr>
            <a:picLocks noChangeAspect="1"/>
          </p:cNvPicPr>
          <p:nvPr/>
        </p:nvPicPr>
        <p:blipFill>
          <a:blip r:embed="rId5">
            <a:extLst>
              <a:ext uri="{28A0092B-C50C-407E-A947-70E740481C1C}">
                <a14:useLocalDpi xmlns:a14="http://schemas.microsoft.com/office/drawing/2010/main"/>
              </a:ext>
            </a:extLst>
          </a:blip>
          <a:stretch>
            <a:fillRect/>
          </a:stretch>
        </p:blipFill>
        <p:spPr>
          <a:xfrm>
            <a:off x="0" y="57121"/>
            <a:ext cx="933869" cy="721626"/>
          </a:xfrm>
          <a:prstGeom prst="rect">
            <a:avLst/>
          </a:prstGeom>
        </p:spPr>
      </p:pic>
      <p:sp>
        <p:nvSpPr>
          <p:cNvPr id="7" name="מלבן: פינות מעוגלות 6">
            <a:extLst>
              <a:ext uri="{FF2B5EF4-FFF2-40B4-BE49-F238E27FC236}">
                <a16:creationId xmlns:a16="http://schemas.microsoft.com/office/drawing/2014/main" id="{FF26176C-43AD-CED4-374D-C24BF696540C}"/>
              </a:ext>
            </a:extLst>
          </p:cNvPr>
          <p:cNvSpPr/>
          <p:nvPr/>
        </p:nvSpPr>
        <p:spPr>
          <a:xfrm>
            <a:off x="10244695" y="6193485"/>
            <a:ext cx="1798983" cy="506891"/>
          </a:xfrm>
          <a:prstGeom prst="roundRect">
            <a:avLst>
              <a:gd name="adj" fmla="val 50000"/>
            </a:avLst>
          </a:prstGeom>
          <a:noFill/>
          <a:ln>
            <a:solidFill>
              <a:srgbClr val="019DE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he-IL">
                <a:solidFill>
                  <a:srgbClr val="019DE5"/>
                </a:solidFill>
                <a:latin typeface="Assistant" pitchFamily="2" charset="-79"/>
                <a:cs typeface="Assistant" pitchFamily="2" charset="-79"/>
              </a:rPr>
              <a:t>חזרה</a:t>
            </a:r>
            <a:endParaRPr lang="LID4096">
              <a:solidFill>
                <a:srgbClr val="019DE5"/>
              </a:solidFill>
              <a:latin typeface="Assistant" pitchFamily="2" charset="-79"/>
              <a:cs typeface="Assistant" pitchFamily="2" charset="-79"/>
            </a:endParaRPr>
          </a:p>
        </p:txBody>
      </p:sp>
      <p:pic>
        <p:nvPicPr>
          <p:cNvPr id="9" name="תמונה 8">
            <a:extLst>
              <a:ext uri="{FF2B5EF4-FFF2-40B4-BE49-F238E27FC236}">
                <a16:creationId xmlns:a16="http://schemas.microsoft.com/office/drawing/2014/main" id="{73550FFA-D295-1BAA-E050-4D77BA995210}"/>
              </a:ext>
            </a:extLst>
          </p:cNvPr>
          <p:cNvPicPr>
            <a:picLocks noChangeAspect="1"/>
          </p:cNvPicPr>
          <p:nvPr/>
        </p:nvPicPr>
        <p:blipFill>
          <a:blip r:embed="rId6">
            <a:extLst>
              <a:ext uri="{28A0092B-C50C-407E-A947-70E740481C1C}">
                <a14:useLocalDpi xmlns:a14="http://schemas.microsoft.com/office/drawing/2010/main"/>
              </a:ext>
            </a:extLst>
          </a:blip>
          <a:stretch>
            <a:fillRect/>
          </a:stretch>
        </p:blipFill>
        <p:spPr>
          <a:xfrm>
            <a:off x="2803561" y="417934"/>
            <a:ext cx="7847619" cy="558730"/>
          </a:xfrm>
          <a:prstGeom prst="rect">
            <a:avLst/>
          </a:prstGeom>
        </p:spPr>
      </p:pic>
      <mc:AlternateContent xmlns:mc="http://schemas.openxmlformats.org/markup-compatibility/2006" xmlns:a14="http://schemas.microsoft.com/office/drawing/2010/main">
        <mc:Choice Requires="a14">
          <p:sp>
            <p:nvSpPr>
              <p:cNvPr id="10" name="מלבן: פינות מעוגלות 9">
                <a:extLst>
                  <a:ext uri="{FF2B5EF4-FFF2-40B4-BE49-F238E27FC236}">
                    <a16:creationId xmlns:a16="http://schemas.microsoft.com/office/drawing/2014/main" id="{AA8BF4F7-3CA2-B7D6-FFC9-9546DD5D2489}"/>
                  </a:ext>
                </a:extLst>
              </p:cNvPr>
              <p:cNvSpPr/>
              <p:nvPr/>
            </p:nvSpPr>
            <p:spPr>
              <a:xfrm>
                <a:off x="-6540648" y="3874056"/>
                <a:ext cx="6132418" cy="4463680"/>
              </a:xfrm>
              <a:prstGeom prst="roundRect">
                <a:avLst>
                  <a:gd name="adj" fmla="val 1647"/>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he-IL" sz="2000" b="1">
                    <a:solidFill>
                      <a:schemeClr val="tx1"/>
                    </a:solidFill>
                    <a:latin typeface="Assistant" pitchFamily="2" charset="-79"/>
                    <a:cs typeface="Assistant" pitchFamily="2" charset="-79"/>
                  </a:rPr>
                  <a:t>כל הכבוד, צדקתם! / טעית. לא נורא, מטעויות לומדים</a:t>
                </a:r>
              </a:p>
              <a:p>
                <a:pPr algn="ctr"/>
                <a:endParaRPr lang="he-IL" sz="2000" b="1">
                  <a:solidFill>
                    <a:schemeClr val="tx1"/>
                  </a:solidFill>
                  <a:latin typeface="Assistant" pitchFamily="2" charset="-79"/>
                  <a:cs typeface="Assistant" pitchFamily="2" charset="-79"/>
                </a:endParaRPr>
              </a:p>
              <a:p>
                <a:r>
                  <a:rPr lang="he-IL" sz="2000">
                    <a:solidFill>
                      <a:schemeClr val="tx1"/>
                    </a:solidFill>
                    <a:latin typeface="Assistant" pitchFamily="2" charset="-79"/>
                    <a:cs typeface="Assistant" pitchFamily="2" charset="-79"/>
                  </a:rPr>
                  <a:t>א. היחס בין מספר העורכים למספר השחקנים בערוץ הוא 7 : 3 .</a:t>
                </a:r>
              </a:p>
              <a:p>
                <a:r>
                  <a:rPr lang="he-IL" sz="2000">
                    <a:solidFill>
                      <a:schemeClr val="tx1"/>
                    </a:solidFill>
                    <a:latin typeface="Assistant" pitchFamily="2" charset="-79"/>
                    <a:cs typeface="Assistant" pitchFamily="2" charset="-79"/>
                  </a:rPr>
                  <a:t>מספר החלקים ה"שלם" הוא: 10=3+7.</a:t>
                </a:r>
                <a:endParaRPr lang="en-US" sz="2000">
                  <a:solidFill>
                    <a:schemeClr val="tx1"/>
                  </a:solidFill>
                  <a:latin typeface="Assistant" pitchFamily="2" charset="-79"/>
                  <a:cs typeface="Assistant" pitchFamily="2" charset="-79"/>
                </a:endParaRPr>
              </a:p>
              <a:p>
                <a:r>
                  <a:rPr lang="he-IL" sz="2000">
                    <a:solidFill>
                      <a:schemeClr val="tx1"/>
                    </a:solidFill>
                    <a:latin typeface="Assistant" pitchFamily="2" charset="-79"/>
                    <a:cs typeface="Assistant" pitchFamily="2" charset="-79"/>
                  </a:rPr>
                  <a:t>נחשב את מספר השחקנים :  </a:t>
                </a:r>
                <a14:m>
                  <m:oMath xmlns:m="http://schemas.openxmlformats.org/officeDocument/2006/math">
                    <m:f>
                      <m:fPr>
                        <m:ctrlPr>
                          <a:rPr lang="en-US" sz="2000" i="1">
                            <a:solidFill>
                              <a:schemeClr val="tx1"/>
                            </a:solidFill>
                            <a:latin typeface="Cambria Math" panose="02040503050406030204" pitchFamily="18" charset="0"/>
                          </a:rPr>
                        </m:ctrlPr>
                      </m:fPr>
                      <m:num>
                        <m:r>
                          <a:rPr lang="en-US" sz="2000" i="1">
                            <a:solidFill>
                              <a:schemeClr val="tx1"/>
                            </a:solidFill>
                            <a:latin typeface="Cambria Math" panose="02040503050406030204" pitchFamily="18" charset="0"/>
                          </a:rPr>
                          <m:t>7</m:t>
                        </m:r>
                      </m:num>
                      <m:den>
                        <m:r>
                          <a:rPr lang="en-US" sz="2000" i="1">
                            <a:solidFill>
                              <a:schemeClr val="tx1"/>
                            </a:solidFill>
                            <a:latin typeface="Cambria Math" panose="02040503050406030204" pitchFamily="18" charset="0"/>
                          </a:rPr>
                          <m:t>10</m:t>
                        </m:r>
                      </m:den>
                    </m:f>
                    <m:r>
                      <a:rPr lang="en-US" sz="2000" i="1">
                        <a:solidFill>
                          <a:schemeClr val="tx1"/>
                        </a:solidFill>
                        <a:latin typeface="Cambria Math" panose="02040503050406030204" pitchFamily="18" charset="0"/>
                      </a:rPr>
                      <m:t>⋅30=21</m:t>
                    </m:r>
                  </m:oMath>
                </a14:m>
                <a:endParaRPr lang="he-IL" sz="2000">
                  <a:solidFill>
                    <a:schemeClr val="tx1"/>
                  </a:solidFill>
                  <a:latin typeface="Assistant" pitchFamily="2" charset="-79"/>
                  <a:cs typeface="Assistant" pitchFamily="2" charset="-79"/>
                </a:endParaRPr>
              </a:p>
              <a:p>
                <a:endParaRPr lang="he-IL" sz="2000">
                  <a:solidFill>
                    <a:schemeClr val="tx1"/>
                  </a:solidFill>
                  <a:latin typeface="Assistant" pitchFamily="2" charset="-79"/>
                  <a:cs typeface="Assistant" pitchFamily="2" charset="-79"/>
                </a:endParaRPr>
              </a:p>
              <a:p>
                <a:r>
                  <a:rPr lang="he-IL" sz="2000">
                    <a:solidFill>
                      <a:schemeClr val="tx1"/>
                    </a:solidFill>
                    <a:latin typeface="Assistant" pitchFamily="2" charset="-79"/>
                    <a:cs typeface="Assistant" pitchFamily="2" charset="-79"/>
                  </a:rPr>
                  <a:t>ב. נחשב את מספר העורכים : </a:t>
                </a:r>
                <a14:m>
                  <m:oMath xmlns:m="http://schemas.openxmlformats.org/officeDocument/2006/math">
                    <m:f>
                      <m:fPr>
                        <m:ctrlPr>
                          <a:rPr lang="en-US" sz="2000" i="1">
                            <a:solidFill>
                              <a:schemeClr val="tx1"/>
                            </a:solidFill>
                            <a:latin typeface="Cambria Math" panose="02040503050406030204" pitchFamily="18" charset="0"/>
                          </a:rPr>
                        </m:ctrlPr>
                      </m:fPr>
                      <m:num>
                        <m:r>
                          <a:rPr lang="en-US" sz="2000" i="1">
                            <a:solidFill>
                              <a:schemeClr val="tx1"/>
                            </a:solidFill>
                            <a:latin typeface="Cambria Math" panose="02040503050406030204" pitchFamily="18" charset="0"/>
                          </a:rPr>
                          <m:t>3</m:t>
                        </m:r>
                      </m:num>
                      <m:den>
                        <m:r>
                          <a:rPr lang="en-US" sz="2000" i="1">
                            <a:solidFill>
                              <a:schemeClr val="tx1"/>
                            </a:solidFill>
                            <a:latin typeface="Cambria Math" panose="02040503050406030204" pitchFamily="18" charset="0"/>
                          </a:rPr>
                          <m:t>10</m:t>
                        </m:r>
                      </m:den>
                    </m:f>
                    <m:r>
                      <a:rPr lang="en-US" sz="2000" i="1">
                        <a:solidFill>
                          <a:schemeClr val="tx1"/>
                        </a:solidFill>
                        <a:latin typeface="Cambria Math" panose="02040503050406030204" pitchFamily="18" charset="0"/>
                      </a:rPr>
                      <m:t>⋅30=9</m:t>
                    </m:r>
                  </m:oMath>
                </a14:m>
                <a:endParaRPr lang="en-US" sz="2000">
                  <a:solidFill>
                    <a:schemeClr val="tx1"/>
                  </a:solidFill>
                  <a:latin typeface="Assistant" pitchFamily="2" charset="-79"/>
                  <a:cs typeface="Assistant" pitchFamily="2" charset="-79"/>
                </a:endParaRPr>
              </a:p>
            </p:txBody>
          </p:sp>
        </mc:Choice>
        <mc:Fallback xmlns="">
          <p:sp>
            <p:nvSpPr>
              <p:cNvPr id="10" name="מלבן: פינות מעוגלות 9">
                <a:extLst>
                  <a:ext uri="{FF2B5EF4-FFF2-40B4-BE49-F238E27FC236}">
                    <a16:creationId xmlns:a16="http://schemas.microsoft.com/office/drawing/2014/main" id="{AA8BF4F7-3CA2-B7D6-FFC9-9546DD5D2489}"/>
                  </a:ext>
                </a:extLst>
              </p:cNvPr>
              <p:cNvSpPr>
                <a:spLocks noRot="1" noChangeAspect="1" noMove="1" noResize="1" noEditPoints="1" noAdjustHandles="1" noChangeArrowheads="1" noChangeShapeType="1" noTextEdit="1"/>
              </p:cNvSpPr>
              <p:nvPr/>
            </p:nvSpPr>
            <p:spPr>
              <a:xfrm>
                <a:off x="-6540648" y="3874056"/>
                <a:ext cx="6132418" cy="4463680"/>
              </a:xfrm>
              <a:prstGeom prst="roundRect">
                <a:avLst>
                  <a:gd name="adj" fmla="val 1647"/>
                </a:avLst>
              </a:prstGeom>
              <a:blipFill>
                <a:blip r:embed="rId7"/>
                <a:stretch>
                  <a:fillRect r="-696"/>
                </a:stretch>
              </a:blipFill>
              <a:ln>
                <a:noFill/>
              </a:ln>
            </p:spPr>
            <p:txBody>
              <a:bodyPr/>
              <a:lstStyle/>
              <a:p>
                <a:r>
                  <a:rPr lang="en-US">
                    <a:noFill/>
                  </a:rPr>
                  <a:t> </a:t>
                </a:r>
              </a:p>
            </p:txBody>
          </p:sp>
        </mc:Fallback>
      </mc:AlternateContent>
      <p:sp>
        <p:nvSpPr>
          <p:cNvPr id="11" name="מלבן 10">
            <a:extLst>
              <a:ext uri="{FF2B5EF4-FFF2-40B4-BE49-F238E27FC236}">
                <a16:creationId xmlns:a16="http://schemas.microsoft.com/office/drawing/2014/main" id="{1A0A4C58-17AE-F7F2-2B4A-750E2E173D02}"/>
              </a:ext>
            </a:extLst>
          </p:cNvPr>
          <p:cNvSpPr/>
          <p:nvPr/>
        </p:nvSpPr>
        <p:spPr>
          <a:xfrm>
            <a:off x="-115414" y="-1103086"/>
            <a:ext cx="2295396" cy="976083"/>
          </a:xfrm>
          <a:prstGeom prst="rect">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he-IL" sz="1800" b="1" i="0" u="none" strike="noStrike" kern="1200" cap="none" spc="0" normalizeH="0" baseline="0" noProof="0">
                <a:ln>
                  <a:noFill/>
                </a:ln>
                <a:solidFill>
                  <a:prstClr val="black"/>
                </a:solidFill>
                <a:effectLst/>
                <a:uLnTx/>
                <a:uFillTx/>
                <a:latin typeface="Assistant" pitchFamily="2" charset="-79"/>
                <a:ea typeface="+mn-ea"/>
                <a:cs typeface="Assistant" pitchFamily="2" charset="-79"/>
                <a:hlinkClick r:id="rId8"/>
              </a:rPr>
              <a:t>רמת חשיבה</a:t>
            </a:r>
            <a:endParaRPr kumimoji="0" lang="he-IL" sz="1800" b="1" i="0" u="none" strike="noStrike" kern="1200" cap="none" spc="0" normalizeH="0" baseline="0" noProof="0">
              <a:ln>
                <a:noFill/>
              </a:ln>
              <a:solidFill>
                <a:prstClr val="black"/>
              </a:solidFill>
              <a:effectLst/>
              <a:uLnTx/>
              <a:uFillTx/>
              <a:latin typeface="Assistant" pitchFamily="2" charset="-79"/>
              <a:ea typeface="+mn-ea"/>
              <a:cs typeface="Assistant" pitchFamily="2" charset="-79"/>
            </a:endParaRPr>
          </a:p>
          <a:p>
            <a:pPr marL="285750" marR="0" lvl="0" indent="-285750" defTabSz="91440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he-IL" sz="1800" i="0" u="none" strike="noStrike" kern="1200" cap="none" spc="0" normalizeH="0" baseline="0" noProof="0">
                <a:ln>
                  <a:noFill/>
                </a:ln>
                <a:solidFill>
                  <a:prstClr val="black"/>
                </a:solidFill>
                <a:effectLst/>
                <a:uLnTx/>
                <a:uFillTx/>
                <a:latin typeface="Assistant" pitchFamily="2" charset="-79"/>
                <a:ea typeface="+mn-ea"/>
                <a:cs typeface="Assistant" pitchFamily="2" charset="-79"/>
              </a:rPr>
              <a:t>טקסט </a:t>
            </a:r>
          </a:p>
          <a:p>
            <a:pPr marL="285750" marR="0" lvl="0" indent="-285750" defTabSz="914400" eaLnBrk="1" fontAlgn="auto" latinLnBrk="0" hangingPunct="1">
              <a:lnSpc>
                <a:spcPct val="100000"/>
              </a:lnSpc>
              <a:spcBef>
                <a:spcPts val="0"/>
              </a:spcBef>
              <a:spcAft>
                <a:spcPts val="0"/>
              </a:spcAft>
              <a:buClrTx/>
              <a:buSzTx/>
              <a:buFont typeface="Arial" panose="020B0604020202020204" pitchFamily="34" charset="0"/>
              <a:buChar char="•"/>
              <a:tabLst/>
              <a:defRPr/>
            </a:pPr>
            <a:r>
              <a:rPr lang="he-IL">
                <a:solidFill>
                  <a:prstClr val="black"/>
                </a:solidFill>
                <a:latin typeface="Assistant" pitchFamily="2" charset="-79"/>
                <a:cs typeface="Assistant" pitchFamily="2" charset="-79"/>
              </a:rPr>
              <a:t>טקסט</a:t>
            </a:r>
            <a:endParaRPr kumimoji="0" lang="he-IL" sz="1800" i="0" u="none" strike="noStrike" kern="1200" cap="none" spc="0" normalizeH="0" baseline="0" noProof="0">
              <a:ln>
                <a:noFill/>
              </a:ln>
              <a:solidFill>
                <a:prstClr val="black"/>
              </a:solidFill>
              <a:effectLst/>
              <a:uLnTx/>
              <a:uFillTx/>
              <a:latin typeface="Assistant" pitchFamily="2" charset="-79"/>
              <a:ea typeface="+mn-ea"/>
              <a:cs typeface="Assistant" pitchFamily="2" charset="-79"/>
            </a:endParaRPr>
          </a:p>
        </p:txBody>
      </p:sp>
      <p:grpSp>
        <p:nvGrpSpPr>
          <p:cNvPr id="15" name="קבוצה 14">
            <a:extLst>
              <a:ext uri="{FF2B5EF4-FFF2-40B4-BE49-F238E27FC236}">
                <a16:creationId xmlns:a16="http://schemas.microsoft.com/office/drawing/2014/main" id="{C6110D62-4E37-8CC8-E04E-D8CADE599960}"/>
              </a:ext>
            </a:extLst>
          </p:cNvPr>
          <p:cNvGrpSpPr/>
          <p:nvPr/>
        </p:nvGrpSpPr>
        <p:grpSpPr>
          <a:xfrm>
            <a:off x="-9344826" y="26138"/>
            <a:ext cx="9123904" cy="3818372"/>
            <a:chOff x="-9229411" y="26138"/>
            <a:chExt cx="9123904" cy="3818372"/>
          </a:xfrm>
        </p:grpSpPr>
        <p:sp>
          <p:nvSpPr>
            <p:cNvPr id="17" name="מלבן: פינות מעוגלות 16">
              <a:extLst>
                <a:ext uri="{FF2B5EF4-FFF2-40B4-BE49-F238E27FC236}">
                  <a16:creationId xmlns:a16="http://schemas.microsoft.com/office/drawing/2014/main" id="{92D15838-FC8F-14E1-4067-F0EDCBAFDC28}"/>
                </a:ext>
              </a:extLst>
            </p:cNvPr>
            <p:cNvSpPr/>
            <p:nvPr/>
          </p:nvSpPr>
          <p:spPr>
            <a:xfrm>
              <a:off x="-9229411" y="26138"/>
              <a:ext cx="9123904" cy="3818372"/>
            </a:xfrm>
            <a:prstGeom prst="roundRect">
              <a:avLst>
                <a:gd name="adj" fmla="val 8509"/>
              </a:avLst>
            </a:prstGeom>
            <a:solidFill>
              <a:srgbClr val="00B0F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LID4096"/>
            </a:p>
          </p:txBody>
        </p:sp>
        <p:sp>
          <p:nvSpPr>
            <p:cNvPr id="27" name="תיבת טקסט 26">
              <a:extLst>
                <a:ext uri="{FF2B5EF4-FFF2-40B4-BE49-F238E27FC236}">
                  <a16:creationId xmlns:a16="http://schemas.microsoft.com/office/drawing/2014/main" id="{73D93F1A-8DB6-B67D-A047-D629C1CD955C}"/>
                </a:ext>
              </a:extLst>
            </p:cNvPr>
            <p:cNvSpPr txBox="1"/>
            <p:nvPr/>
          </p:nvSpPr>
          <p:spPr>
            <a:xfrm>
              <a:off x="-4783707" y="474122"/>
              <a:ext cx="3800149" cy="400110"/>
            </a:xfrm>
            <a:prstGeom prst="rect">
              <a:avLst/>
            </a:prstGeom>
            <a:noFill/>
          </p:spPr>
          <p:txBody>
            <a:bodyPr wrap="square" rtlCol="0">
              <a:spAutoFit/>
            </a:bodyPr>
            <a:lstStyle/>
            <a:p>
              <a:r>
                <a:rPr lang="he-IL" sz="2000">
                  <a:solidFill>
                    <a:schemeClr val="bg1"/>
                  </a:solidFill>
                  <a:latin typeface="Assistant" pitchFamily="2" charset="-79"/>
                  <a:cs typeface="Assistant" pitchFamily="2" charset="-79"/>
                </a:rPr>
                <a:t>כמה חלקים יש ב"שלם" ?</a:t>
              </a:r>
              <a:endParaRPr lang="LID4096" sz="2000">
                <a:solidFill>
                  <a:schemeClr val="bg1"/>
                </a:solidFill>
                <a:latin typeface="Assistant" pitchFamily="2" charset="-79"/>
                <a:cs typeface="Assistant" pitchFamily="2" charset="-79"/>
              </a:endParaRPr>
            </a:p>
          </p:txBody>
        </p:sp>
        <p:sp>
          <p:nvSpPr>
            <p:cNvPr id="28" name="מלבן: פינות מעוגלות 27">
              <a:extLst>
                <a:ext uri="{FF2B5EF4-FFF2-40B4-BE49-F238E27FC236}">
                  <a16:creationId xmlns:a16="http://schemas.microsoft.com/office/drawing/2014/main" id="{471EEAE8-9341-8667-72A8-AD52AE9A1EAE}"/>
                </a:ext>
              </a:extLst>
            </p:cNvPr>
            <p:cNvSpPr/>
            <p:nvPr/>
          </p:nvSpPr>
          <p:spPr>
            <a:xfrm>
              <a:off x="-5861703" y="3135618"/>
              <a:ext cx="1798983" cy="506891"/>
            </a:xfrm>
            <a:prstGeom prst="roundRect">
              <a:avLst>
                <a:gd name="adj" fmla="val 50000"/>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he-IL">
                  <a:solidFill>
                    <a:schemeClr val="tx1"/>
                  </a:solidFill>
                  <a:latin typeface="Assistant" pitchFamily="2" charset="-79"/>
                  <a:cs typeface="Assistant" pitchFamily="2" charset="-79"/>
                </a:rPr>
                <a:t>חזרה לשאלה</a:t>
              </a:r>
              <a:endParaRPr lang="LID4096">
                <a:solidFill>
                  <a:schemeClr val="tx1"/>
                </a:solidFill>
                <a:latin typeface="Assistant" pitchFamily="2" charset="-79"/>
                <a:cs typeface="Assistant" pitchFamily="2" charset="-79"/>
              </a:endParaRPr>
            </a:p>
          </p:txBody>
        </p:sp>
        <p:pic>
          <p:nvPicPr>
            <p:cNvPr id="29" name="גרפיקה 28" descr="נורת חשמל וגלגל שיניים עם מילוי מלא">
              <a:extLst>
                <a:ext uri="{FF2B5EF4-FFF2-40B4-BE49-F238E27FC236}">
                  <a16:creationId xmlns:a16="http://schemas.microsoft.com/office/drawing/2014/main" id="{EBB73F59-10AE-15A3-DFFE-50B1E25C6B68}"/>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983558" y="489982"/>
              <a:ext cx="338083" cy="338083"/>
            </a:xfrm>
            <a:prstGeom prst="rect">
              <a:avLst/>
            </a:prstGeom>
          </p:spPr>
        </p:pic>
      </p:grpSp>
      <p:sp>
        <p:nvSpPr>
          <p:cNvPr id="13" name="מלבן: פינות מעוגלות 6">
            <a:extLst>
              <a:ext uri="{FF2B5EF4-FFF2-40B4-BE49-F238E27FC236}">
                <a16:creationId xmlns:a16="http://schemas.microsoft.com/office/drawing/2014/main" id="{162E3AB6-C209-574B-9C28-13CE575DD55A}"/>
              </a:ext>
            </a:extLst>
          </p:cNvPr>
          <p:cNvSpPr/>
          <p:nvPr/>
        </p:nvSpPr>
        <p:spPr>
          <a:xfrm>
            <a:off x="6204174" y="4090845"/>
            <a:ext cx="1562888" cy="526581"/>
          </a:xfrm>
          <a:prstGeom prst="roundRect">
            <a:avLst>
              <a:gd name="adj" fmla="val 1764"/>
            </a:avLst>
          </a:prstGeom>
          <a:noFill/>
          <a:ln w="12700">
            <a:solidFill>
              <a:srgbClr val="92D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21</a:t>
            </a:r>
            <a:endParaRPr lang="LID4096" sz="2800">
              <a:solidFill>
                <a:schemeClr val="tx1"/>
              </a:solidFill>
            </a:endParaRPr>
          </a:p>
        </p:txBody>
      </p:sp>
      <p:sp>
        <p:nvSpPr>
          <p:cNvPr id="24" name="מלבן: פינות מעוגלות 6">
            <a:extLst>
              <a:ext uri="{FF2B5EF4-FFF2-40B4-BE49-F238E27FC236}">
                <a16:creationId xmlns:a16="http://schemas.microsoft.com/office/drawing/2014/main" id="{23379544-50DB-BE2B-651F-3134FF0D22FF}"/>
              </a:ext>
            </a:extLst>
          </p:cNvPr>
          <p:cNvSpPr/>
          <p:nvPr/>
        </p:nvSpPr>
        <p:spPr>
          <a:xfrm>
            <a:off x="6204174" y="5090704"/>
            <a:ext cx="1562888" cy="526581"/>
          </a:xfrm>
          <a:prstGeom prst="roundRect">
            <a:avLst>
              <a:gd name="adj" fmla="val 1764"/>
            </a:avLst>
          </a:prstGeom>
          <a:noFill/>
          <a:ln w="12700">
            <a:solidFill>
              <a:srgbClr val="92D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9</a:t>
            </a:r>
            <a:endParaRPr lang="LID4096" sz="2800">
              <a:solidFill>
                <a:schemeClr val="tx1"/>
              </a:solidFill>
            </a:endParaRPr>
          </a:p>
        </p:txBody>
      </p:sp>
      <p:pic>
        <p:nvPicPr>
          <p:cNvPr id="18" name="Picture 17">
            <a:extLst>
              <a:ext uri="{FF2B5EF4-FFF2-40B4-BE49-F238E27FC236}">
                <a16:creationId xmlns:a16="http://schemas.microsoft.com/office/drawing/2014/main" id="{151EA8D4-2999-BA9D-BD09-BC3AFD1002C8}"/>
              </a:ext>
            </a:extLst>
          </p:cNvPr>
          <p:cNvPicPr>
            <a:picLocks noChangeAspect="1"/>
          </p:cNvPicPr>
          <p:nvPr/>
        </p:nvPicPr>
        <p:blipFill>
          <a:blip r:embed="rId10" cstate="email">
            <a:extLst>
              <a:ext uri="{28A0092B-C50C-407E-A947-70E740481C1C}">
                <a14:useLocalDpi xmlns:a14="http://schemas.microsoft.com/office/drawing/2010/main"/>
              </a:ext>
            </a:extLst>
          </a:blip>
          <a:stretch>
            <a:fillRect/>
          </a:stretch>
        </p:blipFill>
        <p:spPr>
          <a:xfrm>
            <a:off x="933869" y="1073269"/>
            <a:ext cx="2561055" cy="4871873"/>
          </a:xfrm>
          <a:prstGeom prst="rect">
            <a:avLst/>
          </a:prstGeom>
        </p:spPr>
      </p:pic>
    </p:spTree>
    <p:custDataLst>
      <p:tags r:id="rId1"/>
    </p:custDataLst>
    <p:extLst>
      <p:ext uri="{BB962C8B-B14F-4D97-AF65-F5344CB8AC3E}">
        <p14:creationId xmlns:p14="http://schemas.microsoft.com/office/powerpoint/2010/main" val="331304719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B324BC-4839-A283-4179-AD5A00FB40C2}"/>
            </a:ext>
          </a:extLst>
        </p:cNvPr>
        <p:cNvGrpSpPr/>
        <p:nvPr/>
      </p:nvGrpSpPr>
      <p:grpSpPr>
        <a:xfrm>
          <a:off x="0" y="0"/>
          <a:ext cx="0" cy="0"/>
          <a:chOff x="0" y="0"/>
          <a:chExt cx="0" cy="0"/>
        </a:xfrm>
      </p:grpSpPr>
      <p:cxnSp>
        <p:nvCxnSpPr>
          <p:cNvPr id="4" name="מחבר ישר 3">
            <a:extLst>
              <a:ext uri="{FF2B5EF4-FFF2-40B4-BE49-F238E27FC236}">
                <a16:creationId xmlns:a16="http://schemas.microsoft.com/office/drawing/2014/main" id="{308BB9D3-A11F-1696-377F-1C739D422499}"/>
              </a:ext>
            </a:extLst>
          </p:cNvPr>
          <p:cNvCxnSpPr>
            <a:cxnSpLocks/>
          </p:cNvCxnSpPr>
          <p:nvPr/>
        </p:nvCxnSpPr>
        <p:spPr>
          <a:xfrm>
            <a:off x="0" y="6079252"/>
            <a:ext cx="12192000" cy="0"/>
          </a:xfrm>
          <a:prstGeom prst="line">
            <a:avLst/>
          </a:prstGeom>
          <a:ln>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5" name="מלבן: פינות מעוגלות 4">
            <a:extLst>
              <a:ext uri="{FF2B5EF4-FFF2-40B4-BE49-F238E27FC236}">
                <a16:creationId xmlns:a16="http://schemas.microsoft.com/office/drawing/2014/main" id="{0EE8AA72-50F6-B11E-4418-EEEC86F426D3}"/>
              </a:ext>
            </a:extLst>
          </p:cNvPr>
          <p:cNvSpPr/>
          <p:nvPr/>
        </p:nvSpPr>
        <p:spPr>
          <a:xfrm>
            <a:off x="268356" y="6182143"/>
            <a:ext cx="1798983" cy="506891"/>
          </a:xfrm>
          <a:prstGeom prst="roundRect">
            <a:avLst>
              <a:gd name="adj" fmla="val 50000"/>
            </a:avLst>
          </a:prstGeom>
          <a:solidFill>
            <a:schemeClr val="bg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he-IL"/>
              <a:t>צדקתי?</a:t>
            </a:r>
            <a:endParaRPr lang="LID4096"/>
          </a:p>
        </p:txBody>
      </p:sp>
      <p:sp>
        <p:nvSpPr>
          <p:cNvPr id="6" name="תיבת טקסט 5">
            <a:extLst>
              <a:ext uri="{FF2B5EF4-FFF2-40B4-BE49-F238E27FC236}">
                <a16:creationId xmlns:a16="http://schemas.microsoft.com/office/drawing/2014/main" id="{1CFC9EE3-52EB-A6CF-594F-A757B04078E2}"/>
              </a:ext>
            </a:extLst>
          </p:cNvPr>
          <p:cNvSpPr txBox="1"/>
          <p:nvPr/>
        </p:nvSpPr>
        <p:spPr>
          <a:xfrm>
            <a:off x="5613400" y="1156726"/>
            <a:ext cx="5954124" cy="4401205"/>
          </a:xfrm>
          <a:prstGeom prst="rect">
            <a:avLst/>
          </a:prstGeom>
          <a:noFill/>
        </p:spPr>
        <p:txBody>
          <a:bodyPr wrap="square" rtlCol="0">
            <a:spAutoFit/>
          </a:bodyPr>
          <a:lstStyle/>
          <a:p>
            <a:r>
              <a:rPr lang="he-IL" sz="2000">
                <a:latin typeface="Assistant" pitchFamily="2" charset="-79"/>
                <a:cs typeface="Assistant" pitchFamily="2" charset="-79"/>
              </a:rPr>
              <a:t>2. קבוצת תלמידים פתחה שידור חי ביוטיוב. </a:t>
            </a:r>
          </a:p>
          <a:p>
            <a:r>
              <a:rPr lang="he-IL" sz="2000">
                <a:latin typeface="Assistant" pitchFamily="2" charset="-79"/>
                <a:cs typeface="Assistant" pitchFamily="2" charset="-79"/>
              </a:rPr>
              <a:t>בתחילת השידור, היו בצ'אט 30 משתתפים. </a:t>
            </a:r>
          </a:p>
          <a:p>
            <a:r>
              <a:rPr lang="he-IL" sz="2000">
                <a:latin typeface="Assistant" pitchFamily="2" charset="-79"/>
                <a:cs typeface="Assistant" pitchFamily="2" charset="-79"/>
              </a:rPr>
              <a:t>היחס בין מספר הבנים למספר הבנות היה 5 : 1. </a:t>
            </a:r>
          </a:p>
          <a:p>
            <a:r>
              <a:rPr lang="he-IL" sz="2000">
                <a:latin typeface="Assistant" pitchFamily="2" charset="-79"/>
                <a:cs typeface="Assistant" pitchFamily="2" charset="-79"/>
              </a:rPr>
              <a:t>לאורך זמן השידור, הצטרפו לצ'אט רק בנים, והיחס בין הבנים לבנות השתנה ל 1 : 1.</a:t>
            </a:r>
          </a:p>
          <a:p>
            <a:r>
              <a:rPr lang="he-IL" sz="2000">
                <a:latin typeface="Assistant" pitchFamily="2" charset="-79"/>
                <a:cs typeface="Assistant" pitchFamily="2" charset="-79"/>
              </a:rPr>
              <a:t>לפניכם ציר מספרים, ציר ה-</a:t>
            </a:r>
            <a:r>
              <a:rPr lang="en-US" sz="2000">
                <a:latin typeface="Assistant" pitchFamily="2" charset="-79"/>
                <a:cs typeface="Assistant" pitchFamily="2" charset="-79"/>
              </a:rPr>
              <a:t>X</a:t>
            </a:r>
            <a:r>
              <a:rPr lang="he-IL" sz="2000">
                <a:latin typeface="Assistant" pitchFamily="2" charset="-79"/>
                <a:cs typeface="Assistant" pitchFamily="2" charset="-79"/>
              </a:rPr>
              <a:t> מייצג את מספר הבנים, ציר ה-</a:t>
            </a:r>
            <a:r>
              <a:rPr lang="en-US" sz="2000">
                <a:latin typeface="Assistant" pitchFamily="2" charset="-79"/>
                <a:cs typeface="Assistant" pitchFamily="2" charset="-79"/>
              </a:rPr>
              <a:t>Y</a:t>
            </a:r>
            <a:r>
              <a:rPr lang="he-IL" sz="2000">
                <a:latin typeface="Assistant" pitchFamily="2" charset="-79"/>
                <a:cs typeface="Assistant" pitchFamily="2" charset="-79"/>
              </a:rPr>
              <a:t> מייצג את מספר הבנות.</a:t>
            </a:r>
          </a:p>
          <a:p>
            <a:r>
              <a:rPr lang="he-IL" sz="2000" b="1">
                <a:solidFill>
                  <a:srgbClr val="00B0F0"/>
                </a:solidFill>
                <a:latin typeface="Assistant" pitchFamily="2" charset="-79"/>
                <a:cs typeface="Assistant" pitchFamily="2" charset="-79"/>
              </a:rPr>
              <a:t>השלימו את הנתונים בהתאם לגרף:</a:t>
            </a:r>
          </a:p>
          <a:p>
            <a:endParaRPr lang="he-IL" sz="2000" b="1">
              <a:solidFill>
                <a:srgbClr val="00B0F0"/>
              </a:solidFill>
              <a:latin typeface="Assistant" pitchFamily="2" charset="-79"/>
              <a:cs typeface="Assistant" pitchFamily="2" charset="-79"/>
            </a:endParaRPr>
          </a:p>
          <a:p>
            <a:r>
              <a:rPr lang="he-IL" sz="2000">
                <a:latin typeface="Assistant" pitchFamily="2" charset="-79"/>
                <a:cs typeface="Assistant" pitchFamily="2" charset="-79"/>
              </a:rPr>
              <a:t>א. נקודה </a:t>
            </a:r>
            <a:r>
              <a:rPr lang="en-US" sz="2000">
                <a:latin typeface="Assistant" pitchFamily="2" charset="-79"/>
                <a:cs typeface="Assistant" pitchFamily="2" charset="-79"/>
              </a:rPr>
              <a:t>A</a:t>
            </a:r>
            <a:r>
              <a:rPr lang="he-IL" sz="2000">
                <a:latin typeface="Assistant" pitchFamily="2" charset="-79"/>
                <a:cs typeface="Assistant" pitchFamily="2" charset="-79"/>
              </a:rPr>
              <a:t> – מייצגת את מספר הבנים והבנות בצ'אט </a:t>
            </a:r>
            <a:br>
              <a:rPr lang="en-US" sz="2000">
                <a:latin typeface="Assistant" pitchFamily="2" charset="-79"/>
                <a:cs typeface="Assistant" pitchFamily="2" charset="-79"/>
              </a:rPr>
            </a:br>
            <a:r>
              <a:rPr lang="he-IL" sz="2000">
                <a:latin typeface="Assistant" pitchFamily="2" charset="-79"/>
                <a:cs typeface="Assistant" pitchFamily="2" charset="-79"/>
              </a:rPr>
              <a:t>בתחילת השידור.</a:t>
            </a:r>
          </a:p>
          <a:p>
            <a:endParaRPr lang="he-IL" sz="2000">
              <a:latin typeface="Assistant" pitchFamily="2" charset="-79"/>
              <a:cs typeface="Assistant" pitchFamily="2" charset="-79"/>
            </a:endParaRPr>
          </a:p>
          <a:p>
            <a:r>
              <a:rPr lang="he-IL" sz="2000">
                <a:latin typeface="Assistant" pitchFamily="2" charset="-79"/>
                <a:cs typeface="Assistant" pitchFamily="2" charset="-79"/>
              </a:rPr>
              <a:t>ב. נקודה </a:t>
            </a:r>
            <a:r>
              <a:rPr lang="en-US" sz="2000">
                <a:latin typeface="Assistant" pitchFamily="2" charset="-79"/>
                <a:cs typeface="Assistant" pitchFamily="2" charset="-79"/>
              </a:rPr>
              <a:t>B</a:t>
            </a:r>
            <a:r>
              <a:rPr lang="he-IL" sz="2000">
                <a:latin typeface="Assistant" pitchFamily="2" charset="-79"/>
                <a:cs typeface="Assistant" pitchFamily="2" charset="-79"/>
              </a:rPr>
              <a:t> – מייצגת את מספר הבנים והבנות בחצי </a:t>
            </a:r>
            <a:br>
              <a:rPr lang="en-US" sz="2000">
                <a:latin typeface="Assistant" pitchFamily="2" charset="-79"/>
                <a:cs typeface="Assistant" pitchFamily="2" charset="-79"/>
              </a:rPr>
            </a:br>
            <a:r>
              <a:rPr lang="he-IL" sz="2000">
                <a:latin typeface="Assistant" pitchFamily="2" charset="-79"/>
                <a:cs typeface="Assistant" pitchFamily="2" charset="-79"/>
              </a:rPr>
              <a:t>השעה השנייה.</a:t>
            </a:r>
            <a:endParaRPr lang="he-IL" sz="2400">
              <a:latin typeface="Assistant" pitchFamily="2" charset="-79"/>
              <a:cs typeface="Assistant" pitchFamily="2" charset="-79"/>
            </a:endParaRPr>
          </a:p>
        </p:txBody>
      </p:sp>
      <p:sp>
        <p:nvSpPr>
          <p:cNvPr id="2" name="מלבן: פינות מעוגלות 1">
            <a:extLst>
              <a:ext uri="{FF2B5EF4-FFF2-40B4-BE49-F238E27FC236}">
                <a16:creationId xmlns:a16="http://schemas.microsoft.com/office/drawing/2014/main" id="{F709917C-1328-D87F-505C-F74915EA8268}"/>
              </a:ext>
            </a:extLst>
          </p:cNvPr>
          <p:cNvSpPr/>
          <p:nvPr/>
        </p:nvSpPr>
        <p:spPr>
          <a:xfrm>
            <a:off x="2179982" y="6182142"/>
            <a:ext cx="2481470" cy="506891"/>
          </a:xfrm>
          <a:prstGeom prst="roundRect">
            <a:avLst>
              <a:gd name="adj" fmla="val 50000"/>
            </a:avLst>
          </a:prstGeom>
          <a:noFill/>
          <a:ln>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he-IL">
                <a:solidFill>
                  <a:srgbClr val="00B0F0"/>
                </a:solidFill>
              </a:rPr>
              <a:t>     אפשר רמז?</a:t>
            </a:r>
            <a:endParaRPr lang="LID4096">
              <a:solidFill>
                <a:srgbClr val="00B0F0"/>
              </a:solidFill>
            </a:endParaRPr>
          </a:p>
        </p:txBody>
      </p:sp>
      <p:pic>
        <p:nvPicPr>
          <p:cNvPr id="12" name="גרפיקה 11" descr="נורת חשמל וגלגל שיניים עם מילוי מלא">
            <a:extLst>
              <a:ext uri="{FF2B5EF4-FFF2-40B4-BE49-F238E27FC236}">
                <a16:creationId xmlns:a16="http://schemas.microsoft.com/office/drawing/2014/main" id="{88C0A6C2-BE34-3036-B41B-90FE8323D8E9}"/>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831910" y="6266545"/>
            <a:ext cx="338083" cy="338083"/>
          </a:xfrm>
          <a:prstGeom prst="rect">
            <a:avLst/>
          </a:prstGeom>
        </p:spPr>
      </p:pic>
      <p:pic>
        <p:nvPicPr>
          <p:cNvPr id="3" name="תמונה 2">
            <a:extLst>
              <a:ext uri="{FF2B5EF4-FFF2-40B4-BE49-F238E27FC236}">
                <a16:creationId xmlns:a16="http://schemas.microsoft.com/office/drawing/2014/main" id="{8EA3F006-AAF0-01BF-E164-E1C7D93631A7}"/>
              </a:ext>
            </a:extLst>
          </p:cNvPr>
          <p:cNvPicPr>
            <a:picLocks noChangeAspect="1"/>
          </p:cNvPicPr>
          <p:nvPr/>
        </p:nvPicPr>
        <p:blipFill>
          <a:blip r:embed="rId5">
            <a:extLst>
              <a:ext uri="{28A0092B-C50C-407E-A947-70E740481C1C}">
                <a14:useLocalDpi xmlns:a14="http://schemas.microsoft.com/office/drawing/2010/main"/>
              </a:ext>
            </a:extLst>
          </a:blip>
          <a:stretch>
            <a:fillRect/>
          </a:stretch>
        </p:blipFill>
        <p:spPr>
          <a:xfrm>
            <a:off x="0" y="57121"/>
            <a:ext cx="933869" cy="721626"/>
          </a:xfrm>
          <a:prstGeom prst="rect">
            <a:avLst/>
          </a:prstGeom>
        </p:spPr>
      </p:pic>
      <p:sp>
        <p:nvSpPr>
          <p:cNvPr id="7" name="מלבן: פינות מעוגלות 6">
            <a:extLst>
              <a:ext uri="{FF2B5EF4-FFF2-40B4-BE49-F238E27FC236}">
                <a16:creationId xmlns:a16="http://schemas.microsoft.com/office/drawing/2014/main" id="{DE757F5B-D8AF-09AE-1521-2B5351EB3DE7}"/>
              </a:ext>
            </a:extLst>
          </p:cNvPr>
          <p:cNvSpPr/>
          <p:nvPr/>
        </p:nvSpPr>
        <p:spPr>
          <a:xfrm>
            <a:off x="10244695" y="6193485"/>
            <a:ext cx="1798983" cy="506891"/>
          </a:xfrm>
          <a:prstGeom prst="roundRect">
            <a:avLst>
              <a:gd name="adj" fmla="val 50000"/>
            </a:avLst>
          </a:prstGeom>
          <a:noFill/>
          <a:ln>
            <a:solidFill>
              <a:srgbClr val="019DE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he-IL">
                <a:solidFill>
                  <a:srgbClr val="019DE5"/>
                </a:solidFill>
                <a:latin typeface="Assistant" pitchFamily="2" charset="-79"/>
                <a:cs typeface="Assistant" pitchFamily="2" charset="-79"/>
              </a:rPr>
              <a:t>חזרה</a:t>
            </a:r>
            <a:endParaRPr lang="LID4096">
              <a:solidFill>
                <a:srgbClr val="019DE5"/>
              </a:solidFill>
              <a:latin typeface="Assistant" pitchFamily="2" charset="-79"/>
              <a:cs typeface="Assistant" pitchFamily="2" charset="-79"/>
            </a:endParaRPr>
          </a:p>
        </p:txBody>
      </p:sp>
      <p:pic>
        <p:nvPicPr>
          <p:cNvPr id="9" name="תמונה 8">
            <a:extLst>
              <a:ext uri="{FF2B5EF4-FFF2-40B4-BE49-F238E27FC236}">
                <a16:creationId xmlns:a16="http://schemas.microsoft.com/office/drawing/2014/main" id="{FABE2CC4-9578-B887-723D-7BB4DC43A5BC}"/>
              </a:ext>
            </a:extLst>
          </p:cNvPr>
          <p:cNvPicPr>
            <a:picLocks noChangeAspect="1"/>
          </p:cNvPicPr>
          <p:nvPr/>
        </p:nvPicPr>
        <p:blipFill>
          <a:blip r:embed="rId6">
            <a:extLst>
              <a:ext uri="{28A0092B-C50C-407E-A947-70E740481C1C}">
                <a14:useLocalDpi xmlns:a14="http://schemas.microsoft.com/office/drawing/2010/main"/>
              </a:ext>
            </a:extLst>
          </a:blip>
          <a:stretch>
            <a:fillRect/>
          </a:stretch>
        </p:blipFill>
        <p:spPr>
          <a:xfrm>
            <a:off x="2803561" y="417934"/>
            <a:ext cx="7847619" cy="558730"/>
          </a:xfrm>
          <a:prstGeom prst="rect">
            <a:avLst/>
          </a:prstGeom>
        </p:spPr>
      </p:pic>
      <p:sp>
        <p:nvSpPr>
          <p:cNvPr id="11" name="מלבן 10">
            <a:extLst>
              <a:ext uri="{FF2B5EF4-FFF2-40B4-BE49-F238E27FC236}">
                <a16:creationId xmlns:a16="http://schemas.microsoft.com/office/drawing/2014/main" id="{19DE4E9A-EB5A-CE15-D75F-2ED752ED3E19}"/>
              </a:ext>
            </a:extLst>
          </p:cNvPr>
          <p:cNvSpPr/>
          <p:nvPr/>
        </p:nvSpPr>
        <p:spPr>
          <a:xfrm>
            <a:off x="-115414" y="-1103086"/>
            <a:ext cx="2295396" cy="976083"/>
          </a:xfrm>
          <a:prstGeom prst="rect">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he-IL" sz="1800" b="1" i="0" u="none" strike="noStrike" kern="1200" cap="none" spc="0" normalizeH="0" baseline="0" noProof="0">
                <a:ln>
                  <a:noFill/>
                </a:ln>
                <a:solidFill>
                  <a:prstClr val="black"/>
                </a:solidFill>
                <a:effectLst/>
                <a:uLnTx/>
                <a:uFillTx/>
                <a:latin typeface="Assistant" pitchFamily="2" charset="-79"/>
                <a:ea typeface="+mn-ea"/>
                <a:cs typeface="Assistant" pitchFamily="2" charset="-79"/>
                <a:hlinkClick r:id="rId7"/>
              </a:rPr>
              <a:t>רמת חשיבה</a:t>
            </a:r>
            <a:endParaRPr kumimoji="0" lang="he-IL" sz="1800" b="1" i="0" u="none" strike="noStrike" kern="1200" cap="none" spc="0" normalizeH="0" baseline="0" noProof="0">
              <a:ln>
                <a:noFill/>
              </a:ln>
              <a:solidFill>
                <a:prstClr val="black"/>
              </a:solidFill>
              <a:effectLst/>
              <a:uLnTx/>
              <a:uFillTx/>
              <a:latin typeface="Assistant" pitchFamily="2" charset="-79"/>
              <a:ea typeface="+mn-ea"/>
              <a:cs typeface="Assistant" pitchFamily="2" charset="-79"/>
            </a:endParaRPr>
          </a:p>
          <a:p>
            <a:pPr marL="285750" marR="0" lvl="0" indent="-285750" defTabSz="91440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he-IL" sz="1800" i="0" u="none" strike="noStrike" kern="1200" cap="none" spc="0" normalizeH="0" baseline="0" noProof="0">
                <a:ln>
                  <a:noFill/>
                </a:ln>
                <a:solidFill>
                  <a:prstClr val="black"/>
                </a:solidFill>
                <a:effectLst/>
                <a:uLnTx/>
                <a:uFillTx/>
                <a:latin typeface="Assistant" pitchFamily="2" charset="-79"/>
                <a:ea typeface="+mn-ea"/>
                <a:cs typeface="Assistant" pitchFamily="2" charset="-79"/>
              </a:rPr>
              <a:t>טקסט </a:t>
            </a:r>
          </a:p>
          <a:p>
            <a:pPr marL="285750" marR="0" lvl="0" indent="-285750" defTabSz="914400" eaLnBrk="1" fontAlgn="auto" latinLnBrk="0" hangingPunct="1">
              <a:lnSpc>
                <a:spcPct val="100000"/>
              </a:lnSpc>
              <a:spcBef>
                <a:spcPts val="0"/>
              </a:spcBef>
              <a:spcAft>
                <a:spcPts val="0"/>
              </a:spcAft>
              <a:buClrTx/>
              <a:buSzTx/>
              <a:buFont typeface="Arial" panose="020B0604020202020204" pitchFamily="34" charset="0"/>
              <a:buChar char="•"/>
              <a:tabLst/>
              <a:defRPr/>
            </a:pPr>
            <a:r>
              <a:rPr lang="he-IL">
                <a:solidFill>
                  <a:prstClr val="black"/>
                </a:solidFill>
                <a:latin typeface="Assistant" pitchFamily="2" charset="-79"/>
                <a:cs typeface="Assistant" pitchFamily="2" charset="-79"/>
              </a:rPr>
              <a:t>טקסט</a:t>
            </a:r>
            <a:endParaRPr kumimoji="0" lang="he-IL" sz="1800" i="0" u="none" strike="noStrike" kern="1200" cap="none" spc="0" normalizeH="0" baseline="0" noProof="0">
              <a:ln>
                <a:noFill/>
              </a:ln>
              <a:solidFill>
                <a:prstClr val="black"/>
              </a:solidFill>
              <a:effectLst/>
              <a:uLnTx/>
              <a:uFillTx/>
              <a:latin typeface="Assistant" pitchFamily="2" charset="-79"/>
              <a:ea typeface="+mn-ea"/>
              <a:cs typeface="Assistant" pitchFamily="2" charset="-79"/>
            </a:endParaRPr>
          </a:p>
        </p:txBody>
      </p:sp>
      <p:grpSp>
        <p:nvGrpSpPr>
          <p:cNvPr id="15" name="קבוצה 14">
            <a:extLst>
              <a:ext uri="{FF2B5EF4-FFF2-40B4-BE49-F238E27FC236}">
                <a16:creationId xmlns:a16="http://schemas.microsoft.com/office/drawing/2014/main" id="{C2ABEA96-17D2-B551-B557-3589800CFCEC}"/>
              </a:ext>
            </a:extLst>
          </p:cNvPr>
          <p:cNvGrpSpPr/>
          <p:nvPr/>
        </p:nvGrpSpPr>
        <p:grpSpPr>
          <a:xfrm>
            <a:off x="-9344826" y="26138"/>
            <a:ext cx="9123904" cy="3818372"/>
            <a:chOff x="-9229411" y="26138"/>
            <a:chExt cx="9123904" cy="3818372"/>
          </a:xfrm>
        </p:grpSpPr>
        <p:sp>
          <p:nvSpPr>
            <p:cNvPr id="17" name="מלבן: פינות מעוגלות 16">
              <a:extLst>
                <a:ext uri="{FF2B5EF4-FFF2-40B4-BE49-F238E27FC236}">
                  <a16:creationId xmlns:a16="http://schemas.microsoft.com/office/drawing/2014/main" id="{D6BF2CA9-A91C-B2CC-C739-D781C335F1DF}"/>
                </a:ext>
              </a:extLst>
            </p:cNvPr>
            <p:cNvSpPr/>
            <p:nvPr/>
          </p:nvSpPr>
          <p:spPr>
            <a:xfrm>
              <a:off x="-9229411" y="26138"/>
              <a:ext cx="9123904" cy="3818372"/>
            </a:xfrm>
            <a:prstGeom prst="roundRect">
              <a:avLst>
                <a:gd name="adj" fmla="val 8509"/>
              </a:avLst>
            </a:prstGeom>
            <a:solidFill>
              <a:srgbClr val="00B0F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LID4096"/>
            </a:p>
          </p:txBody>
        </p:sp>
        <p:sp>
          <p:nvSpPr>
            <p:cNvPr id="27" name="תיבת טקסט 26">
              <a:extLst>
                <a:ext uri="{FF2B5EF4-FFF2-40B4-BE49-F238E27FC236}">
                  <a16:creationId xmlns:a16="http://schemas.microsoft.com/office/drawing/2014/main" id="{481836FE-1BAF-DE96-161D-857876779445}"/>
                </a:ext>
              </a:extLst>
            </p:cNvPr>
            <p:cNvSpPr txBox="1"/>
            <p:nvPr/>
          </p:nvSpPr>
          <p:spPr>
            <a:xfrm>
              <a:off x="-7910985" y="474122"/>
              <a:ext cx="6927427" cy="707886"/>
            </a:xfrm>
            <a:prstGeom prst="rect">
              <a:avLst/>
            </a:prstGeom>
            <a:noFill/>
          </p:spPr>
          <p:txBody>
            <a:bodyPr wrap="square" rtlCol="0">
              <a:spAutoFit/>
            </a:bodyPr>
            <a:lstStyle/>
            <a:p>
              <a:r>
                <a:rPr lang="he-IL" sz="2000">
                  <a:solidFill>
                    <a:schemeClr val="bg1"/>
                  </a:solidFill>
                  <a:latin typeface="Assistant" pitchFamily="2" charset="-79"/>
                  <a:cs typeface="Assistant" pitchFamily="2" charset="-79"/>
                </a:rPr>
                <a:t>כאשר רושמים שיעורי נקודה, שיעור ה- </a:t>
              </a:r>
              <a:r>
                <a:rPr lang="en-US" sz="2000">
                  <a:solidFill>
                    <a:schemeClr val="bg1"/>
                  </a:solidFill>
                  <a:latin typeface="Assistant" pitchFamily="2" charset="-79"/>
                  <a:cs typeface="Assistant" pitchFamily="2" charset="-79"/>
                </a:rPr>
                <a:t>x </a:t>
              </a:r>
              <a:r>
                <a:rPr lang="he-IL" sz="2000">
                  <a:solidFill>
                    <a:schemeClr val="bg1"/>
                  </a:solidFill>
                  <a:latin typeface="Assistant" pitchFamily="2" charset="-79"/>
                  <a:cs typeface="Assistant" pitchFamily="2" charset="-79"/>
                </a:rPr>
                <a:t> מופיע בצד שמאל ושיעור ה-</a:t>
              </a:r>
              <a:r>
                <a:rPr lang="en-US" sz="2000">
                  <a:solidFill>
                    <a:schemeClr val="bg1"/>
                  </a:solidFill>
                  <a:latin typeface="Assistant" pitchFamily="2" charset="-79"/>
                  <a:cs typeface="Assistant" pitchFamily="2" charset="-79"/>
                </a:rPr>
                <a:t>y </a:t>
              </a:r>
              <a:r>
                <a:rPr lang="he-IL" sz="2000">
                  <a:solidFill>
                    <a:schemeClr val="bg1"/>
                  </a:solidFill>
                  <a:latin typeface="Assistant" pitchFamily="2" charset="-79"/>
                  <a:cs typeface="Assistant" pitchFamily="2" charset="-79"/>
                </a:rPr>
                <a:t>מופיע בצד ימין (</a:t>
              </a:r>
              <a:r>
                <a:rPr lang="en-US" sz="2000" err="1">
                  <a:solidFill>
                    <a:schemeClr val="bg1"/>
                  </a:solidFill>
                  <a:latin typeface="Assistant" pitchFamily="2" charset="-79"/>
                  <a:cs typeface="Assistant" pitchFamily="2" charset="-79"/>
                </a:rPr>
                <a:t>x,y</a:t>
              </a:r>
              <a:r>
                <a:rPr lang="he-IL" sz="2000">
                  <a:solidFill>
                    <a:schemeClr val="bg1"/>
                  </a:solidFill>
                  <a:latin typeface="Assistant" pitchFamily="2" charset="-79"/>
                  <a:cs typeface="Assistant" pitchFamily="2" charset="-79"/>
                </a:rPr>
                <a:t>)</a:t>
              </a:r>
              <a:endParaRPr lang="LID4096" sz="2000">
                <a:solidFill>
                  <a:schemeClr val="bg1"/>
                </a:solidFill>
                <a:latin typeface="Assistant" pitchFamily="2" charset="-79"/>
                <a:cs typeface="Assistant" pitchFamily="2" charset="-79"/>
              </a:endParaRPr>
            </a:p>
          </p:txBody>
        </p:sp>
        <p:sp>
          <p:nvSpPr>
            <p:cNvPr id="28" name="מלבן: פינות מעוגלות 27">
              <a:extLst>
                <a:ext uri="{FF2B5EF4-FFF2-40B4-BE49-F238E27FC236}">
                  <a16:creationId xmlns:a16="http://schemas.microsoft.com/office/drawing/2014/main" id="{AD7B6C8A-931F-AFC6-9950-60113A91A0DE}"/>
                </a:ext>
              </a:extLst>
            </p:cNvPr>
            <p:cNvSpPr/>
            <p:nvPr/>
          </p:nvSpPr>
          <p:spPr>
            <a:xfrm>
              <a:off x="-5861703" y="3135618"/>
              <a:ext cx="1798983" cy="506891"/>
            </a:xfrm>
            <a:prstGeom prst="roundRect">
              <a:avLst>
                <a:gd name="adj" fmla="val 50000"/>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he-IL">
                  <a:solidFill>
                    <a:schemeClr val="tx1"/>
                  </a:solidFill>
                  <a:latin typeface="Assistant" pitchFamily="2" charset="-79"/>
                  <a:cs typeface="Assistant" pitchFamily="2" charset="-79"/>
                </a:rPr>
                <a:t>חזרה לשאלה</a:t>
              </a:r>
              <a:endParaRPr lang="LID4096">
                <a:solidFill>
                  <a:schemeClr val="tx1"/>
                </a:solidFill>
                <a:latin typeface="Assistant" pitchFamily="2" charset="-79"/>
                <a:cs typeface="Assistant" pitchFamily="2" charset="-79"/>
              </a:endParaRPr>
            </a:p>
          </p:txBody>
        </p:sp>
        <p:pic>
          <p:nvPicPr>
            <p:cNvPr id="29" name="גרפיקה 28" descr="נורת חשמל וגלגל שיניים עם מילוי מלא">
              <a:extLst>
                <a:ext uri="{FF2B5EF4-FFF2-40B4-BE49-F238E27FC236}">
                  <a16:creationId xmlns:a16="http://schemas.microsoft.com/office/drawing/2014/main" id="{201E9EE9-A435-7520-BC36-42E25B0BCA5B}"/>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983558" y="489982"/>
              <a:ext cx="338083" cy="338083"/>
            </a:xfrm>
            <a:prstGeom prst="rect">
              <a:avLst/>
            </a:prstGeom>
          </p:spPr>
        </p:pic>
      </p:grpSp>
      <mc:AlternateContent xmlns:mc="http://schemas.openxmlformats.org/markup-compatibility/2006" xmlns:a14="http://schemas.microsoft.com/office/drawing/2010/main">
        <mc:Choice Requires="a14">
          <p:sp>
            <p:nvSpPr>
              <p:cNvPr id="25" name="מלבן: פינות מעוגלות 9">
                <a:extLst>
                  <a:ext uri="{FF2B5EF4-FFF2-40B4-BE49-F238E27FC236}">
                    <a16:creationId xmlns:a16="http://schemas.microsoft.com/office/drawing/2014/main" id="{826D7091-5B54-6807-2EE4-7E725305F1A4}"/>
                  </a:ext>
                </a:extLst>
              </p:cNvPr>
              <p:cNvSpPr/>
              <p:nvPr/>
            </p:nvSpPr>
            <p:spPr>
              <a:xfrm>
                <a:off x="-5314887" y="4034705"/>
                <a:ext cx="4906656" cy="4463680"/>
              </a:xfrm>
              <a:prstGeom prst="roundRect">
                <a:avLst>
                  <a:gd name="adj" fmla="val 1647"/>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he-IL" sz="2000" b="1">
                    <a:solidFill>
                      <a:schemeClr val="tx1"/>
                    </a:solidFill>
                    <a:latin typeface="Assistant" pitchFamily="2" charset="-79"/>
                    <a:cs typeface="Assistant" pitchFamily="2" charset="-79"/>
                  </a:rPr>
                  <a:t>כל הכבוד, צדקתם! / טעיתם. לא נורא, מטעויות לומדים</a:t>
                </a:r>
              </a:p>
              <a:p>
                <a:r>
                  <a:rPr lang="he-IL">
                    <a:solidFill>
                      <a:schemeClr val="tx1"/>
                    </a:solidFill>
                    <a:latin typeface="Assistant" pitchFamily="2" charset="-79"/>
                    <a:cs typeface="Assistant" pitchFamily="2" charset="-79"/>
                  </a:rPr>
                  <a:t>א. היחס בין מספר הבנים למספר הבנות הוא 5 : 1.</a:t>
                </a:r>
                <a:endParaRPr lang="en-US">
                  <a:solidFill>
                    <a:schemeClr val="tx1"/>
                  </a:solidFill>
                  <a:latin typeface="Assistant" pitchFamily="2" charset="-79"/>
                  <a:cs typeface="Assistant" pitchFamily="2" charset="-79"/>
                </a:endParaRPr>
              </a:p>
              <a:p>
                <a:r>
                  <a:rPr lang="he-IL">
                    <a:solidFill>
                      <a:schemeClr val="tx1"/>
                    </a:solidFill>
                    <a:latin typeface="Assistant" pitchFamily="2" charset="-79"/>
                    <a:cs typeface="Assistant" pitchFamily="2" charset="-79"/>
                  </a:rPr>
                  <a:t>נחשב את מספר הבנים: </a:t>
                </a:r>
                <a14:m>
                  <m:oMath xmlns:m="http://schemas.openxmlformats.org/officeDocument/2006/math">
                    <m:f>
                      <m:fPr>
                        <m:ctrlPr>
                          <a:rPr lang="en-US" i="1">
                            <a:solidFill>
                              <a:schemeClr val="tx1"/>
                            </a:solidFill>
                            <a:latin typeface="Cambria Math" panose="02040503050406030204" pitchFamily="18" charset="0"/>
                          </a:rPr>
                        </m:ctrlPr>
                      </m:fPr>
                      <m:num>
                        <m:r>
                          <a:rPr lang="en-US" i="1">
                            <a:solidFill>
                              <a:schemeClr val="tx1"/>
                            </a:solidFill>
                            <a:latin typeface="Cambria Math" panose="02040503050406030204" pitchFamily="18" charset="0"/>
                          </a:rPr>
                          <m:t>1</m:t>
                        </m:r>
                      </m:num>
                      <m:den>
                        <m:r>
                          <a:rPr lang="en-US" i="1">
                            <a:solidFill>
                              <a:schemeClr val="tx1"/>
                            </a:solidFill>
                            <a:latin typeface="Cambria Math" panose="02040503050406030204" pitchFamily="18" charset="0"/>
                          </a:rPr>
                          <m:t>6</m:t>
                        </m:r>
                      </m:den>
                    </m:f>
                    <m:r>
                      <a:rPr lang="en-US" i="1">
                        <a:solidFill>
                          <a:schemeClr val="tx1"/>
                        </a:solidFill>
                        <a:latin typeface="Cambria Math" panose="02040503050406030204" pitchFamily="18" charset="0"/>
                      </a:rPr>
                      <m:t>⋅30=5</m:t>
                    </m:r>
                  </m:oMath>
                </a14:m>
                <a:r>
                  <a:rPr lang="en-US">
                    <a:solidFill>
                      <a:schemeClr val="tx1"/>
                    </a:solidFill>
                    <a:latin typeface="Assistant" pitchFamily="2" charset="-79"/>
                    <a:cs typeface="Assistant" pitchFamily="2" charset="-79"/>
                  </a:rPr>
                  <a:t> </a:t>
                </a:r>
                <a:endParaRPr lang="he-IL">
                  <a:solidFill>
                    <a:schemeClr val="tx1"/>
                  </a:solidFill>
                  <a:latin typeface="Assistant" pitchFamily="2" charset="-79"/>
                  <a:cs typeface="Assistant" pitchFamily="2" charset="-79"/>
                </a:endParaRPr>
              </a:p>
              <a:p>
                <a:r>
                  <a:rPr lang="he-IL">
                    <a:solidFill>
                      <a:schemeClr val="tx1"/>
                    </a:solidFill>
                    <a:latin typeface="Assistant" pitchFamily="2" charset="-79"/>
                    <a:cs typeface="Assistant" pitchFamily="2" charset="-79"/>
                  </a:rPr>
                  <a:t>נחשב את מספר הבנות: </a:t>
                </a:r>
                <a14:m>
                  <m:oMath xmlns:m="http://schemas.openxmlformats.org/officeDocument/2006/math">
                    <m:f>
                      <m:fPr>
                        <m:ctrlPr>
                          <a:rPr lang="en-US" i="1">
                            <a:solidFill>
                              <a:schemeClr val="tx1"/>
                            </a:solidFill>
                            <a:latin typeface="Cambria Math" panose="02040503050406030204" pitchFamily="18" charset="0"/>
                          </a:rPr>
                        </m:ctrlPr>
                      </m:fPr>
                      <m:num>
                        <m:r>
                          <a:rPr lang="en-US" i="1">
                            <a:solidFill>
                              <a:schemeClr val="tx1"/>
                            </a:solidFill>
                            <a:latin typeface="Cambria Math" panose="02040503050406030204" pitchFamily="18" charset="0"/>
                          </a:rPr>
                          <m:t>5</m:t>
                        </m:r>
                      </m:num>
                      <m:den>
                        <m:r>
                          <a:rPr lang="en-US" i="1">
                            <a:solidFill>
                              <a:schemeClr val="tx1"/>
                            </a:solidFill>
                            <a:latin typeface="Cambria Math" panose="02040503050406030204" pitchFamily="18" charset="0"/>
                          </a:rPr>
                          <m:t>6</m:t>
                        </m:r>
                      </m:den>
                    </m:f>
                    <m:r>
                      <a:rPr lang="en-US" i="1">
                        <a:solidFill>
                          <a:schemeClr val="tx1"/>
                        </a:solidFill>
                        <a:latin typeface="Cambria Math" panose="02040503050406030204" pitchFamily="18" charset="0"/>
                      </a:rPr>
                      <m:t>⋅30=25</m:t>
                    </m:r>
                  </m:oMath>
                </a14:m>
                <a:endParaRPr lang="en-US">
                  <a:solidFill>
                    <a:schemeClr val="tx1"/>
                  </a:solidFill>
                  <a:latin typeface="Assistant" pitchFamily="2" charset="-79"/>
                  <a:cs typeface="Assistant" pitchFamily="2" charset="-79"/>
                </a:endParaRPr>
              </a:p>
              <a:p>
                <a:r>
                  <a:rPr lang="he-IL">
                    <a:solidFill>
                      <a:schemeClr val="tx1"/>
                    </a:solidFill>
                    <a:latin typeface="Assistant" pitchFamily="2" charset="-79"/>
                    <a:cs typeface="Assistant" pitchFamily="2" charset="-79"/>
                  </a:rPr>
                  <a:t>שיעורי נקודה </a:t>
                </a:r>
                <a:r>
                  <a:rPr lang="en-US">
                    <a:solidFill>
                      <a:schemeClr val="tx1"/>
                    </a:solidFill>
                    <a:latin typeface="Assistant" pitchFamily="2" charset="-79"/>
                    <a:cs typeface="Assistant" pitchFamily="2" charset="-79"/>
                  </a:rPr>
                  <a:t>A</a:t>
                </a:r>
                <a:r>
                  <a:rPr lang="he-IL">
                    <a:solidFill>
                      <a:schemeClr val="tx1"/>
                    </a:solidFill>
                    <a:latin typeface="Assistant" pitchFamily="2" charset="-79"/>
                    <a:cs typeface="Assistant" pitchFamily="2" charset="-79"/>
                  </a:rPr>
                  <a:t> הם (</a:t>
                </a:r>
                <a:r>
                  <a:rPr lang="en-US">
                    <a:solidFill>
                      <a:schemeClr val="tx1"/>
                    </a:solidFill>
                    <a:latin typeface="Assistant" pitchFamily="2" charset="-79"/>
                    <a:cs typeface="Assistant" pitchFamily="2" charset="-79"/>
                  </a:rPr>
                  <a:t>5,25</a:t>
                </a:r>
                <a:r>
                  <a:rPr lang="he-IL">
                    <a:solidFill>
                      <a:schemeClr val="tx1"/>
                    </a:solidFill>
                    <a:latin typeface="Assistant" pitchFamily="2" charset="-79"/>
                    <a:cs typeface="Assistant" pitchFamily="2" charset="-79"/>
                  </a:rPr>
                  <a:t>).</a:t>
                </a:r>
              </a:p>
              <a:p>
                <a:endParaRPr lang="he-IL">
                  <a:solidFill>
                    <a:schemeClr val="tx1"/>
                  </a:solidFill>
                  <a:latin typeface="Assistant" pitchFamily="2" charset="-79"/>
                  <a:cs typeface="Assistant" pitchFamily="2" charset="-79"/>
                </a:endParaRPr>
              </a:p>
              <a:p>
                <a:r>
                  <a:rPr lang="he-IL">
                    <a:solidFill>
                      <a:schemeClr val="tx1"/>
                    </a:solidFill>
                    <a:latin typeface="Assistant" pitchFamily="2" charset="-79"/>
                    <a:cs typeface="Assistant" pitchFamily="2" charset="-79"/>
                  </a:rPr>
                  <a:t>ב. בחצי השעה השנייה התווספו רק בנים, והיחס החדש הוא 1 : 1. מספר הבנות לא השתנה, לכן מספר הבנים החדש הוא 25.</a:t>
                </a:r>
              </a:p>
              <a:p>
                <a:r>
                  <a:rPr lang="he-IL">
                    <a:solidFill>
                      <a:schemeClr val="tx1"/>
                    </a:solidFill>
                    <a:latin typeface="Assistant" pitchFamily="2" charset="-79"/>
                    <a:cs typeface="Assistant" pitchFamily="2" charset="-79"/>
                  </a:rPr>
                  <a:t>שיעורי נקודה </a:t>
                </a:r>
                <a:r>
                  <a:rPr lang="en-US">
                    <a:solidFill>
                      <a:schemeClr val="tx1"/>
                    </a:solidFill>
                    <a:latin typeface="Assistant" pitchFamily="2" charset="-79"/>
                    <a:cs typeface="Assistant" pitchFamily="2" charset="-79"/>
                  </a:rPr>
                  <a:t>B</a:t>
                </a:r>
                <a:r>
                  <a:rPr lang="he-IL">
                    <a:solidFill>
                      <a:schemeClr val="tx1"/>
                    </a:solidFill>
                    <a:latin typeface="Assistant" pitchFamily="2" charset="-79"/>
                    <a:cs typeface="Assistant" pitchFamily="2" charset="-79"/>
                  </a:rPr>
                  <a:t> הם (25,25).</a:t>
                </a:r>
                <a:endParaRPr lang="en-US">
                  <a:solidFill>
                    <a:schemeClr val="tx1"/>
                  </a:solidFill>
                  <a:latin typeface="Assistant" pitchFamily="2" charset="-79"/>
                  <a:cs typeface="Assistant" pitchFamily="2" charset="-79"/>
                </a:endParaRPr>
              </a:p>
            </p:txBody>
          </p:sp>
        </mc:Choice>
        <mc:Fallback xmlns="">
          <p:sp>
            <p:nvSpPr>
              <p:cNvPr id="25" name="מלבן: פינות מעוגלות 9">
                <a:extLst>
                  <a:ext uri="{FF2B5EF4-FFF2-40B4-BE49-F238E27FC236}">
                    <a16:creationId xmlns:a16="http://schemas.microsoft.com/office/drawing/2014/main" id="{826D7091-5B54-6807-2EE4-7E725305F1A4}"/>
                  </a:ext>
                </a:extLst>
              </p:cNvPr>
              <p:cNvSpPr>
                <a:spLocks noRot="1" noChangeAspect="1" noMove="1" noResize="1" noEditPoints="1" noAdjustHandles="1" noChangeArrowheads="1" noChangeShapeType="1" noTextEdit="1"/>
              </p:cNvSpPr>
              <p:nvPr/>
            </p:nvSpPr>
            <p:spPr>
              <a:xfrm>
                <a:off x="-5314887" y="4034705"/>
                <a:ext cx="4906656" cy="4463680"/>
              </a:xfrm>
              <a:prstGeom prst="roundRect">
                <a:avLst>
                  <a:gd name="adj" fmla="val 1647"/>
                </a:avLst>
              </a:prstGeom>
              <a:blipFill>
                <a:blip r:embed="rId9"/>
                <a:stretch>
                  <a:fillRect l="-621" r="-621"/>
                </a:stretch>
              </a:blipFill>
              <a:ln>
                <a:noFill/>
              </a:ln>
            </p:spPr>
            <p:txBody>
              <a:bodyPr/>
              <a:lstStyle/>
              <a:p>
                <a:r>
                  <a:rPr lang="en-US">
                    <a:noFill/>
                  </a:rPr>
                  <a:t> </a:t>
                </a:r>
              </a:p>
            </p:txBody>
          </p:sp>
        </mc:Fallback>
      </mc:AlternateContent>
      <p:pic>
        <p:nvPicPr>
          <p:cNvPr id="26" name="Picture 25">
            <a:extLst>
              <a:ext uri="{FF2B5EF4-FFF2-40B4-BE49-F238E27FC236}">
                <a16:creationId xmlns:a16="http://schemas.microsoft.com/office/drawing/2014/main" id="{182E9C03-CFBF-B429-F0EF-F5B302950450}"/>
              </a:ext>
            </a:extLst>
          </p:cNvPr>
          <p:cNvPicPr>
            <a:picLocks noChangeAspect="1"/>
          </p:cNvPicPr>
          <p:nvPr/>
        </p:nvPicPr>
        <p:blipFill>
          <a:blip r:embed="rId10" cstate="email">
            <a:extLst>
              <a:ext uri="{28A0092B-C50C-407E-A947-70E740481C1C}">
                <a14:useLocalDpi xmlns:a14="http://schemas.microsoft.com/office/drawing/2010/main"/>
              </a:ext>
            </a:extLst>
          </a:blip>
          <a:stretch>
            <a:fillRect/>
          </a:stretch>
        </p:blipFill>
        <p:spPr>
          <a:xfrm>
            <a:off x="914945" y="1296117"/>
            <a:ext cx="4463681" cy="4463681"/>
          </a:xfrm>
          <a:prstGeom prst="rect">
            <a:avLst/>
          </a:prstGeom>
        </p:spPr>
      </p:pic>
      <p:sp>
        <p:nvSpPr>
          <p:cNvPr id="31" name="מלבן: פינות מעוגלות 6">
            <a:extLst>
              <a:ext uri="{FF2B5EF4-FFF2-40B4-BE49-F238E27FC236}">
                <a16:creationId xmlns:a16="http://schemas.microsoft.com/office/drawing/2014/main" id="{6AC8191B-4915-70B3-5CEA-5743F175E1DB}"/>
              </a:ext>
            </a:extLst>
          </p:cNvPr>
          <p:cNvSpPr/>
          <p:nvPr/>
        </p:nvSpPr>
        <p:spPr>
          <a:xfrm>
            <a:off x="1549749" y="1780409"/>
            <a:ext cx="1146490" cy="452520"/>
          </a:xfrm>
          <a:prstGeom prst="roundRect">
            <a:avLst>
              <a:gd name="adj" fmla="val 1764"/>
            </a:avLst>
          </a:prstGeom>
          <a:noFill/>
          <a:ln w="12700">
            <a:solidFill>
              <a:srgbClr val="92D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a:solidFill>
                  <a:schemeClr val="tx1"/>
                </a:solidFill>
                <a:latin typeface="Assistant" pitchFamily="2" charset="-79"/>
                <a:cs typeface="Assistant" pitchFamily="2" charset="-79"/>
              </a:rPr>
              <a:t>A</a:t>
            </a:r>
            <a:endParaRPr lang="LID4096" sz="2000">
              <a:solidFill>
                <a:schemeClr val="tx1"/>
              </a:solidFill>
              <a:latin typeface="Assistant" pitchFamily="2" charset="-79"/>
              <a:cs typeface="Assistant" pitchFamily="2" charset="-79"/>
            </a:endParaRPr>
          </a:p>
        </p:txBody>
      </p:sp>
      <p:sp>
        <p:nvSpPr>
          <p:cNvPr id="33" name="מלבן: פינות מעוגלות 6">
            <a:extLst>
              <a:ext uri="{FF2B5EF4-FFF2-40B4-BE49-F238E27FC236}">
                <a16:creationId xmlns:a16="http://schemas.microsoft.com/office/drawing/2014/main" id="{C732C3F0-FBD3-8B6F-D09E-A3C97D15A823}"/>
              </a:ext>
            </a:extLst>
          </p:cNvPr>
          <p:cNvSpPr/>
          <p:nvPr/>
        </p:nvSpPr>
        <p:spPr>
          <a:xfrm>
            <a:off x="3596747" y="1834346"/>
            <a:ext cx="1146491" cy="452520"/>
          </a:xfrm>
          <a:prstGeom prst="roundRect">
            <a:avLst>
              <a:gd name="adj" fmla="val 1764"/>
            </a:avLst>
          </a:prstGeom>
          <a:noFill/>
          <a:ln w="12700">
            <a:solidFill>
              <a:srgbClr val="92D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a:solidFill>
                  <a:schemeClr val="tx1"/>
                </a:solidFill>
                <a:latin typeface="Assistant" pitchFamily="2" charset="-79"/>
                <a:cs typeface="Assistant" pitchFamily="2" charset="-79"/>
              </a:rPr>
              <a:t>B</a:t>
            </a:r>
            <a:endParaRPr lang="LID4096" sz="2000">
              <a:solidFill>
                <a:schemeClr val="tx1"/>
              </a:solidFill>
              <a:latin typeface="Assistant" pitchFamily="2" charset="-79"/>
              <a:cs typeface="Assistant" pitchFamily="2" charset="-79"/>
            </a:endParaRPr>
          </a:p>
        </p:txBody>
      </p:sp>
      <p:sp>
        <p:nvSpPr>
          <p:cNvPr id="8" name="תיבת טקסט 7">
            <a:extLst>
              <a:ext uri="{FF2B5EF4-FFF2-40B4-BE49-F238E27FC236}">
                <a16:creationId xmlns:a16="http://schemas.microsoft.com/office/drawing/2014/main" id="{C46879F0-7591-6F9B-B4FB-3A61DD134904}"/>
              </a:ext>
            </a:extLst>
          </p:cNvPr>
          <p:cNvSpPr txBox="1"/>
          <p:nvPr/>
        </p:nvSpPr>
        <p:spPr>
          <a:xfrm>
            <a:off x="4546176" y="5633925"/>
            <a:ext cx="1306768" cy="369332"/>
          </a:xfrm>
          <a:prstGeom prst="rect">
            <a:avLst/>
          </a:prstGeom>
          <a:noFill/>
        </p:spPr>
        <p:txBody>
          <a:bodyPr wrap="none" rtlCol="1">
            <a:spAutoFit/>
          </a:bodyPr>
          <a:lstStyle/>
          <a:p>
            <a:r>
              <a:rPr lang="he-IL"/>
              <a:t>מספר הבנים</a:t>
            </a:r>
          </a:p>
        </p:txBody>
      </p:sp>
      <p:sp>
        <p:nvSpPr>
          <p:cNvPr id="10" name="תיבת טקסט 9">
            <a:extLst>
              <a:ext uri="{FF2B5EF4-FFF2-40B4-BE49-F238E27FC236}">
                <a16:creationId xmlns:a16="http://schemas.microsoft.com/office/drawing/2014/main" id="{5509918F-3A91-C9A8-5C17-AEFB6C971DDE}"/>
              </a:ext>
            </a:extLst>
          </p:cNvPr>
          <p:cNvSpPr txBox="1"/>
          <p:nvPr/>
        </p:nvSpPr>
        <p:spPr>
          <a:xfrm>
            <a:off x="-150143" y="1156726"/>
            <a:ext cx="1317990" cy="369332"/>
          </a:xfrm>
          <a:prstGeom prst="rect">
            <a:avLst/>
          </a:prstGeom>
          <a:noFill/>
        </p:spPr>
        <p:txBody>
          <a:bodyPr wrap="none" rtlCol="1">
            <a:spAutoFit/>
          </a:bodyPr>
          <a:lstStyle/>
          <a:p>
            <a:r>
              <a:rPr lang="he-IL"/>
              <a:t>מספר הבנות</a:t>
            </a:r>
          </a:p>
        </p:txBody>
      </p:sp>
      <p:sp>
        <p:nvSpPr>
          <p:cNvPr id="13" name="אליפסה 12">
            <a:extLst>
              <a:ext uri="{FF2B5EF4-FFF2-40B4-BE49-F238E27FC236}">
                <a16:creationId xmlns:a16="http://schemas.microsoft.com/office/drawing/2014/main" id="{13BCCF4B-0068-37FF-B568-0AE6F6302E5F}"/>
              </a:ext>
            </a:extLst>
          </p:cNvPr>
          <p:cNvSpPr/>
          <p:nvPr/>
        </p:nvSpPr>
        <p:spPr>
          <a:xfrm>
            <a:off x="1838987" y="2278300"/>
            <a:ext cx="228352" cy="228712"/>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16" name="אליפסה 15">
            <a:extLst>
              <a:ext uri="{FF2B5EF4-FFF2-40B4-BE49-F238E27FC236}">
                <a16:creationId xmlns:a16="http://schemas.microsoft.com/office/drawing/2014/main" id="{CCAE7DB6-2131-E9A3-8886-77C379227987}"/>
              </a:ext>
            </a:extLst>
          </p:cNvPr>
          <p:cNvSpPr/>
          <p:nvPr/>
        </p:nvSpPr>
        <p:spPr>
          <a:xfrm>
            <a:off x="4325158" y="2307868"/>
            <a:ext cx="228352" cy="228712"/>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19" name="מלבן: פינות מעוגלות 6">
            <a:extLst>
              <a:ext uri="{FF2B5EF4-FFF2-40B4-BE49-F238E27FC236}">
                <a16:creationId xmlns:a16="http://schemas.microsoft.com/office/drawing/2014/main" id="{1B03713F-01B8-8401-4889-50D14BCBE10E}"/>
              </a:ext>
            </a:extLst>
          </p:cNvPr>
          <p:cNvSpPr/>
          <p:nvPr/>
        </p:nvSpPr>
        <p:spPr>
          <a:xfrm>
            <a:off x="8590462" y="4252928"/>
            <a:ext cx="1146490" cy="452520"/>
          </a:xfrm>
          <a:prstGeom prst="roundRect">
            <a:avLst>
              <a:gd name="adj" fmla="val 1764"/>
            </a:avLst>
          </a:prstGeom>
          <a:noFill/>
          <a:ln w="12700">
            <a:solidFill>
              <a:srgbClr val="92D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he-IL" sz="2000">
                <a:solidFill>
                  <a:schemeClr val="tx1"/>
                </a:solidFill>
                <a:latin typeface="Assistant" pitchFamily="2" charset="-79"/>
                <a:cs typeface="Assistant" pitchFamily="2" charset="-79"/>
              </a:rPr>
              <a:t>(5,25)</a:t>
            </a:r>
            <a:r>
              <a:rPr lang="en-US" sz="2000">
                <a:solidFill>
                  <a:schemeClr val="tx1"/>
                </a:solidFill>
                <a:latin typeface="Assistant" pitchFamily="2" charset="-79"/>
                <a:cs typeface="Assistant" pitchFamily="2" charset="-79"/>
              </a:rPr>
              <a:t>A  </a:t>
            </a:r>
            <a:endParaRPr lang="LID4096" sz="2000">
              <a:solidFill>
                <a:schemeClr val="tx1"/>
              </a:solidFill>
              <a:latin typeface="Assistant" pitchFamily="2" charset="-79"/>
              <a:cs typeface="Assistant" pitchFamily="2" charset="-79"/>
            </a:endParaRPr>
          </a:p>
        </p:txBody>
      </p:sp>
      <p:sp>
        <p:nvSpPr>
          <p:cNvPr id="20" name="מלבן: פינות מעוגלות 6">
            <a:extLst>
              <a:ext uri="{FF2B5EF4-FFF2-40B4-BE49-F238E27FC236}">
                <a16:creationId xmlns:a16="http://schemas.microsoft.com/office/drawing/2014/main" id="{C25BD52C-CACE-05D3-D6A6-3C3C12B4CC63}"/>
              </a:ext>
            </a:extLst>
          </p:cNvPr>
          <p:cNvSpPr/>
          <p:nvPr/>
        </p:nvSpPr>
        <p:spPr>
          <a:xfrm>
            <a:off x="8325134" y="5331670"/>
            <a:ext cx="1411818" cy="483313"/>
          </a:xfrm>
          <a:prstGeom prst="roundRect">
            <a:avLst>
              <a:gd name="adj" fmla="val 1764"/>
            </a:avLst>
          </a:prstGeom>
          <a:noFill/>
          <a:ln w="12700">
            <a:solidFill>
              <a:srgbClr val="92D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he-IL" sz="2000">
                <a:solidFill>
                  <a:schemeClr val="tx1"/>
                </a:solidFill>
                <a:latin typeface="Assistant" pitchFamily="2" charset="-79"/>
                <a:cs typeface="Assistant" pitchFamily="2" charset="-79"/>
              </a:rPr>
              <a:t>(25,25)</a:t>
            </a:r>
            <a:r>
              <a:rPr lang="en-US" sz="2000">
                <a:solidFill>
                  <a:schemeClr val="tx1"/>
                </a:solidFill>
                <a:latin typeface="Assistant" pitchFamily="2" charset="-79"/>
                <a:cs typeface="Assistant" pitchFamily="2" charset="-79"/>
              </a:rPr>
              <a:t>B  </a:t>
            </a:r>
            <a:endParaRPr lang="LID4096" sz="2000">
              <a:solidFill>
                <a:schemeClr val="tx1"/>
              </a:solidFill>
              <a:latin typeface="Assistant" pitchFamily="2" charset="-79"/>
              <a:cs typeface="Assistant" pitchFamily="2" charset="-79"/>
            </a:endParaRPr>
          </a:p>
        </p:txBody>
      </p:sp>
    </p:spTree>
    <p:custDataLst>
      <p:tags r:id="rId1"/>
    </p:custDataLst>
    <p:extLst>
      <p:ext uri="{BB962C8B-B14F-4D97-AF65-F5344CB8AC3E}">
        <p14:creationId xmlns:p14="http://schemas.microsoft.com/office/powerpoint/2010/main" val="329342110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E2B782-24E2-DBE9-25DC-66F70420F7F0}"/>
            </a:ext>
          </a:extLst>
        </p:cNvPr>
        <p:cNvGrpSpPr/>
        <p:nvPr/>
      </p:nvGrpSpPr>
      <p:grpSpPr>
        <a:xfrm>
          <a:off x="0" y="0"/>
          <a:ext cx="0" cy="0"/>
          <a:chOff x="0" y="0"/>
          <a:chExt cx="0" cy="0"/>
        </a:xfrm>
      </p:grpSpPr>
      <p:cxnSp>
        <p:nvCxnSpPr>
          <p:cNvPr id="4" name="מחבר ישר 3">
            <a:extLst>
              <a:ext uri="{FF2B5EF4-FFF2-40B4-BE49-F238E27FC236}">
                <a16:creationId xmlns:a16="http://schemas.microsoft.com/office/drawing/2014/main" id="{6F3EA8A0-0308-DE72-B144-C55BE5AE26F5}"/>
              </a:ext>
            </a:extLst>
          </p:cNvPr>
          <p:cNvCxnSpPr>
            <a:cxnSpLocks/>
          </p:cNvCxnSpPr>
          <p:nvPr/>
        </p:nvCxnSpPr>
        <p:spPr>
          <a:xfrm>
            <a:off x="0" y="6079252"/>
            <a:ext cx="12192000" cy="0"/>
          </a:xfrm>
          <a:prstGeom prst="line">
            <a:avLst/>
          </a:prstGeom>
          <a:ln>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5" name="מלבן: פינות מעוגלות 4">
            <a:extLst>
              <a:ext uri="{FF2B5EF4-FFF2-40B4-BE49-F238E27FC236}">
                <a16:creationId xmlns:a16="http://schemas.microsoft.com/office/drawing/2014/main" id="{26CE532B-1AC3-DED3-4048-536EF05B57B0}"/>
              </a:ext>
            </a:extLst>
          </p:cNvPr>
          <p:cNvSpPr/>
          <p:nvPr/>
        </p:nvSpPr>
        <p:spPr>
          <a:xfrm>
            <a:off x="268356" y="6182143"/>
            <a:ext cx="1798983" cy="506891"/>
          </a:xfrm>
          <a:prstGeom prst="roundRect">
            <a:avLst>
              <a:gd name="adj" fmla="val 50000"/>
            </a:avLst>
          </a:prstGeom>
          <a:solidFill>
            <a:schemeClr val="bg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he-IL"/>
              <a:t>צדקתי?</a:t>
            </a:r>
            <a:endParaRPr lang="LID4096"/>
          </a:p>
        </p:txBody>
      </p:sp>
      <p:sp>
        <p:nvSpPr>
          <p:cNvPr id="6" name="תיבת טקסט 5">
            <a:extLst>
              <a:ext uri="{FF2B5EF4-FFF2-40B4-BE49-F238E27FC236}">
                <a16:creationId xmlns:a16="http://schemas.microsoft.com/office/drawing/2014/main" id="{0AFC9A5B-363B-8FDF-C244-1DBE12E711C8}"/>
              </a:ext>
            </a:extLst>
          </p:cNvPr>
          <p:cNvSpPr txBox="1"/>
          <p:nvPr/>
        </p:nvSpPr>
        <p:spPr>
          <a:xfrm>
            <a:off x="4409947" y="1287488"/>
            <a:ext cx="7224123" cy="2352760"/>
          </a:xfrm>
          <a:prstGeom prst="rect">
            <a:avLst/>
          </a:prstGeom>
          <a:noFill/>
        </p:spPr>
        <p:txBody>
          <a:bodyPr wrap="square" rtlCol="0">
            <a:spAutoFit/>
          </a:bodyPr>
          <a:lstStyle/>
          <a:p>
            <a:pPr>
              <a:lnSpc>
                <a:spcPct val="150000"/>
              </a:lnSpc>
            </a:pPr>
            <a:r>
              <a:rPr lang="he-IL" sz="2000">
                <a:latin typeface="Assistant" pitchFamily="2" charset="-79"/>
                <a:cs typeface="Assistant" pitchFamily="2" charset="-79"/>
              </a:rPr>
              <a:t>3. משרד אדריכלות מתכנן מבנה ציבורי חדש בעל גג זכוכית בצורת משולש. </a:t>
            </a:r>
          </a:p>
          <a:p>
            <a:pPr>
              <a:lnSpc>
                <a:spcPct val="150000"/>
              </a:lnSpc>
            </a:pPr>
            <a:r>
              <a:rPr lang="he-IL" sz="2000">
                <a:latin typeface="Assistant" pitchFamily="2" charset="-79"/>
                <a:cs typeface="Assistant" pitchFamily="2" charset="-79"/>
              </a:rPr>
              <a:t>האדריכלית הראשית קבעה כלל כי אחת מזווית המשולש חייבת להיות בת</a:t>
            </a:r>
            <a:r>
              <a:rPr lang="en-US" sz="2000">
                <a:latin typeface="Assistant" pitchFamily="2" charset="-79"/>
                <a:cs typeface="Assistant" pitchFamily="2" charset="-79"/>
              </a:rPr>
              <a:t>° </a:t>
            </a:r>
            <a:r>
              <a:rPr lang="he-IL" sz="2000">
                <a:latin typeface="Assistant" pitchFamily="2" charset="-79"/>
                <a:cs typeface="Assistant" pitchFamily="2" charset="-79"/>
              </a:rPr>
              <a:t>60 </a:t>
            </a:r>
          </a:p>
          <a:p>
            <a:pPr>
              <a:lnSpc>
                <a:spcPct val="150000"/>
              </a:lnSpc>
            </a:pPr>
            <a:r>
              <a:rPr lang="en-US" sz="2000">
                <a:latin typeface="Assistant" pitchFamily="2" charset="-79"/>
                <a:cs typeface="Assistant" pitchFamily="2" charset="-79"/>
              </a:rPr>
              <a:t>BAC = 60°) </a:t>
            </a:r>
            <a:r>
              <a:rPr lang="he-IL" sz="2000">
                <a:latin typeface="Assistant" pitchFamily="2" charset="-79"/>
                <a:cs typeface="Assistant" pitchFamily="2" charset="-79"/>
              </a:rPr>
              <a:t> ∢).</a:t>
            </a:r>
            <a:endParaRPr lang="en-US" sz="2000">
              <a:latin typeface="Assistant" pitchFamily="2" charset="-79"/>
              <a:cs typeface="Assistant" pitchFamily="2" charset="-79"/>
            </a:endParaRPr>
          </a:p>
          <a:p>
            <a:pPr>
              <a:lnSpc>
                <a:spcPct val="150000"/>
              </a:lnSpc>
            </a:pPr>
            <a:r>
              <a:rPr lang="he-IL" sz="2000">
                <a:latin typeface="Assistant" pitchFamily="2" charset="-79"/>
                <a:cs typeface="Assistant" pitchFamily="2" charset="-79"/>
              </a:rPr>
              <a:t>את המרווח שנשאר עבור שתי הזוויות האחרות של משולש הגג, החליטו האדריכליות לחלק כך שהיחס ביניהן יהיה בדיוק 5 : 3.</a:t>
            </a:r>
          </a:p>
        </p:txBody>
      </p:sp>
      <p:pic>
        <p:nvPicPr>
          <p:cNvPr id="3" name="תמונה 2">
            <a:extLst>
              <a:ext uri="{FF2B5EF4-FFF2-40B4-BE49-F238E27FC236}">
                <a16:creationId xmlns:a16="http://schemas.microsoft.com/office/drawing/2014/main" id="{D720D1F8-6A22-8CAA-9FAE-BF9E570DBA7A}"/>
              </a:ext>
            </a:extLst>
          </p:cNvPr>
          <p:cNvPicPr>
            <a:picLocks noChangeAspect="1"/>
          </p:cNvPicPr>
          <p:nvPr/>
        </p:nvPicPr>
        <p:blipFill>
          <a:blip r:embed="rId4">
            <a:extLst>
              <a:ext uri="{28A0092B-C50C-407E-A947-70E740481C1C}">
                <a14:useLocalDpi xmlns:a14="http://schemas.microsoft.com/office/drawing/2010/main"/>
              </a:ext>
            </a:extLst>
          </a:blip>
          <a:stretch>
            <a:fillRect/>
          </a:stretch>
        </p:blipFill>
        <p:spPr>
          <a:xfrm>
            <a:off x="0" y="57121"/>
            <a:ext cx="933869" cy="721626"/>
          </a:xfrm>
          <a:prstGeom prst="rect">
            <a:avLst/>
          </a:prstGeom>
        </p:spPr>
      </p:pic>
      <p:sp>
        <p:nvSpPr>
          <p:cNvPr id="7" name="מלבן: פינות מעוגלות 6">
            <a:extLst>
              <a:ext uri="{FF2B5EF4-FFF2-40B4-BE49-F238E27FC236}">
                <a16:creationId xmlns:a16="http://schemas.microsoft.com/office/drawing/2014/main" id="{3CAD0EA6-64D0-458B-91CC-2CC645CDBBC3}"/>
              </a:ext>
            </a:extLst>
          </p:cNvPr>
          <p:cNvSpPr/>
          <p:nvPr/>
        </p:nvSpPr>
        <p:spPr>
          <a:xfrm>
            <a:off x="10244695" y="6193485"/>
            <a:ext cx="1798983" cy="506891"/>
          </a:xfrm>
          <a:prstGeom prst="roundRect">
            <a:avLst>
              <a:gd name="adj" fmla="val 50000"/>
            </a:avLst>
          </a:prstGeom>
          <a:noFill/>
          <a:ln>
            <a:solidFill>
              <a:srgbClr val="019DE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he-IL">
                <a:solidFill>
                  <a:srgbClr val="019DE5"/>
                </a:solidFill>
                <a:latin typeface="Assistant" pitchFamily="2" charset="-79"/>
                <a:cs typeface="Assistant" pitchFamily="2" charset="-79"/>
              </a:rPr>
              <a:t>חזרה</a:t>
            </a:r>
            <a:endParaRPr lang="LID4096">
              <a:solidFill>
                <a:srgbClr val="019DE5"/>
              </a:solidFill>
              <a:latin typeface="Assistant" pitchFamily="2" charset="-79"/>
              <a:cs typeface="Assistant" pitchFamily="2" charset="-79"/>
            </a:endParaRPr>
          </a:p>
        </p:txBody>
      </p:sp>
      <p:pic>
        <p:nvPicPr>
          <p:cNvPr id="9" name="תמונה 8">
            <a:extLst>
              <a:ext uri="{FF2B5EF4-FFF2-40B4-BE49-F238E27FC236}">
                <a16:creationId xmlns:a16="http://schemas.microsoft.com/office/drawing/2014/main" id="{734A1981-65E8-FA7F-5DC3-6BD458903C94}"/>
              </a:ext>
            </a:extLst>
          </p:cNvPr>
          <p:cNvPicPr>
            <a:picLocks noChangeAspect="1"/>
          </p:cNvPicPr>
          <p:nvPr/>
        </p:nvPicPr>
        <p:blipFill>
          <a:blip r:embed="rId5">
            <a:extLst>
              <a:ext uri="{28A0092B-C50C-407E-A947-70E740481C1C}">
                <a14:useLocalDpi xmlns:a14="http://schemas.microsoft.com/office/drawing/2010/main"/>
              </a:ext>
            </a:extLst>
          </a:blip>
          <a:stretch>
            <a:fillRect/>
          </a:stretch>
        </p:blipFill>
        <p:spPr>
          <a:xfrm>
            <a:off x="2803561" y="417934"/>
            <a:ext cx="7847619" cy="558730"/>
          </a:xfrm>
          <a:prstGeom prst="rect">
            <a:avLst/>
          </a:prstGeom>
        </p:spPr>
      </p:pic>
      <p:sp>
        <p:nvSpPr>
          <p:cNvPr id="11" name="מלבן 10">
            <a:extLst>
              <a:ext uri="{FF2B5EF4-FFF2-40B4-BE49-F238E27FC236}">
                <a16:creationId xmlns:a16="http://schemas.microsoft.com/office/drawing/2014/main" id="{63864EB0-A42F-32FB-A458-46BF9D606300}"/>
              </a:ext>
            </a:extLst>
          </p:cNvPr>
          <p:cNvSpPr/>
          <p:nvPr/>
        </p:nvSpPr>
        <p:spPr>
          <a:xfrm>
            <a:off x="-115414" y="-1103086"/>
            <a:ext cx="2295396" cy="976083"/>
          </a:xfrm>
          <a:prstGeom prst="rect">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he-IL" sz="1800" b="1" i="0" u="none" strike="noStrike" kern="1200" cap="none" spc="0" normalizeH="0" baseline="0" noProof="0">
                <a:ln>
                  <a:noFill/>
                </a:ln>
                <a:solidFill>
                  <a:prstClr val="black"/>
                </a:solidFill>
                <a:effectLst/>
                <a:uLnTx/>
                <a:uFillTx/>
                <a:latin typeface="Assistant" pitchFamily="2" charset="-79"/>
                <a:ea typeface="+mn-ea"/>
                <a:cs typeface="Assistant" pitchFamily="2" charset="-79"/>
                <a:hlinkClick r:id="rId6"/>
              </a:rPr>
              <a:t>רמת חשיבה</a:t>
            </a:r>
            <a:endParaRPr kumimoji="0" lang="he-IL" sz="1800" b="1" i="0" u="none" strike="noStrike" kern="1200" cap="none" spc="0" normalizeH="0" baseline="0" noProof="0">
              <a:ln>
                <a:noFill/>
              </a:ln>
              <a:solidFill>
                <a:prstClr val="black"/>
              </a:solidFill>
              <a:effectLst/>
              <a:uLnTx/>
              <a:uFillTx/>
              <a:latin typeface="Assistant" pitchFamily="2" charset="-79"/>
              <a:ea typeface="+mn-ea"/>
              <a:cs typeface="Assistant" pitchFamily="2" charset="-79"/>
            </a:endParaRPr>
          </a:p>
          <a:p>
            <a:pPr marL="285750" marR="0" lvl="0" indent="-285750" defTabSz="91440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he-IL" sz="1800" i="0" u="none" strike="noStrike" kern="1200" cap="none" spc="0" normalizeH="0" baseline="0" noProof="0">
                <a:ln>
                  <a:noFill/>
                </a:ln>
                <a:solidFill>
                  <a:prstClr val="black"/>
                </a:solidFill>
                <a:effectLst/>
                <a:uLnTx/>
                <a:uFillTx/>
                <a:latin typeface="Assistant" pitchFamily="2" charset="-79"/>
                <a:ea typeface="+mn-ea"/>
                <a:cs typeface="Assistant" pitchFamily="2" charset="-79"/>
              </a:rPr>
              <a:t>טקסט </a:t>
            </a:r>
          </a:p>
          <a:p>
            <a:pPr marL="285750" marR="0" lvl="0" indent="-285750" defTabSz="914400" eaLnBrk="1" fontAlgn="auto" latinLnBrk="0" hangingPunct="1">
              <a:lnSpc>
                <a:spcPct val="100000"/>
              </a:lnSpc>
              <a:spcBef>
                <a:spcPts val="0"/>
              </a:spcBef>
              <a:spcAft>
                <a:spcPts val="0"/>
              </a:spcAft>
              <a:buClrTx/>
              <a:buSzTx/>
              <a:buFont typeface="Arial" panose="020B0604020202020204" pitchFamily="34" charset="0"/>
              <a:buChar char="•"/>
              <a:tabLst/>
              <a:defRPr/>
            </a:pPr>
            <a:r>
              <a:rPr lang="he-IL">
                <a:solidFill>
                  <a:prstClr val="black"/>
                </a:solidFill>
                <a:latin typeface="Assistant" pitchFamily="2" charset="-79"/>
                <a:cs typeface="Assistant" pitchFamily="2" charset="-79"/>
              </a:rPr>
              <a:t>טקסט</a:t>
            </a:r>
            <a:endParaRPr kumimoji="0" lang="he-IL" sz="1800" i="0" u="none" strike="noStrike" kern="1200" cap="none" spc="0" normalizeH="0" baseline="0" noProof="0">
              <a:ln>
                <a:noFill/>
              </a:ln>
              <a:solidFill>
                <a:prstClr val="black"/>
              </a:solidFill>
              <a:effectLst/>
              <a:uLnTx/>
              <a:uFillTx/>
              <a:latin typeface="Assistant" pitchFamily="2" charset="-79"/>
              <a:ea typeface="+mn-ea"/>
              <a:cs typeface="Assistant" pitchFamily="2" charset="-79"/>
            </a:endParaRPr>
          </a:p>
        </p:txBody>
      </p:sp>
      <p:pic>
        <p:nvPicPr>
          <p:cNvPr id="53" name="Picture 52">
            <a:extLst>
              <a:ext uri="{FF2B5EF4-FFF2-40B4-BE49-F238E27FC236}">
                <a16:creationId xmlns:a16="http://schemas.microsoft.com/office/drawing/2014/main" id="{BC033F24-9AAB-3CF3-6910-7356AB0AA150}"/>
              </a:ext>
            </a:extLst>
          </p:cNvPr>
          <p:cNvPicPr>
            <a:picLocks noChangeAspect="1"/>
          </p:cNvPicPr>
          <p:nvPr/>
        </p:nvPicPr>
        <p:blipFill>
          <a:blip r:embed="rId7" cstate="email">
            <a:extLst>
              <a:ext uri="{28A0092B-C50C-407E-A947-70E740481C1C}">
                <a14:useLocalDpi xmlns:a14="http://schemas.microsoft.com/office/drawing/2010/main"/>
              </a:ext>
            </a:extLst>
          </a:blip>
          <a:stretch>
            <a:fillRect/>
          </a:stretch>
        </p:blipFill>
        <p:spPr>
          <a:xfrm>
            <a:off x="-24358" y="1127548"/>
            <a:ext cx="4194351" cy="2796234"/>
          </a:xfrm>
          <a:prstGeom prst="rect">
            <a:avLst/>
          </a:prstGeom>
        </p:spPr>
      </p:pic>
      <p:grpSp>
        <p:nvGrpSpPr>
          <p:cNvPr id="18" name="Group 17">
            <a:extLst>
              <a:ext uri="{FF2B5EF4-FFF2-40B4-BE49-F238E27FC236}">
                <a16:creationId xmlns:a16="http://schemas.microsoft.com/office/drawing/2014/main" id="{93AA657D-F18D-411C-1473-1E022DB21265}"/>
              </a:ext>
            </a:extLst>
          </p:cNvPr>
          <p:cNvGrpSpPr/>
          <p:nvPr/>
        </p:nvGrpSpPr>
        <p:grpSpPr>
          <a:xfrm>
            <a:off x="933869" y="4224727"/>
            <a:ext cx="2842259" cy="1690822"/>
            <a:chOff x="1379325" y="-61350"/>
            <a:chExt cx="2668900" cy="1703608"/>
          </a:xfrm>
        </p:grpSpPr>
        <p:cxnSp>
          <p:nvCxnSpPr>
            <p:cNvPr id="19" name="Straight Arrow Connector 18">
              <a:extLst>
                <a:ext uri="{FF2B5EF4-FFF2-40B4-BE49-F238E27FC236}">
                  <a16:creationId xmlns:a16="http://schemas.microsoft.com/office/drawing/2014/main" id="{33E7F385-8460-E250-45F6-15F0AB754B36}"/>
                </a:ext>
              </a:extLst>
            </p:cNvPr>
            <p:cNvCxnSpPr/>
            <p:nvPr/>
          </p:nvCxnSpPr>
          <p:spPr>
            <a:xfrm rot="10800000" flipH="1">
              <a:off x="1675875" y="256675"/>
              <a:ext cx="1779300" cy="1032900"/>
            </a:xfrm>
            <a:prstGeom prst="straightConnector1">
              <a:avLst/>
            </a:prstGeom>
            <a:noFill/>
            <a:ln w="9525" cap="flat" cmpd="sng">
              <a:solidFill>
                <a:srgbClr val="000000"/>
              </a:solidFill>
              <a:prstDash val="solid"/>
              <a:round/>
              <a:headEnd type="none" w="med" len="med"/>
              <a:tailEnd type="none" w="med" len="med"/>
            </a:ln>
          </p:spPr>
        </p:cxnSp>
        <p:cxnSp>
          <p:nvCxnSpPr>
            <p:cNvPr id="26" name="Straight Arrow Connector 25">
              <a:extLst>
                <a:ext uri="{FF2B5EF4-FFF2-40B4-BE49-F238E27FC236}">
                  <a16:creationId xmlns:a16="http://schemas.microsoft.com/office/drawing/2014/main" id="{6FEDD7CA-C715-9D5B-66C2-59DBEFEC4B58}"/>
                </a:ext>
              </a:extLst>
            </p:cNvPr>
            <p:cNvCxnSpPr/>
            <p:nvPr/>
          </p:nvCxnSpPr>
          <p:spPr>
            <a:xfrm>
              <a:off x="3455125" y="256775"/>
              <a:ext cx="255600" cy="1032900"/>
            </a:xfrm>
            <a:prstGeom prst="straightConnector1">
              <a:avLst/>
            </a:prstGeom>
            <a:noFill/>
            <a:ln w="9525" cap="flat" cmpd="sng">
              <a:solidFill>
                <a:srgbClr val="000000"/>
              </a:solidFill>
              <a:prstDash val="solid"/>
              <a:round/>
              <a:headEnd type="none" w="med" len="med"/>
              <a:tailEnd type="none" w="med" len="med"/>
            </a:ln>
          </p:spPr>
        </p:cxnSp>
        <p:cxnSp>
          <p:nvCxnSpPr>
            <p:cNvPr id="30" name="Straight Arrow Connector 29">
              <a:extLst>
                <a:ext uri="{FF2B5EF4-FFF2-40B4-BE49-F238E27FC236}">
                  <a16:creationId xmlns:a16="http://schemas.microsoft.com/office/drawing/2014/main" id="{64198EAD-E4F0-5F97-8576-2BC065AA7ED0}"/>
                </a:ext>
              </a:extLst>
            </p:cNvPr>
            <p:cNvCxnSpPr/>
            <p:nvPr/>
          </p:nvCxnSpPr>
          <p:spPr>
            <a:xfrm>
              <a:off x="1686100" y="1289575"/>
              <a:ext cx="2034900" cy="30600"/>
            </a:xfrm>
            <a:prstGeom prst="straightConnector1">
              <a:avLst/>
            </a:prstGeom>
            <a:noFill/>
            <a:ln w="9525" cap="flat" cmpd="sng">
              <a:solidFill>
                <a:srgbClr val="000000"/>
              </a:solidFill>
              <a:prstDash val="solid"/>
              <a:round/>
              <a:headEnd type="none" w="med" len="med"/>
              <a:tailEnd type="none" w="med" len="med"/>
            </a:ln>
          </p:spPr>
        </p:cxnSp>
        <p:sp>
          <p:nvSpPr>
            <p:cNvPr id="31" name="Text Box 281791216">
              <a:extLst>
                <a:ext uri="{FF2B5EF4-FFF2-40B4-BE49-F238E27FC236}">
                  <a16:creationId xmlns:a16="http://schemas.microsoft.com/office/drawing/2014/main" id="{A97E8AFD-D5EB-E888-2C70-C9FA8F549E2E}"/>
                </a:ext>
              </a:extLst>
            </p:cNvPr>
            <p:cNvSpPr txBox="1"/>
            <p:nvPr/>
          </p:nvSpPr>
          <p:spPr>
            <a:xfrm>
              <a:off x="3301200" y="-61350"/>
              <a:ext cx="255600" cy="174900"/>
            </a:xfrm>
            <a:prstGeom prst="rect">
              <a:avLst/>
            </a:prstGeom>
            <a:noFill/>
            <a:ln>
              <a:noFill/>
            </a:ln>
          </p:spPr>
          <p:txBody>
            <a:bodyPr spcFirstLastPara="1" wrap="square" lIns="91425" tIns="91425" rIns="91425" bIns="91425" anchor="t" anchorCtr="0">
              <a:noAutofit/>
            </a:bodyPr>
            <a:lstStyle/>
            <a:p>
              <a:pPr marL="0" marR="0">
                <a:lnSpc>
                  <a:spcPct val="115000"/>
                </a:lnSpc>
                <a:spcAft>
                  <a:spcPts val="800"/>
                </a:spcAft>
                <a:buNone/>
              </a:pPr>
              <a:r>
                <a:rPr lang="en-US" sz="1400">
                  <a:solidFill>
                    <a:srgbClr val="000000"/>
                  </a:solidFill>
                  <a:effectLst/>
                  <a:latin typeface="Arial" panose="020B0604020202020204" pitchFamily="34" charset="0"/>
                  <a:ea typeface="Arial" panose="020B0604020202020204" pitchFamily="34" charset="0"/>
                  <a:cs typeface="Aptos" panose="020B0004020202020204" pitchFamily="34" charset="0"/>
                </a:rPr>
                <a:t>A</a:t>
              </a:r>
              <a:endParaRPr lang="en-US" sz="1200">
                <a:effectLst/>
                <a:latin typeface="Aptos" panose="020B0004020202020204" pitchFamily="34" charset="0"/>
                <a:ea typeface="Aptos" panose="020B0004020202020204" pitchFamily="34" charset="0"/>
                <a:cs typeface="Aptos" panose="020B0004020202020204" pitchFamily="34" charset="0"/>
              </a:endParaRPr>
            </a:p>
          </p:txBody>
        </p:sp>
        <p:sp>
          <p:nvSpPr>
            <p:cNvPr id="32" name="Text Box 435698970">
              <a:extLst>
                <a:ext uri="{FF2B5EF4-FFF2-40B4-BE49-F238E27FC236}">
                  <a16:creationId xmlns:a16="http://schemas.microsoft.com/office/drawing/2014/main" id="{87A84E66-FB5D-5F07-8EA8-FCCB1655EE1D}"/>
                </a:ext>
              </a:extLst>
            </p:cNvPr>
            <p:cNvSpPr txBox="1"/>
            <p:nvPr/>
          </p:nvSpPr>
          <p:spPr>
            <a:xfrm>
              <a:off x="1379325" y="1217425"/>
              <a:ext cx="255600" cy="174900"/>
            </a:xfrm>
            <a:prstGeom prst="rect">
              <a:avLst/>
            </a:prstGeom>
            <a:noFill/>
            <a:ln>
              <a:noFill/>
            </a:ln>
          </p:spPr>
          <p:txBody>
            <a:bodyPr spcFirstLastPara="1" wrap="square" lIns="91425" tIns="91425" rIns="91425" bIns="91425" anchor="t" anchorCtr="0">
              <a:noAutofit/>
            </a:bodyPr>
            <a:lstStyle/>
            <a:p>
              <a:pPr marL="0" marR="0">
                <a:lnSpc>
                  <a:spcPct val="115000"/>
                </a:lnSpc>
                <a:spcAft>
                  <a:spcPts val="800"/>
                </a:spcAft>
                <a:buNone/>
              </a:pPr>
              <a:r>
                <a:rPr lang="en-US" sz="1400">
                  <a:solidFill>
                    <a:srgbClr val="000000"/>
                  </a:solidFill>
                  <a:effectLst/>
                  <a:latin typeface="Arial" panose="020B0604020202020204" pitchFamily="34" charset="0"/>
                  <a:ea typeface="Arial" panose="020B0604020202020204" pitchFamily="34" charset="0"/>
                  <a:cs typeface="Aptos" panose="020B0004020202020204" pitchFamily="34" charset="0"/>
                </a:rPr>
                <a:t>B</a:t>
              </a:r>
              <a:endParaRPr lang="en-US" sz="1200">
                <a:effectLst/>
                <a:latin typeface="Aptos" panose="020B0004020202020204" pitchFamily="34" charset="0"/>
                <a:ea typeface="Aptos" panose="020B0004020202020204" pitchFamily="34" charset="0"/>
                <a:cs typeface="Aptos" panose="020B0004020202020204" pitchFamily="34" charset="0"/>
              </a:endParaRPr>
            </a:p>
          </p:txBody>
        </p:sp>
        <p:sp>
          <p:nvSpPr>
            <p:cNvPr id="33" name="Text Box 1154323601">
              <a:extLst>
                <a:ext uri="{FF2B5EF4-FFF2-40B4-BE49-F238E27FC236}">
                  <a16:creationId xmlns:a16="http://schemas.microsoft.com/office/drawing/2014/main" id="{545D9494-F222-B9F1-7DDD-DD2F87C9DD26}"/>
                </a:ext>
              </a:extLst>
            </p:cNvPr>
            <p:cNvSpPr txBox="1"/>
            <p:nvPr/>
          </p:nvSpPr>
          <p:spPr>
            <a:xfrm>
              <a:off x="3792625" y="1228225"/>
              <a:ext cx="255600" cy="265800"/>
            </a:xfrm>
            <a:prstGeom prst="rect">
              <a:avLst/>
            </a:prstGeom>
            <a:noFill/>
            <a:ln>
              <a:noFill/>
            </a:ln>
          </p:spPr>
          <p:txBody>
            <a:bodyPr spcFirstLastPara="1" wrap="square" lIns="91425" tIns="91425" rIns="91425" bIns="91425" anchor="t" anchorCtr="0">
              <a:noAutofit/>
            </a:bodyPr>
            <a:lstStyle/>
            <a:p>
              <a:pPr marL="0" marR="0">
                <a:lnSpc>
                  <a:spcPct val="115000"/>
                </a:lnSpc>
                <a:spcAft>
                  <a:spcPts val="800"/>
                </a:spcAft>
                <a:buNone/>
              </a:pPr>
              <a:r>
                <a:rPr lang="en-US" sz="1400">
                  <a:solidFill>
                    <a:srgbClr val="000000"/>
                  </a:solidFill>
                  <a:effectLst/>
                  <a:latin typeface="Arial" panose="020B0604020202020204" pitchFamily="34" charset="0"/>
                  <a:ea typeface="Arial" panose="020B0604020202020204" pitchFamily="34" charset="0"/>
                  <a:cs typeface="Aptos" panose="020B0004020202020204" pitchFamily="34" charset="0"/>
                </a:rPr>
                <a:t>C</a:t>
              </a:r>
              <a:endParaRPr lang="en-US" sz="1200">
                <a:effectLst/>
                <a:latin typeface="Aptos" panose="020B0004020202020204" pitchFamily="34" charset="0"/>
                <a:ea typeface="Aptos" panose="020B0004020202020204" pitchFamily="34" charset="0"/>
                <a:cs typeface="Aptos" panose="020B0004020202020204" pitchFamily="34" charset="0"/>
              </a:endParaRPr>
            </a:p>
          </p:txBody>
        </p:sp>
        <p:sp>
          <p:nvSpPr>
            <p:cNvPr id="34" name="Text Box 356885148">
              <a:extLst>
                <a:ext uri="{FF2B5EF4-FFF2-40B4-BE49-F238E27FC236}">
                  <a16:creationId xmlns:a16="http://schemas.microsoft.com/office/drawing/2014/main" id="{3AE2BE7C-68A8-834D-E077-05BB24F11F13}"/>
                </a:ext>
              </a:extLst>
            </p:cNvPr>
            <p:cNvSpPr txBox="1"/>
            <p:nvPr/>
          </p:nvSpPr>
          <p:spPr>
            <a:xfrm>
              <a:off x="3152774" y="330934"/>
              <a:ext cx="449841" cy="1311324"/>
            </a:xfrm>
            <a:prstGeom prst="rect">
              <a:avLst/>
            </a:prstGeom>
            <a:noFill/>
            <a:ln>
              <a:noFill/>
            </a:ln>
          </p:spPr>
          <p:txBody>
            <a:bodyPr spcFirstLastPara="1" wrap="square" lIns="91425" tIns="91425" rIns="91425" bIns="91425" anchor="t" anchorCtr="0">
              <a:spAutoFit/>
            </a:bodyPr>
            <a:lstStyle/>
            <a:p>
              <a:pPr marL="0" marR="0" algn="l" rtl="1">
                <a:lnSpc>
                  <a:spcPct val="115000"/>
                </a:lnSpc>
                <a:spcAft>
                  <a:spcPts val="800"/>
                </a:spcAft>
                <a:buNone/>
              </a:pPr>
              <a:r>
                <a:rPr lang="en-US" sz="1100" b="1">
                  <a:solidFill>
                    <a:srgbClr val="000000"/>
                  </a:solidFill>
                  <a:effectLst/>
                  <a:latin typeface="Assistant" pitchFamily="2" charset="-79"/>
                  <a:ea typeface="Assistant" pitchFamily="2" charset="-79"/>
                  <a:cs typeface="Aptos" panose="020B0004020202020204" pitchFamily="34" charset="0"/>
                </a:rPr>
                <a:t>60°</a:t>
              </a:r>
              <a:endParaRPr lang="en-US" sz="1200">
                <a:effectLst/>
                <a:latin typeface="Aptos" panose="020B0004020202020204" pitchFamily="34" charset="0"/>
                <a:ea typeface="Aptos" panose="020B0004020202020204" pitchFamily="34" charset="0"/>
                <a:cs typeface="Aptos" panose="020B0004020202020204" pitchFamily="34" charset="0"/>
              </a:endParaRPr>
            </a:p>
          </p:txBody>
        </p:sp>
      </p:grpSp>
      <p:sp>
        <p:nvSpPr>
          <p:cNvPr id="36" name="מלבן 7">
            <a:extLst>
              <a:ext uri="{FF2B5EF4-FFF2-40B4-BE49-F238E27FC236}">
                <a16:creationId xmlns:a16="http://schemas.microsoft.com/office/drawing/2014/main" id="{6C67A3D7-EDBE-5A3B-CDE4-5753D448936C}"/>
              </a:ext>
            </a:extLst>
          </p:cNvPr>
          <p:cNvSpPr/>
          <p:nvPr/>
        </p:nvSpPr>
        <p:spPr>
          <a:xfrm>
            <a:off x="11896440" y="332438"/>
            <a:ext cx="45719" cy="5474677"/>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LID4096"/>
          </a:p>
        </p:txBody>
      </p:sp>
      <p:sp>
        <p:nvSpPr>
          <p:cNvPr id="38" name="מלבן 8">
            <a:extLst>
              <a:ext uri="{FF2B5EF4-FFF2-40B4-BE49-F238E27FC236}">
                <a16:creationId xmlns:a16="http://schemas.microsoft.com/office/drawing/2014/main" id="{5103B68E-153A-2947-F21C-48596AFE8002}"/>
              </a:ext>
            </a:extLst>
          </p:cNvPr>
          <p:cNvSpPr/>
          <p:nvPr/>
        </p:nvSpPr>
        <p:spPr>
          <a:xfrm>
            <a:off x="11896440" y="332438"/>
            <a:ext cx="45719" cy="3526971"/>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LID4096"/>
          </a:p>
        </p:txBody>
      </p:sp>
    </p:spTree>
    <p:custDataLst>
      <p:tags r:id="rId1"/>
    </p:custDataLst>
    <p:extLst>
      <p:ext uri="{BB962C8B-B14F-4D97-AF65-F5344CB8AC3E}">
        <p14:creationId xmlns:p14="http://schemas.microsoft.com/office/powerpoint/2010/main" val="170258937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4E2A45-1D61-EFFF-C900-568482CA7077}"/>
            </a:ext>
          </a:extLst>
        </p:cNvPr>
        <p:cNvGrpSpPr/>
        <p:nvPr/>
      </p:nvGrpSpPr>
      <p:grpSpPr>
        <a:xfrm>
          <a:off x="0" y="0"/>
          <a:ext cx="0" cy="0"/>
          <a:chOff x="0" y="0"/>
          <a:chExt cx="0" cy="0"/>
        </a:xfrm>
      </p:grpSpPr>
      <p:cxnSp>
        <p:nvCxnSpPr>
          <p:cNvPr id="4" name="מחבר ישר 3">
            <a:extLst>
              <a:ext uri="{FF2B5EF4-FFF2-40B4-BE49-F238E27FC236}">
                <a16:creationId xmlns:a16="http://schemas.microsoft.com/office/drawing/2014/main" id="{E4EB6F67-2CF3-68E8-76CD-3ACC961EACD1}"/>
              </a:ext>
            </a:extLst>
          </p:cNvPr>
          <p:cNvCxnSpPr>
            <a:cxnSpLocks/>
          </p:cNvCxnSpPr>
          <p:nvPr/>
        </p:nvCxnSpPr>
        <p:spPr>
          <a:xfrm>
            <a:off x="0" y="6079252"/>
            <a:ext cx="12192000" cy="0"/>
          </a:xfrm>
          <a:prstGeom prst="line">
            <a:avLst/>
          </a:prstGeom>
          <a:ln>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5" name="מלבן: פינות מעוגלות 4">
            <a:extLst>
              <a:ext uri="{FF2B5EF4-FFF2-40B4-BE49-F238E27FC236}">
                <a16:creationId xmlns:a16="http://schemas.microsoft.com/office/drawing/2014/main" id="{00DDFE76-FCC3-7206-A587-4E662A296746}"/>
              </a:ext>
            </a:extLst>
          </p:cNvPr>
          <p:cNvSpPr/>
          <p:nvPr/>
        </p:nvSpPr>
        <p:spPr>
          <a:xfrm>
            <a:off x="268356" y="6182143"/>
            <a:ext cx="1798983" cy="506891"/>
          </a:xfrm>
          <a:prstGeom prst="roundRect">
            <a:avLst>
              <a:gd name="adj" fmla="val 50000"/>
            </a:avLst>
          </a:prstGeom>
          <a:solidFill>
            <a:schemeClr val="bg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he-IL"/>
              <a:t>צדקתי?</a:t>
            </a:r>
            <a:endParaRPr lang="LID4096"/>
          </a:p>
        </p:txBody>
      </p:sp>
      <p:sp>
        <p:nvSpPr>
          <p:cNvPr id="6" name="תיבת טקסט 5">
            <a:extLst>
              <a:ext uri="{FF2B5EF4-FFF2-40B4-BE49-F238E27FC236}">
                <a16:creationId xmlns:a16="http://schemas.microsoft.com/office/drawing/2014/main" id="{09B77751-D308-F6B5-8C6C-96DC228DC646}"/>
              </a:ext>
            </a:extLst>
          </p:cNvPr>
          <p:cNvSpPr txBox="1"/>
          <p:nvPr/>
        </p:nvSpPr>
        <p:spPr>
          <a:xfrm>
            <a:off x="4343400" y="1156726"/>
            <a:ext cx="7224123" cy="400110"/>
          </a:xfrm>
          <a:prstGeom prst="rect">
            <a:avLst/>
          </a:prstGeom>
          <a:noFill/>
        </p:spPr>
        <p:txBody>
          <a:bodyPr wrap="square" rtlCol="0">
            <a:spAutoFit/>
          </a:bodyPr>
          <a:lstStyle/>
          <a:p>
            <a:r>
              <a:rPr lang="he-IL" sz="2000" b="1">
                <a:solidFill>
                  <a:srgbClr val="00B0F0"/>
                </a:solidFill>
                <a:latin typeface="Assistant" pitchFamily="2" charset="-79"/>
                <a:cs typeface="Assistant" pitchFamily="2" charset="-79"/>
              </a:rPr>
              <a:t>א. סמנו את הגודל המדויק של שתי הזוויות האחרות במבנה המתוכנן:</a:t>
            </a:r>
          </a:p>
        </p:txBody>
      </p:sp>
      <p:sp>
        <p:nvSpPr>
          <p:cNvPr id="2" name="מלבן: פינות מעוגלות 1">
            <a:extLst>
              <a:ext uri="{FF2B5EF4-FFF2-40B4-BE49-F238E27FC236}">
                <a16:creationId xmlns:a16="http://schemas.microsoft.com/office/drawing/2014/main" id="{2634EFF8-390B-7B6A-CC4C-0AAF6756A919}"/>
              </a:ext>
            </a:extLst>
          </p:cNvPr>
          <p:cNvSpPr/>
          <p:nvPr/>
        </p:nvSpPr>
        <p:spPr>
          <a:xfrm>
            <a:off x="2179982" y="6182142"/>
            <a:ext cx="2481470" cy="506891"/>
          </a:xfrm>
          <a:prstGeom prst="roundRect">
            <a:avLst>
              <a:gd name="adj" fmla="val 50000"/>
            </a:avLst>
          </a:prstGeom>
          <a:noFill/>
          <a:ln>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he-IL">
                <a:solidFill>
                  <a:srgbClr val="00B0F0"/>
                </a:solidFill>
              </a:rPr>
              <a:t>     אפשר רמז?</a:t>
            </a:r>
            <a:endParaRPr lang="LID4096">
              <a:solidFill>
                <a:srgbClr val="00B0F0"/>
              </a:solidFill>
            </a:endParaRPr>
          </a:p>
        </p:txBody>
      </p:sp>
      <p:pic>
        <p:nvPicPr>
          <p:cNvPr id="12" name="גרפיקה 11" descr="נורת חשמל וגלגל שיניים עם מילוי מלא">
            <a:extLst>
              <a:ext uri="{FF2B5EF4-FFF2-40B4-BE49-F238E27FC236}">
                <a16:creationId xmlns:a16="http://schemas.microsoft.com/office/drawing/2014/main" id="{05E1B17F-725D-0E66-DA02-2C2FD33A02D7}"/>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831910" y="6266545"/>
            <a:ext cx="338083" cy="338083"/>
          </a:xfrm>
          <a:prstGeom prst="rect">
            <a:avLst/>
          </a:prstGeom>
        </p:spPr>
      </p:pic>
      <p:pic>
        <p:nvPicPr>
          <p:cNvPr id="3" name="תמונה 2">
            <a:extLst>
              <a:ext uri="{FF2B5EF4-FFF2-40B4-BE49-F238E27FC236}">
                <a16:creationId xmlns:a16="http://schemas.microsoft.com/office/drawing/2014/main" id="{DF50FAC2-C004-7BAA-8B49-B27775EC9E17}"/>
              </a:ext>
            </a:extLst>
          </p:cNvPr>
          <p:cNvPicPr>
            <a:picLocks noChangeAspect="1"/>
          </p:cNvPicPr>
          <p:nvPr/>
        </p:nvPicPr>
        <p:blipFill>
          <a:blip r:embed="rId5">
            <a:extLst>
              <a:ext uri="{28A0092B-C50C-407E-A947-70E740481C1C}">
                <a14:useLocalDpi xmlns:a14="http://schemas.microsoft.com/office/drawing/2010/main"/>
              </a:ext>
            </a:extLst>
          </a:blip>
          <a:stretch>
            <a:fillRect/>
          </a:stretch>
        </p:blipFill>
        <p:spPr>
          <a:xfrm>
            <a:off x="0" y="57121"/>
            <a:ext cx="933869" cy="721626"/>
          </a:xfrm>
          <a:prstGeom prst="rect">
            <a:avLst/>
          </a:prstGeom>
        </p:spPr>
      </p:pic>
      <p:sp>
        <p:nvSpPr>
          <p:cNvPr id="7" name="מלבן: פינות מעוגלות 6">
            <a:extLst>
              <a:ext uri="{FF2B5EF4-FFF2-40B4-BE49-F238E27FC236}">
                <a16:creationId xmlns:a16="http://schemas.microsoft.com/office/drawing/2014/main" id="{22D099AD-2009-78B8-A602-11DAA3DA33F5}"/>
              </a:ext>
            </a:extLst>
          </p:cNvPr>
          <p:cNvSpPr/>
          <p:nvPr/>
        </p:nvSpPr>
        <p:spPr>
          <a:xfrm>
            <a:off x="10244695" y="6193485"/>
            <a:ext cx="1798983" cy="506891"/>
          </a:xfrm>
          <a:prstGeom prst="roundRect">
            <a:avLst>
              <a:gd name="adj" fmla="val 50000"/>
            </a:avLst>
          </a:prstGeom>
          <a:noFill/>
          <a:ln>
            <a:solidFill>
              <a:srgbClr val="019DE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he-IL">
                <a:solidFill>
                  <a:srgbClr val="019DE5"/>
                </a:solidFill>
                <a:latin typeface="Assistant" pitchFamily="2" charset="-79"/>
                <a:cs typeface="Assistant" pitchFamily="2" charset="-79"/>
              </a:rPr>
              <a:t>חזרה</a:t>
            </a:r>
            <a:endParaRPr lang="LID4096">
              <a:solidFill>
                <a:srgbClr val="019DE5"/>
              </a:solidFill>
              <a:latin typeface="Assistant" pitchFamily="2" charset="-79"/>
              <a:cs typeface="Assistant" pitchFamily="2" charset="-79"/>
            </a:endParaRPr>
          </a:p>
        </p:txBody>
      </p:sp>
      <p:pic>
        <p:nvPicPr>
          <p:cNvPr id="9" name="תמונה 8">
            <a:extLst>
              <a:ext uri="{FF2B5EF4-FFF2-40B4-BE49-F238E27FC236}">
                <a16:creationId xmlns:a16="http://schemas.microsoft.com/office/drawing/2014/main" id="{ADB67B04-CC98-B23C-9CA8-77E83CB1A356}"/>
              </a:ext>
            </a:extLst>
          </p:cNvPr>
          <p:cNvPicPr>
            <a:picLocks noChangeAspect="1"/>
          </p:cNvPicPr>
          <p:nvPr/>
        </p:nvPicPr>
        <p:blipFill>
          <a:blip r:embed="rId6">
            <a:extLst>
              <a:ext uri="{28A0092B-C50C-407E-A947-70E740481C1C}">
                <a14:useLocalDpi xmlns:a14="http://schemas.microsoft.com/office/drawing/2010/main"/>
              </a:ext>
            </a:extLst>
          </a:blip>
          <a:stretch>
            <a:fillRect/>
          </a:stretch>
        </p:blipFill>
        <p:spPr>
          <a:xfrm>
            <a:off x="2803561" y="417934"/>
            <a:ext cx="7847619" cy="558730"/>
          </a:xfrm>
          <a:prstGeom prst="rect">
            <a:avLst/>
          </a:prstGeom>
        </p:spPr>
      </p:pic>
      <p:sp>
        <p:nvSpPr>
          <p:cNvPr id="11" name="מלבן 10">
            <a:extLst>
              <a:ext uri="{FF2B5EF4-FFF2-40B4-BE49-F238E27FC236}">
                <a16:creationId xmlns:a16="http://schemas.microsoft.com/office/drawing/2014/main" id="{E1DEB8A1-4B35-80E5-CAA0-9F2DDA18E317}"/>
              </a:ext>
            </a:extLst>
          </p:cNvPr>
          <p:cNvSpPr/>
          <p:nvPr/>
        </p:nvSpPr>
        <p:spPr>
          <a:xfrm>
            <a:off x="-115414" y="-1103086"/>
            <a:ext cx="2295396" cy="976083"/>
          </a:xfrm>
          <a:prstGeom prst="rect">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he-IL" sz="1800" b="1" i="0" u="none" strike="noStrike" kern="1200" cap="none" spc="0" normalizeH="0" baseline="0" noProof="0">
                <a:ln>
                  <a:noFill/>
                </a:ln>
                <a:solidFill>
                  <a:prstClr val="black"/>
                </a:solidFill>
                <a:effectLst/>
                <a:uLnTx/>
                <a:uFillTx/>
                <a:latin typeface="Assistant" pitchFamily="2" charset="-79"/>
                <a:ea typeface="+mn-ea"/>
                <a:cs typeface="Assistant" pitchFamily="2" charset="-79"/>
                <a:hlinkClick r:id="rId7"/>
              </a:rPr>
              <a:t>רמת חשיבה</a:t>
            </a:r>
            <a:endParaRPr kumimoji="0" lang="he-IL" sz="1800" b="1" i="0" u="none" strike="noStrike" kern="1200" cap="none" spc="0" normalizeH="0" baseline="0" noProof="0">
              <a:ln>
                <a:noFill/>
              </a:ln>
              <a:solidFill>
                <a:prstClr val="black"/>
              </a:solidFill>
              <a:effectLst/>
              <a:uLnTx/>
              <a:uFillTx/>
              <a:latin typeface="Assistant" pitchFamily="2" charset="-79"/>
              <a:ea typeface="+mn-ea"/>
              <a:cs typeface="Assistant" pitchFamily="2" charset="-79"/>
            </a:endParaRPr>
          </a:p>
          <a:p>
            <a:pPr marL="285750" marR="0" lvl="0" indent="-285750" defTabSz="91440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he-IL" sz="1800" i="0" u="none" strike="noStrike" kern="1200" cap="none" spc="0" normalizeH="0" baseline="0" noProof="0">
                <a:ln>
                  <a:noFill/>
                </a:ln>
                <a:solidFill>
                  <a:prstClr val="black"/>
                </a:solidFill>
                <a:effectLst/>
                <a:uLnTx/>
                <a:uFillTx/>
                <a:latin typeface="Assistant" pitchFamily="2" charset="-79"/>
                <a:ea typeface="+mn-ea"/>
                <a:cs typeface="Assistant" pitchFamily="2" charset="-79"/>
              </a:rPr>
              <a:t>טקסט </a:t>
            </a:r>
          </a:p>
          <a:p>
            <a:pPr marL="285750" marR="0" lvl="0" indent="-285750" defTabSz="914400" eaLnBrk="1" fontAlgn="auto" latinLnBrk="0" hangingPunct="1">
              <a:lnSpc>
                <a:spcPct val="100000"/>
              </a:lnSpc>
              <a:spcBef>
                <a:spcPts val="0"/>
              </a:spcBef>
              <a:spcAft>
                <a:spcPts val="0"/>
              </a:spcAft>
              <a:buClrTx/>
              <a:buSzTx/>
              <a:buFont typeface="Arial" panose="020B0604020202020204" pitchFamily="34" charset="0"/>
              <a:buChar char="•"/>
              <a:tabLst/>
              <a:defRPr/>
            </a:pPr>
            <a:r>
              <a:rPr lang="he-IL">
                <a:solidFill>
                  <a:prstClr val="black"/>
                </a:solidFill>
                <a:latin typeface="Assistant" pitchFamily="2" charset="-79"/>
                <a:cs typeface="Assistant" pitchFamily="2" charset="-79"/>
              </a:rPr>
              <a:t>טקסט</a:t>
            </a:r>
            <a:endParaRPr kumimoji="0" lang="he-IL" sz="1800" i="0" u="none" strike="noStrike" kern="1200" cap="none" spc="0" normalizeH="0" baseline="0" noProof="0">
              <a:ln>
                <a:noFill/>
              </a:ln>
              <a:solidFill>
                <a:prstClr val="black"/>
              </a:solidFill>
              <a:effectLst/>
              <a:uLnTx/>
              <a:uFillTx/>
              <a:latin typeface="Assistant" pitchFamily="2" charset="-79"/>
              <a:ea typeface="+mn-ea"/>
              <a:cs typeface="Assistant" pitchFamily="2" charset="-79"/>
            </a:endParaRPr>
          </a:p>
        </p:txBody>
      </p:sp>
      <p:grpSp>
        <p:nvGrpSpPr>
          <p:cNvPr id="15" name="קבוצה 14">
            <a:extLst>
              <a:ext uri="{FF2B5EF4-FFF2-40B4-BE49-F238E27FC236}">
                <a16:creationId xmlns:a16="http://schemas.microsoft.com/office/drawing/2014/main" id="{266858D0-F7A8-D4CA-DB85-52550C0A41D3}"/>
              </a:ext>
            </a:extLst>
          </p:cNvPr>
          <p:cNvGrpSpPr/>
          <p:nvPr/>
        </p:nvGrpSpPr>
        <p:grpSpPr>
          <a:xfrm>
            <a:off x="-9123904" y="-27124"/>
            <a:ext cx="9123904" cy="3818372"/>
            <a:chOff x="-9229411" y="26138"/>
            <a:chExt cx="9123904" cy="3818372"/>
          </a:xfrm>
        </p:grpSpPr>
        <p:sp>
          <p:nvSpPr>
            <p:cNvPr id="17" name="מלבן: פינות מעוגלות 16">
              <a:extLst>
                <a:ext uri="{FF2B5EF4-FFF2-40B4-BE49-F238E27FC236}">
                  <a16:creationId xmlns:a16="http://schemas.microsoft.com/office/drawing/2014/main" id="{F9747B11-C441-473A-4E1E-7DCC8B24F93C}"/>
                </a:ext>
              </a:extLst>
            </p:cNvPr>
            <p:cNvSpPr/>
            <p:nvPr/>
          </p:nvSpPr>
          <p:spPr>
            <a:xfrm>
              <a:off x="-9229411" y="26138"/>
              <a:ext cx="9123904" cy="3818372"/>
            </a:xfrm>
            <a:prstGeom prst="roundRect">
              <a:avLst>
                <a:gd name="adj" fmla="val 8509"/>
              </a:avLst>
            </a:prstGeom>
            <a:solidFill>
              <a:srgbClr val="00B0F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LID4096"/>
            </a:p>
          </p:txBody>
        </p:sp>
        <p:sp>
          <p:nvSpPr>
            <p:cNvPr id="27" name="תיבת טקסט 26">
              <a:extLst>
                <a:ext uri="{FF2B5EF4-FFF2-40B4-BE49-F238E27FC236}">
                  <a16:creationId xmlns:a16="http://schemas.microsoft.com/office/drawing/2014/main" id="{D6F5E38B-9C44-26D6-8F88-857D60C2848D}"/>
                </a:ext>
              </a:extLst>
            </p:cNvPr>
            <p:cNvSpPr txBox="1"/>
            <p:nvPr/>
          </p:nvSpPr>
          <p:spPr>
            <a:xfrm>
              <a:off x="-7910985" y="474122"/>
              <a:ext cx="6927427" cy="707886"/>
            </a:xfrm>
            <a:prstGeom prst="rect">
              <a:avLst/>
            </a:prstGeom>
            <a:noFill/>
          </p:spPr>
          <p:txBody>
            <a:bodyPr wrap="square" rtlCol="0">
              <a:spAutoFit/>
            </a:bodyPr>
            <a:lstStyle/>
            <a:p>
              <a:r>
                <a:rPr lang="he-IL" sz="2000">
                  <a:solidFill>
                    <a:schemeClr val="bg1"/>
                  </a:solidFill>
                  <a:latin typeface="Assistant" pitchFamily="2" charset="-79"/>
                  <a:cs typeface="Assistant" pitchFamily="2" charset="-79"/>
                </a:rPr>
                <a:t>חישבו, מהו סכום הזוויות הכולל של המשולש? החסירו ממנו את הזווית הידועה של 60 מעלות וחישבו.</a:t>
              </a:r>
              <a:endParaRPr lang="LID4096" sz="2000">
                <a:solidFill>
                  <a:schemeClr val="bg1"/>
                </a:solidFill>
                <a:latin typeface="Assistant" pitchFamily="2" charset="-79"/>
                <a:cs typeface="Assistant" pitchFamily="2" charset="-79"/>
              </a:endParaRPr>
            </a:p>
          </p:txBody>
        </p:sp>
        <p:sp>
          <p:nvSpPr>
            <p:cNvPr id="28" name="מלבן: פינות מעוגלות 27">
              <a:extLst>
                <a:ext uri="{FF2B5EF4-FFF2-40B4-BE49-F238E27FC236}">
                  <a16:creationId xmlns:a16="http://schemas.microsoft.com/office/drawing/2014/main" id="{8BFB8DFC-7C79-A453-39CC-0BCC68B9EB50}"/>
                </a:ext>
              </a:extLst>
            </p:cNvPr>
            <p:cNvSpPr/>
            <p:nvPr/>
          </p:nvSpPr>
          <p:spPr>
            <a:xfrm>
              <a:off x="-5861703" y="3135618"/>
              <a:ext cx="1798983" cy="506891"/>
            </a:xfrm>
            <a:prstGeom prst="roundRect">
              <a:avLst>
                <a:gd name="adj" fmla="val 50000"/>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he-IL">
                  <a:solidFill>
                    <a:schemeClr val="tx1"/>
                  </a:solidFill>
                  <a:latin typeface="Assistant" pitchFamily="2" charset="-79"/>
                  <a:cs typeface="Assistant" pitchFamily="2" charset="-79"/>
                </a:rPr>
                <a:t>חזרה לשאלה</a:t>
              </a:r>
              <a:endParaRPr lang="LID4096">
                <a:solidFill>
                  <a:schemeClr val="tx1"/>
                </a:solidFill>
                <a:latin typeface="Assistant" pitchFamily="2" charset="-79"/>
                <a:cs typeface="Assistant" pitchFamily="2" charset="-79"/>
              </a:endParaRPr>
            </a:p>
          </p:txBody>
        </p:sp>
        <p:pic>
          <p:nvPicPr>
            <p:cNvPr id="29" name="גרפיקה 28" descr="נורת חשמל וגלגל שיניים עם מילוי מלא">
              <a:extLst>
                <a:ext uri="{FF2B5EF4-FFF2-40B4-BE49-F238E27FC236}">
                  <a16:creationId xmlns:a16="http://schemas.microsoft.com/office/drawing/2014/main" id="{28560B23-1B60-1FDA-9260-5C8709288968}"/>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983558" y="489982"/>
              <a:ext cx="338083" cy="338083"/>
            </a:xfrm>
            <a:prstGeom prst="rect">
              <a:avLst/>
            </a:prstGeom>
          </p:spPr>
        </p:pic>
      </p:grpSp>
      <mc:AlternateContent xmlns:mc="http://schemas.openxmlformats.org/markup-compatibility/2006" xmlns:a14="http://schemas.microsoft.com/office/drawing/2010/main">
        <mc:Choice Requires="a14">
          <p:sp>
            <p:nvSpPr>
              <p:cNvPr id="25" name="מלבן: פינות מעוגלות 9">
                <a:extLst>
                  <a:ext uri="{FF2B5EF4-FFF2-40B4-BE49-F238E27FC236}">
                    <a16:creationId xmlns:a16="http://schemas.microsoft.com/office/drawing/2014/main" id="{EF21B0D8-E81A-E78D-F432-B693C3B6FDF8}"/>
                  </a:ext>
                </a:extLst>
              </p:cNvPr>
              <p:cNvSpPr/>
              <p:nvPr/>
            </p:nvSpPr>
            <p:spPr>
              <a:xfrm>
                <a:off x="-5314887" y="4034705"/>
                <a:ext cx="4906656" cy="4463680"/>
              </a:xfrm>
              <a:prstGeom prst="roundRect">
                <a:avLst>
                  <a:gd name="adj" fmla="val 1647"/>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he-IL" sz="2000" b="1">
                    <a:solidFill>
                      <a:schemeClr val="tx1"/>
                    </a:solidFill>
                    <a:latin typeface="Assistant" pitchFamily="2" charset="-79"/>
                    <a:cs typeface="Assistant" pitchFamily="2" charset="-79"/>
                  </a:rPr>
                  <a:t>כל הכבוד, צדקתם! / טעיתם. לא נורא, מטעויות לומדים</a:t>
                </a:r>
              </a:p>
              <a:p>
                <a:r>
                  <a:rPr lang="he-IL">
                    <a:solidFill>
                      <a:schemeClr val="tx1"/>
                    </a:solidFill>
                    <a:latin typeface="Assistant" pitchFamily="2" charset="-79"/>
                    <a:cs typeface="Assistant" pitchFamily="2" charset="-79"/>
                  </a:rPr>
                  <a:t>ידוע כי </a:t>
                </a:r>
                <a14:m>
                  <m:oMath xmlns:m="http://schemas.openxmlformats.org/officeDocument/2006/math">
                    <m:r>
                      <a:rPr lang="en-US" b="0" i="1">
                        <a:solidFill>
                          <a:schemeClr val="tx1"/>
                        </a:solidFill>
                        <a:latin typeface="Cambria Math" panose="02040503050406030204" pitchFamily="18" charset="0"/>
                      </a:rPr>
                      <m:t>∢</m:t>
                    </m:r>
                    <m:r>
                      <a:rPr lang="en-US" b="0" i="1">
                        <a:solidFill>
                          <a:schemeClr val="tx1"/>
                        </a:solidFill>
                        <a:latin typeface="Cambria Math" panose="02040503050406030204" pitchFamily="18" charset="0"/>
                      </a:rPr>
                      <m:t>𝐵𝐴𝐶</m:t>
                    </m:r>
                    <m:r>
                      <a:rPr lang="en-US" b="0" i="1">
                        <a:solidFill>
                          <a:schemeClr val="tx1"/>
                        </a:solidFill>
                        <a:latin typeface="Cambria Math" panose="02040503050406030204" pitchFamily="18" charset="0"/>
                      </a:rPr>
                      <m:t>=60°</m:t>
                    </m:r>
                  </m:oMath>
                </a14:m>
                <a:r>
                  <a:rPr lang="he-IL">
                    <a:solidFill>
                      <a:schemeClr val="tx1"/>
                    </a:solidFill>
                    <a:latin typeface="Assistant" pitchFamily="2" charset="-79"/>
                    <a:cs typeface="Assistant" pitchFamily="2" charset="-79"/>
                  </a:rPr>
                  <a:t> .</a:t>
                </a:r>
                <a:endParaRPr lang="en-US">
                  <a:solidFill>
                    <a:schemeClr val="tx1"/>
                  </a:solidFill>
                  <a:latin typeface="Assistant" pitchFamily="2" charset="-79"/>
                  <a:cs typeface="Assistant" pitchFamily="2" charset="-79"/>
                </a:endParaRPr>
              </a:p>
              <a:p>
                <a:r>
                  <a:rPr lang="he-IL">
                    <a:solidFill>
                      <a:schemeClr val="tx1"/>
                    </a:solidFill>
                    <a:latin typeface="Assistant" pitchFamily="2" charset="-79"/>
                    <a:cs typeface="Assistant" pitchFamily="2" charset="-79"/>
                  </a:rPr>
                  <a:t>סכום הזוויות במשולש הוא </a:t>
                </a:r>
                <a:r>
                  <a:rPr lang="en-US">
                    <a:solidFill>
                      <a:schemeClr val="tx1"/>
                    </a:solidFill>
                    <a:latin typeface="Assistant" pitchFamily="2" charset="-79"/>
                    <a:cs typeface="Assistant" pitchFamily="2" charset="-79"/>
                  </a:rPr>
                  <a:t>180</a:t>
                </a:r>
                <a:r>
                  <a:rPr lang="en-US">
                    <a:solidFill>
                      <a:schemeClr val="tx1"/>
                    </a:solidFill>
                  </a:rPr>
                  <a:t> </a:t>
                </a:r>
                <a14:m>
                  <m:oMath xmlns:m="http://schemas.openxmlformats.org/officeDocument/2006/math">
                    <m:r>
                      <a:rPr lang="en-US" i="1">
                        <a:solidFill>
                          <a:schemeClr val="tx1"/>
                        </a:solidFill>
                        <a:latin typeface="Cambria Math" panose="02040503050406030204" pitchFamily="18" charset="0"/>
                      </a:rPr>
                      <m:t>°</m:t>
                    </m:r>
                  </m:oMath>
                </a14:m>
                <a:endParaRPr lang="en-US">
                  <a:solidFill>
                    <a:schemeClr val="tx1"/>
                  </a:solidFill>
                  <a:latin typeface="Assistant" pitchFamily="2" charset="-79"/>
                  <a:cs typeface="Assistant" pitchFamily="2" charset="-79"/>
                </a:endParaRPr>
              </a:p>
              <a:p>
                <a:pPr/>
                <a:r>
                  <a:rPr lang="he-IL">
                    <a:solidFill>
                      <a:schemeClr val="tx1"/>
                    </a:solidFill>
                    <a:latin typeface="Assistant" pitchFamily="2" charset="-79"/>
                    <a:cs typeface="Assistant" pitchFamily="2" charset="-79"/>
                  </a:rPr>
                  <a:t>לכן גודל שתי הזוויות האחרות של המשולש הוא</a:t>
                </a:r>
                <a:br>
                  <a:rPr lang="en-US">
                    <a:solidFill>
                      <a:schemeClr val="tx1"/>
                    </a:solidFill>
                    <a:latin typeface="Assistant" pitchFamily="2" charset="-79"/>
                    <a:cs typeface="Assistant" pitchFamily="2" charset="-79"/>
                  </a:rPr>
                </a:br>
                <a14:m>
                  <m:oMathPara xmlns:m="http://schemas.openxmlformats.org/officeDocument/2006/math">
                    <m:oMath>
                      <m:r>
                        <a:rPr lang="en-US" b="0" i="1" smtClean="0">
                          <a:solidFill>
                            <a:schemeClr val="tx1"/>
                          </a:solidFill>
                          <a:latin typeface="Cambria Math" panose="02040503050406030204" pitchFamily="18" charset="0"/>
                          <a:cs typeface="Assistant" pitchFamily="2" charset="-79"/>
                        </a:rPr>
                        <m:t>180</m:t>
                      </m:r>
                      <m:r>
                        <a:rPr lang="en-US" b="0" i="1" smtClean="0">
                          <a:solidFill>
                            <a:schemeClr val="tx1"/>
                          </a:solidFill>
                          <a:latin typeface="Cambria Math" panose="02040503050406030204" pitchFamily="18" charset="0"/>
                          <a:ea typeface="Cambria Math" panose="02040503050406030204" pitchFamily="18" charset="0"/>
                          <a:cs typeface="Assistant" pitchFamily="2" charset="-79"/>
                        </a:rPr>
                        <m:t>°</m:t>
                      </m:r>
                      <m:r>
                        <a:rPr lang="en-US" b="0" i="1" smtClean="0">
                          <a:solidFill>
                            <a:schemeClr val="tx1"/>
                          </a:solidFill>
                          <a:latin typeface="Cambria Math" panose="02040503050406030204" pitchFamily="18" charset="0"/>
                          <a:cs typeface="Assistant" pitchFamily="2" charset="-79"/>
                        </a:rPr>
                        <m:t>−60</m:t>
                      </m:r>
                      <m:r>
                        <a:rPr lang="en-US" b="0" i="1" smtClean="0">
                          <a:solidFill>
                            <a:schemeClr val="tx1"/>
                          </a:solidFill>
                          <a:latin typeface="Cambria Math" panose="02040503050406030204" pitchFamily="18" charset="0"/>
                          <a:ea typeface="Cambria Math" panose="02040503050406030204" pitchFamily="18" charset="0"/>
                          <a:cs typeface="Assistant" pitchFamily="2" charset="-79"/>
                        </a:rPr>
                        <m:t>°</m:t>
                      </m:r>
                      <m:r>
                        <a:rPr lang="en-US" i="1" smtClean="0">
                          <a:solidFill>
                            <a:schemeClr val="tx1"/>
                          </a:solidFill>
                          <a:latin typeface="Cambria Math" panose="02040503050406030204" pitchFamily="18" charset="0"/>
                          <a:cs typeface="Assistant" pitchFamily="2" charset="-79"/>
                        </a:rPr>
                        <m:t>=</m:t>
                      </m:r>
                      <m:r>
                        <a:rPr lang="en-US" b="0" i="1" smtClean="0">
                          <a:solidFill>
                            <a:schemeClr val="tx1"/>
                          </a:solidFill>
                          <a:latin typeface="Cambria Math" panose="02040503050406030204" pitchFamily="18" charset="0"/>
                          <a:cs typeface="Assistant" pitchFamily="2" charset="-79"/>
                        </a:rPr>
                        <m:t>120</m:t>
                      </m:r>
                      <m:r>
                        <a:rPr lang="en-US" b="0" i="1" smtClean="0">
                          <a:solidFill>
                            <a:schemeClr val="tx1"/>
                          </a:solidFill>
                          <a:latin typeface="Cambria Math" panose="02040503050406030204" pitchFamily="18" charset="0"/>
                          <a:ea typeface="Cambria Math" panose="02040503050406030204" pitchFamily="18" charset="0"/>
                          <a:cs typeface="Assistant" pitchFamily="2" charset="-79"/>
                        </a:rPr>
                        <m:t>°</m:t>
                      </m:r>
                    </m:oMath>
                  </m:oMathPara>
                </a14:m>
                <a:endParaRPr lang="en-US">
                  <a:solidFill>
                    <a:schemeClr val="tx1"/>
                  </a:solidFill>
                  <a:latin typeface="Assistant" pitchFamily="2" charset="-79"/>
                  <a:cs typeface="Assistant" pitchFamily="2" charset="-79"/>
                </a:endParaRPr>
              </a:p>
              <a:p>
                <a:r>
                  <a:rPr lang="he-IL">
                    <a:solidFill>
                      <a:schemeClr val="tx1"/>
                    </a:solidFill>
                    <a:latin typeface="Assistant" pitchFamily="2" charset="-79"/>
                    <a:cs typeface="Assistant" pitchFamily="2" charset="-79"/>
                  </a:rPr>
                  <a:t>היחס בין שתי הזוויות הוא </a:t>
                </a:r>
                <a:r>
                  <a:rPr lang="en-US">
                    <a:solidFill>
                      <a:schemeClr val="tx1"/>
                    </a:solidFill>
                    <a:latin typeface="Assistant" pitchFamily="2" charset="-79"/>
                    <a:cs typeface="Assistant" pitchFamily="2" charset="-79"/>
                  </a:rPr>
                  <a:t>5 : 3 </a:t>
                </a:r>
                <a:r>
                  <a:rPr lang="he-IL">
                    <a:solidFill>
                      <a:schemeClr val="tx1"/>
                    </a:solidFill>
                    <a:latin typeface="Assistant" pitchFamily="2" charset="-79"/>
                    <a:cs typeface="Assistant" pitchFamily="2" charset="-79"/>
                  </a:rPr>
                  <a:t>.</a:t>
                </a:r>
                <a:endParaRPr lang="en-US">
                  <a:solidFill>
                    <a:schemeClr val="tx1"/>
                  </a:solidFill>
                  <a:latin typeface="Assistant" pitchFamily="2" charset="-79"/>
                  <a:cs typeface="Assistant" pitchFamily="2" charset="-79"/>
                </a:endParaRPr>
              </a:p>
              <a:p>
                <a:r>
                  <a:rPr lang="he-IL">
                    <a:solidFill>
                      <a:schemeClr val="tx1"/>
                    </a:solidFill>
                    <a:latin typeface="Assistant" pitchFamily="2" charset="-79"/>
                    <a:cs typeface="Assistant" pitchFamily="2" charset="-79"/>
                  </a:rPr>
                  <a:t>נחשב כל אחת מהזוויות: </a:t>
                </a:r>
                <a:endParaRPr lang="en-US">
                  <a:solidFill>
                    <a:schemeClr val="tx1"/>
                  </a:solidFill>
                  <a:latin typeface="Assistant" pitchFamily="2" charset="-79"/>
                  <a:cs typeface="Assistant" pitchFamily="2" charset="-79"/>
                </a:endParaRPr>
              </a:p>
              <a:p>
                <a:pPr/>
                <a14:m>
                  <m:oMathPara xmlns:m="http://schemas.openxmlformats.org/officeDocument/2006/math">
                    <m:oMath>
                      <m:f>
                        <m:fPr>
                          <m:ctrlPr>
                            <a:rPr lang="en-US" i="1">
                              <a:solidFill>
                                <a:schemeClr val="tx1"/>
                              </a:solidFill>
                              <a:latin typeface="Cambria Math" panose="02040503050406030204" pitchFamily="18" charset="0"/>
                            </a:rPr>
                          </m:ctrlPr>
                        </m:fPr>
                        <m:num>
                          <m:r>
                            <a:rPr lang="en-US" i="1">
                              <a:solidFill>
                                <a:schemeClr val="tx1"/>
                              </a:solidFill>
                              <a:latin typeface="Cambria Math" panose="02040503050406030204" pitchFamily="18" charset="0"/>
                            </a:rPr>
                            <m:t>3</m:t>
                          </m:r>
                        </m:num>
                        <m:den>
                          <m:r>
                            <a:rPr lang="en-US" i="1">
                              <a:solidFill>
                                <a:schemeClr val="tx1"/>
                              </a:solidFill>
                              <a:latin typeface="Cambria Math" panose="02040503050406030204" pitchFamily="18" charset="0"/>
                            </a:rPr>
                            <m:t>8</m:t>
                          </m:r>
                        </m:den>
                      </m:f>
                      <m:r>
                        <a:rPr lang="en-US" i="1">
                          <a:solidFill>
                            <a:schemeClr val="tx1"/>
                          </a:solidFill>
                          <a:latin typeface="Cambria Math" panose="02040503050406030204" pitchFamily="18" charset="0"/>
                        </a:rPr>
                        <m:t>⋅120=45</m:t>
                      </m:r>
                      <m:r>
                        <a:rPr lang="en-US" b="1" i="1">
                          <a:solidFill>
                            <a:schemeClr val="tx1"/>
                          </a:solidFill>
                          <a:latin typeface="Cambria Math" panose="02040503050406030204" pitchFamily="18" charset="0"/>
                        </a:rPr>
                        <m:t>°</m:t>
                      </m:r>
                    </m:oMath>
                  </m:oMathPara>
                </a14:m>
                <a:endParaRPr lang="en-US">
                  <a:solidFill>
                    <a:schemeClr val="tx1"/>
                  </a:solidFill>
                  <a:latin typeface="Assistant" pitchFamily="2" charset="-79"/>
                  <a:cs typeface="Assistant" pitchFamily="2" charset="-79"/>
                </a:endParaRPr>
              </a:p>
              <a:p>
                <a:pPr/>
                <a14:m>
                  <m:oMathPara xmlns:m="http://schemas.openxmlformats.org/officeDocument/2006/math">
                    <m:oMath>
                      <m:f>
                        <m:fPr>
                          <m:ctrlPr>
                            <a:rPr lang="en-US" i="1">
                              <a:solidFill>
                                <a:schemeClr val="tx1"/>
                              </a:solidFill>
                              <a:latin typeface="Cambria Math" panose="02040503050406030204" pitchFamily="18" charset="0"/>
                            </a:rPr>
                          </m:ctrlPr>
                        </m:fPr>
                        <m:num>
                          <m:r>
                            <a:rPr lang="en-US" i="1">
                              <a:solidFill>
                                <a:schemeClr val="tx1"/>
                              </a:solidFill>
                              <a:latin typeface="Cambria Math" panose="02040503050406030204" pitchFamily="18" charset="0"/>
                            </a:rPr>
                            <m:t>5</m:t>
                          </m:r>
                        </m:num>
                        <m:den>
                          <m:r>
                            <a:rPr lang="en-US" i="1">
                              <a:solidFill>
                                <a:schemeClr val="tx1"/>
                              </a:solidFill>
                              <a:latin typeface="Cambria Math" panose="02040503050406030204" pitchFamily="18" charset="0"/>
                            </a:rPr>
                            <m:t>8</m:t>
                          </m:r>
                        </m:den>
                      </m:f>
                      <m:r>
                        <a:rPr lang="en-US" i="1">
                          <a:solidFill>
                            <a:schemeClr val="tx1"/>
                          </a:solidFill>
                          <a:latin typeface="Cambria Math" panose="02040503050406030204" pitchFamily="18" charset="0"/>
                        </a:rPr>
                        <m:t>⋅120=75</m:t>
                      </m:r>
                      <m:r>
                        <a:rPr lang="en-US" b="1" i="1">
                          <a:solidFill>
                            <a:schemeClr val="tx1"/>
                          </a:solidFill>
                          <a:latin typeface="Cambria Math" panose="02040503050406030204" pitchFamily="18" charset="0"/>
                        </a:rPr>
                        <m:t>°</m:t>
                      </m:r>
                    </m:oMath>
                  </m:oMathPara>
                </a14:m>
                <a:endParaRPr lang="en-US">
                  <a:solidFill>
                    <a:schemeClr val="tx1"/>
                  </a:solidFill>
                  <a:latin typeface="Assistant" pitchFamily="2" charset="-79"/>
                  <a:cs typeface="Assistant" pitchFamily="2" charset="-79"/>
                </a:endParaRPr>
              </a:p>
              <a:p>
                <a:r>
                  <a:rPr lang="he-IL">
                    <a:solidFill>
                      <a:schemeClr val="tx1"/>
                    </a:solidFill>
                    <a:latin typeface="Assistant" pitchFamily="2" charset="-79"/>
                    <a:cs typeface="Assistant" pitchFamily="2" charset="-79"/>
                  </a:rPr>
                  <a:t>גודלן של שתי הזוויות האחרות במשולש הוא </a:t>
                </a:r>
                <a14:m>
                  <m:oMath xmlns:m="http://schemas.openxmlformats.org/officeDocument/2006/math">
                    <m:r>
                      <a:rPr lang="en-US" i="1">
                        <a:solidFill>
                          <a:schemeClr val="tx1"/>
                        </a:solidFill>
                        <a:latin typeface="Cambria Math" panose="02040503050406030204" pitchFamily="18" charset="0"/>
                      </a:rPr>
                      <m:t>45</m:t>
                    </m:r>
                    <m:r>
                      <a:rPr lang="en-US" b="1" i="1">
                        <a:solidFill>
                          <a:schemeClr val="tx1"/>
                        </a:solidFill>
                        <a:latin typeface="Cambria Math" panose="02040503050406030204" pitchFamily="18" charset="0"/>
                      </a:rPr>
                      <m:t>°</m:t>
                    </m:r>
                  </m:oMath>
                </a14:m>
                <a:r>
                  <a:rPr lang="he-IL">
                    <a:solidFill>
                      <a:schemeClr val="tx1"/>
                    </a:solidFill>
                    <a:latin typeface="Assistant" pitchFamily="2" charset="-79"/>
                    <a:cs typeface="Assistant" pitchFamily="2" charset="-79"/>
                  </a:rPr>
                  <a:t>, </a:t>
                </a:r>
                <a14:m>
                  <m:oMath xmlns:m="http://schemas.openxmlformats.org/officeDocument/2006/math">
                    <m:r>
                      <a:rPr lang="en-US" i="1">
                        <a:solidFill>
                          <a:schemeClr val="tx1"/>
                        </a:solidFill>
                        <a:latin typeface="Cambria Math" panose="02040503050406030204" pitchFamily="18" charset="0"/>
                      </a:rPr>
                      <m:t>75</m:t>
                    </m:r>
                    <m:r>
                      <a:rPr lang="en-US" b="1" i="1">
                        <a:solidFill>
                          <a:schemeClr val="tx1"/>
                        </a:solidFill>
                        <a:latin typeface="Cambria Math" panose="02040503050406030204" pitchFamily="18" charset="0"/>
                      </a:rPr>
                      <m:t>°</m:t>
                    </m:r>
                  </m:oMath>
                </a14:m>
                <a:r>
                  <a:rPr lang="he-IL">
                    <a:solidFill>
                      <a:schemeClr val="tx1"/>
                    </a:solidFill>
                    <a:latin typeface="Assistant" pitchFamily="2" charset="-79"/>
                    <a:cs typeface="Assistant" pitchFamily="2" charset="-79"/>
                  </a:rPr>
                  <a:t>.</a:t>
                </a:r>
                <a:endParaRPr lang="en-US">
                  <a:solidFill>
                    <a:schemeClr val="tx1"/>
                  </a:solidFill>
                  <a:latin typeface="Assistant" pitchFamily="2" charset="-79"/>
                  <a:cs typeface="Assistant" pitchFamily="2" charset="-79"/>
                </a:endParaRPr>
              </a:p>
            </p:txBody>
          </p:sp>
        </mc:Choice>
        <mc:Fallback xmlns="">
          <p:sp>
            <p:nvSpPr>
              <p:cNvPr id="25" name="מלבן: פינות מעוגלות 9">
                <a:extLst>
                  <a:ext uri="{FF2B5EF4-FFF2-40B4-BE49-F238E27FC236}">
                    <a16:creationId xmlns:a16="http://schemas.microsoft.com/office/drawing/2014/main" id="{EF21B0D8-E81A-E78D-F432-B693C3B6FDF8}"/>
                  </a:ext>
                </a:extLst>
              </p:cNvPr>
              <p:cNvSpPr>
                <a:spLocks noRot="1" noChangeAspect="1" noMove="1" noResize="1" noEditPoints="1" noAdjustHandles="1" noChangeArrowheads="1" noChangeShapeType="1" noTextEdit="1"/>
              </p:cNvSpPr>
              <p:nvPr/>
            </p:nvSpPr>
            <p:spPr>
              <a:xfrm>
                <a:off x="-5314887" y="4034705"/>
                <a:ext cx="4906656" cy="4463680"/>
              </a:xfrm>
              <a:prstGeom prst="roundRect">
                <a:avLst>
                  <a:gd name="adj" fmla="val 1647"/>
                </a:avLst>
              </a:prstGeom>
              <a:blipFill>
                <a:blip r:embed="rId9"/>
                <a:stretch>
                  <a:fillRect l="-621" r="-621"/>
                </a:stretch>
              </a:blipFill>
              <a:ln>
                <a:noFill/>
              </a:ln>
            </p:spPr>
            <p:txBody>
              <a:bodyPr/>
              <a:lstStyle/>
              <a:p>
                <a:r>
                  <a:rPr lang="en-US">
                    <a:noFill/>
                  </a:rPr>
                  <a:t> </a:t>
                </a:r>
              </a:p>
            </p:txBody>
          </p:sp>
        </mc:Fallback>
      </mc:AlternateContent>
      <p:grpSp>
        <p:nvGrpSpPr>
          <p:cNvPr id="8" name="קבוצה 10">
            <a:extLst>
              <a:ext uri="{FF2B5EF4-FFF2-40B4-BE49-F238E27FC236}">
                <a16:creationId xmlns:a16="http://schemas.microsoft.com/office/drawing/2014/main" id="{6C114DFF-09E9-79FE-6ADD-2FAE9AF3F825}"/>
              </a:ext>
            </a:extLst>
          </p:cNvPr>
          <p:cNvGrpSpPr/>
          <p:nvPr/>
        </p:nvGrpSpPr>
        <p:grpSpPr>
          <a:xfrm>
            <a:off x="8873371" y="2012704"/>
            <a:ext cx="2499724" cy="526581"/>
            <a:chOff x="9260868" y="3108471"/>
            <a:chExt cx="2499724" cy="641058"/>
          </a:xfrm>
        </p:grpSpPr>
        <p:grpSp>
          <p:nvGrpSpPr>
            <p:cNvPr id="10" name="קבוצה 8">
              <a:extLst>
                <a:ext uri="{FF2B5EF4-FFF2-40B4-BE49-F238E27FC236}">
                  <a16:creationId xmlns:a16="http://schemas.microsoft.com/office/drawing/2014/main" id="{97844BB8-E403-2671-1D43-8F0965326CBC}"/>
                </a:ext>
              </a:extLst>
            </p:cNvPr>
            <p:cNvGrpSpPr/>
            <p:nvPr/>
          </p:nvGrpSpPr>
          <p:grpSpPr>
            <a:xfrm>
              <a:off x="9260868" y="3108471"/>
              <a:ext cx="2499724" cy="641058"/>
              <a:chOff x="9260868" y="3108471"/>
              <a:chExt cx="2499724" cy="641058"/>
            </a:xfrm>
          </p:grpSpPr>
          <p:sp>
            <p:nvSpPr>
              <p:cNvPr id="14" name="מלבן: פינות מעוגלות 6">
                <a:extLst>
                  <a:ext uri="{FF2B5EF4-FFF2-40B4-BE49-F238E27FC236}">
                    <a16:creationId xmlns:a16="http://schemas.microsoft.com/office/drawing/2014/main" id="{1CB3F89A-DB90-3AAE-73F7-9920BA56BE43}"/>
                  </a:ext>
                </a:extLst>
              </p:cNvPr>
              <p:cNvSpPr/>
              <p:nvPr/>
            </p:nvSpPr>
            <p:spPr>
              <a:xfrm>
                <a:off x="9260868" y="3108471"/>
                <a:ext cx="2499724" cy="641058"/>
              </a:xfrm>
              <a:prstGeom prst="roundRect">
                <a:avLst>
                  <a:gd name="adj" fmla="val 50000"/>
                </a:avLst>
              </a:prstGeom>
              <a:noFill/>
              <a:ln w="1270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LID4096"/>
              </a:p>
            </p:txBody>
          </p:sp>
          <mc:AlternateContent xmlns:mc="http://schemas.openxmlformats.org/markup-compatibility/2006" xmlns:a14="http://schemas.microsoft.com/office/drawing/2010/main">
            <mc:Choice Requires="a14">
              <p:sp>
                <p:nvSpPr>
                  <p:cNvPr id="16" name="תיבת טקסט 7">
                    <a:extLst>
                      <a:ext uri="{FF2B5EF4-FFF2-40B4-BE49-F238E27FC236}">
                        <a16:creationId xmlns:a16="http://schemas.microsoft.com/office/drawing/2014/main" id="{5BE9F88C-3CFD-770D-6E9B-4AF9D51A0908}"/>
                      </a:ext>
                    </a:extLst>
                  </p:cNvPr>
                  <p:cNvSpPr txBox="1"/>
                  <p:nvPr/>
                </p:nvSpPr>
                <p:spPr>
                  <a:xfrm>
                    <a:off x="9933968" y="3228943"/>
                    <a:ext cx="1265451" cy="449624"/>
                  </a:xfrm>
                  <a:prstGeom prst="rect">
                    <a:avLst/>
                  </a:prstGeom>
                  <a:noFill/>
                </p:spPr>
                <p:txBody>
                  <a:bodyPr wrap="square" rtlCol="0">
                    <a:spAutoFit/>
                  </a:bodyPr>
                  <a:lstStyle/>
                  <a:p>
                    <a:pPr lvl="0"/>
                    <a:r>
                      <a:rPr lang="en-US"/>
                      <a:t>3</a:t>
                    </a:r>
                    <a14:m>
                      <m:oMath xmlns:m="http://schemas.openxmlformats.org/officeDocument/2006/math">
                        <m:r>
                          <a:rPr lang="en-US" b="0" i="0" smtClean="0">
                            <a:latin typeface="Cambria Math" panose="02040503050406030204" pitchFamily="18" charset="0"/>
                            <a:ea typeface="Cambria Math" panose="02040503050406030204" pitchFamily="18" charset="0"/>
                          </a:rPr>
                          <m:t>0</m:t>
                        </m:r>
                        <m:r>
                          <a:rPr lang="en-US"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 50°</m:t>
                        </m:r>
                      </m:oMath>
                    </a14:m>
                    <a:endParaRPr lang="en-US"/>
                  </a:p>
                </p:txBody>
              </p:sp>
            </mc:Choice>
            <mc:Fallback xmlns="">
              <p:sp>
                <p:nvSpPr>
                  <p:cNvPr id="16" name="תיבת טקסט 7">
                    <a:extLst>
                      <a:ext uri="{FF2B5EF4-FFF2-40B4-BE49-F238E27FC236}">
                        <a16:creationId xmlns:a16="http://schemas.microsoft.com/office/drawing/2014/main" id="{5BE9F88C-3CFD-770D-6E9B-4AF9D51A0908}"/>
                      </a:ext>
                    </a:extLst>
                  </p:cNvPr>
                  <p:cNvSpPr txBox="1">
                    <a:spLocks noRot="1" noChangeAspect="1" noMove="1" noResize="1" noEditPoints="1" noAdjustHandles="1" noChangeArrowheads="1" noChangeShapeType="1" noTextEdit="1"/>
                  </p:cNvSpPr>
                  <p:nvPr/>
                </p:nvSpPr>
                <p:spPr>
                  <a:xfrm>
                    <a:off x="9933968" y="3228943"/>
                    <a:ext cx="1265451" cy="449624"/>
                  </a:xfrm>
                  <a:prstGeom prst="rect">
                    <a:avLst/>
                  </a:prstGeom>
                  <a:blipFill>
                    <a:blip r:embed="rId10"/>
                    <a:stretch>
                      <a:fillRect t="-6557" b="-26230"/>
                    </a:stretch>
                  </a:blipFill>
                </p:spPr>
                <p:txBody>
                  <a:bodyPr/>
                  <a:lstStyle/>
                  <a:p>
                    <a:r>
                      <a:rPr lang="en-US">
                        <a:noFill/>
                      </a:rPr>
                      <a:t> </a:t>
                    </a:r>
                  </a:p>
                </p:txBody>
              </p:sp>
            </mc:Fallback>
          </mc:AlternateContent>
        </p:grpSp>
        <p:sp>
          <p:nvSpPr>
            <p:cNvPr id="13" name="אליפסה 9">
              <a:extLst>
                <a:ext uri="{FF2B5EF4-FFF2-40B4-BE49-F238E27FC236}">
                  <a16:creationId xmlns:a16="http://schemas.microsoft.com/office/drawing/2014/main" id="{D007D451-19FD-2BAB-FBE0-7FE1BF3B0ED3}"/>
                </a:ext>
              </a:extLst>
            </p:cNvPr>
            <p:cNvSpPr/>
            <p:nvPr/>
          </p:nvSpPr>
          <p:spPr>
            <a:xfrm>
              <a:off x="11280913" y="3269817"/>
              <a:ext cx="252766" cy="318364"/>
            </a:xfrm>
            <a:prstGeom prst="ellipse">
              <a:avLst/>
            </a:prstGeom>
            <a:no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LID4096"/>
            </a:p>
          </p:txBody>
        </p:sp>
      </p:grpSp>
      <p:grpSp>
        <p:nvGrpSpPr>
          <p:cNvPr id="20" name="קבוצה 10">
            <a:extLst>
              <a:ext uri="{FF2B5EF4-FFF2-40B4-BE49-F238E27FC236}">
                <a16:creationId xmlns:a16="http://schemas.microsoft.com/office/drawing/2014/main" id="{02727352-CF90-8D05-A03F-24003152F3DD}"/>
              </a:ext>
            </a:extLst>
          </p:cNvPr>
          <p:cNvGrpSpPr/>
          <p:nvPr/>
        </p:nvGrpSpPr>
        <p:grpSpPr>
          <a:xfrm>
            <a:off x="8873371" y="2671819"/>
            <a:ext cx="2499724" cy="526581"/>
            <a:chOff x="9260868" y="3108471"/>
            <a:chExt cx="2499724" cy="641058"/>
          </a:xfrm>
        </p:grpSpPr>
        <p:grpSp>
          <p:nvGrpSpPr>
            <p:cNvPr id="21" name="קבוצה 8">
              <a:extLst>
                <a:ext uri="{FF2B5EF4-FFF2-40B4-BE49-F238E27FC236}">
                  <a16:creationId xmlns:a16="http://schemas.microsoft.com/office/drawing/2014/main" id="{5E2A9167-2911-F2B6-8EBC-D6E63297DF76}"/>
                </a:ext>
              </a:extLst>
            </p:cNvPr>
            <p:cNvGrpSpPr/>
            <p:nvPr/>
          </p:nvGrpSpPr>
          <p:grpSpPr>
            <a:xfrm>
              <a:off x="9260868" y="3108471"/>
              <a:ext cx="2499724" cy="641058"/>
              <a:chOff x="9260868" y="3108471"/>
              <a:chExt cx="2499724" cy="641058"/>
            </a:xfrm>
          </p:grpSpPr>
          <p:sp>
            <p:nvSpPr>
              <p:cNvPr id="23" name="מלבן: פינות מעוגלות 6">
                <a:extLst>
                  <a:ext uri="{FF2B5EF4-FFF2-40B4-BE49-F238E27FC236}">
                    <a16:creationId xmlns:a16="http://schemas.microsoft.com/office/drawing/2014/main" id="{02DE3E9A-4FA4-6C4D-9FAB-BDF77F81CE13}"/>
                  </a:ext>
                </a:extLst>
              </p:cNvPr>
              <p:cNvSpPr/>
              <p:nvPr/>
            </p:nvSpPr>
            <p:spPr>
              <a:xfrm>
                <a:off x="9260868" y="3108471"/>
                <a:ext cx="2499724" cy="641058"/>
              </a:xfrm>
              <a:prstGeom prst="roundRect">
                <a:avLst>
                  <a:gd name="adj" fmla="val 50000"/>
                </a:avLst>
              </a:prstGeom>
              <a:noFill/>
              <a:ln w="12700">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LID4096"/>
              </a:p>
            </p:txBody>
          </p:sp>
          <mc:AlternateContent xmlns:mc="http://schemas.openxmlformats.org/markup-compatibility/2006" xmlns:a14="http://schemas.microsoft.com/office/drawing/2010/main">
            <mc:Choice Requires="a14">
              <p:sp>
                <p:nvSpPr>
                  <p:cNvPr id="24" name="תיבת טקסט 7">
                    <a:extLst>
                      <a:ext uri="{FF2B5EF4-FFF2-40B4-BE49-F238E27FC236}">
                        <a16:creationId xmlns:a16="http://schemas.microsoft.com/office/drawing/2014/main" id="{419391BF-C1DB-C5BB-9598-0BB293F275B7}"/>
                      </a:ext>
                    </a:extLst>
                  </p:cNvPr>
                  <p:cNvSpPr txBox="1"/>
                  <p:nvPr/>
                </p:nvSpPr>
                <p:spPr>
                  <a:xfrm>
                    <a:off x="9933968" y="3228943"/>
                    <a:ext cx="1265451" cy="449624"/>
                  </a:xfrm>
                  <a:prstGeom prst="rect">
                    <a:avLst/>
                  </a:prstGeom>
                  <a:noFill/>
                </p:spPr>
                <p:txBody>
                  <a:bodyPr wrap="square" rtlCol="0">
                    <a:spAutoFit/>
                  </a:bodyPr>
                  <a:lstStyle/>
                  <a:p>
                    <a:pPr lvl="0"/>
                    <a:r>
                      <a:rPr lang="en-US"/>
                      <a:t>4</a:t>
                    </a:r>
                    <a14:m>
                      <m:oMath xmlns:m="http://schemas.openxmlformats.org/officeDocument/2006/math">
                        <m:r>
                          <a:rPr lang="en-US" b="0" i="0" smtClean="0">
                            <a:latin typeface="Cambria Math" panose="02040503050406030204" pitchFamily="18" charset="0"/>
                            <a:ea typeface="Cambria Math" panose="02040503050406030204" pitchFamily="18" charset="0"/>
                          </a:rPr>
                          <m:t>5</m:t>
                        </m:r>
                        <m:r>
                          <a:rPr lang="en-US"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 75°</m:t>
                        </m:r>
                      </m:oMath>
                    </a14:m>
                    <a:endParaRPr lang="en-US"/>
                  </a:p>
                </p:txBody>
              </p:sp>
            </mc:Choice>
            <mc:Fallback xmlns="">
              <p:sp>
                <p:nvSpPr>
                  <p:cNvPr id="24" name="תיבת טקסט 7">
                    <a:extLst>
                      <a:ext uri="{FF2B5EF4-FFF2-40B4-BE49-F238E27FC236}">
                        <a16:creationId xmlns:a16="http://schemas.microsoft.com/office/drawing/2014/main" id="{419391BF-C1DB-C5BB-9598-0BB293F275B7}"/>
                      </a:ext>
                    </a:extLst>
                  </p:cNvPr>
                  <p:cNvSpPr txBox="1">
                    <a:spLocks noRot="1" noChangeAspect="1" noMove="1" noResize="1" noEditPoints="1" noAdjustHandles="1" noChangeArrowheads="1" noChangeShapeType="1" noTextEdit="1"/>
                  </p:cNvSpPr>
                  <p:nvPr/>
                </p:nvSpPr>
                <p:spPr>
                  <a:xfrm>
                    <a:off x="9933968" y="3228943"/>
                    <a:ext cx="1265451" cy="449624"/>
                  </a:xfrm>
                  <a:prstGeom prst="rect">
                    <a:avLst/>
                  </a:prstGeom>
                  <a:blipFill>
                    <a:blip r:embed="rId11"/>
                    <a:stretch>
                      <a:fillRect t="-8333" b="-28333"/>
                    </a:stretch>
                  </a:blipFill>
                </p:spPr>
                <p:txBody>
                  <a:bodyPr/>
                  <a:lstStyle/>
                  <a:p>
                    <a:r>
                      <a:rPr lang="en-US">
                        <a:noFill/>
                      </a:rPr>
                      <a:t> </a:t>
                    </a:r>
                  </a:p>
                </p:txBody>
              </p:sp>
            </mc:Fallback>
          </mc:AlternateContent>
        </p:grpSp>
        <p:sp>
          <p:nvSpPr>
            <p:cNvPr id="22" name="אליפסה 9">
              <a:extLst>
                <a:ext uri="{FF2B5EF4-FFF2-40B4-BE49-F238E27FC236}">
                  <a16:creationId xmlns:a16="http://schemas.microsoft.com/office/drawing/2014/main" id="{C934EF4F-2E4B-5287-099E-6CB5634E1BB1}"/>
                </a:ext>
              </a:extLst>
            </p:cNvPr>
            <p:cNvSpPr/>
            <p:nvPr/>
          </p:nvSpPr>
          <p:spPr>
            <a:xfrm>
              <a:off x="11280913" y="3269817"/>
              <a:ext cx="252766" cy="318364"/>
            </a:xfrm>
            <a:prstGeom prst="ellipse">
              <a:avLst/>
            </a:prstGeom>
            <a:solidFill>
              <a:srgbClr val="00B050"/>
            </a:solid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LID4096"/>
            </a:p>
          </p:txBody>
        </p:sp>
      </p:grpSp>
      <p:grpSp>
        <p:nvGrpSpPr>
          <p:cNvPr id="42" name="קבוצה 10">
            <a:extLst>
              <a:ext uri="{FF2B5EF4-FFF2-40B4-BE49-F238E27FC236}">
                <a16:creationId xmlns:a16="http://schemas.microsoft.com/office/drawing/2014/main" id="{7C81CB4B-CB59-5342-6D5C-2EA1EF506DEC}"/>
              </a:ext>
            </a:extLst>
          </p:cNvPr>
          <p:cNvGrpSpPr/>
          <p:nvPr/>
        </p:nvGrpSpPr>
        <p:grpSpPr>
          <a:xfrm>
            <a:off x="8873371" y="3330934"/>
            <a:ext cx="2499724" cy="526581"/>
            <a:chOff x="9260868" y="3108471"/>
            <a:chExt cx="2499724" cy="641058"/>
          </a:xfrm>
        </p:grpSpPr>
        <p:grpSp>
          <p:nvGrpSpPr>
            <p:cNvPr id="43" name="קבוצה 8">
              <a:extLst>
                <a:ext uri="{FF2B5EF4-FFF2-40B4-BE49-F238E27FC236}">
                  <a16:creationId xmlns:a16="http://schemas.microsoft.com/office/drawing/2014/main" id="{84E0CFB3-E051-5063-FA30-0247F8598BF2}"/>
                </a:ext>
              </a:extLst>
            </p:cNvPr>
            <p:cNvGrpSpPr/>
            <p:nvPr/>
          </p:nvGrpSpPr>
          <p:grpSpPr>
            <a:xfrm>
              <a:off x="9260868" y="3108471"/>
              <a:ext cx="2499724" cy="641058"/>
              <a:chOff x="9260868" y="3108471"/>
              <a:chExt cx="2499724" cy="641058"/>
            </a:xfrm>
          </p:grpSpPr>
          <p:sp>
            <p:nvSpPr>
              <p:cNvPr id="45" name="מלבן: פינות מעוגלות 6">
                <a:extLst>
                  <a:ext uri="{FF2B5EF4-FFF2-40B4-BE49-F238E27FC236}">
                    <a16:creationId xmlns:a16="http://schemas.microsoft.com/office/drawing/2014/main" id="{86C07759-F555-E743-81FD-C4266F9C6926}"/>
                  </a:ext>
                </a:extLst>
              </p:cNvPr>
              <p:cNvSpPr/>
              <p:nvPr/>
            </p:nvSpPr>
            <p:spPr>
              <a:xfrm>
                <a:off x="9260868" y="3108471"/>
                <a:ext cx="2499724" cy="641058"/>
              </a:xfrm>
              <a:prstGeom prst="roundRect">
                <a:avLst>
                  <a:gd name="adj" fmla="val 50000"/>
                </a:avLst>
              </a:prstGeom>
              <a:noFill/>
              <a:ln w="1270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LID4096"/>
              </a:p>
            </p:txBody>
          </p:sp>
          <mc:AlternateContent xmlns:mc="http://schemas.openxmlformats.org/markup-compatibility/2006" xmlns:a14="http://schemas.microsoft.com/office/drawing/2010/main">
            <mc:Choice Requires="a14">
              <p:sp>
                <p:nvSpPr>
                  <p:cNvPr id="46" name="תיבת טקסט 7">
                    <a:extLst>
                      <a:ext uri="{FF2B5EF4-FFF2-40B4-BE49-F238E27FC236}">
                        <a16:creationId xmlns:a16="http://schemas.microsoft.com/office/drawing/2014/main" id="{FB931AF3-8003-739D-7119-FBD77945FA5B}"/>
                      </a:ext>
                    </a:extLst>
                  </p:cNvPr>
                  <p:cNvSpPr txBox="1"/>
                  <p:nvPr/>
                </p:nvSpPr>
                <p:spPr>
                  <a:xfrm>
                    <a:off x="9933968" y="3228943"/>
                    <a:ext cx="1265451" cy="449624"/>
                  </a:xfrm>
                  <a:prstGeom prst="rect">
                    <a:avLst/>
                  </a:prstGeom>
                  <a:noFill/>
                </p:spPr>
                <p:txBody>
                  <a:bodyPr wrap="square" rtlCol="0">
                    <a:spAutoFit/>
                  </a:bodyPr>
                  <a:lstStyle/>
                  <a:p>
                    <a:pPr lvl="0"/>
                    <a:r>
                      <a:rPr lang="en-US"/>
                      <a:t>4</a:t>
                    </a:r>
                    <a14:m>
                      <m:oMath xmlns:m="http://schemas.openxmlformats.org/officeDocument/2006/math">
                        <m:r>
                          <a:rPr lang="en-US" b="0" i="0" smtClean="0">
                            <a:latin typeface="Cambria Math" panose="02040503050406030204" pitchFamily="18" charset="0"/>
                            <a:ea typeface="Cambria Math" panose="02040503050406030204" pitchFamily="18" charset="0"/>
                          </a:rPr>
                          <m:t>0</m:t>
                        </m:r>
                        <m:r>
                          <a:rPr lang="en-US"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 80°</m:t>
                        </m:r>
                      </m:oMath>
                    </a14:m>
                    <a:endParaRPr lang="en-US"/>
                  </a:p>
                </p:txBody>
              </p:sp>
            </mc:Choice>
            <mc:Fallback xmlns="">
              <p:sp>
                <p:nvSpPr>
                  <p:cNvPr id="46" name="תיבת טקסט 7">
                    <a:extLst>
                      <a:ext uri="{FF2B5EF4-FFF2-40B4-BE49-F238E27FC236}">
                        <a16:creationId xmlns:a16="http://schemas.microsoft.com/office/drawing/2014/main" id="{FB931AF3-8003-739D-7119-FBD77945FA5B}"/>
                      </a:ext>
                    </a:extLst>
                  </p:cNvPr>
                  <p:cNvSpPr txBox="1">
                    <a:spLocks noRot="1" noChangeAspect="1" noMove="1" noResize="1" noEditPoints="1" noAdjustHandles="1" noChangeArrowheads="1" noChangeShapeType="1" noTextEdit="1"/>
                  </p:cNvSpPr>
                  <p:nvPr/>
                </p:nvSpPr>
                <p:spPr>
                  <a:xfrm>
                    <a:off x="9933968" y="3228943"/>
                    <a:ext cx="1265451" cy="449624"/>
                  </a:xfrm>
                  <a:prstGeom prst="rect">
                    <a:avLst/>
                  </a:prstGeom>
                  <a:blipFill>
                    <a:blip r:embed="rId12"/>
                    <a:stretch>
                      <a:fillRect t="-8333" b="-28333"/>
                    </a:stretch>
                  </a:blipFill>
                </p:spPr>
                <p:txBody>
                  <a:bodyPr/>
                  <a:lstStyle/>
                  <a:p>
                    <a:r>
                      <a:rPr lang="en-US">
                        <a:noFill/>
                      </a:rPr>
                      <a:t> </a:t>
                    </a:r>
                  </a:p>
                </p:txBody>
              </p:sp>
            </mc:Fallback>
          </mc:AlternateContent>
        </p:grpSp>
        <p:sp>
          <p:nvSpPr>
            <p:cNvPr id="44" name="אליפסה 9">
              <a:extLst>
                <a:ext uri="{FF2B5EF4-FFF2-40B4-BE49-F238E27FC236}">
                  <a16:creationId xmlns:a16="http://schemas.microsoft.com/office/drawing/2014/main" id="{B0C1157A-CEA0-D32A-91FE-93F8063DEEAE}"/>
                </a:ext>
              </a:extLst>
            </p:cNvPr>
            <p:cNvSpPr/>
            <p:nvPr/>
          </p:nvSpPr>
          <p:spPr>
            <a:xfrm>
              <a:off x="11280913" y="3269817"/>
              <a:ext cx="252766" cy="318364"/>
            </a:xfrm>
            <a:prstGeom prst="ellipse">
              <a:avLst/>
            </a:prstGeom>
            <a:no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LID4096"/>
            </a:p>
          </p:txBody>
        </p:sp>
      </p:grpSp>
      <p:grpSp>
        <p:nvGrpSpPr>
          <p:cNvPr id="47" name="קבוצה 10">
            <a:extLst>
              <a:ext uri="{FF2B5EF4-FFF2-40B4-BE49-F238E27FC236}">
                <a16:creationId xmlns:a16="http://schemas.microsoft.com/office/drawing/2014/main" id="{F8098E76-3B07-5AB6-6AB2-65249F1B2634}"/>
              </a:ext>
            </a:extLst>
          </p:cNvPr>
          <p:cNvGrpSpPr/>
          <p:nvPr/>
        </p:nvGrpSpPr>
        <p:grpSpPr>
          <a:xfrm>
            <a:off x="8873371" y="3990049"/>
            <a:ext cx="2499724" cy="526581"/>
            <a:chOff x="9260868" y="3108471"/>
            <a:chExt cx="2499724" cy="641058"/>
          </a:xfrm>
        </p:grpSpPr>
        <p:grpSp>
          <p:nvGrpSpPr>
            <p:cNvPr id="48" name="קבוצה 8">
              <a:extLst>
                <a:ext uri="{FF2B5EF4-FFF2-40B4-BE49-F238E27FC236}">
                  <a16:creationId xmlns:a16="http://schemas.microsoft.com/office/drawing/2014/main" id="{0F8C05A0-B88D-0BF4-2C46-5B6433E961C8}"/>
                </a:ext>
              </a:extLst>
            </p:cNvPr>
            <p:cNvGrpSpPr/>
            <p:nvPr/>
          </p:nvGrpSpPr>
          <p:grpSpPr>
            <a:xfrm>
              <a:off x="9260868" y="3108471"/>
              <a:ext cx="2499724" cy="641058"/>
              <a:chOff x="9260868" y="3108471"/>
              <a:chExt cx="2499724" cy="641058"/>
            </a:xfrm>
          </p:grpSpPr>
          <p:sp>
            <p:nvSpPr>
              <p:cNvPr id="50" name="מלבן: פינות מעוגלות 6">
                <a:extLst>
                  <a:ext uri="{FF2B5EF4-FFF2-40B4-BE49-F238E27FC236}">
                    <a16:creationId xmlns:a16="http://schemas.microsoft.com/office/drawing/2014/main" id="{37D3F248-3627-F723-6117-E4339EF07605}"/>
                  </a:ext>
                </a:extLst>
              </p:cNvPr>
              <p:cNvSpPr/>
              <p:nvPr/>
            </p:nvSpPr>
            <p:spPr>
              <a:xfrm>
                <a:off x="9260868" y="3108471"/>
                <a:ext cx="2499724" cy="641058"/>
              </a:xfrm>
              <a:prstGeom prst="roundRect">
                <a:avLst>
                  <a:gd name="adj" fmla="val 50000"/>
                </a:avLst>
              </a:prstGeom>
              <a:noFill/>
              <a:ln w="1270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LID4096"/>
              </a:p>
            </p:txBody>
          </p:sp>
          <mc:AlternateContent xmlns:mc="http://schemas.openxmlformats.org/markup-compatibility/2006" xmlns:a14="http://schemas.microsoft.com/office/drawing/2010/main">
            <mc:Choice Requires="a14">
              <p:sp>
                <p:nvSpPr>
                  <p:cNvPr id="51" name="תיבת טקסט 7">
                    <a:extLst>
                      <a:ext uri="{FF2B5EF4-FFF2-40B4-BE49-F238E27FC236}">
                        <a16:creationId xmlns:a16="http://schemas.microsoft.com/office/drawing/2014/main" id="{3DC92C98-A252-0CA3-05A0-3067D30FF833}"/>
                      </a:ext>
                    </a:extLst>
                  </p:cNvPr>
                  <p:cNvSpPr txBox="1"/>
                  <p:nvPr/>
                </p:nvSpPr>
                <p:spPr>
                  <a:xfrm>
                    <a:off x="9933968" y="3228943"/>
                    <a:ext cx="1265451" cy="449624"/>
                  </a:xfrm>
                  <a:prstGeom prst="rect">
                    <a:avLst/>
                  </a:prstGeom>
                  <a:noFill/>
                </p:spPr>
                <p:txBody>
                  <a:bodyPr wrap="square" rtlCol="0">
                    <a:spAutoFit/>
                  </a:bodyPr>
                  <a:lstStyle/>
                  <a:p>
                    <a:pPr lvl="0"/>
                    <a:r>
                      <a:rPr lang="en-US"/>
                      <a:t>3</a:t>
                    </a:r>
                    <a14:m>
                      <m:oMath xmlns:m="http://schemas.openxmlformats.org/officeDocument/2006/math">
                        <m:r>
                          <a:rPr lang="en-US" b="0" i="0" smtClean="0">
                            <a:latin typeface="Cambria Math" panose="02040503050406030204" pitchFamily="18" charset="0"/>
                            <a:ea typeface="Cambria Math" panose="02040503050406030204" pitchFamily="18" charset="0"/>
                          </a:rPr>
                          <m:t>6</m:t>
                        </m:r>
                        <m:r>
                          <a:rPr lang="en-US"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 60°</m:t>
                        </m:r>
                      </m:oMath>
                    </a14:m>
                    <a:endParaRPr lang="en-US"/>
                  </a:p>
                </p:txBody>
              </p:sp>
            </mc:Choice>
            <mc:Fallback xmlns="">
              <p:sp>
                <p:nvSpPr>
                  <p:cNvPr id="51" name="תיבת טקסט 7">
                    <a:extLst>
                      <a:ext uri="{FF2B5EF4-FFF2-40B4-BE49-F238E27FC236}">
                        <a16:creationId xmlns:a16="http://schemas.microsoft.com/office/drawing/2014/main" id="{3DC92C98-A252-0CA3-05A0-3067D30FF833}"/>
                      </a:ext>
                    </a:extLst>
                  </p:cNvPr>
                  <p:cNvSpPr txBox="1">
                    <a:spLocks noRot="1" noChangeAspect="1" noMove="1" noResize="1" noEditPoints="1" noAdjustHandles="1" noChangeArrowheads="1" noChangeShapeType="1" noTextEdit="1"/>
                  </p:cNvSpPr>
                  <p:nvPr/>
                </p:nvSpPr>
                <p:spPr>
                  <a:xfrm>
                    <a:off x="9933968" y="3228943"/>
                    <a:ext cx="1265451" cy="449624"/>
                  </a:xfrm>
                  <a:prstGeom prst="rect">
                    <a:avLst/>
                  </a:prstGeom>
                  <a:blipFill>
                    <a:blip r:embed="rId13"/>
                    <a:stretch>
                      <a:fillRect t="-8333" b="-28333"/>
                    </a:stretch>
                  </a:blipFill>
                </p:spPr>
                <p:txBody>
                  <a:bodyPr/>
                  <a:lstStyle/>
                  <a:p>
                    <a:r>
                      <a:rPr lang="en-US">
                        <a:noFill/>
                      </a:rPr>
                      <a:t> </a:t>
                    </a:r>
                  </a:p>
                </p:txBody>
              </p:sp>
            </mc:Fallback>
          </mc:AlternateContent>
        </p:grpSp>
        <p:sp>
          <p:nvSpPr>
            <p:cNvPr id="49" name="אליפסה 9">
              <a:extLst>
                <a:ext uri="{FF2B5EF4-FFF2-40B4-BE49-F238E27FC236}">
                  <a16:creationId xmlns:a16="http://schemas.microsoft.com/office/drawing/2014/main" id="{49D4F066-0316-0560-BA0E-342BAE446AF8}"/>
                </a:ext>
              </a:extLst>
            </p:cNvPr>
            <p:cNvSpPr/>
            <p:nvPr/>
          </p:nvSpPr>
          <p:spPr>
            <a:xfrm>
              <a:off x="11280913" y="3269817"/>
              <a:ext cx="252766" cy="318364"/>
            </a:xfrm>
            <a:prstGeom prst="ellipse">
              <a:avLst/>
            </a:prstGeom>
            <a:no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LID4096"/>
            </a:p>
          </p:txBody>
        </p:sp>
      </p:grpSp>
      <p:pic>
        <p:nvPicPr>
          <p:cNvPr id="53" name="Picture 52">
            <a:extLst>
              <a:ext uri="{FF2B5EF4-FFF2-40B4-BE49-F238E27FC236}">
                <a16:creationId xmlns:a16="http://schemas.microsoft.com/office/drawing/2014/main" id="{6C97A619-8908-B41E-83E3-CE4B7BBA4D4D}"/>
              </a:ext>
            </a:extLst>
          </p:cNvPr>
          <p:cNvPicPr>
            <a:picLocks noChangeAspect="1"/>
          </p:cNvPicPr>
          <p:nvPr/>
        </p:nvPicPr>
        <p:blipFill>
          <a:blip r:embed="rId14" cstate="email">
            <a:extLst>
              <a:ext uri="{28A0092B-C50C-407E-A947-70E740481C1C}">
                <a14:useLocalDpi xmlns:a14="http://schemas.microsoft.com/office/drawing/2010/main"/>
              </a:ext>
            </a:extLst>
          </a:blip>
          <a:stretch>
            <a:fillRect/>
          </a:stretch>
        </p:blipFill>
        <p:spPr>
          <a:xfrm>
            <a:off x="-24358" y="1127548"/>
            <a:ext cx="4194351" cy="2796234"/>
          </a:xfrm>
          <a:prstGeom prst="rect">
            <a:avLst/>
          </a:prstGeom>
        </p:spPr>
      </p:pic>
      <p:grpSp>
        <p:nvGrpSpPr>
          <p:cNvPr id="18" name="Group 17">
            <a:extLst>
              <a:ext uri="{FF2B5EF4-FFF2-40B4-BE49-F238E27FC236}">
                <a16:creationId xmlns:a16="http://schemas.microsoft.com/office/drawing/2014/main" id="{5B24CDEC-B31E-B05B-CDEC-367DD6089ABD}"/>
              </a:ext>
            </a:extLst>
          </p:cNvPr>
          <p:cNvGrpSpPr/>
          <p:nvPr/>
        </p:nvGrpSpPr>
        <p:grpSpPr>
          <a:xfrm>
            <a:off x="933869" y="4224727"/>
            <a:ext cx="2842259" cy="1690822"/>
            <a:chOff x="1379325" y="-61350"/>
            <a:chExt cx="2668900" cy="1703608"/>
          </a:xfrm>
        </p:grpSpPr>
        <p:cxnSp>
          <p:nvCxnSpPr>
            <p:cNvPr id="19" name="Straight Arrow Connector 18">
              <a:extLst>
                <a:ext uri="{FF2B5EF4-FFF2-40B4-BE49-F238E27FC236}">
                  <a16:creationId xmlns:a16="http://schemas.microsoft.com/office/drawing/2014/main" id="{942C9A64-0080-DD49-9392-ADF0851BA450}"/>
                </a:ext>
              </a:extLst>
            </p:cNvPr>
            <p:cNvCxnSpPr/>
            <p:nvPr/>
          </p:nvCxnSpPr>
          <p:spPr>
            <a:xfrm rot="10800000" flipH="1">
              <a:off x="1675875" y="256675"/>
              <a:ext cx="1779300" cy="1032900"/>
            </a:xfrm>
            <a:prstGeom prst="straightConnector1">
              <a:avLst/>
            </a:prstGeom>
            <a:noFill/>
            <a:ln w="9525" cap="flat" cmpd="sng">
              <a:solidFill>
                <a:srgbClr val="000000"/>
              </a:solidFill>
              <a:prstDash val="solid"/>
              <a:round/>
              <a:headEnd type="none" w="med" len="med"/>
              <a:tailEnd type="none" w="med" len="med"/>
            </a:ln>
          </p:spPr>
        </p:cxnSp>
        <p:cxnSp>
          <p:nvCxnSpPr>
            <p:cNvPr id="26" name="Straight Arrow Connector 25">
              <a:extLst>
                <a:ext uri="{FF2B5EF4-FFF2-40B4-BE49-F238E27FC236}">
                  <a16:creationId xmlns:a16="http://schemas.microsoft.com/office/drawing/2014/main" id="{CC452DBA-2CD6-CF2F-AE8D-15F1ACE6BC79}"/>
                </a:ext>
              </a:extLst>
            </p:cNvPr>
            <p:cNvCxnSpPr/>
            <p:nvPr/>
          </p:nvCxnSpPr>
          <p:spPr>
            <a:xfrm>
              <a:off x="3455125" y="256775"/>
              <a:ext cx="255600" cy="1032900"/>
            </a:xfrm>
            <a:prstGeom prst="straightConnector1">
              <a:avLst/>
            </a:prstGeom>
            <a:noFill/>
            <a:ln w="9525" cap="flat" cmpd="sng">
              <a:solidFill>
                <a:srgbClr val="000000"/>
              </a:solidFill>
              <a:prstDash val="solid"/>
              <a:round/>
              <a:headEnd type="none" w="med" len="med"/>
              <a:tailEnd type="none" w="med" len="med"/>
            </a:ln>
          </p:spPr>
        </p:cxnSp>
        <p:cxnSp>
          <p:nvCxnSpPr>
            <p:cNvPr id="30" name="Straight Arrow Connector 29">
              <a:extLst>
                <a:ext uri="{FF2B5EF4-FFF2-40B4-BE49-F238E27FC236}">
                  <a16:creationId xmlns:a16="http://schemas.microsoft.com/office/drawing/2014/main" id="{62D7ACB7-5EB2-001D-C1AF-B8519CD50B16}"/>
                </a:ext>
              </a:extLst>
            </p:cNvPr>
            <p:cNvCxnSpPr/>
            <p:nvPr/>
          </p:nvCxnSpPr>
          <p:spPr>
            <a:xfrm>
              <a:off x="1686100" y="1289575"/>
              <a:ext cx="2034900" cy="30600"/>
            </a:xfrm>
            <a:prstGeom prst="straightConnector1">
              <a:avLst/>
            </a:prstGeom>
            <a:noFill/>
            <a:ln w="9525" cap="flat" cmpd="sng">
              <a:solidFill>
                <a:srgbClr val="000000"/>
              </a:solidFill>
              <a:prstDash val="solid"/>
              <a:round/>
              <a:headEnd type="none" w="med" len="med"/>
              <a:tailEnd type="none" w="med" len="med"/>
            </a:ln>
          </p:spPr>
        </p:cxnSp>
        <p:sp>
          <p:nvSpPr>
            <p:cNvPr id="31" name="Text Box 281791216">
              <a:extLst>
                <a:ext uri="{FF2B5EF4-FFF2-40B4-BE49-F238E27FC236}">
                  <a16:creationId xmlns:a16="http://schemas.microsoft.com/office/drawing/2014/main" id="{D0A9EA5F-D120-2987-7AAF-68A16A7E5769}"/>
                </a:ext>
              </a:extLst>
            </p:cNvPr>
            <p:cNvSpPr txBox="1"/>
            <p:nvPr/>
          </p:nvSpPr>
          <p:spPr>
            <a:xfrm>
              <a:off x="3301200" y="-61350"/>
              <a:ext cx="255600" cy="174900"/>
            </a:xfrm>
            <a:prstGeom prst="rect">
              <a:avLst/>
            </a:prstGeom>
            <a:noFill/>
            <a:ln>
              <a:noFill/>
            </a:ln>
          </p:spPr>
          <p:txBody>
            <a:bodyPr spcFirstLastPara="1" wrap="square" lIns="91425" tIns="91425" rIns="91425" bIns="91425" anchor="t" anchorCtr="0">
              <a:noAutofit/>
            </a:bodyPr>
            <a:lstStyle/>
            <a:p>
              <a:pPr marL="0" marR="0">
                <a:lnSpc>
                  <a:spcPct val="115000"/>
                </a:lnSpc>
                <a:spcAft>
                  <a:spcPts val="800"/>
                </a:spcAft>
                <a:buNone/>
              </a:pPr>
              <a:r>
                <a:rPr lang="en-US" sz="1400">
                  <a:solidFill>
                    <a:srgbClr val="000000"/>
                  </a:solidFill>
                  <a:effectLst/>
                  <a:latin typeface="Arial" panose="020B0604020202020204" pitchFamily="34" charset="0"/>
                  <a:ea typeface="Arial" panose="020B0604020202020204" pitchFamily="34" charset="0"/>
                  <a:cs typeface="Aptos" panose="020B0004020202020204" pitchFamily="34" charset="0"/>
                </a:rPr>
                <a:t>A</a:t>
              </a:r>
              <a:endParaRPr lang="en-US" sz="1200">
                <a:effectLst/>
                <a:latin typeface="Aptos" panose="020B0004020202020204" pitchFamily="34" charset="0"/>
                <a:ea typeface="Aptos" panose="020B0004020202020204" pitchFamily="34" charset="0"/>
                <a:cs typeface="Aptos" panose="020B0004020202020204" pitchFamily="34" charset="0"/>
              </a:endParaRPr>
            </a:p>
          </p:txBody>
        </p:sp>
        <p:sp>
          <p:nvSpPr>
            <p:cNvPr id="32" name="Text Box 435698970">
              <a:extLst>
                <a:ext uri="{FF2B5EF4-FFF2-40B4-BE49-F238E27FC236}">
                  <a16:creationId xmlns:a16="http://schemas.microsoft.com/office/drawing/2014/main" id="{D3893DF1-6D2E-9570-7CF6-9AACACB70ED5}"/>
                </a:ext>
              </a:extLst>
            </p:cNvPr>
            <p:cNvSpPr txBox="1"/>
            <p:nvPr/>
          </p:nvSpPr>
          <p:spPr>
            <a:xfrm>
              <a:off x="1379325" y="1217425"/>
              <a:ext cx="255600" cy="174900"/>
            </a:xfrm>
            <a:prstGeom prst="rect">
              <a:avLst/>
            </a:prstGeom>
            <a:noFill/>
            <a:ln>
              <a:noFill/>
            </a:ln>
          </p:spPr>
          <p:txBody>
            <a:bodyPr spcFirstLastPara="1" wrap="square" lIns="91425" tIns="91425" rIns="91425" bIns="91425" anchor="t" anchorCtr="0">
              <a:noAutofit/>
            </a:bodyPr>
            <a:lstStyle/>
            <a:p>
              <a:pPr marL="0" marR="0">
                <a:lnSpc>
                  <a:spcPct val="115000"/>
                </a:lnSpc>
                <a:spcAft>
                  <a:spcPts val="800"/>
                </a:spcAft>
                <a:buNone/>
              </a:pPr>
              <a:r>
                <a:rPr lang="en-US" sz="1400">
                  <a:solidFill>
                    <a:srgbClr val="000000"/>
                  </a:solidFill>
                  <a:effectLst/>
                  <a:latin typeface="Arial" panose="020B0604020202020204" pitchFamily="34" charset="0"/>
                  <a:ea typeface="Arial" panose="020B0604020202020204" pitchFamily="34" charset="0"/>
                  <a:cs typeface="Aptos" panose="020B0004020202020204" pitchFamily="34" charset="0"/>
                </a:rPr>
                <a:t>B</a:t>
              </a:r>
              <a:endParaRPr lang="en-US" sz="1200">
                <a:effectLst/>
                <a:latin typeface="Aptos" panose="020B0004020202020204" pitchFamily="34" charset="0"/>
                <a:ea typeface="Aptos" panose="020B0004020202020204" pitchFamily="34" charset="0"/>
                <a:cs typeface="Aptos" panose="020B0004020202020204" pitchFamily="34" charset="0"/>
              </a:endParaRPr>
            </a:p>
          </p:txBody>
        </p:sp>
        <p:sp>
          <p:nvSpPr>
            <p:cNvPr id="33" name="Text Box 1154323601">
              <a:extLst>
                <a:ext uri="{FF2B5EF4-FFF2-40B4-BE49-F238E27FC236}">
                  <a16:creationId xmlns:a16="http://schemas.microsoft.com/office/drawing/2014/main" id="{D2EF8FB3-507F-DF9D-35AE-F34EBC3E33C0}"/>
                </a:ext>
              </a:extLst>
            </p:cNvPr>
            <p:cNvSpPr txBox="1"/>
            <p:nvPr/>
          </p:nvSpPr>
          <p:spPr>
            <a:xfrm>
              <a:off x="3792625" y="1228225"/>
              <a:ext cx="255600" cy="265800"/>
            </a:xfrm>
            <a:prstGeom prst="rect">
              <a:avLst/>
            </a:prstGeom>
            <a:noFill/>
            <a:ln>
              <a:noFill/>
            </a:ln>
          </p:spPr>
          <p:txBody>
            <a:bodyPr spcFirstLastPara="1" wrap="square" lIns="91425" tIns="91425" rIns="91425" bIns="91425" anchor="t" anchorCtr="0">
              <a:noAutofit/>
            </a:bodyPr>
            <a:lstStyle/>
            <a:p>
              <a:pPr marL="0" marR="0">
                <a:lnSpc>
                  <a:spcPct val="115000"/>
                </a:lnSpc>
                <a:spcAft>
                  <a:spcPts val="800"/>
                </a:spcAft>
                <a:buNone/>
              </a:pPr>
              <a:r>
                <a:rPr lang="en-US" sz="1400">
                  <a:solidFill>
                    <a:srgbClr val="000000"/>
                  </a:solidFill>
                  <a:effectLst/>
                  <a:latin typeface="Arial" panose="020B0604020202020204" pitchFamily="34" charset="0"/>
                  <a:ea typeface="Arial" panose="020B0604020202020204" pitchFamily="34" charset="0"/>
                  <a:cs typeface="Aptos" panose="020B0004020202020204" pitchFamily="34" charset="0"/>
                </a:rPr>
                <a:t>C</a:t>
              </a:r>
              <a:endParaRPr lang="en-US" sz="1200">
                <a:effectLst/>
                <a:latin typeface="Aptos" panose="020B0004020202020204" pitchFamily="34" charset="0"/>
                <a:ea typeface="Aptos" panose="020B0004020202020204" pitchFamily="34" charset="0"/>
                <a:cs typeface="Aptos" panose="020B0004020202020204" pitchFamily="34" charset="0"/>
              </a:endParaRPr>
            </a:p>
          </p:txBody>
        </p:sp>
        <p:sp>
          <p:nvSpPr>
            <p:cNvPr id="34" name="Text Box 356885148">
              <a:extLst>
                <a:ext uri="{FF2B5EF4-FFF2-40B4-BE49-F238E27FC236}">
                  <a16:creationId xmlns:a16="http://schemas.microsoft.com/office/drawing/2014/main" id="{EBD0E167-FDF1-C834-EA16-11BBBB08665E}"/>
                </a:ext>
              </a:extLst>
            </p:cNvPr>
            <p:cNvSpPr txBox="1"/>
            <p:nvPr/>
          </p:nvSpPr>
          <p:spPr>
            <a:xfrm>
              <a:off x="3152774" y="330934"/>
              <a:ext cx="449841" cy="1311324"/>
            </a:xfrm>
            <a:prstGeom prst="rect">
              <a:avLst/>
            </a:prstGeom>
            <a:noFill/>
            <a:ln>
              <a:noFill/>
            </a:ln>
          </p:spPr>
          <p:txBody>
            <a:bodyPr spcFirstLastPara="1" wrap="square" lIns="91425" tIns="91425" rIns="91425" bIns="91425" anchor="t" anchorCtr="0">
              <a:spAutoFit/>
            </a:bodyPr>
            <a:lstStyle/>
            <a:p>
              <a:pPr marL="0" marR="0" algn="l" rtl="1">
                <a:lnSpc>
                  <a:spcPct val="115000"/>
                </a:lnSpc>
                <a:spcAft>
                  <a:spcPts val="800"/>
                </a:spcAft>
                <a:buNone/>
              </a:pPr>
              <a:r>
                <a:rPr lang="en-US" sz="1100" b="1">
                  <a:solidFill>
                    <a:srgbClr val="000000"/>
                  </a:solidFill>
                  <a:effectLst/>
                  <a:latin typeface="Assistant" pitchFamily="2" charset="-79"/>
                  <a:ea typeface="Assistant" pitchFamily="2" charset="-79"/>
                  <a:cs typeface="Aptos" panose="020B0004020202020204" pitchFamily="34" charset="0"/>
                </a:rPr>
                <a:t>60°</a:t>
              </a:r>
              <a:endParaRPr lang="en-US" sz="1200">
                <a:effectLst/>
                <a:latin typeface="Aptos" panose="020B0004020202020204" pitchFamily="34" charset="0"/>
                <a:ea typeface="Aptos" panose="020B0004020202020204" pitchFamily="34" charset="0"/>
                <a:cs typeface="Aptos" panose="020B0004020202020204" pitchFamily="34" charset="0"/>
              </a:endParaRPr>
            </a:p>
          </p:txBody>
        </p:sp>
      </p:grpSp>
      <p:sp>
        <p:nvSpPr>
          <p:cNvPr id="36" name="מלבן 7">
            <a:extLst>
              <a:ext uri="{FF2B5EF4-FFF2-40B4-BE49-F238E27FC236}">
                <a16:creationId xmlns:a16="http://schemas.microsoft.com/office/drawing/2014/main" id="{6C8D8844-96AA-C22A-8D3E-B6EC2006EE3C}"/>
              </a:ext>
            </a:extLst>
          </p:cNvPr>
          <p:cNvSpPr/>
          <p:nvPr/>
        </p:nvSpPr>
        <p:spPr>
          <a:xfrm>
            <a:off x="11896440" y="332438"/>
            <a:ext cx="45719" cy="5474677"/>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LID4096"/>
          </a:p>
        </p:txBody>
      </p:sp>
      <p:sp>
        <p:nvSpPr>
          <p:cNvPr id="38" name="מלבן 8">
            <a:extLst>
              <a:ext uri="{FF2B5EF4-FFF2-40B4-BE49-F238E27FC236}">
                <a16:creationId xmlns:a16="http://schemas.microsoft.com/office/drawing/2014/main" id="{3D383215-6F6A-BDA7-B836-A7E2306B3624}"/>
              </a:ext>
            </a:extLst>
          </p:cNvPr>
          <p:cNvSpPr/>
          <p:nvPr/>
        </p:nvSpPr>
        <p:spPr>
          <a:xfrm>
            <a:off x="11896440" y="1434914"/>
            <a:ext cx="45719" cy="3526971"/>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LID4096"/>
          </a:p>
        </p:txBody>
      </p:sp>
    </p:spTree>
    <p:custDataLst>
      <p:tags r:id="rId1"/>
    </p:custDataLst>
    <p:extLst>
      <p:ext uri="{BB962C8B-B14F-4D97-AF65-F5344CB8AC3E}">
        <p14:creationId xmlns:p14="http://schemas.microsoft.com/office/powerpoint/2010/main" val="40186082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42BEB9-E382-E40C-A909-1B5FD4A013F6}"/>
            </a:ext>
          </a:extLst>
        </p:cNvPr>
        <p:cNvGrpSpPr/>
        <p:nvPr/>
      </p:nvGrpSpPr>
      <p:grpSpPr>
        <a:xfrm>
          <a:off x="0" y="0"/>
          <a:ext cx="0" cy="0"/>
          <a:chOff x="0" y="0"/>
          <a:chExt cx="0" cy="0"/>
        </a:xfrm>
      </p:grpSpPr>
      <p:cxnSp>
        <p:nvCxnSpPr>
          <p:cNvPr id="4" name="מחבר ישר 3">
            <a:extLst>
              <a:ext uri="{FF2B5EF4-FFF2-40B4-BE49-F238E27FC236}">
                <a16:creationId xmlns:a16="http://schemas.microsoft.com/office/drawing/2014/main" id="{88452E1A-8B36-560E-7EA9-64A38DDF0BD8}"/>
              </a:ext>
            </a:extLst>
          </p:cNvPr>
          <p:cNvCxnSpPr>
            <a:cxnSpLocks/>
          </p:cNvCxnSpPr>
          <p:nvPr/>
        </p:nvCxnSpPr>
        <p:spPr>
          <a:xfrm>
            <a:off x="0" y="6079252"/>
            <a:ext cx="12192000" cy="0"/>
          </a:xfrm>
          <a:prstGeom prst="line">
            <a:avLst/>
          </a:prstGeom>
          <a:ln>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5" name="מלבן: פינות מעוגלות 4">
            <a:extLst>
              <a:ext uri="{FF2B5EF4-FFF2-40B4-BE49-F238E27FC236}">
                <a16:creationId xmlns:a16="http://schemas.microsoft.com/office/drawing/2014/main" id="{BE7BF436-D3DF-3CA9-8949-F25E9B5F7179}"/>
              </a:ext>
            </a:extLst>
          </p:cNvPr>
          <p:cNvSpPr/>
          <p:nvPr/>
        </p:nvSpPr>
        <p:spPr>
          <a:xfrm>
            <a:off x="268356" y="6182143"/>
            <a:ext cx="1798983" cy="506891"/>
          </a:xfrm>
          <a:prstGeom prst="roundRect">
            <a:avLst>
              <a:gd name="adj" fmla="val 50000"/>
            </a:avLst>
          </a:prstGeom>
          <a:solidFill>
            <a:schemeClr val="bg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he-IL"/>
              <a:t>צדקתי?</a:t>
            </a:r>
            <a:endParaRPr lang="LID4096"/>
          </a:p>
        </p:txBody>
      </p:sp>
      <p:sp>
        <p:nvSpPr>
          <p:cNvPr id="6" name="תיבת טקסט 5">
            <a:extLst>
              <a:ext uri="{FF2B5EF4-FFF2-40B4-BE49-F238E27FC236}">
                <a16:creationId xmlns:a16="http://schemas.microsoft.com/office/drawing/2014/main" id="{960CF46D-3B43-9061-DB83-3D9078BB1754}"/>
              </a:ext>
            </a:extLst>
          </p:cNvPr>
          <p:cNvSpPr txBox="1"/>
          <p:nvPr/>
        </p:nvSpPr>
        <p:spPr>
          <a:xfrm>
            <a:off x="4343400" y="1156726"/>
            <a:ext cx="7224123" cy="1323439"/>
          </a:xfrm>
          <a:prstGeom prst="rect">
            <a:avLst/>
          </a:prstGeom>
          <a:noFill/>
        </p:spPr>
        <p:txBody>
          <a:bodyPr wrap="square" rtlCol="0">
            <a:spAutoFit/>
          </a:bodyPr>
          <a:lstStyle/>
          <a:p>
            <a:r>
              <a:rPr lang="he-IL" sz="2000">
                <a:latin typeface="Assistant" pitchFamily="2" charset="-79"/>
                <a:cs typeface="Assistant" pitchFamily="2" charset="-79"/>
              </a:rPr>
              <a:t>ב. האדריכליות שוקלות לשנות את הזווית הידועה </a:t>
            </a:r>
            <a:r>
              <a:rPr lang="en-US" sz="2000">
                <a:latin typeface="Assistant" pitchFamily="2" charset="-79"/>
                <a:cs typeface="Assistant" pitchFamily="2" charset="-79"/>
              </a:rPr>
              <a:t>° </a:t>
            </a:r>
            <a:r>
              <a:rPr lang="he-IL" sz="2000">
                <a:latin typeface="Assistant" pitchFamily="2" charset="-79"/>
                <a:cs typeface="Assistant" pitchFamily="2" charset="-79"/>
              </a:rPr>
              <a:t>60 = </a:t>
            </a:r>
            <a:r>
              <a:rPr lang="en-US" sz="2000">
                <a:latin typeface="Assistant" pitchFamily="2" charset="-79"/>
                <a:cs typeface="Assistant" pitchFamily="2" charset="-79"/>
              </a:rPr>
              <a:t>BAC </a:t>
            </a:r>
            <a:r>
              <a:rPr lang="he-IL" sz="2000">
                <a:latin typeface="Assistant" pitchFamily="2" charset="-79"/>
                <a:cs typeface="Assistant" pitchFamily="2" charset="-79"/>
              </a:rPr>
              <a:t>∢, אך להשאיר את היחס בין שתי הזוויות האחרות כמו שהיה-  3:5.</a:t>
            </a:r>
          </a:p>
          <a:p>
            <a:endParaRPr lang="he-IL" sz="2000" b="1">
              <a:solidFill>
                <a:srgbClr val="00B0F0"/>
              </a:solidFill>
              <a:latin typeface="Assistant" pitchFamily="2" charset="-79"/>
              <a:cs typeface="Assistant" pitchFamily="2" charset="-79"/>
            </a:endParaRPr>
          </a:p>
          <a:p>
            <a:r>
              <a:rPr lang="he-IL" sz="2000" b="1">
                <a:solidFill>
                  <a:srgbClr val="00B0F0"/>
                </a:solidFill>
                <a:latin typeface="Assistant" pitchFamily="2" charset="-79"/>
                <a:cs typeface="Assistant" pitchFamily="2" charset="-79"/>
              </a:rPr>
              <a:t>קבעו לגבי כל אחת מהטענות הבאות האם היא נכונה או לא נכונה:</a:t>
            </a:r>
          </a:p>
        </p:txBody>
      </p:sp>
      <p:sp>
        <p:nvSpPr>
          <p:cNvPr id="2" name="מלבן: פינות מעוגלות 1">
            <a:extLst>
              <a:ext uri="{FF2B5EF4-FFF2-40B4-BE49-F238E27FC236}">
                <a16:creationId xmlns:a16="http://schemas.microsoft.com/office/drawing/2014/main" id="{4EE54E70-6AFE-1ACF-BE7D-3F8C441094DE}"/>
              </a:ext>
            </a:extLst>
          </p:cNvPr>
          <p:cNvSpPr/>
          <p:nvPr/>
        </p:nvSpPr>
        <p:spPr>
          <a:xfrm>
            <a:off x="2179982" y="6182142"/>
            <a:ext cx="2481470" cy="506891"/>
          </a:xfrm>
          <a:prstGeom prst="roundRect">
            <a:avLst>
              <a:gd name="adj" fmla="val 50000"/>
            </a:avLst>
          </a:prstGeom>
          <a:noFill/>
          <a:ln>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he-IL">
                <a:solidFill>
                  <a:srgbClr val="00B0F0"/>
                </a:solidFill>
              </a:rPr>
              <a:t>     אפשר רמז?</a:t>
            </a:r>
            <a:endParaRPr lang="LID4096">
              <a:solidFill>
                <a:srgbClr val="00B0F0"/>
              </a:solidFill>
            </a:endParaRPr>
          </a:p>
        </p:txBody>
      </p:sp>
      <p:pic>
        <p:nvPicPr>
          <p:cNvPr id="12" name="גרפיקה 11" descr="נורת חשמל וגלגל שיניים עם מילוי מלא">
            <a:extLst>
              <a:ext uri="{FF2B5EF4-FFF2-40B4-BE49-F238E27FC236}">
                <a16:creationId xmlns:a16="http://schemas.microsoft.com/office/drawing/2014/main" id="{F87C8E79-2AE3-34E3-1904-7AE39B9C3DBC}"/>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831910" y="6266545"/>
            <a:ext cx="338083" cy="338083"/>
          </a:xfrm>
          <a:prstGeom prst="rect">
            <a:avLst/>
          </a:prstGeom>
        </p:spPr>
      </p:pic>
      <p:pic>
        <p:nvPicPr>
          <p:cNvPr id="3" name="תמונה 2">
            <a:extLst>
              <a:ext uri="{FF2B5EF4-FFF2-40B4-BE49-F238E27FC236}">
                <a16:creationId xmlns:a16="http://schemas.microsoft.com/office/drawing/2014/main" id="{6E505DF9-7FCF-2F6C-58C7-D43DF40CC49C}"/>
              </a:ext>
            </a:extLst>
          </p:cNvPr>
          <p:cNvPicPr>
            <a:picLocks noChangeAspect="1"/>
          </p:cNvPicPr>
          <p:nvPr/>
        </p:nvPicPr>
        <p:blipFill>
          <a:blip r:embed="rId5">
            <a:extLst>
              <a:ext uri="{28A0092B-C50C-407E-A947-70E740481C1C}">
                <a14:useLocalDpi xmlns:a14="http://schemas.microsoft.com/office/drawing/2010/main"/>
              </a:ext>
            </a:extLst>
          </a:blip>
          <a:stretch>
            <a:fillRect/>
          </a:stretch>
        </p:blipFill>
        <p:spPr>
          <a:xfrm>
            <a:off x="0" y="57121"/>
            <a:ext cx="933869" cy="721626"/>
          </a:xfrm>
          <a:prstGeom prst="rect">
            <a:avLst/>
          </a:prstGeom>
        </p:spPr>
      </p:pic>
      <p:sp>
        <p:nvSpPr>
          <p:cNvPr id="7" name="מלבן: פינות מעוגלות 6">
            <a:extLst>
              <a:ext uri="{FF2B5EF4-FFF2-40B4-BE49-F238E27FC236}">
                <a16:creationId xmlns:a16="http://schemas.microsoft.com/office/drawing/2014/main" id="{649390DD-4125-DF18-1115-661D21CD57E1}"/>
              </a:ext>
            </a:extLst>
          </p:cNvPr>
          <p:cNvSpPr/>
          <p:nvPr/>
        </p:nvSpPr>
        <p:spPr>
          <a:xfrm>
            <a:off x="10244695" y="6193485"/>
            <a:ext cx="1798983" cy="506891"/>
          </a:xfrm>
          <a:prstGeom prst="roundRect">
            <a:avLst>
              <a:gd name="adj" fmla="val 50000"/>
            </a:avLst>
          </a:prstGeom>
          <a:noFill/>
          <a:ln>
            <a:solidFill>
              <a:srgbClr val="019DE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he-IL">
                <a:solidFill>
                  <a:srgbClr val="019DE5"/>
                </a:solidFill>
                <a:latin typeface="Assistant" pitchFamily="2" charset="-79"/>
                <a:cs typeface="Assistant" pitchFamily="2" charset="-79"/>
              </a:rPr>
              <a:t>חזרה</a:t>
            </a:r>
            <a:endParaRPr lang="LID4096">
              <a:solidFill>
                <a:srgbClr val="019DE5"/>
              </a:solidFill>
              <a:latin typeface="Assistant" pitchFamily="2" charset="-79"/>
              <a:cs typeface="Assistant" pitchFamily="2" charset="-79"/>
            </a:endParaRPr>
          </a:p>
        </p:txBody>
      </p:sp>
      <p:pic>
        <p:nvPicPr>
          <p:cNvPr id="9" name="תמונה 8">
            <a:extLst>
              <a:ext uri="{FF2B5EF4-FFF2-40B4-BE49-F238E27FC236}">
                <a16:creationId xmlns:a16="http://schemas.microsoft.com/office/drawing/2014/main" id="{C8A6E218-4581-5C23-3F06-F687502D5DAB}"/>
              </a:ext>
            </a:extLst>
          </p:cNvPr>
          <p:cNvPicPr>
            <a:picLocks noChangeAspect="1"/>
          </p:cNvPicPr>
          <p:nvPr/>
        </p:nvPicPr>
        <p:blipFill>
          <a:blip r:embed="rId6">
            <a:extLst>
              <a:ext uri="{28A0092B-C50C-407E-A947-70E740481C1C}">
                <a14:useLocalDpi xmlns:a14="http://schemas.microsoft.com/office/drawing/2010/main"/>
              </a:ext>
            </a:extLst>
          </a:blip>
          <a:stretch>
            <a:fillRect/>
          </a:stretch>
        </p:blipFill>
        <p:spPr>
          <a:xfrm>
            <a:off x="2803561" y="417934"/>
            <a:ext cx="7847619" cy="558730"/>
          </a:xfrm>
          <a:prstGeom prst="rect">
            <a:avLst/>
          </a:prstGeom>
        </p:spPr>
      </p:pic>
      <p:sp>
        <p:nvSpPr>
          <p:cNvPr id="11" name="מלבן 10">
            <a:extLst>
              <a:ext uri="{FF2B5EF4-FFF2-40B4-BE49-F238E27FC236}">
                <a16:creationId xmlns:a16="http://schemas.microsoft.com/office/drawing/2014/main" id="{83C35383-89E4-4E56-44F4-55F5D7CB5D83}"/>
              </a:ext>
            </a:extLst>
          </p:cNvPr>
          <p:cNvSpPr/>
          <p:nvPr/>
        </p:nvSpPr>
        <p:spPr>
          <a:xfrm>
            <a:off x="-115414" y="-1103086"/>
            <a:ext cx="2295396" cy="976083"/>
          </a:xfrm>
          <a:prstGeom prst="rect">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he-IL" sz="1800" b="1" i="0" u="none" strike="noStrike" kern="1200" cap="none" spc="0" normalizeH="0" baseline="0" noProof="0">
                <a:ln>
                  <a:noFill/>
                </a:ln>
                <a:solidFill>
                  <a:prstClr val="black"/>
                </a:solidFill>
                <a:effectLst/>
                <a:uLnTx/>
                <a:uFillTx/>
                <a:latin typeface="Assistant" pitchFamily="2" charset="-79"/>
                <a:ea typeface="+mn-ea"/>
                <a:cs typeface="Assistant" pitchFamily="2" charset="-79"/>
                <a:hlinkClick r:id="rId7"/>
              </a:rPr>
              <a:t>רמת חשיבה</a:t>
            </a:r>
            <a:endParaRPr kumimoji="0" lang="he-IL" sz="1800" b="1" i="0" u="none" strike="noStrike" kern="1200" cap="none" spc="0" normalizeH="0" baseline="0" noProof="0">
              <a:ln>
                <a:noFill/>
              </a:ln>
              <a:solidFill>
                <a:prstClr val="black"/>
              </a:solidFill>
              <a:effectLst/>
              <a:uLnTx/>
              <a:uFillTx/>
              <a:latin typeface="Assistant" pitchFamily="2" charset="-79"/>
              <a:ea typeface="+mn-ea"/>
              <a:cs typeface="Assistant" pitchFamily="2" charset="-79"/>
            </a:endParaRPr>
          </a:p>
          <a:p>
            <a:pPr marL="285750" marR="0" lvl="0" indent="-285750" defTabSz="91440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he-IL" sz="1800" i="0" u="none" strike="noStrike" kern="1200" cap="none" spc="0" normalizeH="0" baseline="0" noProof="0">
                <a:ln>
                  <a:noFill/>
                </a:ln>
                <a:solidFill>
                  <a:prstClr val="black"/>
                </a:solidFill>
                <a:effectLst/>
                <a:uLnTx/>
                <a:uFillTx/>
                <a:latin typeface="Assistant" pitchFamily="2" charset="-79"/>
                <a:ea typeface="+mn-ea"/>
                <a:cs typeface="Assistant" pitchFamily="2" charset="-79"/>
              </a:rPr>
              <a:t>טקסט </a:t>
            </a:r>
          </a:p>
          <a:p>
            <a:pPr marL="285750" marR="0" lvl="0" indent="-285750" defTabSz="914400" eaLnBrk="1" fontAlgn="auto" latinLnBrk="0" hangingPunct="1">
              <a:lnSpc>
                <a:spcPct val="100000"/>
              </a:lnSpc>
              <a:spcBef>
                <a:spcPts val="0"/>
              </a:spcBef>
              <a:spcAft>
                <a:spcPts val="0"/>
              </a:spcAft>
              <a:buClrTx/>
              <a:buSzTx/>
              <a:buFont typeface="Arial" panose="020B0604020202020204" pitchFamily="34" charset="0"/>
              <a:buChar char="•"/>
              <a:tabLst/>
              <a:defRPr/>
            </a:pPr>
            <a:r>
              <a:rPr lang="he-IL">
                <a:solidFill>
                  <a:prstClr val="black"/>
                </a:solidFill>
                <a:latin typeface="Assistant" pitchFamily="2" charset="-79"/>
                <a:cs typeface="Assistant" pitchFamily="2" charset="-79"/>
              </a:rPr>
              <a:t>טקסט</a:t>
            </a:r>
            <a:endParaRPr kumimoji="0" lang="he-IL" sz="1800" i="0" u="none" strike="noStrike" kern="1200" cap="none" spc="0" normalizeH="0" baseline="0" noProof="0">
              <a:ln>
                <a:noFill/>
              </a:ln>
              <a:solidFill>
                <a:prstClr val="black"/>
              </a:solidFill>
              <a:effectLst/>
              <a:uLnTx/>
              <a:uFillTx/>
              <a:latin typeface="Assistant" pitchFamily="2" charset="-79"/>
              <a:ea typeface="+mn-ea"/>
              <a:cs typeface="Assistant" pitchFamily="2" charset="-79"/>
            </a:endParaRPr>
          </a:p>
        </p:txBody>
      </p:sp>
      <p:pic>
        <p:nvPicPr>
          <p:cNvPr id="29" name="גרפיקה 28" descr="נורת חשמל וגלגל שיניים עם מילוי מלא">
            <a:extLst>
              <a:ext uri="{FF2B5EF4-FFF2-40B4-BE49-F238E27FC236}">
                <a16:creationId xmlns:a16="http://schemas.microsoft.com/office/drawing/2014/main" id="{56688F55-1B94-B4C4-D949-BBD858242C95}"/>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1098973" y="489982"/>
            <a:ext cx="338083" cy="338083"/>
          </a:xfrm>
          <a:prstGeom prst="rect">
            <a:avLst/>
          </a:prstGeom>
        </p:spPr>
      </p:pic>
      <mc:AlternateContent xmlns:mc="http://schemas.openxmlformats.org/markup-compatibility/2006" xmlns:a14="http://schemas.microsoft.com/office/drawing/2010/main">
        <mc:Choice Requires="a14">
          <p:sp>
            <p:nvSpPr>
              <p:cNvPr id="25" name="מלבן: פינות מעוגלות 9">
                <a:extLst>
                  <a:ext uri="{FF2B5EF4-FFF2-40B4-BE49-F238E27FC236}">
                    <a16:creationId xmlns:a16="http://schemas.microsoft.com/office/drawing/2014/main" id="{6A3E34DE-DC3B-7106-7724-424A9EEF8439}"/>
                  </a:ext>
                </a:extLst>
              </p:cNvPr>
              <p:cNvSpPr/>
              <p:nvPr/>
            </p:nvSpPr>
            <p:spPr>
              <a:xfrm>
                <a:off x="-5314887" y="4034705"/>
                <a:ext cx="4906656" cy="4463680"/>
              </a:xfrm>
              <a:prstGeom prst="roundRect">
                <a:avLst>
                  <a:gd name="adj" fmla="val 1647"/>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he-IL" sz="2000" b="1">
                    <a:solidFill>
                      <a:schemeClr val="tx1"/>
                    </a:solidFill>
                    <a:latin typeface="Assistant" pitchFamily="2" charset="-79"/>
                    <a:cs typeface="Assistant" pitchFamily="2" charset="-79"/>
                  </a:rPr>
                  <a:t>כל הכבוד, צדקתם! / טעיתם. לא נורא, מטעויות לומדים</a:t>
                </a:r>
              </a:p>
              <a:p>
                <a:r>
                  <a:rPr lang="he-IL">
                    <a:solidFill>
                      <a:schemeClr val="tx1"/>
                    </a:solidFill>
                    <a:latin typeface="Assistant" pitchFamily="2" charset="-79"/>
                    <a:cs typeface="Assistant" pitchFamily="2" charset="-79"/>
                  </a:rPr>
                  <a:t>1. אם זווית </a:t>
                </a:r>
                <a:r>
                  <a:rPr lang="en-US">
                    <a:solidFill>
                      <a:schemeClr val="tx1"/>
                    </a:solidFill>
                    <a:latin typeface="Assistant" pitchFamily="2" charset="-79"/>
                    <a:cs typeface="Assistant" pitchFamily="2" charset="-79"/>
                  </a:rPr>
                  <a:t>BAC </a:t>
                </a:r>
                <a:r>
                  <a:rPr lang="he-IL">
                    <a:solidFill>
                      <a:schemeClr val="tx1"/>
                    </a:solidFill>
                    <a:latin typeface="Assistant" pitchFamily="2" charset="-79"/>
                    <a:cs typeface="Assistant" pitchFamily="2" charset="-79"/>
                  </a:rPr>
                  <a:t>∢ תהיה בת </a:t>
                </a:r>
                <a14:m>
                  <m:oMath xmlns:m="http://schemas.openxmlformats.org/officeDocument/2006/math">
                    <m:r>
                      <a:rPr lang="en-US" b="0" i="0" smtClean="0">
                        <a:solidFill>
                          <a:schemeClr val="tx1"/>
                        </a:solidFill>
                        <a:latin typeface="Cambria Math" panose="02040503050406030204" pitchFamily="18" charset="0"/>
                      </a:rPr>
                      <m:t>100</m:t>
                    </m:r>
                    <m:r>
                      <a:rPr lang="en-US" b="1" i="1">
                        <a:solidFill>
                          <a:schemeClr val="tx1"/>
                        </a:solidFill>
                        <a:latin typeface="Cambria Math" panose="02040503050406030204" pitchFamily="18" charset="0"/>
                      </a:rPr>
                      <m:t>°</m:t>
                    </m:r>
                  </m:oMath>
                </a14:m>
                <a:r>
                  <a:rPr lang="he-IL">
                    <a:solidFill>
                      <a:schemeClr val="tx1"/>
                    </a:solidFill>
                    <a:latin typeface="Assistant" pitchFamily="2" charset="-79"/>
                    <a:cs typeface="Assistant" pitchFamily="2" charset="-79"/>
                  </a:rPr>
                  <a:t>, אז סכום שתי האחרות יהיה </a:t>
                </a:r>
                <a14:m>
                  <m:oMath xmlns:m="http://schemas.openxmlformats.org/officeDocument/2006/math">
                    <m:r>
                      <a:rPr lang="en-US" i="1">
                        <a:solidFill>
                          <a:schemeClr val="tx1"/>
                        </a:solidFill>
                        <a:latin typeface="Cambria Math" panose="02040503050406030204" pitchFamily="18" charset="0"/>
                        <a:cs typeface="Assistant" pitchFamily="2" charset="-79"/>
                      </a:rPr>
                      <m:t>180</m:t>
                    </m:r>
                    <m:r>
                      <a:rPr lang="en-US" i="1">
                        <a:solidFill>
                          <a:schemeClr val="tx1"/>
                        </a:solidFill>
                        <a:latin typeface="Cambria Math" panose="02040503050406030204" pitchFamily="18" charset="0"/>
                        <a:ea typeface="Cambria Math" panose="02040503050406030204" pitchFamily="18" charset="0"/>
                        <a:cs typeface="Assistant" pitchFamily="2" charset="-79"/>
                      </a:rPr>
                      <m:t>°</m:t>
                    </m:r>
                    <m:r>
                      <a:rPr lang="en-US" i="1">
                        <a:solidFill>
                          <a:schemeClr val="tx1"/>
                        </a:solidFill>
                        <a:latin typeface="Cambria Math" panose="02040503050406030204" pitchFamily="18" charset="0"/>
                        <a:cs typeface="Assistant" pitchFamily="2" charset="-79"/>
                      </a:rPr>
                      <m:t>−</m:t>
                    </m:r>
                    <m:r>
                      <a:rPr lang="en-US" b="0" i="1" smtClean="0">
                        <a:solidFill>
                          <a:schemeClr val="tx1"/>
                        </a:solidFill>
                        <a:latin typeface="Cambria Math" panose="02040503050406030204" pitchFamily="18" charset="0"/>
                        <a:cs typeface="Assistant" pitchFamily="2" charset="-79"/>
                      </a:rPr>
                      <m:t>100</m:t>
                    </m:r>
                    <m:r>
                      <a:rPr lang="en-US" i="1">
                        <a:solidFill>
                          <a:schemeClr val="tx1"/>
                        </a:solidFill>
                        <a:latin typeface="Cambria Math" panose="02040503050406030204" pitchFamily="18" charset="0"/>
                        <a:ea typeface="Cambria Math" panose="02040503050406030204" pitchFamily="18" charset="0"/>
                        <a:cs typeface="Assistant" pitchFamily="2" charset="-79"/>
                      </a:rPr>
                      <m:t>°</m:t>
                    </m:r>
                    <m:r>
                      <a:rPr lang="en-US" i="1">
                        <a:solidFill>
                          <a:schemeClr val="tx1"/>
                        </a:solidFill>
                        <a:latin typeface="Cambria Math" panose="02040503050406030204" pitchFamily="18" charset="0"/>
                        <a:cs typeface="Assistant" pitchFamily="2" charset="-79"/>
                      </a:rPr>
                      <m:t>=</m:t>
                    </m:r>
                    <m:r>
                      <a:rPr lang="en-US" b="0" i="1" smtClean="0">
                        <a:solidFill>
                          <a:schemeClr val="tx1"/>
                        </a:solidFill>
                        <a:latin typeface="Cambria Math" panose="02040503050406030204" pitchFamily="18" charset="0"/>
                        <a:cs typeface="Assistant" pitchFamily="2" charset="-79"/>
                      </a:rPr>
                      <m:t>80</m:t>
                    </m:r>
                    <m:r>
                      <a:rPr lang="en-US" i="1">
                        <a:solidFill>
                          <a:schemeClr val="tx1"/>
                        </a:solidFill>
                        <a:latin typeface="Cambria Math" panose="02040503050406030204" pitchFamily="18" charset="0"/>
                        <a:ea typeface="Cambria Math" panose="02040503050406030204" pitchFamily="18" charset="0"/>
                        <a:cs typeface="Assistant" pitchFamily="2" charset="-79"/>
                      </a:rPr>
                      <m:t>°</m:t>
                    </m:r>
                  </m:oMath>
                </a14:m>
                <a:r>
                  <a:rPr lang="he-IL">
                    <a:solidFill>
                      <a:schemeClr val="tx1"/>
                    </a:solidFill>
                    <a:latin typeface="Assistant" pitchFamily="2" charset="-79"/>
                    <a:cs typeface="Assistant" pitchFamily="2" charset="-79"/>
                  </a:rPr>
                  <a:t>.</a:t>
                </a:r>
                <a:endParaRPr lang="en-US">
                  <a:solidFill>
                    <a:schemeClr val="tx1"/>
                  </a:solidFill>
                  <a:latin typeface="Assistant" pitchFamily="2" charset="-79"/>
                  <a:cs typeface="Assistant" pitchFamily="2" charset="-79"/>
                </a:endParaRPr>
              </a:p>
              <a:p>
                <a:r>
                  <a:rPr lang="he-IL">
                    <a:solidFill>
                      <a:schemeClr val="tx1"/>
                    </a:solidFill>
                    <a:latin typeface="Assistant" pitchFamily="2" charset="-79"/>
                    <a:cs typeface="Assistant" pitchFamily="2" charset="-79"/>
                  </a:rPr>
                  <a:t>אם היחס הוא </a:t>
                </a:r>
                <a:r>
                  <a:rPr lang="en-US">
                    <a:solidFill>
                      <a:schemeClr val="tx1"/>
                    </a:solidFill>
                    <a:latin typeface="Assistant" pitchFamily="2" charset="-79"/>
                    <a:cs typeface="Assistant" pitchFamily="2" charset="-79"/>
                  </a:rPr>
                  <a:t>5 : 3</a:t>
                </a:r>
                <a:r>
                  <a:rPr lang="he-IL">
                    <a:solidFill>
                      <a:schemeClr val="tx1"/>
                    </a:solidFill>
                    <a:latin typeface="Assistant" pitchFamily="2" charset="-79"/>
                    <a:cs typeface="Assistant" pitchFamily="2" charset="-79"/>
                  </a:rPr>
                  <a:t>, אז גודל הזווית הקטנה מבין השתיים הוא : </a:t>
                </a:r>
                <a14:m>
                  <m:oMath xmlns:m="http://schemas.openxmlformats.org/officeDocument/2006/math">
                    <m:f>
                      <m:fPr>
                        <m:ctrlPr>
                          <a:rPr lang="en-US" i="1">
                            <a:solidFill>
                              <a:schemeClr val="tx1"/>
                            </a:solidFill>
                            <a:latin typeface="Cambria Math" panose="02040503050406030204" pitchFamily="18" charset="0"/>
                          </a:rPr>
                        </m:ctrlPr>
                      </m:fPr>
                      <m:num>
                        <m:r>
                          <a:rPr lang="en-US" i="1">
                            <a:solidFill>
                              <a:schemeClr val="tx1"/>
                            </a:solidFill>
                            <a:latin typeface="Cambria Math" panose="02040503050406030204" pitchFamily="18" charset="0"/>
                          </a:rPr>
                          <m:t>3</m:t>
                        </m:r>
                      </m:num>
                      <m:den>
                        <m:r>
                          <a:rPr lang="en-US" i="1">
                            <a:solidFill>
                              <a:schemeClr val="tx1"/>
                            </a:solidFill>
                            <a:latin typeface="Cambria Math" panose="02040503050406030204" pitchFamily="18" charset="0"/>
                          </a:rPr>
                          <m:t>8</m:t>
                        </m:r>
                      </m:den>
                    </m:f>
                    <m:r>
                      <a:rPr lang="en-US" i="1">
                        <a:solidFill>
                          <a:schemeClr val="tx1"/>
                        </a:solidFill>
                        <a:latin typeface="Cambria Math" panose="02040503050406030204" pitchFamily="18" charset="0"/>
                      </a:rPr>
                      <m:t>⋅80= 30</m:t>
                    </m:r>
                    <m:r>
                      <a:rPr lang="en-US" i="1" smtClean="0">
                        <a:solidFill>
                          <a:schemeClr val="tx1"/>
                        </a:solidFill>
                        <a:latin typeface="Cambria Math" panose="02040503050406030204" pitchFamily="18" charset="0"/>
                      </a:rPr>
                      <m:t>°</m:t>
                    </m:r>
                  </m:oMath>
                </a14:m>
                <a:r>
                  <a:rPr lang="he-IL">
                    <a:solidFill>
                      <a:schemeClr val="tx1"/>
                    </a:solidFill>
                    <a:latin typeface="Assistant" pitchFamily="2" charset="-79"/>
                    <a:cs typeface="Assistant" pitchFamily="2" charset="-79"/>
                  </a:rPr>
                  <a:t>.</a:t>
                </a:r>
              </a:p>
              <a:p>
                <a:endParaRPr lang="en-US">
                  <a:solidFill>
                    <a:schemeClr val="tx1"/>
                  </a:solidFill>
                  <a:latin typeface="Assistant" pitchFamily="2" charset="-79"/>
                  <a:cs typeface="Assistant" pitchFamily="2" charset="-79"/>
                </a:endParaRPr>
              </a:p>
              <a:p>
                <a:r>
                  <a:rPr lang="he-IL">
                    <a:solidFill>
                      <a:schemeClr val="tx1"/>
                    </a:solidFill>
                    <a:latin typeface="Assistant" pitchFamily="2" charset="-79"/>
                    <a:cs typeface="Assistant" pitchFamily="2" charset="-79"/>
                  </a:rPr>
                  <a:t>2. מאחר והיחס הוא </a:t>
                </a:r>
                <a:r>
                  <a:rPr lang="en-US">
                    <a:solidFill>
                      <a:schemeClr val="tx1"/>
                    </a:solidFill>
                    <a:latin typeface="Assistant" pitchFamily="2" charset="-79"/>
                    <a:cs typeface="Assistant" pitchFamily="2" charset="-79"/>
                  </a:rPr>
                  <a:t>5 : 3</a:t>
                </a:r>
                <a:r>
                  <a:rPr lang="he-IL">
                    <a:solidFill>
                      <a:schemeClr val="tx1"/>
                    </a:solidFill>
                    <a:latin typeface="Assistant" pitchFamily="2" charset="-79"/>
                    <a:cs typeface="Assistant" pitchFamily="2" charset="-79"/>
                  </a:rPr>
                  <a:t>, כדי לקבל זוויות שלמות עלינו לקבל שסכום שתי הזוויות האחרות מתחלק ב-</a:t>
                </a:r>
                <a:r>
                  <a:rPr lang="en-US">
                    <a:solidFill>
                      <a:schemeClr val="tx1"/>
                    </a:solidFill>
                    <a:latin typeface="Assistant" pitchFamily="2" charset="-79"/>
                    <a:cs typeface="Assistant" pitchFamily="2" charset="-79"/>
                  </a:rPr>
                  <a:t>8</a:t>
                </a:r>
                <a:r>
                  <a:rPr lang="he-IL">
                    <a:solidFill>
                      <a:schemeClr val="tx1"/>
                    </a:solidFill>
                    <a:latin typeface="Assistant" pitchFamily="2" charset="-79"/>
                    <a:cs typeface="Assistant" pitchFamily="2" charset="-79"/>
                  </a:rPr>
                  <a:t> (8=3+5).</a:t>
                </a:r>
                <a:endParaRPr lang="en-US">
                  <a:solidFill>
                    <a:schemeClr val="tx1"/>
                  </a:solidFill>
                  <a:latin typeface="Assistant" pitchFamily="2" charset="-79"/>
                  <a:cs typeface="Assistant" pitchFamily="2" charset="-79"/>
                </a:endParaRPr>
              </a:p>
              <a:p>
                <a:endParaRPr lang="he-IL">
                  <a:solidFill>
                    <a:schemeClr val="tx1"/>
                  </a:solidFill>
                  <a:latin typeface="Assistant" pitchFamily="2" charset="-79"/>
                  <a:cs typeface="Assistant" pitchFamily="2" charset="-79"/>
                </a:endParaRPr>
              </a:p>
              <a:p>
                <a:r>
                  <a:rPr lang="he-IL">
                    <a:solidFill>
                      <a:schemeClr val="tx1"/>
                    </a:solidFill>
                    <a:latin typeface="Assistant" pitchFamily="2" charset="-79"/>
                    <a:cs typeface="Assistant" pitchFamily="2" charset="-79"/>
                  </a:rPr>
                  <a:t>3. אם </a:t>
                </a:r>
                <a:r>
                  <a:rPr lang="en-US">
                    <a:solidFill>
                      <a:schemeClr val="tx1"/>
                    </a:solidFill>
                    <a:latin typeface="Assistant" pitchFamily="2" charset="-79"/>
                    <a:cs typeface="Assistant" pitchFamily="2" charset="-79"/>
                  </a:rPr>
                  <a:t>BAC </a:t>
                </a:r>
                <a:r>
                  <a:rPr lang="he-IL">
                    <a:solidFill>
                      <a:schemeClr val="tx1"/>
                    </a:solidFill>
                    <a:latin typeface="Assistant" pitchFamily="2" charset="-79"/>
                    <a:cs typeface="Assistant" pitchFamily="2" charset="-79"/>
                  </a:rPr>
                  <a:t>∢ תהיה בת </a:t>
                </a:r>
                <a14:m>
                  <m:oMath xmlns:m="http://schemas.openxmlformats.org/officeDocument/2006/math">
                    <m:r>
                      <a:rPr lang="en-US" i="1">
                        <a:solidFill>
                          <a:schemeClr val="tx1"/>
                        </a:solidFill>
                        <a:latin typeface="Cambria Math" panose="02040503050406030204" pitchFamily="18" charset="0"/>
                      </a:rPr>
                      <m:t>20</m:t>
                    </m:r>
                    <m:r>
                      <a:rPr lang="en-US" b="1" i="1">
                        <a:solidFill>
                          <a:schemeClr val="tx1"/>
                        </a:solidFill>
                        <a:latin typeface="Cambria Math" panose="02040503050406030204" pitchFamily="18" charset="0"/>
                      </a:rPr>
                      <m:t>°</m:t>
                    </m:r>
                  </m:oMath>
                </a14:m>
                <a:r>
                  <a:rPr lang="he-IL">
                    <a:solidFill>
                      <a:schemeClr val="tx1"/>
                    </a:solidFill>
                    <a:latin typeface="Assistant" pitchFamily="2" charset="-79"/>
                    <a:cs typeface="Assistant" pitchFamily="2" charset="-79"/>
                  </a:rPr>
                  <a:t>, אז גודלן של שתי האחרות הוא </a:t>
                </a:r>
                <a:r>
                  <a:rPr lang="en-US">
                    <a:solidFill>
                      <a:schemeClr val="tx1"/>
                    </a:solidFill>
                    <a:latin typeface="Assistant" pitchFamily="2" charset="-79"/>
                    <a:cs typeface="Assistant" pitchFamily="2" charset="-79"/>
                  </a:rPr>
                  <a:t> </a:t>
                </a:r>
                <a14:m>
                  <m:oMath xmlns:m="http://schemas.openxmlformats.org/officeDocument/2006/math">
                    <m:r>
                      <a:rPr lang="en-US" i="1">
                        <a:solidFill>
                          <a:schemeClr val="tx1"/>
                        </a:solidFill>
                        <a:latin typeface="Cambria Math" panose="02040503050406030204" pitchFamily="18" charset="0"/>
                      </a:rPr>
                      <m:t>160</m:t>
                    </m:r>
                    <m:r>
                      <a:rPr lang="en-US" b="1" i="1">
                        <a:solidFill>
                          <a:schemeClr val="tx1"/>
                        </a:solidFill>
                        <a:latin typeface="Cambria Math" panose="02040503050406030204" pitchFamily="18" charset="0"/>
                      </a:rPr>
                      <m:t>°</m:t>
                    </m:r>
                  </m:oMath>
                </a14:m>
                <a:r>
                  <a:rPr lang="he-IL">
                    <a:solidFill>
                      <a:schemeClr val="tx1"/>
                    </a:solidFill>
                    <a:latin typeface="Assistant" pitchFamily="2" charset="-79"/>
                    <a:cs typeface="Assistant" pitchFamily="2" charset="-79"/>
                  </a:rPr>
                  <a:t> = </a:t>
                </a:r>
                <a:r>
                  <a:rPr lang="en-US">
                    <a:solidFill>
                      <a:schemeClr val="tx1"/>
                    </a:solidFill>
                    <a:latin typeface="Assistant" pitchFamily="2" charset="-79"/>
                    <a:cs typeface="Assistant" pitchFamily="2" charset="-79"/>
                  </a:rPr>
                  <a:t>180 – 20</a:t>
                </a:r>
                <a:r>
                  <a:rPr lang="he-IL">
                    <a:solidFill>
                      <a:schemeClr val="tx1"/>
                    </a:solidFill>
                    <a:latin typeface="Assistant" pitchFamily="2" charset="-79"/>
                    <a:cs typeface="Assistant" pitchFamily="2" charset="-79"/>
                  </a:rPr>
                  <a:t>. מכיוון שהיחס הוא </a:t>
                </a:r>
                <a:r>
                  <a:rPr lang="en-US">
                    <a:solidFill>
                      <a:schemeClr val="tx1"/>
                    </a:solidFill>
                    <a:latin typeface="Assistant" pitchFamily="2" charset="-79"/>
                    <a:cs typeface="Assistant" pitchFamily="2" charset="-79"/>
                  </a:rPr>
                  <a:t>3:5</a:t>
                </a:r>
                <a:r>
                  <a:rPr lang="he-IL">
                    <a:solidFill>
                      <a:schemeClr val="tx1"/>
                    </a:solidFill>
                    <a:latin typeface="Assistant" pitchFamily="2" charset="-79"/>
                    <a:cs typeface="Assistant" pitchFamily="2" charset="-79"/>
                  </a:rPr>
                  <a:t>, אז נקבל:</a:t>
                </a:r>
                <a:br>
                  <a:rPr lang="en-US">
                    <a:solidFill>
                      <a:schemeClr val="tx1"/>
                    </a:solidFill>
                    <a:latin typeface="Assistant" pitchFamily="2" charset="-79"/>
                    <a:cs typeface="Assistant" pitchFamily="2" charset="-79"/>
                  </a:rPr>
                </a:br>
                <a:r>
                  <a:rPr lang="he-IL">
                    <a:solidFill>
                      <a:schemeClr val="tx1"/>
                    </a:solidFill>
                    <a:latin typeface="Assistant" pitchFamily="2" charset="-79"/>
                    <a:cs typeface="Assistant" pitchFamily="2" charset="-79"/>
                  </a:rPr>
                  <a:t> </a:t>
                </a:r>
                <a14:m>
                  <m:oMath xmlns:m="http://schemas.openxmlformats.org/officeDocument/2006/math">
                    <m:f>
                      <m:fPr>
                        <m:ctrlPr>
                          <a:rPr lang="en-US" i="1">
                            <a:solidFill>
                              <a:schemeClr val="tx1"/>
                            </a:solidFill>
                            <a:latin typeface="Cambria Math" panose="02040503050406030204" pitchFamily="18" charset="0"/>
                          </a:rPr>
                        </m:ctrlPr>
                      </m:fPr>
                      <m:num>
                        <m:r>
                          <a:rPr lang="en-US" i="1">
                            <a:solidFill>
                              <a:schemeClr val="tx1"/>
                            </a:solidFill>
                            <a:latin typeface="Cambria Math" panose="02040503050406030204" pitchFamily="18" charset="0"/>
                          </a:rPr>
                          <m:t>3</m:t>
                        </m:r>
                      </m:num>
                      <m:den>
                        <m:r>
                          <a:rPr lang="en-US" i="1">
                            <a:solidFill>
                              <a:schemeClr val="tx1"/>
                            </a:solidFill>
                            <a:latin typeface="Cambria Math" panose="02040503050406030204" pitchFamily="18" charset="0"/>
                          </a:rPr>
                          <m:t>8</m:t>
                        </m:r>
                      </m:den>
                    </m:f>
                    <m:r>
                      <a:rPr lang="en-US" i="1">
                        <a:solidFill>
                          <a:schemeClr val="tx1"/>
                        </a:solidFill>
                        <a:latin typeface="Cambria Math" panose="02040503050406030204" pitchFamily="18" charset="0"/>
                      </a:rPr>
                      <m:t>⋅160=60°</m:t>
                    </m:r>
                  </m:oMath>
                </a14:m>
                <a:r>
                  <a:rPr lang="he-IL">
                    <a:solidFill>
                      <a:schemeClr val="tx1"/>
                    </a:solidFill>
                    <a:latin typeface="Assistant" pitchFamily="2" charset="-79"/>
                    <a:cs typeface="Assistant" pitchFamily="2" charset="-79"/>
                  </a:rPr>
                  <a:t>  או  </a:t>
                </a:r>
                <a14:m>
                  <m:oMath xmlns:m="http://schemas.openxmlformats.org/officeDocument/2006/math">
                    <m:f>
                      <m:fPr>
                        <m:ctrlPr>
                          <a:rPr lang="en-US" i="1">
                            <a:solidFill>
                              <a:schemeClr val="tx1"/>
                            </a:solidFill>
                            <a:latin typeface="Cambria Math" panose="02040503050406030204" pitchFamily="18" charset="0"/>
                          </a:rPr>
                        </m:ctrlPr>
                      </m:fPr>
                      <m:num>
                        <m:r>
                          <a:rPr lang="en-US" i="1">
                            <a:solidFill>
                              <a:schemeClr val="tx1"/>
                            </a:solidFill>
                            <a:latin typeface="Cambria Math" panose="02040503050406030204" pitchFamily="18" charset="0"/>
                          </a:rPr>
                          <m:t>5</m:t>
                        </m:r>
                      </m:num>
                      <m:den>
                        <m:r>
                          <a:rPr lang="en-US" i="1">
                            <a:solidFill>
                              <a:schemeClr val="tx1"/>
                            </a:solidFill>
                            <a:latin typeface="Cambria Math" panose="02040503050406030204" pitchFamily="18" charset="0"/>
                          </a:rPr>
                          <m:t>8</m:t>
                        </m:r>
                      </m:den>
                    </m:f>
                    <m:r>
                      <a:rPr lang="en-US" i="1">
                        <a:solidFill>
                          <a:schemeClr val="tx1"/>
                        </a:solidFill>
                        <a:latin typeface="Cambria Math" panose="02040503050406030204" pitchFamily="18" charset="0"/>
                      </a:rPr>
                      <m:t>⋅160=100°</m:t>
                    </m:r>
                  </m:oMath>
                </a14:m>
                <a:endParaRPr lang="en-US">
                  <a:solidFill>
                    <a:schemeClr val="tx1"/>
                  </a:solidFill>
                  <a:latin typeface="Assistant" pitchFamily="2" charset="-79"/>
                  <a:cs typeface="Assistant" pitchFamily="2" charset="-79"/>
                </a:endParaRPr>
              </a:p>
              <a:p>
                <a:r>
                  <a:rPr lang="he-IL">
                    <a:solidFill>
                      <a:schemeClr val="tx1"/>
                    </a:solidFill>
                    <a:latin typeface="Assistant" pitchFamily="2" charset="-79"/>
                    <a:cs typeface="Assistant" pitchFamily="2" charset="-79"/>
                  </a:rPr>
                  <a:t>ולא זווית ישרה (</a:t>
                </a:r>
                <a14:m>
                  <m:oMath xmlns:m="http://schemas.openxmlformats.org/officeDocument/2006/math">
                    <m:r>
                      <a:rPr lang="he-IL" b="0" i="1" smtClean="0">
                        <a:solidFill>
                          <a:schemeClr val="tx1"/>
                        </a:solidFill>
                        <a:latin typeface="Cambria Math" panose="02040503050406030204" pitchFamily="18" charset="0"/>
                      </a:rPr>
                      <m:t>90</m:t>
                    </m:r>
                    <m:r>
                      <a:rPr lang="he-IL" b="1" i="1" smtClean="0">
                        <a:solidFill>
                          <a:schemeClr val="tx1"/>
                        </a:solidFill>
                        <a:latin typeface="Cambria Math" panose="02040503050406030204" pitchFamily="18" charset="0"/>
                        <a:ea typeface="Cambria Math" panose="02040503050406030204" pitchFamily="18" charset="0"/>
                      </a:rPr>
                      <m:t>°</m:t>
                    </m:r>
                  </m:oMath>
                </a14:m>
                <a:r>
                  <a:rPr lang="he-IL">
                    <a:solidFill>
                      <a:schemeClr val="tx1"/>
                    </a:solidFill>
                    <a:latin typeface="Assistant" pitchFamily="2" charset="-79"/>
                    <a:cs typeface="Assistant" pitchFamily="2" charset="-79"/>
                  </a:rPr>
                  <a:t>).</a:t>
                </a:r>
                <a:endParaRPr lang="en-US">
                  <a:solidFill>
                    <a:schemeClr val="tx1"/>
                  </a:solidFill>
                  <a:latin typeface="Assistant" pitchFamily="2" charset="-79"/>
                  <a:cs typeface="Assistant" pitchFamily="2" charset="-79"/>
                </a:endParaRPr>
              </a:p>
            </p:txBody>
          </p:sp>
        </mc:Choice>
        <mc:Fallback xmlns="">
          <p:sp>
            <p:nvSpPr>
              <p:cNvPr id="25" name="מלבן: פינות מעוגלות 9">
                <a:extLst>
                  <a:ext uri="{FF2B5EF4-FFF2-40B4-BE49-F238E27FC236}">
                    <a16:creationId xmlns:a16="http://schemas.microsoft.com/office/drawing/2014/main" id="{6A3E34DE-DC3B-7106-7724-424A9EEF8439}"/>
                  </a:ext>
                </a:extLst>
              </p:cNvPr>
              <p:cNvSpPr>
                <a:spLocks noRot="1" noChangeAspect="1" noMove="1" noResize="1" noEditPoints="1" noAdjustHandles="1" noChangeArrowheads="1" noChangeShapeType="1" noTextEdit="1"/>
              </p:cNvSpPr>
              <p:nvPr/>
            </p:nvSpPr>
            <p:spPr>
              <a:xfrm>
                <a:off x="-5314887" y="4034705"/>
                <a:ext cx="4906656" cy="4463680"/>
              </a:xfrm>
              <a:prstGeom prst="roundRect">
                <a:avLst>
                  <a:gd name="adj" fmla="val 1647"/>
                </a:avLst>
              </a:prstGeom>
              <a:blipFill>
                <a:blip r:embed="rId9"/>
                <a:stretch>
                  <a:fillRect l="-621" r="-745"/>
                </a:stretch>
              </a:blipFill>
              <a:ln>
                <a:no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8" name="תיבת טקסט 13">
                <a:extLst>
                  <a:ext uri="{FF2B5EF4-FFF2-40B4-BE49-F238E27FC236}">
                    <a16:creationId xmlns:a16="http://schemas.microsoft.com/office/drawing/2014/main" id="{A21FBAA5-E9D2-10B3-7861-3114A570D4EF}"/>
                  </a:ext>
                </a:extLst>
              </p:cNvPr>
              <p:cNvSpPr txBox="1"/>
              <p:nvPr/>
            </p:nvSpPr>
            <p:spPr>
              <a:xfrm>
                <a:off x="5764253" y="2999231"/>
                <a:ext cx="5765799" cy="707886"/>
              </a:xfrm>
              <a:prstGeom prst="rect">
                <a:avLst/>
              </a:prstGeom>
              <a:noFill/>
            </p:spPr>
            <p:txBody>
              <a:bodyPr wrap="square">
                <a:spAutoFit/>
              </a:bodyPr>
              <a:lstStyle/>
              <a:p>
                <a:pPr marL="342900" indent="-342900">
                  <a:buAutoNum type="arabicPeriod"/>
                </a:pPr>
                <a:r>
                  <a:rPr lang="he-IL" sz="2000">
                    <a:latin typeface="Assistant" pitchFamily="2" charset="-79"/>
                    <a:cs typeface="Assistant" pitchFamily="2" charset="-79"/>
                  </a:rPr>
                  <a:t>אם זווית </a:t>
                </a:r>
                <a:r>
                  <a:rPr lang="en-US" sz="2000">
                    <a:latin typeface="Assistant" pitchFamily="2" charset="-79"/>
                    <a:cs typeface="Assistant" pitchFamily="2" charset="-79"/>
                  </a:rPr>
                  <a:t>BAC </a:t>
                </a:r>
                <a:r>
                  <a:rPr lang="he-IL" sz="2000">
                    <a:latin typeface="Assistant" pitchFamily="2" charset="-79"/>
                    <a:cs typeface="Assistant" pitchFamily="2" charset="-79"/>
                  </a:rPr>
                  <a:t>∢ תהיה זווית בת </a:t>
                </a:r>
                <a:r>
                  <a:rPr lang="en-US" sz="2000">
                    <a:latin typeface="Assistant" pitchFamily="2" charset="-79"/>
                    <a:cs typeface="Assistant" pitchFamily="2" charset="-79"/>
                  </a:rPr>
                  <a:t>100</a:t>
                </a:r>
                <a14:m>
                  <m:oMath xmlns:m="http://schemas.openxmlformats.org/officeDocument/2006/math">
                    <m:r>
                      <a:rPr lang="en-US" sz="2000" i="1">
                        <a:latin typeface="Cambria Math" panose="02040503050406030204" pitchFamily="18" charset="0"/>
                      </a:rPr>
                      <m:t>°</m:t>
                    </m:r>
                  </m:oMath>
                </a14:m>
                <a:r>
                  <a:rPr lang="he-IL" sz="2000">
                    <a:latin typeface="Assistant" pitchFamily="2" charset="-79"/>
                    <a:cs typeface="Assistant" pitchFamily="2" charset="-79"/>
                  </a:rPr>
                  <a:t>, אז הזווית הנוספת, </a:t>
                </a:r>
              </a:p>
              <a:p>
                <a:r>
                  <a:rPr lang="he-IL" sz="2000">
                    <a:latin typeface="Assistant" pitchFamily="2" charset="-79"/>
                    <a:cs typeface="Assistant" pitchFamily="2" charset="-79"/>
                  </a:rPr>
                  <a:t>הקטנה מבין השתיים האחרות תהיה בת </a:t>
                </a:r>
                <a14:m>
                  <m:oMath xmlns:m="http://schemas.openxmlformats.org/officeDocument/2006/math">
                    <m:r>
                      <a:rPr lang="en-US" sz="2000" i="1">
                        <a:latin typeface="Cambria Math" panose="02040503050406030204" pitchFamily="18" charset="0"/>
                      </a:rPr>
                      <m:t>30°</m:t>
                    </m:r>
                  </m:oMath>
                </a14:m>
                <a:r>
                  <a:rPr lang="he-IL" sz="2000">
                    <a:latin typeface="Assistant" pitchFamily="2" charset="-79"/>
                    <a:cs typeface="Assistant" pitchFamily="2" charset="-79"/>
                  </a:rPr>
                  <a:t>.</a:t>
                </a:r>
                <a:endParaRPr lang="LID4096" sz="2000">
                  <a:latin typeface="Assistant" pitchFamily="2" charset="-79"/>
                  <a:cs typeface="Assistant" pitchFamily="2" charset="-79"/>
                </a:endParaRPr>
              </a:p>
            </p:txBody>
          </p:sp>
        </mc:Choice>
        <mc:Fallback xmlns="">
          <p:sp>
            <p:nvSpPr>
              <p:cNvPr id="18" name="תיבת טקסט 13">
                <a:extLst>
                  <a:ext uri="{FF2B5EF4-FFF2-40B4-BE49-F238E27FC236}">
                    <a16:creationId xmlns:a16="http://schemas.microsoft.com/office/drawing/2014/main" id="{A21FBAA5-E9D2-10B3-7861-3114A570D4EF}"/>
                  </a:ext>
                </a:extLst>
              </p:cNvPr>
              <p:cNvSpPr txBox="1">
                <a:spLocks noRot="1" noChangeAspect="1" noMove="1" noResize="1" noEditPoints="1" noAdjustHandles="1" noChangeArrowheads="1" noChangeShapeType="1" noTextEdit="1"/>
              </p:cNvSpPr>
              <p:nvPr/>
            </p:nvSpPr>
            <p:spPr>
              <a:xfrm>
                <a:off x="5764253" y="2999231"/>
                <a:ext cx="5765799" cy="707886"/>
              </a:xfrm>
              <a:prstGeom prst="rect">
                <a:avLst/>
              </a:prstGeom>
              <a:blipFill>
                <a:blip r:embed="rId10"/>
                <a:stretch>
                  <a:fillRect l="-635" t="-7759" r="-1481" b="-14655"/>
                </a:stretch>
              </a:blipFill>
            </p:spPr>
            <p:txBody>
              <a:bodyPr/>
              <a:lstStyle/>
              <a:p>
                <a:r>
                  <a:rPr lang="en-US">
                    <a:noFill/>
                  </a:rPr>
                  <a:t> </a:t>
                </a:r>
              </a:p>
            </p:txBody>
          </p:sp>
        </mc:Fallback>
      </mc:AlternateContent>
      <p:grpSp>
        <p:nvGrpSpPr>
          <p:cNvPr id="19" name="קבוצה 15">
            <a:extLst>
              <a:ext uri="{FF2B5EF4-FFF2-40B4-BE49-F238E27FC236}">
                <a16:creationId xmlns:a16="http://schemas.microsoft.com/office/drawing/2014/main" id="{A1EEC94F-FE78-27F9-66E3-098911C111E2}"/>
              </a:ext>
            </a:extLst>
          </p:cNvPr>
          <p:cNvGrpSpPr/>
          <p:nvPr/>
        </p:nvGrpSpPr>
        <p:grpSpPr>
          <a:xfrm>
            <a:off x="4530402" y="3066837"/>
            <a:ext cx="1351205" cy="400111"/>
            <a:chOff x="10409385" y="3089736"/>
            <a:chExt cx="1351205" cy="487092"/>
          </a:xfrm>
        </p:grpSpPr>
        <p:sp>
          <p:nvSpPr>
            <p:cNvPr id="26" name="מלבן: פינות מעוגלות 17">
              <a:extLst>
                <a:ext uri="{FF2B5EF4-FFF2-40B4-BE49-F238E27FC236}">
                  <a16:creationId xmlns:a16="http://schemas.microsoft.com/office/drawing/2014/main" id="{6BBBF124-A4BD-C2F1-07F6-8CCD258A245D}"/>
                </a:ext>
              </a:extLst>
            </p:cNvPr>
            <p:cNvSpPr/>
            <p:nvPr/>
          </p:nvSpPr>
          <p:spPr>
            <a:xfrm>
              <a:off x="10409385" y="3108463"/>
              <a:ext cx="1351205" cy="449621"/>
            </a:xfrm>
            <a:prstGeom prst="roundRect">
              <a:avLst>
                <a:gd name="adj" fmla="val 50000"/>
              </a:avLst>
            </a:prstGeom>
            <a:noFill/>
            <a:ln w="12700">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LID4096"/>
            </a:p>
          </p:txBody>
        </p:sp>
        <p:sp>
          <p:nvSpPr>
            <p:cNvPr id="30" name="תיבת טקסט 18">
              <a:extLst>
                <a:ext uri="{FF2B5EF4-FFF2-40B4-BE49-F238E27FC236}">
                  <a16:creationId xmlns:a16="http://schemas.microsoft.com/office/drawing/2014/main" id="{82E4221E-3A8A-CFF2-24DF-157BA63097E8}"/>
                </a:ext>
              </a:extLst>
            </p:cNvPr>
            <p:cNvSpPr txBox="1"/>
            <p:nvPr/>
          </p:nvSpPr>
          <p:spPr>
            <a:xfrm>
              <a:off x="10493829" y="3089736"/>
              <a:ext cx="1216096" cy="487092"/>
            </a:xfrm>
            <a:prstGeom prst="rect">
              <a:avLst/>
            </a:prstGeom>
            <a:noFill/>
          </p:spPr>
          <p:txBody>
            <a:bodyPr wrap="square" rtlCol="0">
              <a:spAutoFit/>
            </a:bodyPr>
            <a:lstStyle/>
            <a:p>
              <a:pPr algn="ctr"/>
              <a:r>
                <a:rPr lang="he-IL" sz="2000">
                  <a:highlight>
                    <a:srgbClr val="00FF00"/>
                  </a:highlight>
                  <a:latin typeface="Assistant" pitchFamily="2" charset="-79"/>
                  <a:cs typeface="Assistant" pitchFamily="2" charset="-79"/>
                </a:rPr>
                <a:t>נכון</a:t>
              </a:r>
              <a:endParaRPr lang="LID4096" sz="2000">
                <a:highlight>
                  <a:srgbClr val="00FF00"/>
                </a:highlight>
                <a:latin typeface="Assistant" pitchFamily="2" charset="-79"/>
                <a:cs typeface="Assistant" pitchFamily="2" charset="-79"/>
              </a:endParaRPr>
            </a:p>
          </p:txBody>
        </p:sp>
      </p:grpSp>
      <p:grpSp>
        <p:nvGrpSpPr>
          <p:cNvPr id="31" name="קבוצה 19">
            <a:extLst>
              <a:ext uri="{FF2B5EF4-FFF2-40B4-BE49-F238E27FC236}">
                <a16:creationId xmlns:a16="http://schemas.microsoft.com/office/drawing/2014/main" id="{009BD1B4-DA9B-B96E-2212-A3065DED379C}"/>
              </a:ext>
            </a:extLst>
          </p:cNvPr>
          <p:cNvGrpSpPr/>
          <p:nvPr/>
        </p:nvGrpSpPr>
        <p:grpSpPr>
          <a:xfrm>
            <a:off x="3077156" y="3066830"/>
            <a:ext cx="1351205" cy="400110"/>
            <a:chOff x="10409385" y="3089734"/>
            <a:chExt cx="1351205" cy="487092"/>
          </a:xfrm>
        </p:grpSpPr>
        <p:sp>
          <p:nvSpPr>
            <p:cNvPr id="32" name="מלבן: פינות מעוגלות 20">
              <a:extLst>
                <a:ext uri="{FF2B5EF4-FFF2-40B4-BE49-F238E27FC236}">
                  <a16:creationId xmlns:a16="http://schemas.microsoft.com/office/drawing/2014/main" id="{219BC111-C3B3-C702-FAAE-D73462615C1C}"/>
                </a:ext>
              </a:extLst>
            </p:cNvPr>
            <p:cNvSpPr/>
            <p:nvPr/>
          </p:nvSpPr>
          <p:spPr>
            <a:xfrm>
              <a:off x="10409385" y="3108472"/>
              <a:ext cx="1351205" cy="449620"/>
            </a:xfrm>
            <a:prstGeom prst="roundRect">
              <a:avLst>
                <a:gd name="adj" fmla="val 50000"/>
              </a:avLst>
            </a:prstGeom>
            <a:noFill/>
            <a:ln w="12700">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LID4096"/>
            </a:p>
          </p:txBody>
        </p:sp>
        <p:sp>
          <p:nvSpPr>
            <p:cNvPr id="33" name="תיבת טקסט 21">
              <a:extLst>
                <a:ext uri="{FF2B5EF4-FFF2-40B4-BE49-F238E27FC236}">
                  <a16:creationId xmlns:a16="http://schemas.microsoft.com/office/drawing/2014/main" id="{5F166333-1EE5-F167-BAF7-54674727FD31}"/>
                </a:ext>
              </a:extLst>
            </p:cNvPr>
            <p:cNvSpPr txBox="1"/>
            <p:nvPr/>
          </p:nvSpPr>
          <p:spPr>
            <a:xfrm>
              <a:off x="10493829" y="3089734"/>
              <a:ext cx="1216096" cy="487092"/>
            </a:xfrm>
            <a:prstGeom prst="rect">
              <a:avLst/>
            </a:prstGeom>
            <a:noFill/>
          </p:spPr>
          <p:txBody>
            <a:bodyPr wrap="square" rtlCol="0">
              <a:spAutoFit/>
            </a:bodyPr>
            <a:lstStyle/>
            <a:p>
              <a:pPr algn="ctr"/>
              <a:r>
                <a:rPr lang="he-IL" sz="2000">
                  <a:latin typeface="Assistant" pitchFamily="2" charset="-79"/>
                  <a:cs typeface="Assistant" pitchFamily="2" charset="-79"/>
                </a:rPr>
                <a:t>לא נכון</a:t>
              </a:r>
              <a:endParaRPr lang="LID4096" sz="2000">
                <a:latin typeface="Assistant" pitchFamily="2" charset="-79"/>
                <a:cs typeface="Assistant" pitchFamily="2" charset="-79"/>
              </a:endParaRPr>
            </a:p>
          </p:txBody>
        </p:sp>
      </p:grpSp>
      <p:sp>
        <p:nvSpPr>
          <p:cNvPr id="34" name="תיבת טקסט 24">
            <a:extLst>
              <a:ext uri="{FF2B5EF4-FFF2-40B4-BE49-F238E27FC236}">
                <a16:creationId xmlns:a16="http://schemas.microsoft.com/office/drawing/2014/main" id="{B1D80BC4-59E4-7EF8-1570-F2CD6609AAF3}"/>
              </a:ext>
            </a:extLst>
          </p:cNvPr>
          <p:cNvSpPr txBox="1"/>
          <p:nvPr/>
        </p:nvSpPr>
        <p:spPr>
          <a:xfrm>
            <a:off x="6260919" y="3716121"/>
            <a:ext cx="5243934" cy="1015663"/>
          </a:xfrm>
          <a:prstGeom prst="rect">
            <a:avLst/>
          </a:prstGeom>
          <a:noFill/>
        </p:spPr>
        <p:txBody>
          <a:bodyPr wrap="square">
            <a:spAutoFit/>
          </a:bodyPr>
          <a:lstStyle/>
          <a:p>
            <a:r>
              <a:rPr lang="he-IL">
                <a:latin typeface="Assistant" pitchFamily="2" charset="-79"/>
                <a:cs typeface="Assistant" pitchFamily="2" charset="-79"/>
              </a:rPr>
              <a:t>2. </a:t>
            </a:r>
            <a:r>
              <a:rPr lang="he-IL" sz="2000">
                <a:latin typeface="Assistant" pitchFamily="2" charset="-79"/>
                <a:cs typeface="Assistant" pitchFamily="2" charset="-79"/>
              </a:rPr>
              <a:t>כדי לקבל זוויות שגודלן הוא מספר שלם סכום שתי הזוויות האחרות חייב להיות מספר שמתחלק ב-8 ללא שארית.</a:t>
            </a:r>
            <a:endParaRPr lang="LID4096">
              <a:latin typeface="Assistant" pitchFamily="2" charset="-79"/>
              <a:cs typeface="Assistant" pitchFamily="2" charset="-79"/>
            </a:endParaRPr>
          </a:p>
        </p:txBody>
      </p:sp>
      <p:grpSp>
        <p:nvGrpSpPr>
          <p:cNvPr id="35" name="קבוצה 25">
            <a:extLst>
              <a:ext uri="{FF2B5EF4-FFF2-40B4-BE49-F238E27FC236}">
                <a16:creationId xmlns:a16="http://schemas.microsoft.com/office/drawing/2014/main" id="{B7E754F9-5003-477A-8B2F-72A6D5E0B46F}"/>
              </a:ext>
            </a:extLst>
          </p:cNvPr>
          <p:cNvGrpSpPr/>
          <p:nvPr/>
        </p:nvGrpSpPr>
        <p:grpSpPr>
          <a:xfrm>
            <a:off x="4530402" y="3910505"/>
            <a:ext cx="1351205" cy="400110"/>
            <a:chOff x="10409385" y="3089736"/>
            <a:chExt cx="1351205" cy="487092"/>
          </a:xfrm>
        </p:grpSpPr>
        <p:sp>
          <p:nvSpPr>
            <p:cNvPr id="36" name="מלבן: פינות מעוגלות 44">
              <a:extLst>
                <a:ext uri="{FF2B5EF4-FFF2-40B4-BE49-F238E27FC236}">
                  <a16:creationId xmlns:a16="http://schemas.microsoft.com/office/drawing/2014/main" id="{0E0D2244-FB8E-74D7-5A2D-E11565C966D4}"/>
                </a:ext>
              </a:extLst>
            </p:cNvPr>
            <p:cNvSpPr/>
            <p:nvPr/>
          </p:nvSpPr>
          <p:spPr>
            <a:xfrm>
              <a:off x="10409385" y="3108472"/>
              <a:ext cx="1351205" cy="449620"/>
            </a:xfrm>
            <a:prstGeom prst="roundRect">
              <a:avLst>
                <a:gd name="adj" fmla="val 50000"/>
              </a:avLst>
            </a:prstGeom>
            <a:noFill/>
            <a:ln w="12700">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LID4096"/>
            </a:p>
          </p:txBody>
        </p:sp>
        <p:sp>
          <p:nvSpPr>
            <p:cNvPr id="37" name="תיבת טקסט 45">
              <a:extLst>
                <a:ext uri="{FF2B5EF4-FFF2-40B4-BE49-F238E27FC236}">
                  <a16:creationId xmlns:a16="http://schemas.microsoft.com/office/drawing/2014/main" id="{C126C6E4-074A-0A59-A1F2-2AF139CE7B3C}"/>
                </a:ext>
              </a:extLst>
            </p:cNvPr>
            <p:cNvSpPr txBox="1"/>
            <p:nvPr/>
          </p:nvSpPr>
          <p:spPr>
            <a:xfrm>
              <a:off x="10493829" y="3089736"/>
              <a:ext cx="1216096" cy="487092"/>
            </a:xfrm>
            <a:prstGeom prst="rect">
              <a:avLst/>
            </a:prstGeom>
            <a:noFill/>
          </p:spPr>
          <p:txBody>
            <a:bodyPr wrap="square" rtlCol="0">
              <a:spAutoFit/>
            </a:bodyPr>
            <a:lstStyle/>
            <a:p>
              <a:pPr algn="ctr"/>
              <a:r>
                <a:rPr lang="he-IL" sz="2000">
                  <a:highlight>
                    <a:srgbClr val="00FF00"/>
                  </a:highlight>
                  <a:latin typeface="Assistant" pitchFamily="2" charset="-79"/>
                  <a:cs typeface="Assistant" pitchFamily="2" charset="-79"/>
                </a:rPr>
                <a:t>נכון</a:t>
              </a:r>
              <a:endParaRPr lang="LID4096" sz="2000">
                <a:highlight>
                  <a:srgbClr val="00FF00"/>
                </a:highlight>
                <a:latin typeface="Assistant" pitchFamily="2" charset="-79"/>
                <a:cs typeface="Assistant" pitchFamily="2" charset="-79"/>
              </a:endParaRPr>
            </a:p>
          </p:txBody>
        </p:sp>
      </p:grpSp>
      <p:grpSp>
        <p:nvGrpSpPr>
          <p:cNvPr id="38" name="קבוצה 41">
            <a:extLst>
              <a:ext uri="{FF2B5EF4-FFF2-40B4-BE49-F238E27FC236}">
                <a16:creationId xmlns:a16="http://schemas.microsoft.com/office/drawing/2014/main" id="{A284185D-F354-EA4A-9DBC-E0A89E5F78BE}"/>
              </a:ext>
            </a:extLst>
          </p:cNvPr>
          <p:cNvGrpSpPr/>
          <p:nvPr/>
        </p:nvGrpSpPr>
        <p:grpSpPr>
          <a:xfrm>
            <a:off x="3077156" y="3910505"/>
            <a:ext cx="1351205" cy="400110"/>
            <a:chOff x="10409385" y="3089736"/>
            <a:chExt cx="1351205" cy="487092"/>
          </a:xfrm>
        </p:grpSpPr>
        <p:sp>
          <p:nvSpPr>
            <p:cNvPr id="39" name="מלבן: פינות מעוגלות 42">
              <a:extLst>
                <a:ext uri="{FF2B5EF4-FFF2-40B4-BE49-F238E27FC236}">
                  <a16:creationId xmlns:a16="http://schemas.microsoft.com/office/drawing/2014/main" id="{24EBC403-184F-3543-7143-A69FF9EA56E0}"/>
                </a:ext>
              </a:extLst>
            </p:cNvPr>
            <p:cNvSpPr/>
            <p:nvPr/>
          </p:nvSpPr>
          <p:spPr>
            <a:xfrm>
              <a:off x="10409385" y="3108472"/>
              <a:ext cx="1351205" cy="449620"/>
            </a:xfrm>
            <a:prstGeom prst="roundRect">
              <a:avLst>
                <a:gd name="adj" fmla="val 50000"/>
              </a:avLst>
            </a:prstGeom>
            <a:noFill/>
            <a:ln w="12700">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LID4096"/>
            </a:p>
          </p:txBody>
        </p:sp>
        <p:sp>
          <p:nvSpPr>
            <p:cNvPr id="40" name="תיבת טקסט 43">
              <a:extLst>
                <a:ext uri="{FF2B5EF4-FFF2-40B4-BE49-F238E27FC236}">
                  <a16:creationId xmlns:a16="http://schemas.microsoft.com/office/drawing/2014/main" id="{B10BA9A3-F4D5-B453-1AAC-86330847CD76}"/>
                </a:ext>
              </a:extLst>
            </p:cNvPr>
            <p:cNvSpPr txBox="1"/>
            <p:nvPr/>
          </p:nvSpPr>
          <p:spPr>
            <a:xfrm>
              <a:off x="10493829" y="3089736"/>
              <a:ext cx="1216096" cy="487092"/>
            </a:xfrm>
            <a:prstGeom prst="rect">
              <a:avLst/>
            </a:prstGeom>
            <a:noFill/>
          </p:spPr>
          <p:txBody>
            <a:bodyPr wrap="square" rtlCol="0">
              <a:spAutoFit/>
            </a:bodyPr>
            <a:lstStyle/>
            <a:p>
              <a:pPr algn="ctr"/>
              <a:r>
                <a:rPr lang="he-IL" sz="2000">
                  <a:latin typeface="Assistant" pitchFamily="2" charset="-79"/>
                  <a:cs typeface="Assistant" pitchFamily="2" charset="-79"/>
                </a:rPr>
                <a:t>לא נכון</a:t>
              </a:r>
              <a:endParaRPr lang="LID4096" sz="2000">
                <a:latin typeface="Assistant" pitchFamily="2" charset="-79"/>
                <a:cs typeface="Assistant" pitchFamily="2" charset="-79"/>
              </a:endParaRPr>
            </a:p>
          </p:txBody>
        </p:sp>
      </p:grpSp>
      <mc:AlternateContent xmlns:mc="http://schemas.openxmlformats.org/markup-compatibility/2006" xmlns:a14="http://schemas.microsoft.com/office/drawing/2010/main">
        <mc:Choice Requires="a14">
          <p:sp>
            <p:nvSpPr>
              <p:cNvPr id="41" name="תיבת טקסט 47">
                <a:extLst>
                  <a:ext uri="{FF2B5EF4-FFF2-40B4-BE49-F238E27FC236}">
                    <a16:creationId xmlns:a16="http://schemas.microsoft.com/office/drawing/2014/main" id="{F473B099-783D-5E0F-5933-F2723F844DDD}"/>
                  </a:ext>
                </a:extLst>
              </p:cNvPr>
              <p:cNvSpPr txBox="1"/>
              <p:nvPr/>
            </p:nvSpPr>
            <p:spPr>
              <a:xfrm>
                <a:off x="6260919" y="4753922"/>
                <a:ext cx="5243934" cy="707886"/>
              </a:xfrm>
              <a:prstGeom prst="rect">
                <a:avLst/>
              </a:prstGeom>
              <a:noFill/>
            </p:spPr>
            <p:txBody>
              <a:bodyPr wrap="square">
                <a:spAutoFit/>
              </a:bodyPr>
              <a:lstStyle/>
              <a:p>
                <a:r>
                  <a:rPr lang="he-IL">
                    <a:latin typeface="Assistant" pitchFamily="2" charset="-79"/>
                    <a:cs typeface="Assistant" pitchFamily="2" charset="-79"/>
                  </a:rPr>
                  <a:t>3. </a:t>
                </a:r>
                <a:r>
                  <a:rPr lang="he-IL" sz="2000">
                    <a:latin typeface="Assistant" pitchFamily="2" charset="-79"/>
                    <a:cs typeface="Assistant" pitchFamily="2" charset="-79"/>
                  </a:rPr>
                  <a:t>אם זווית </a:t>
                </a:r>
                <a:r>
                  <a:rPr lang="en-US" sz="2000">
                    <a:latin typeface="Assistant" pitchFamily="2" charset="-79"/>
                    <a:cs typeface="Assistant" pitchFamily="2" charset="-79"/>
                  </a:rPr>
                  <a:t>BAC </a:t>
                </a:r>
                <a:r>
                  <a:rPr lang="he-IL" sz="2000">
                    <a:latin typeface="Assistant" pitchFamily="2" charset="-79"/>
                    <a:cs typeface="Assistant" pitchFamily="2" charset="-79"/>
                  </a:rPr>
                  <a:t>∢ תשתנה לזווית בת </a:t>
                </a:r>
                <a:r>
                  <a:rPr lang="en-US" sz="2000">
                    <a:latin typeface="Assistant" pitchFamily="2" charset="-79"/>
                    <a:cs typeface="Assistant" pitchFamily="2" charset="-79"/>
                  </a:rPr>
                  <a:t>20</a:t>
                </a:r>
                <a14:m>
                  <m:oMath xmlns:m="http://schemas.openxmlformats.org/officeDocument/2006/math">
                    <m:r>
                      <a:rPr lang="en-US" sz="2000" i="1">
                        <a:latin typeface="Cambria Math" panose="02040503050406030204" pitchFamily="18" charset="0"/>
                      </a:rPr>
                      <m:t>° </m:t>
                    </m:r>
                  </m:oMath>
                </a14:m>
                <a:r>
                  <a:rPr lang="he-IL" sz="2000">
                    <a:latin typeface="Assistant" pitchFamily="2" charset="-79"/>
                    <a:cs typeface="Assistant" pitchFamily="2" charset="-79"/>
                  </a:rPr>
                  <a:t>, אחת מהזוויות האחרות של המשולש תהיה זווית ישרה.</a:t>
                </a:r>
                <a:endParaRPr lang="en-US">
                  <a:latin typeface="Assistant" pitchFamily="2" charset="-79"/>
                  <a:cs typeface="Assistant" pitchFamily="2" charset="-79"/>
                </a:endParaRPr>
              </a:p>
            </p:txBody>
          </p:sp>
        </mc:Choice>
        <mc:Fallback xmlns="">
          <p:sp>
            <p:nvSpPr>
              <p:cNvPr id="41" name="תיבת טקסט 47">
                <a:extLst>
                  <a:ext uri="{FF2B5EF4-FFF2-40B4-BE49-F238E27FC236}">
                    <a16:creationId xmlns:a16="http://schemas.microsoft.com/office/drawing/2014/main" id="{F473B099-783D-5E0F-5933-F2723F844DDD}"/>
                  </a:ext>
                </a:extLst>
              </p:cNvPr>
              <p:cNvSpPr txBox="1">
                <a:spLocks noRot="1" noChangeAspect="1" noMove="1" noResize="1" noEditPoints="1" noAdjustHandles="1" noChangeArrowheads="1" noChangeShapeType="1" noTextEdit="1"/>
              </p:cNvSpPr>
              <p:nvPr/>
            </p:nvSpPr>
            <p:spPr>
              <a:xfrm>
                <a:off x="6260919" y="4753922"/>
                <a:ext cx="5243934" cy="707886"/>
              </a:xfrm>
              <a:prstGeom prst="rect">
                <a:avLst/>
              </a:prstGeom>
              <a:blipFill>
                <a:blip r:embed="rId11"/>
                <a:stretch>
                  <a:fillRect t="-6897" r="-1279" b="-14655"/>
                </a:stretch>
              </a:blipFill>
            </p:spPr>
            <p:txBody>
              <a:bodyPr/>
              <a:lstStyle/>
              <a:p>
                <a:r>
                  <a:rPr lang="en-US">
                    <a:noFill/>
                  </a:rPr>
                  <a:t> </a:t>
                </a:r>
              </a:p>
            </p:txBody>
          </p:sp>
        </mc:Fallback>
      </mc:AlternateContent>
      <p:grpSp>
        <p:nvGrpSpPr>
          <p:cNvPr id="52" name="קבוצה 48">
            <a:extLst>
              <a:ext uri="{FF2B5EF4-FFF2-40B4-BE49-F238E27FC236}">
                <a16:creationId xmlns:a16="http://schemas.microsoft.com/office/drawing/2014/main" id="{BAB1D72D-1B1A-0D08-054C-83A29564F39D}"/>
              </a:ext>
            </a:extLst>
          </p:cNvPr>
          <p:cNvGrpSpPr/>
          <p:nvPr/>
        </p:nvGrpSpPr>
        <p:grpSpPr>
          <a:xfrm>
            <a:off x="4530402" y="4792280"/>
            <a:ext cx="1351205" cy="400110"/>
            <a:chOff x="10409385" y="3089736"/>
            <a:chExt cx="1351205" cy="487092"/>
          </a:xfrm>
        </p:grpSpPr>
        <p:sp>
          <p:nvSpPr>
            <p:cNvPr id="54" name="מלבן: פינות מעוגלות 52">
              <a:extLst>
                <a:ext uri="{FF2B5EF4-FFF2-40B4-BE49-F238E27FC236}">
                  <a16:creationId xmlns:a16="http://schemas.microsoft.com/office/drawing/2014/main" id="{68C405E2-9C78-D407-E493-0EAEDF3A2006}"/>
                </a:ext>
              </a:extLst>
            </p:cNvPr>
            <p:cNvSpPr/>
            <p:nvPr/>
          </p:nvSpPr>
          <p:spPr>
            <a:xfrm>
              <a:off x="10409385" y="3108472"/>
              <a:ext cx="1351205" cy="449620"/>
            </a:xfrm>
            <a:prstGeom prst="roundRect">
              <a:avLst>
                <a:gd name="adj" fmla="val 50000"/>
              </a:avLst>
            </a:prstGeom>
            <a:noFill/>
            <a:ln w="12700">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LID4096"/>
            </a:p>
          </p:txBody>
        </p:sp>
        <p:sp>
          <p:nvSpPr>
            <p:cNvPr id="55" name="תיבת טקסט 53">
              <a:extLst>
                <a:ext uri="{FF2B5EF4-FFF2-40B4-BE49-F238E27FC236}">
                  <a16:creationId xmlns:a16="http://schemas.microsoft.com/office/drawing/2014/main" id="{1244B1F3-EAED-3972-20D9-D46A1136FA98}"/>
                </a:ext>
              </a:extLst>
            </p:cNvPr>
            <p:cNvSpPr txBox="1"/>
            <p:nvPr/>
          </p:nvSpPr>
          <p:spPr>
            <a:xfrm>
              <a:off x="10493829" y="3089736"/>
              <a:ext cx="1216096" cy="487092"/>
            </a:xfrm>
            <a:prstGeom prst="rect">
              <a:avLst/>
            </a:prstGeom>
            <a:noFill/>
          </p:spPr>
          <p:txBody>
            <a:bodyPr wrap="square" rtlCol="0">
              <a:spAutoFit/>
            </a:bodyPr>
            <a:lstStyle/>
            <a:p>
              <a:pPr algn="ctr"/>
              <a:r>
                <a:rPr lang="he-IL" sz="2000">
                  <a:latin typeface="Assistant" pitchFamily="2" charset="-79"/>
                  <a:cs typeface="Assistant" pitchFamily="2" charset="-79"/>
                </a:rPr>
                <a:t>נכון</a:t>
              </a:r>
              <a:endParaRPr lang="LID4096" sz="2000">
                <a:latin typeface="Assistant" pitchFamily="2" charset="-79"/>
                <a:cs typeface="Assistant" pitchFamily="2" charset="-79"/>
              </a:endParaRPr>
            </a:p>
          </p:txBody>
        </p:sp>
      </p:grpSp>
      <p:grpSp>
        <p:nvGrpSpPr>
          <p:cNvPr id="56" name="קבוצה 49">
            <a:extLst>
              <a:ext uri="{FF2B5EF4-FFF2-40B4-BE49-F238E27FC236}">
                <a16:creationId xmlns:a16="http://schemas.microsoft.com/office/drawing/2014/main" id="{846E1B02-E1DA-FCB4-BDB1-CB059D91BDA9}"/>
              </a:ext>
            </a:extLst>
          </p:cNvPr>
          <p:cNvGrpSpPr/>
          <p:nvPr/>
        </p:nvGrpSpPr>
        <p:grpSpPr>
          <a:xfrm>
            <a:off x="3077156" y="4792280"/>
            <a:ext cx="1351205" cy="400110"/>
            <a:chOff x="10409385" y="3089736"/>
            <a:chExt cx="1351205" cy="487092"/>
          </a:xfrm>
        </p:grpSpPr>
        <p:sp>
          <p:nvSpPr>
            <p:cNvPr id="57" name="מלבן: פינות מעוגלות 50">
              <a:extLst>
                <a:ext uri="{FF2B5EF4-FFF2-40B4-BE49-F238E27FC236}">
                  <a16:creationId xmlns:a16="http://schemas.microsoft.com/office/drawing/2014/main" id="{558E0771-2E98-6776-2E21-20E3E099F289}"/>
                </a:ext>
              </a:extLst>
            </p:cNvPr>
            <p:cNvSpPr/>
            <p:nvPr/>
          </p:nvSpPr>
          <p:spPr>
            <a:xfrm>
              <a:off x="10409385" y="3108472"/>
              <a:ext cx="1351205" cy="449620"/>
            </a:xfrm>
            <a:prstGeom prst="roundRect">
              <a:avLst>
                <a:gd name="adj" fmla="val 50000"/>
              </a:avLst>
            </a:prstGeom>
            <a:noFill/>
            <a:ln w="12700">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LID4096"/>
            </a:p>
          </p:txBody>
        </p:sp>
        <p:sp>
          <p:nvSpPr>
            <p:cNvPr id="58" name="תיבת טקסט 51">
              <a:extLst>
                <a:ext uri="{FF2B5EF4-FFF2-40B4-BE49-F238E27FC236}">
                  <a16:creationId xmlns:a16="http://schemas.microsoft.com/office/drawing/2014/main" id="{070ADBD8-B0D5-AA15-B7A4-547425B06BD5}"/>
                </a:ext>
              </a:extLst>
            </p:cNvPr>
            <p:cNvSpPr txBox="1"/>
            <p:nvPr/>
          </p:nvSpPr>
          <p:spPr>
            <a:xfrm>
              <a:off x="10493829" y="3089736"/>
              <a:ext cx="1216096" cy="487092"/>
            </a:xfrm>
            <a:prstGeom prst="rect">
              <a:avLst/>
            </a:prstGeom>
            <a:noFill/>
          </p:spPr>
          <p:txBody>
            <a:bodyPr wrap="square" rtlCol="0">
              <a:spAutoFit/>
            </a:bodyPr>
            <a:lstStyle/>
            <a:p>
              <a:pPr algn="ctr"/>
              <a:r>
                <a:rPr lang="he-IL" sz="2000">
                  <a:highlight>
                    <a:srgbClr val="00FF00"/>
                  </a:highlight>
                  <a:latin typeface="Assistant" pitchFamily="2" charset="-79"/>
                  <a:cs typeface="Assistant" pitchFamily="2" charset="-79"/>
                </a:rPr>
                <a:t>לא נכון</a:t>
              </a:r>
              <a:endParaRPr lang="LID4096" sz="2000">
                <a:highlight>
                  <a:srgbClr val="00FF00"/>
                </a:highlight>
                <a:latin typeface="Assistant" pitchFamily="2" charset="-79"/>
                <a:cs typeface="Assistant" pitchFamily="2" charset="-79"/>
              </a:endParaRPr>
            </a:p>
          </p:txBody>
        </p:sp>
      </p:grpSp>
      <p:grpSp>
        <p:nvGrpSpPr>
          <p:cNvPr id="10" name="Group 17">
            <a:extLst>
              <a:ext uri="{FF2B5EF4-FFF2-40B4-BE49-F238E27FC236}">
                <a16:creationId xmlns:a16="http://schemas.microsoft.com/office/drawing/2014/main" id="{F28F6C23-DFEB-6F23-3B1F-1101AF71EEA8}"/>
              </a:ext>
            </a:extLst>
          </p:cNvPr>
          <p:cNvGrpSpPr/>
          <p:nvPr/>
        </p:nvGrpSpPr>
        <p:grpSpPr>
          <a:xfrm>
            <a:off x="-7830" y="3596926"/>
            <a:ext cx="2842259" cy="1690822"/>
            <a:chOff x="1379325" y="-61350"/>
            <a:chExt cx="2668900" cy="1703608"/>
          </a:xfrm>
        </p:grpSpPr>
        <p:cxnSp>
          <p:nvCxnSpPr>
            <p:cNvPr id="13" name="Straight Arrow Connector 18">
              <a:extLst>
                <a:ext uri="{FF2B5EF4-FFF2-40B4-BE49-F238E27FC236}">
                  <a16:creationId xmlns:a16="http://schemas.microsoft.com/office/drawing/2014/main" id="{13FB0D4D-22D6-790D-D424-4CD62257A9F6}"/>
                </a:ext>
              </a:extLst>
            </p:cNvPr>
            <p:cNvCxnSpPr/>
            <p:nvPr/>
          </p:nvCxnSpPr>
          <p:spPr>
            <a:xfrm rot="10800000" flipH="1">
              <a:off x="1675875" y="256675"/>
              <a:ext cx="1779300" cy="1032900"/>
            </a:xfrm>
            <a:prstGeom prst="straightConnector1">
              <a:avLst/>
            </a:prstGeom>
            <a:noFill/>
            <a:ln w="9525" cap="flat" cmpd="sng">
              <a:solidFill>
                <a:srgbClr val="000000"/>
              </a:solidFill>
              <a:prstDash val="solid"/>
              <a:round/>
              <a:headEnd type="none" w="med" len="med"/>
              <a:tailEnd type="none" w="med" len="med"/>
            </a:ln>
          </p:spPr>
        </p:cxnSp>
        <p:cxnSp>
          <p:nvCxnSpPr>
            <p:cNvPr id="14" name="Straight Arrow Connector 25">
              <a:extLst>
                <a:ext uri="{FF2B5EF4-FFF2-40B4-BE49-F238E27FC236}">
                  <a16:creationId xmlns:a16="http://schemas.microsoft.com/office/drawing/2014/main" id="{96B9C677-6DE5-64B0-1192-AE5A3D0F1406}"/>
                </a:ext>
              </a:extLst>
            </p:cNvPr>
            <p:cNvCxnSpPr/>
            <p:nvPr/>
          </p:nvCxnSpPr>
          <p:spPr>
            <a:xfrm>
              <a:off x="3455125" y="256775"/>
              <a:ext cx="255600" cy="1032900"/>
            </a:xfrm>
            <a:prstGeom prst="straightConnector1">
              <a:avLst/>
            </a:prstGeom>
            <a:noFill/>
            <a:ln w="9525" cap="flat" cmpd="sng">
              <a:solidFill>
                <a:srgbClr val="000000"/>
              </a:solidFill>
              <a:prstDash val="solid"/>
              <a:round/>
              <a:headEnd type="none" w="med" len="med"/>
              <a:tailEnd type="none" w="med" len="med"/>
            </a:ln>
          </p:spPr>
        </p:cxnSp>
        <p:cxnSp>
          <p:nvCxnSpPr>
            <p:cNvPr id="16" name="Straight Arrow Connector 29">
              <a:extLst>
                <a:ext uri="{FF2B5EF4-FFF2-40B4-BE49-F238E27FC236}">
                  <a16:creationId xmlns:a16="http://schemas.microsoft.com/office/drawing/2014/main" id="{2AF6417B-1CE3-BAC3-400E-4ABE9A237C47}"/>
                </a:ext>
              </a:extLst>
            </p:cNvPr>
            <p:cNvCxnSpPr/>
            <p:nvPr/>
          </p:nvCxnSpPr>
          <p:spPr>
            <a:xfrm>
              <a:off x="1686100" y="1289575"/>
              <a:ext cx="2034900" cy="30600"/>
            </a:xfrm>
            <a:prstGeom prst="straightConnector1">
              <a:avLst/>
            </a:prstGeom>
            <a:noFill/>
            <a:ln w="9525" cap="flat" cmpd="sng">
              <a:solidFill>
                <a:srgbClr val="000000"/>
              </a:solidFill>
              <a:prstDash val="solid"/>
              <a:round/>
              <a:headEnd type="none" w="med" len="med"/>
              <a:tailEnd type="none" w="med" len="med"/>
            </a:ln>
          </p:spPr>
        </p:cxnSp>
        <p:sp>
          <p:nvSpPr>
            <p:cNvPr id="20" name="Text Box 281791216">
              <a:extLst>
                <a:ext uri="{FF2B5EF4-FFF2-40B4-BE49-F238E27FC236}">
                  <a16:creationId xmlns:a16="http://schemas.microsoft.com/office/drawing/2014/main" id="{BDC005C6-3D25-0C7F-AEE6-0C2C2D3F239B}"/>
                </a:ext>
              </a:extLst>
            </p:cNvPr>
            <p:cNvSpPr txBox="1"/>
            <p:nvPr/>
          </p:nvSpPr>
          <p:spPr>
            <a:xfrm>
              <a:off x="3301200" y="-61350"/>
              <a:ext cx="255600" cy="174900"/>
            </a:xfrm>
            <a:prstGeom prst="rect">
              <a:avLst/>
            </a:prstGeom>
            <a:noFill/>
            <a:ln>
              <a:noFill/>
            </a:ln>
          </p:spPr>
          <p:txBody>
            <a:bodyPr spcFirstLastPara="1" wrap="square" lIns="91425" tIns="91425" rIns="91425" bIns="91425" anchor="t" anchorCtr="0">
              <a:noAutofit/>
            </a:bodyPr>
            <a:lstStyle/>
            <a:p>
              <a:pPr marL="0" marR="0">
                <a:lnSpc>
                  <a:spcPct val="115000"/>
                </a:lnSpc>
                <a:spcAft>
                  <a:spcPts val="800"/>
                </a:spcAft>
                <a:buNone/>
              </a:pPr>
              <a:r>
                <a:rPr lang="en-US" sz="1400">
                  <a:solidFill>
                    <a:srgbClr val="000000"/>
                  </a:solidFill>
                  <a:effectLst/>
                  <a:latin typeface="Arial" panose="020B0604020202020204" pitchFamily="34" charset="0"/>
                  <a:ea typeface="Arial" panose="020B0604020202020204" pitchFamily="34" charset="0"/>
                  <a:cs typeface="Aptos" panose="020B0004020202020204" pitchFamily="34" charset="0"/>
                </a:rPr>
                <a:t>A</a:t>
              </a:r>
              <a:endParaRPr lang="en-US" sz="1200">
                <a:effectLst/>
                <a:latin typeface="Aptos" panose="020B0004020202020204" pitchFamily="34" charset="0"/>
                <a:ea typeface="Aptos" panose="020B0004020202020204" pitchFamily="34" charset="0"/>
                <a:cs typeface="Aptos" panose="020B0004020202020204" pitchFamily="34" charset="0"/>
              </a:endParaRPr>
            </a:p>
          </p:txBody>
        </p:sp>
        <p:sp>
          <p:nvSpPr>
            <p:cNvPr id="21" name="Text Box 435698970">
              <a:extLst>
                <a:ext uri="{FF2B5EF4-FFF2-40B4-BE49-F238E27FC236}">
                  <a16:creationId xmlns:a16="http://schemas.microsoft.com/office/drawing/2014/main" id="{089F05A7-AECC-64D4-99A6-F5A4A36E4D43}"/>
                </a:ext>
              </a:extLst>
            </p:cNvPr>
            <p:cNvSpPr txBox="1"/>
            <p:nvPr/>
          </p:nvSpPr>
          <p:spPr>
            <a:xfrm>
              <a:off x="1379325" y="1217425"/>
              <a:ext cx="255600" cy="174900"/>
            </a:xfrm>
            <a:prstGeom prst="rect">
              <a:avLst/>
            </a:prstGeom>
            <a:noFill/>
            <a:ln>
              <a:noFill/>
            </a:ln>
          </p:spPr>
          <p:txBody>
            <a:bodyPr spcFirstLastPara="1" wrap="square" lIns="91425" tIns="91425" rIns="91425" bIns="91425" anchor="t" anchorCtr="0">
              <a:noAutofit/>
            </a:bodyPr>
            <a:lstStyle/>
            <a:p>
              <a:pPr marL="0" marR="0">
                <a:lnSpc>
                  <a:spcPct val="115000"/>
                </a:lnSpc>
                <a:spcAft>
                  <a:spcPts val="800"/>
                </a:spcAft>
                <a:buNone/>
              </a:pPr>
              <a:r>
                <a:rPr lang="en-US" sz="1400">
                  <a:solidFill>
                    <a:srgbClr val="000000"/>
                  </a:solidFill>
                  <a:effectLst/>
                  <a:latin typeface="Arial" panose="020B0604020202020204" pitchFamily="34" charset="0"/>
                  <a:ea typeface="Arial" panose="020B0604020202020204" pitchFamily="34" charset="0"/>
                  <a:cs typeface="Aptos" panose="020B0004020202020204" pitchFamily="34" charset="0"/>
                </a:rPr>
                <a:t>B</a:t>
              </a:r>
              <a:endParaRPr lang="en-US" sz="1200">
                <a:effectLst/>
                <a:latin typeface="Aptos" panose="020B0004020202020204" pitchFamily="34" charset="0"/>
                <a:ea typeface="Aptos" panose="020B0004020202020204" pitchFamily="34" charset="0"/>
                <a:cs typeface="Aptos" panose="020B0004020202020204" pitchFamily="34" charset="0"/>
              </a:endParaRPr>
            </a:p>
          </p:txBody>
        </p:sp>
        <p:sp>
          <p:nvSpPr>
            <p:cNvPr id="22" name="Text Box 1154323601">
              <a:extLst>
                <a:ext uri="{FF2B5EF4-FFF2-40B4-BE49-F238E27FC236}">
                  <a16:creationId xmlns:a16="http://schemas.microsoft.com/office/drawing/2014/main" id="{D3F13640-FA48-658E-CCEC-95A3412B72FB}"/>
                </a:ext>
              </a:extLst>
            </p:cNvPr>
            <p:cNvSpPr txBox="1"/>
            <p:nvPr/>
          </p:nvSpPr>
          <p:spPr>
            <a:xfrm>
              <a:off x="3792625" y="1228225"/>
              <a:ext cx="255600" cy="265800"/>
            </a:xfrm>
            <a:prstGeom prst="rect">
              <a:avLst/>
            </a:prstGeom>
            <a:noFill/>
            <a:ln>
              <a:noFill/>
            </a:ln>
          </p:spPr>
          <p:txBody>
            <a:bodyPr spcFirstLastPara="1" wrap="square" lIns="91425" tIns="91425" rIns="91425" bIns="91425" anchor="t" anchorCtr="0">
              <a:noAutofit/>
            </a:bodyPr>
            <a:lstStyle/>
            <a:p>
              <a:pPr marL="0" marR="0">
                <a:lnSpc>
                  <a:spcPct val="115000"/>
                </a:lnSpc>
                <a:spcAft>
                  <a:spcPts val="800"/>
                </a:spcAft>
                <a:buNone/>
              </a:pPr>
              <a:r>
                <a:rPr lang="en-US" sz="1400">
                  <a:solidFill>
                    <a:srgbClr val="000000"/>
                  </a:solidFill>
                  <a:effectLst/>
                  <a:latin typeface="Arial" panose="020B0604020202020204" pitchFamily="34" charset="0"/>
                  <a:ea typeface="Arial" panose="020B0604020202020204" pitchFamily="34" charset="0"/>
                  <a:cs typeface="Aptos" panose="020B0004020202020204" pitchFamily="34" charset="0"/>
                </a:rPr>
                <a:t>C</a:t>
              </a:r>
              <a:endParaRPr lang="en-US" sz="1200">
                <a:effectLst/>
                <a:latin typeface="Aptos" panose="020B0004020202020204" pitchFamily="34" charset="0"/>
                <a:ea typeface="Aptos" panose="020B0004020202020204" pitchFamily="34" charset="0"/>
                <a:cs typeface="Aptos" panose="020B0004020202020204" pitchFamily="34" charset="0"/>
              </a:endParaRPr>
            </a:p>
          </p:txBody>
        </p:sp>
        <p:sp>
          <p:nvSpPr>
            <p:cNvPr id="23" name="Text Box 356885148">
              <a:extLst>
                <a:ext uri="{FF2B5EF4-FFF2-40B4-BE49-F238E27FC236}">
                  <a16:creationId xmlns:a16="http://schemas.microsoft.com/office/drawing/2014/main" id="{AB12DAC0-7357-EB63-EA32-671EBDB38C21}"/>
                </a:ext>
              </a:extLst>
            </p:cNvPr>
            <p:cNvSpPr txBox="1"/>
            <p:nvPr/>
          </p:nvSpPr>
          <p:spPr>
            <a:xfrm>
              <a:off x="3152774" y="330934"/>
              <a:ext cx="449841" cy="1311324"/>
            </a:xfrm>
            <a:prstGeom prst="rect">
              <a:avLst/>
            </a:prstGeom>
            <a:noFill/>
            <a:ln>
              <a:noFill/>
            </a:ln>
          </p:spPr>
          <p:txBody>
            <a:bodyPr spcFirstLastPara="1" wrap="square" lIns="91425" tIns="91425" rIns="91425" bIns="91425" anchor="t" anchorCtr="0">
              <a:spAutoFit/>
            </a:bodyPr>
            <a:lstStyle/>
            <a:p>
              <a:pPr marL="0" marR="0" algn="l" rtl="1">
                <a:lnSpc>
                  <a:spcPct val="115000"/>
                </a:lnSpc>
                <a:spcAft>
                  <a:spcPts val="800"/>
                </a:spcAft>
                <a:buNone/>
              </a:pPr>
              <a:r>
                <a:rPr lang="en-US" sz="1100" b="1">
                  <a:solidFill>
                    <a:srgbClr val="000000"/>
                  </a:solidFill>
                  <a:effectLst/>
                  <a:latin typeface="Assistant" pitchFamily="2" charset="-79"/>
                  <a:ea typeface="Assistant" pitchFamily="2" charset="-79"/>
                  <a:cs typeface="Aptos" panose="020B0004020202020204" pitchFamily="34" charset="0"/>
                </a:rPr>
                <a:t>60°</a:t>
              </a:r>
              <a:endParaRPr lang="en-US" sz="1200">
                <a:effectLst/>
                <a:latin typeface="Aptos" panose="020B0004020202020204" pitchFamily="34" charset="0"/>
                <a:ea typeface="Aptos" panose="020B0004020202020204" pitchFamily="34" charset="0"/>
                <a:cs typeface="Aptos" panose="020B0004020202020204" pitchFamily="34" charset="0"/>
              </a:endParaRPr>
            </a:p>
          </p:txBody>
        </p:sp>
      </p:grpSp>
      <p:sp>
        <p:nvSpPr>
          <p:cNvPr id="17" name="מלבן 7">
            <a:extLst>
              <a:ext uri="{FF2B5EF4-FFF2-40B4-BE49-F238E27FC236}">
                <a16:creationId xmlns:a16="http://schemas.microsoft.com/office/drawing/2014/main" id="{445D0A8B-98BF-1ADD-8AEB-7DE691F43446}"/>
              </a:ext>
            </a:extLst>
          </p:cNvPr>
          <p:cNvSpPr/>
          <p:nvPr/>
        </p:nvSpPr>
        <p:spPr>
          <a:xfrm>
            <a:off x="11896440" y="332438"/>
            <a:ext cx="45719" cy="5474677"/>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LID4096"/>
          </a:p>
        </p:txBody>
      </p:sp>
      <p:sp>
        <p:nvSpPr>
          <p:cNvPr id="27" name="מלבן 8">
            <a:extLst>
              <a:ext uri="{FF2B5EF4-FFF2-40B4-BE49-F238E27FC236}">
                <a16:creationId xmlns:a16="http://schemas.microsoft.com/office/drawing/2014/main" id="{C569A577-0BD1-C697-F9ED-24EF25573E1E}"/>
              </a:ext>
            </a:extLst>
          </p:cNvPr>
          <p:cNvSpPr/>
          <p:nvPr/>
        </p:nvSpPr>
        <p:spPr>
          <a:xfrm>
            <a:off x="11884018" y="2280144"/>
            <a:ext cx="45719" cy="3526971"/>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LID4096"/>
          </a:p>
        </p:txBody>
      </p:sp>
    </p:spTree>
    <p:custDataLst>
      <p:tags r:id="rId1"/>
    </p:custDataLst>
    <p:extLst>
      <p:ext uri="{BB962C8B-B14F-4D97-AF65-F5344CB8AC3E}">
        <p14:creationId xmlns:p14="http://schemas.microsoft.com/office/powerpoint/2010/main" val="420102183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מציין מיקום תוכן 2">
                <a:extLst>
                  <a:ext uri="{FF2B5EF4-FFF2-40B4-BE49-F238E27FC236}">
                    <a16:creationId xmlns:a16="http://schemas.microsoft.com/office/drawing/2014/main" id="{CC8689B8-6A0F-25BC-D667-F5431F1F6FE2}"/>
                  </a:ext>
                </a:extLst>
              </p:cNvPr>
              <p:cNvSpPr>
                <a:spLocks noGrp="1"/>
              </p:cNvSpPr>
              <p:nvPr>
                <p:ph idx="1"/>
              </p:nvPr>
            </p:nvSpPr>
            <p:spPr>
              <a:xfrm>
                <a:off x="1019067" y="1130550"/>
                <a:ext cx="10668000" cy="6074228"/>
              </a:xfrm>
            </p:spPr>
            <p:txBody>
              <a:bodyPr>
                <a:normAutofit/>
              </a:bodyPr>
              <a:lstStyle/>
              <a:p>
                <a:pPr marL="0" indent="0">
                  <a:buNone/>
                </a:pPr>
                <a:r>
                  <a:rPr lang="he-IL" sz="2000">
                    <a:latin typeface="Assistant" pitchFamily="2" charset="-79"/>
                    <a:cs typeface="Assistant" pitchFamily="2" charset="-79"/>
                  </a:rPr>
                  <a:t>4</a:t>
                </a:r>
                <a:r>
                  <a:rPr lang="he-IL"/>
                  <a:t>. </a:t>
                </a:r>
                <a:r>
                  <a:rPr lang="he-IL" sz="2000">
                    <a:latin typeface="Assistant" pitchFamily="2" charset="-79"/>
                    <a:cs typeface="Assistant" pitchFamily="2" charset="-79"/>
                  </a:rPr>
                  <a:t>מאמן שחייה משווה בין נתונים של שחיינית ושחיין שהצטיינו לאורך העונה:</a:t>
                </a:r>
              </a:p>
              <a:p>
                <a:pPr marL="0" lvl="0" indent="0">
                  <a:buNone/>
                </a:pPr>
                <a:r>
                  <a:rPr lang="he-IL" sz="2000" b="1">
                    <a:latin typeface="Assistant" pitchFamily="2" charset="-79"/>
                    <a:cs typeface="Assistant" pitchFamily="2" charset="-79"/>
                  </a:rPr>
                  <a:t>שחיין א' (דניאל):</a:t>
                </a:r>
                <a:r>
                  <a:rPr lang="he-IL" sz="2000">
                    <a:latin typeface="Assistant" pitchFamily="2" charset="-79"/>
                    <a:cs typeface="Assistant" pitchFamily="2" charset="-79"/>
                  </a:rPr>
                  <a:t> היחס בין </a:t>
                </a:r>
                <a:r>
                  <a:rPr lang="he-IL" sz="2000" b="1">
                    <a:latin typeface="Assistant" pitchFamily="2" charset="-79"/>
                    <a:cs typeface="Assistant" pitchFamily="2" charset="-79"/>
                  </a:rPr>
                  <a:t>מספר ניצחונות</a:t>
                </a:r>
                <a:r>
                  <a:rPr lang="he-IL" sz="2000">
                    <a:latin typeface="Assistant" pitchFamily="2" charset="-79"/>
                    <a:cs typeface="Assistant" pitchFamily="2" charset="-79"/>
                  </a:rPr>
                  <a:t> לבין </a:t>
                </a:r>
                <a:r>
                  <a:rPr lang="he-IL" sz="2000" b="1">
                    <a:latin typeface="Assistant" pitchFamily="2" charset="-79"/>
                    <a:cs typeface="Assistant" pitchFamily="2" charset="-79"/>
                  </a:rPr>
                  <a:t>מספר המישחים</a:t>
                </a:r>
                <a:r>
                  <a:rPr lang="he-IL" sz="2000">
                    <a:latin typeface="Assistant" pitchFamily="2" charset="-79"/>
                    <a:cs typeface="Assistant" pitchFamily="2" charset="-79"/>
                  </a:rPr>
                  <a:t> שהשתתף בהם הוא </a:t>
                </a:r>
                <a14:m>
                  <m:oMath xmlns:m="http://schemas.openxmlformats.org/officeDocument/2006/math">
                    <m:r>
                      <a:rPr lang="he-IL" sz="2000">
                        <a:latin typeface="Cambria Math" panose="02040503050406030204" pitchFamily="18" charset="0"/>
                      </a:rPr>
                      <m:t>3:5</m:t>
                    </m:r>
                  </m:oMath>
                </a14:m>
                <a:r>
                  <a:rPr lang="he-IL" sz="2000">
                    <a:latin typeface="Assistant" pitchFamily="2" charset="-79"/>
                    <a:cs typeface="Assistant" pitchFamily="2" charset="-79"/>
                  </a:rPr>
                  <a:t>.</a:t>
                </a:r>
              </a:p>
              <a:p>
                <a:pPr marL="0" lvl="0" indent="0">
                  <a:buNone/>
                </a:pPr>
                <a:r>
                  <a:rPr lang="he-IL" sz="2000" b="1">
                    <a:latin typeface="Assistant" pitchFamily="2" charset="-79"/>
                    <a:cs typeface="Assistant" pitchFamily="2" charset="-79"/>
                  </a:rPr>
                  <a:t>שחיינית ב' (נופר):</a:t>
                </a:r>
                <a:r>
                  <a:rPr lang="he-IL" sz="2000">
                    <a:latin typeface="Assistant" pitchFamily="2" charset="-79"/>
                    <a:cs typeface="Assistant" pitchFamily="2" charset="-79"/>
                  </a:rPr>
                  <a:t> היחס בין </a:t>
                </a:r>
                <a:r>
                  <a:rPr lang="he-IL" sz="2000" b="1">
                    <a:latin typeface="Assistant" pitchFamily="2" charset="-79"/>
                    <a:cs typeface="Assistant" pitchFamily="2" charset="-79"/>
                  </a:rPr>
                  <a:t>מספר ניצחונות</a:t>
                </a:r>
                <a:r>
                  <a:rPr lang="he-IL" sz="2000">
                    <a:latin typeface="Assistant" pitchFamily="2" charset="-79"/>
                    <a:cs typeface="Assistant" pitchFamily="2" charset="-79"/>
                  </a:rPr>
                  <a:t> לבין </a:t>
                </a:r>
                <a:r>
                  <a:rPr lang="he-IL" sz="2000" b="1">
                    <a:latin typeface="Assistant" pitchFamily="2" charset="-79"/>
                    <a:cs typeface="Assistant" pitchFamily="2" charset="-79"/>
                  </a:rPr>
                  <a:t>מספר המישחים</a:t>
                </a:r>
                <a:r>
                  <a:rPr lang="he-IL" sz="2000">
                    <a:latin typeface="Assistant" pitchFamily="2" charset="-79"/>
                    <a:cs typeface="Assistant" pitchFamily="2" charset="-79"/>
                  </a:rPr>
                  <a:t> שהשתתפה בהם הוא </a:t>
                </a:r>
                <a14:m>
                  <m:oMath xmlns:m="http://schemas.openxmlformats.org/officeDocument/2006/math">
                    <m:r>
                      <a:rPr lang="he-IL" sz="2000">
                        <a:latin typeface="Cambria Math" panose="02040503050406030204" pitchFamily="18" charset="0"/>
                      </a:rPr>
                      <m:t>3:8</m:t>
                    </m:r>
                  </m:oMath>
                </a14:m>
                <a:r>
                  <a:rPr lang="he-IL" sz="2000">
                    <a:latin typeface="Assistant" pitchFamily="2" charset="-79"/>
                    <a:cs typeface="Assistant" pitchFamily="2" charset="-79"/>
                  </a:rPr>
                  <a:t>.</a:t>
                </a:r>
              </a:p>
              <a:p>
                <a:pPr marL="0" indent="0">
                  <a:buNone/>
                </a:pPr>
                <a:endParaRPr lang="he-IL" sz="2000" b="1">
                  <a:latin typeface="Assistant" pitchFamily="2" charset="-79"/>
                  <a:cs typeface="Assistant" pitchFamily="2" charset="-79"/>
                </a:endParaRPr>
              </a:p>
              <a:p>
                <a:pPr marL="0" indent="0">
                  <a:buNone/>
                </a:pPr>
                <a:r>
                  <a:rPr lang="he-IL" sz="2000" b="1">
                    <a:latin typeface="Assistant" pitchFamily="2" charset="-79"/>
                    <a:cs typeface="Assistant" pitchFamily="2" charset="-79"/>
                  </a:rPr>
                  <a:t>א. דניאל ונופר השיגו את אותו מספר ניצחונות.</a:t>
                </a:r>
                <a:r>
                  <a:rPr lang="he-IL" sz="2000">
                    <a:latin typeface="Assistant" pitchFamily="2" charset="-79"/>
                    <a:cs typeface="Assistant" pitchFamily="2" charset="-79"/>
                  </a:rPr>
                  <a:t> </a:t>
                </a:r>
              </a:p>
              <a:p>
                <a:pPr marL="0" indent="0">
                  <a:buNone/>
                </a:pPr>
                <a:r>
                  <a:rPr lang="he-IL" sz="2000">
                    <a:latin typeface="Assistant" pitchFamily="2" charset="-79"/>
                    <a:cs typeface="Assistant" pitchFamily="2" charset="-79"/>
                  </a:rPr>
                  <a:t>מבלי לחשב, מי מבינהם שחה ב</a:t>
                </a:r>
                <a:r>
                  <a:rPr lang="he-IL" sz="2000" b="1">
                    <a:latin typeface="Assistant" pitchFamily="2" charset="-79"/>
                    <a:cs typeface="Assistant" pitchFamily="2" charset="-79"/>
                  </a:rPr>
                  <a:t>יותר מישחים</a:t>
                </a:r>
                <a:r>
                  <a:rPr lang="he-IL" sz="2000">
                    <a:latin typeface="Assistant" pitchFamily="2" charset="-79"/>
                    <a:cs typeface="Assistant" pitchFamily="2" charset="-79"/>
                  </a:rPr>
                  <a:t> לאורך העונה? </a:t>
                </a:r>
              </a:p>
              <a:p>
                <a:pPr>
                  <a:buFont typeface="Courier New" panose="02070309020205020404" pitchFamily="49" charset="0"/>
                  <a:buChar char="o"/>
                </a:pPr>
                <a:r>
                  <a:rPr lang="he-IL" sz="2000">
                    <a:latin typeface="Assistant" pitchFamily="2" charset="-79"/>
                    <a:cs typeface="Assistant" pitchFamily="2" charset="-79"/>
                  </a:rPr>
                  <a:t>דניאל</a:t>
                </a:r>
              </a:p>
              <a:p>
                <a:pPr>
                  <a:buFont typeface="Courier New" panose="02070309020205020404" pitchFamily="49" charset="0"/>
                  <a:buChar char="o"/>
                </a:pPr>
                <a:r>
                  <a:rPr lang="he-IL" sz="2000">
                    <a:highlight>
                      <a:srgbClr val="FFFF00"/>
                    </a:highlight>
                    <a:latin typeface="Assistant" pitchFamily="2" charset="-79"/>
                    <a:cs typeface="Assistant" pitchFamily="2" charset="-79"/>
                  </a:rPr>
                  <a:t>נופר</a:t>
                </a:r>
              </a:p>
              <a:p>
                <a:pPr>
                  <a:buFont typeface="Courier New" panose="02070309020205020404" pitchFamily="49" charset="0"/>
                  <a:buChar char="o"/>
                </a:pPr>
                <a:r>
                  <a:rPr lang="he-IL" sz="2000">
                    <a:latin typeface="Assistant" pitchFamily="2" charset="-79"/>
                    <a:cs typeface="Assistant" pitchFamily="2" charset="-79"/>
                  </a:rPr>
                  <a:t>מספר המישחים בהם השתתפו זהה.</a:t>
                </a:r>
                <a:endParaRPr lang="he-IL" sz="2600">
                  <a:latin typeface="Assistant" pitchFamily="2" charset="-79"/>
                  <a:cs typeface="Assistant" pitchFamily="2" charset="-79"/>
                </a:endParaRPr>
              </a:p>
            </p:txBody>
          </p:sp>
        </mc:Choice>
        <mc:Fallback xmlns="">
          <p:sp>
            <p:nvSpPr>
              <p:cNvPr id="3" name="מציין מיקום תוכן 2">
                <a:extLst>
                  <a:ext uri="{FF2B5EF4-FFF2-40B4-BE49-F238E27FC236}">
                    <a16:creationId xmlns:a16="http://schemas.microsoft.com/office/drawing/2014/main" id="{CC8689B8-6A0F-25BC-D667-F5431F1F6FE2}"/>
                  </a:ext>
                </a:extLst>
              </p:cNvPr>
              <p:cNvSpPr>
                <a:spLocks noGrp="1" noRot="1" noChangeAspect="1" noMove="1" noResize="1" noEditPoints="1" noAdjustHandles="1" noChangeArrowheads="1" noChangeShapeType="1" noTextEdit="1"/>
              </p:cNvSpPr>
              <p:nvPr>
                <p:ph idx="1"/>
              </p:nvPr>
            </p:nvSpPr>
            <p:spPr>
              <a:xfrm>
                <a:off x="1019067" y="1130550"/>
                <a:ext cx="10668000" cy="6074228"/>
              </a:xfrm>
              <a:blipFill>
                <a:blip r:embed="rId3"/>
                <a:stretch>
                  <a:fillRect t="-1705" r="-686"/>
                </a:stretch>
              </a:blipFill>
            </p:spPr>
            <p:txBody>
              <a:bodyPr/>
              <a:lstStyle/>
              <a:p>
                <a:r>
                  <a:rPr lang="en-US">
                    <a:noFill/>
                  </a:rPr>
                  <a:t> </a:t>
                </a:r>
              </a:p>
            </p:txBody>
          </p:sp>
        </mc:Fallback>
      </mc:AlternateContent>
      <p:sp>
        <p:nvSpPr>
          <p:cNvPr id="8" name="תיבת טקסט 7">
            <a:extLst>
              <a:ext uri="{FF2B5EF4-FFF2-40B4-BE49-F238E27FC236}">
                <a16:creationId xmlns:a16="http://schemas.microsoft.com/office/drawing/2014/main" id="{493571BE-EB5E-A28A-6B37-816E0630B49E}"/>
              </a:ext>
            </a:extLst>
          </p:cNvPr>
          <p:cNvSpPr txBox="1"/>
          <p:nvPr/>
        </p:nvSpPr>
        <p:spPr>
          <a:xfrm>
            <a:off x="-5093805" y="3994491"/>
            <a:ext cx="6084711" cy="1754326"/>
          </a:xfrm>
          <a:prstGeom prst="rect">
            <a:avLst/>
          </a:prstGeom>
          <a:solidFill>
            <a:schemeClr val="accent6">
              <a:lumMod val="20000"/>
              <a:lumOff val="80000"/>
            </a:schemeClr>
          </a:solidFill>
        </p:spPr>
        <p:txBody>
          <a:bodyPr wrap="square" rtlCol="1">
            <a:spAutoFit/>
          </a:bodyPr>
          <a:lstStyle/>
          <a:p>
            <a:r>
              <a:rPr lang="he-IL" b="1">
                <a:latin typeface="Assistant" pitchFamily="2" charset="-79"/>
                <a:cs typeface="Assistant" pitchFamily="2" charset="-79"/>
              </a:rPr>
              <a:t>נכון מאוד/ טעיתם, בואו נסביר:</a:t>
            </a:r>
            <a:endParaRPr lang="en-US" b="1">
              <a:latin typeface="Assistant" pitchFamily="2" charset="-79"/>
              <a:cs typeface="Assistant" pitchFamily="2" charset="-79"/>
            </a:endParaRPr>
          </a:p>
          <a:p>
            <a:endParaRPr lang="he-IL" b="1">
              <a:latin typeface="Assistant" pitchFamily="2" charset="-79"/>
              <a:cs typeface="Assistant" pitchFamily="2" charset="-79"/>
            </a:endParaRPr>
          </a:p>
          <a:p>
            <a:r>
              <a:rPr lang="he-IL">
                <a:latin typeface="Assistant" pitchFamily="2" charset="-79"/>
                <a:cs typeface="Assistant" pitchFamily="2" charset="-79"/>
              </a:rPr>
              <a:t>א. </a:t>
            </a:r>
            <a:r>
              <a:rPr lang="he-IL" b="1">
                <a:latin typeface="Assistant" pitchFamily="2" charset="-79"/>
                <a:cs typeface="Assistant" pitchFamily="2" charset="-79"/>
              </a:rPr>
              <a:t>נופר השתתפה ביותר משחים - </a:t>
            </a:r>
            <a:r>
              <a:rPr lang="he-IL">
                <a:latin typeface="Assistant" pitchFamily="2" charset="-79"/>
                <a:cs typeface="Assistant" pitchFamily="2" charset="-79"/>
              </a:rPr>
              <a:t>לשניהם אותו מספר ניצחונות, אך נופר נדרשה ל-8 משחים על כל 3 ניצחונות (לעומת 5 בלבד אצל דניאל), ולכן עשתה יותר מישחים בסך הכל.</a:t>
            </a:r>
          </a:p>
          <a:p>
            <a:endParaRPr lang="he-IL"/>
          </a:p>
        </p:txBody>
      </p:sp>
      <p:pic>
        <p:nvPicPr>
          <p:cNvPr id="10" name="תמונה 9">
            <a:extLst>
              <a:ext uri="{FF2B5EF4-FFF2-40B4-BE49-F238E27FC236}">
                <a16:creationId xmlns:a16="http://schemas.microsoft.com/office/drawing/2014/main" id="{7E03B558-8663-F5B3-7431-0D025634E659}"/>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5121967" y="0"/>
            <a:ext cx="6275691" cy="3816427"/>
          </a:xfrm>
          <a:prstGeom prst="rect">
            <a:avLst/>
          </a:prstGeom>
        </p:spPr>
      </p:pic>
      <p:sp>
        <p:nvSpPr>
          <p:cNvPr id="11" name="תיבת טקסט 10">
            <a:extLst>
              <a:ext uri="{FF2B5EF4-FFF2-40B4-BE49-F238E27FC236}">
                <a16:creationId xmlns:a16="http://schemas.microsoft.com/office/drawing/2014/main" id="{32876918-5649-219F-6BEB-972D5F4B20DA}"/>
              </a:ext>
            </a:extLst>
          </p:cNvPr>
          <p:cNvSpPr txBox="1"/>
          <p:nvPr/>
        </p:nvSpPr>
        <p:spPr>
          <a:xfrm>
            <a:off x="-5490510" y="484221"/>
            <a:ext cx="6220177" cy="984885"/>
          </a:xfrm>
          <a:prstGeom prst="rect">
            <a:avLst/>
          </a:prstGeom>
          <a:noFill/>
        </p:spPr>
        <p:txBody>
          <a:bodyPr wrap="square" rtlCol="1">
            <a:spAutoFit/>
          </a:bodyPr>
          <a:lstStyle/>
          <a:p>
            <a:r>
              <a:rPr lang="he-IL" sz="2000">
                <a:solidFill>
                  <a:schemeClr val="bg1"/>
                </a:solidFill>
                <a:latin typeface="Assistant" pitchFamily="2" charset="-79"/>
                <a:cs typeface="Assistant" pitchFamily="2" charset="-79"/>
              </a:rPr>
              <a:t>כמה מישחים נופר צריכה כדי לצבור 3 ניצחונות? </a:t>
            </a:r>
          </a:p>
          <a:p>
            <a:r>
              <a:rPr lang="he-IL" sz="2000">
                <a:solidFill>
                  <a:schemeClr val="bg1"/>
                </a:solidFill>
                <a:latin typeface="Assistant" pitchFamily="2" charset="-79"/>
                <a:cs typeface="Assistant" pitchFamily="2" charset="-79"/>
              </a:rPr>
              <a:t>כמה מישחים דניאל צריך כדי לצבור 3 ניצחונות?</a:t>
            </a:r>
          </a:p>
          <a:p>
            <a:endParaRPr lang="he-IL"/>
          </a:p>
        </p:txBody>
      </p:sp>
      <p:cxnSp>
        <p:nvCxnSpPr>
          <p:cNvPr id="2" name="מחבר ישר 3">
            <a:extLst>
              <a:ext uri="{FF2B5EF4-FFF2-40B4-BE49-F238E27FC236}">
                <a16:creationId xmlns:a16="http://schemas.microsoft.com/office/drawing/2014/main" id="{EACCC6E0-B433-372A-CBFA-BB50DB94D641}"/>
              </a:ext>
            </a:extLst>
          </p:cNvPr>
          <p:cNvCxnSpPr>
            <a:cxnSpLocks/>
          </p:cNvCxnSpPr>
          <p:nvPr/>
        </p:nvCxnSpPr>
        <p:spPr>
          <a:xfrm>
            <a:off x="0" y="6079252"/>
            <a:ext cx="12192000" cy="0"/>
          </a:xfrm>
          <a:prstGeom prst="line">
            <a:avLst/>
          </a:prstGeom>
          <a:ln>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4" name="מלבן: פינות מעוגלות 4">
            <a:extLst>
              <a:ext uri="{FF2B5EF4-FFF2-40B4-BE49-F238E27FC236}">
                <a16:creationId xmlns:a16="http://schemas.microsoft.com/office/drawing/2014/main" id="{DCA7A134-A12B-CA53-368E-B819075791CE}"/>
              </a:ext>
            </a:extLst>
          </p:cNvPr>
          <p:cNvSpPr/>
          <p:nvPr/>
        </p:nvSpPr>
        <p:spPr>
          <a:xfrm>
            <a:off x="268356" y="6182143"/>
            <a:ext cx="1798983" cy="506891"/>
          </a:xfrm>
          <a:prstGeom prst="roundRect">
            <a:avLst>
              <a:gd name="adj" fmla="val 50000"/>
            </a:avLst>
          </a:prstGeom>
          <a:solidFill>
            <a:schemeClr val="bg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he-IL"/>
              <a:t>צדקתי?</a:t>
            </a:r>
            <a:endParaRPr lang="LID4096"/>
          </a:p>
        </p:txBody>
      </p:sp>
      <p:sp>
        <p:nvSpPr>
          <p:cNvPr id="5" name="מלבן: פינות מעוגלות 1">
            <a:extLst>
              <a:ext uri="{FF2B5EF4-FFF2-40B4-BE49-F238E27FC236}">
                <a16:creationId xmlns:a16="http://schemas.microsoft.com/office/drawing/2014/main" id="{51BF6783-D407-2115-55D0-817702DDB20F}"/>
              </a:ext>
            </a:extLst>
          </p:cNvPr>
          <p:cNvSpPr/>
          <p:nvPr/>
        </p:nvSpPr>
        <p:spPr>
          <a:xfrm>
            <a:off x="2179982" y="6182142"/>
            <a:ext cx="2481470" cy="506891"/>
          </a:xfrm>
          <a:prstGeom prst="roundRect">
            <a:avLst>
              <a:gd name="adj" fmla="val 50000"/>
            </a:avLst>
          </a:prstGeom>
          <a:noFill/>
          <a:ln>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he-IL">
                <a:solidFill>
                  <a:srgbClr val="00B0F0"/>
                </a:solidFill>
              </a:rPr>
              <a:t>     אפשר רמז?</a:t>
            </a:r>
            <a:endParaRPr lang="LID4096">
              <a:solidFill>
                <a:srgbClr val="00B0F0"/>
              </a:solidFill>
            </a:endParaRPr>
          </a:p>
        </p:txBody>
      </p:sp>
      <p:sp>
        <p:nvSpPr>
          <p:cNvPr id="6" name="מלבן: פינות מעוגלות 6">
            <a:extLst>
              <a:ext uri="{FF2B5EF4-FFF2-40B4-BE49-F238E27FC236}">
                <a16:creationId xmlns:a16="http://schemas.microsoft.com/office/drawing/2014/main" id="{376EE364-E82E-BDE5-8E04-107B4D67DB42}"/>
              </a:ext>
            </a:extLst>
          </p:cNvPr>
          <p:cNvSpPr/>
          <p:nvPr/>
        </p:nvSpPr>
        <p:spPr>
          <a:xfrm>
            <a:off x="10244695" y="6193485"/>
            <a:ext cx="1798983" cy="506891"/>
          </a:xfrm>
          <a:prstGeom prst="roundRect">
            <a:avLst>
              <a:gd name="adj" fmla="val 50000"/>
            </a:avLst>
          </a:prstGeom>
          <a:noFill/>
          <a:ln>
            <a:solidFill>
              <a:srgbClr val="019DE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he-IL">
                <a:solidFill>
                  <a:srgbClr val="019DE5"/>
                </a:solidFill>
                <a:latin typeface="Assistant" pitchFamily="2" charset="-79"/>
                <a:cs typeface="Assistant" pitchFamily="2" charset="-79"/>
              </a:rPr>
              <a:t>חזרה</a:t>
            </a:r>
            <a:endParaRPr lang="LID4096">
              <a:solidFill>
                <a:srgbClr val="019DE5"/>
              </a:solidFill>
              <a:latin typeface="Assistant" pitchFamily="2" charset="-79"/>
              <a:cs typeface="Assistant" pitchFamily="2" charset="-79"/>
            </a:endParaRPr>
          </a:p>
        </p:txBody>
      </p:sp>
      <p:pic>
        <p:nvPicPr>
          <p:cNvPr id="7" name="תמונה 8">
            <a:extLst>
              <a:ext uri="{FF2B5EF4-FFF2-40B4-BE49-F238E27FC236}">
                <a16:creationId xmlns:a16="http://schemas.microsoft.com/office/drawing/2014/main" id="{A51DA004-4ACC-17B2-A184-32F0E3730213}"/>
              </a:ext>
            </a:extLst>
          </p:cNvPr>
          <p:cNvPicPr>
            <a:picLocks noChangeAspect="1"/>
          </p:cNvPicPr>
          <p:nvPr/>
        </p:nvPicPr>
        <p:blipFill>
          <a:blip r:embed="rId5">
            <a:extLst>
              <a:ext uri="{28A0092B-C50C-407E-A947-70E740481C1C}">
                <a14:useLocalDpi xmlns:a14="http://schemas.microsoft.com/office/drawing/2010/main"/>
              </a:ext>
            </a:extLst>
          </a:blip>
          <a:stretch>
            <a:fillRect/>
          </a:stretch>
        </p:blipFill>
        <p:spPr>
          <a:xfrm>
            <a:off x="2803561" y="417934"/>
            <a:ext cx="7847619" cy="558730"/>
          </a:xfrm>
          <a:prstGeom prst="rect">
            <a:avLst/>
          </a:prstGeom>
        </p:spPr>
      </p:pic>
      <p:sp>
        <p:nvSpPr>
          <p:cNvPr id="12" name="מלבן 7">
            <a:extLst>
              <a:ext uri="{FF2B5EF4-FFF2-40B4-BE49-F238E27FC236}">
                <a16:creationId xmlns:a16="http://schemas.microsoft.com/office/drawing/2014/main" id="{D723FDC6-FB6C-8FB5-A07D-A666348CE473}"/>
              </a:ext>
            </a:extLst>
          </p:cNvPr>
          <p:cNvSpPr/>
          <p:nvPr/>
        </p:nvSpPr>
        <p:spPr>
          <a:xfrm>
            <a:off x="11896440" y="332438"/>
            <a:ext cx="45719" cy="5474677"/>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LID4096"/>
          </a:p>
        </p:txBody>
      </p:sp>
      <p:sp>
        <p:nvSpPr>
          <p:cNvPr id="14" name="מלבן 8">
            <a:extLst>
              <a:ext uri="{FF2B5EF4-FFF2-40B4-BE49-F238E27FC236}">
                <a16:creationId xmlns:a16="http://schemas.microsoft.com/office/drawing/2014/main" id="{012608E1-6FA2-5599-C8C4-B4CE4071B475}"/>
              </a:ext>
            </a:extLst>
          </p:cNvPr>
          <p:cNvSpPr/>
          <p:nvPr/>
        </p:nvSpPr>
        <p:spPr>
          <a:xfrm>
            <a:off x="11896440" y="332438"/>
            <a:ext cx="45719" cy="3526971"/>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LID4096"/>
          </a:p>
        </p:txBody>
      </p:sp>
    </p:spTree>
    <p:extLst>
      <p:ext uri="{BB962C8B-B14F-4D97-AF65-F5344CB8AC3E}">
        <p14:creationId xmlns:p14="http://schemas.microsoft.com/office/powerpoint/2010/main" val="279027549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C25D98-FBF9-8559-9066-7F4E7228CE20}"/>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מציין מיקום תוכן 2">
                <a:extLst>
                  <a:ext uri="{FF2B5EF4-FFF2-40B4-BE49-F238E27FC236}">
                    <a16:creationId xmlns:a16="http://schemas.microsoft.com/office/drawing/2014/main" id="{02956F86-37D8-CE85-4589-508B3C5B2B9A}"/>
                  </a:ext>
                </a:extLst>
              </p:cNvPr>
              <p:cNvSpPr>
                <a:spLocks noGrp="1"/>
              </p:cNvSpPr>
              <p:nvPr>
                <p:ph idx="1"/>
              </p:nvPr>
            </p:nvSpPr>
            <p:spPr>
              <a:xfrm>
                <a:off x="886177" y="1472540"/>
                <a:ext cx="10668000" cy="6074228"/>
              </a:xfrm>
            </p:spPr>
            <p:txBody>
              <a:bodyPr>
                <a:normAutofit/>
              </a:bodyPr>
              <a:lstStyle/>
              <a:p>
                <a:pPr marL="0" indent="0">
                  <a:buNone/>
                </a:pPr>
                <a:r>
                  <a:rPr lang="he-IL" sz="2000">
                    <a:latin typeface="Assistant" pitchFamily="2" charset="-79"/>
                    <a:cs typeface="Assistant" pitchFamily="2" charset="-79"/>
                  </a:rPr>
                  <a:t>4. מאמן שחייה משווה בין נתונים של שחיינית ושחיין שהצטיינו לאורך העונה:</a:t>
                </a:r>
              </a:p>
              <a:p>
                <a:pPr marL="0" lvl="0" indent="0">
                  <a:buNone/>
                </a:pPr>
                <a:r>
                  <a:rPr lang="he-IL" sz="2000" b="1">
                    <a:latin typeface="Assistant" pitchFamily="2" charset="-79"/>
                    <a:cs typeface="Assistant" pitchFamily="2" charset="-79"/>
                  </a:rPr>
                  <a:t>שחיין א' (דניאל):</a:t>
                </a:r>
                <a:r>
                  <a:rPr lang="he-IL" sz="2000">
                    <a:latin typeface="Assistant" pitchFamily="2" charset="-79"/>
                    <a:cs typeface="Assistant" pitchFamily="2" charset="-79"/>
                  </a:rPr>
                  <a:t> היחס בין </a:t>
                </a:r>
                <a:r>
                  <a:rPr lang="he-IL" sz="2000" b="1">
                    <a:latin typeface="Assistant" pitchFamily="2" charset="-79"/>
                    <a:cs typeface="Assistant" pitchFamily="2" charset="-79"/>
                  </a:rPr>
                  <a:t>מספר ניצחונות</a:t>
                </a:r>
                <a:r>
                  <a:rPr lang="he-IL" sz="2000">
                    <a:latin typeface="Assistant" pitchFamily="2" charset="-79"/>
                    <a:cs typeface="Assistant" pitchFamily="2" charset="-79"/>
                  </a:rPr>
                  <a:t> לבין </a:t>
                </a:r>
                <a:r>
                  <a:rPr lang="he-IL" sz="2000" b="1">
                    <a:latin typeface="Assistant" pitchFamily="2" charset="-79"/>
                    <a:cs typeface="Assistant" pitchFamily="2" charset="-79"/>
                  </a:rPr>
                  <a:t>מספר המשחים</a:t>
                </a:r>
                <a:r>
                  <a:rPr lang="he-IL" sz="2000">
                    <a:latin typeface="Assistant" pitchFamily="2" charset="-79"/>
                    <a:cs typeface="Assistant" pitchFamily="2" charset="-79"/>
                  </a:rPr>
                  <a:t> שהשתתף בהם הוא </a:t>
                </a:r>
                <a14:m>
                  <m:oMath xmlns:m="http://schemas.openxmlformats.org/officeDocument/2006/math">
                    <m:r>
                      <a:rPr lang="he-IL" sz="2000">
                        <a:latin typeface="Cambria Math" panose="02040503050406030204" pitchFamily="18" charset="0"/>
                      </a:rPr>
                      <m:t>3:5</m:t>
                    </m:r>
                  </m:oMath>
                </a14:m>
                <a:r>
                  <a:rPr lang="he-IL" sz="2000">
                    <a:latin typeface="Assistant" pitchFamily="2" charset="-79"/>
                    <a:cs typeface="Assistant" pitchFamily="2" charset="-79"/>
                  </a:rPr>
                  <a:t>.</a:t>
                </a:r>
              </a:p>
              <a:p>
                <a:pPr marL="0" lvl="0" indent="0">
                  <a:buNone/>
                </a:pPr>
                <a:r>
                  <a:rPr lang="he-IL" sz="2000" b="1">
                    <a:latin typeface="Assistant" pitchFamily="2" charset="-79"/>
                    <a:cs typeface="Assistant" pitchFamily="2" charset="-79"/>
                  </a:rPr>
                  <a:t>שחיינית ב' (נופר):</a:t>
                </a:r>
                <a:r>
                  <a:rPr lang="he-IL" sz="2000">
                    <a:latin typeface="Assistant" pitchFamily="2" charset="-79"/>
                    <a:cs typeface="Assistant" pitchFamily="2" charset="-79"/>
                  </a:rPr>
                  <a:t> היחס בין </a:t>
                </a:r>
                <a:r>
                  <a:rPr lang="he-IL" sz="2000" b="1">
                    <a:latin typeface="Assistant" pitchFamily="2" charset="-79"/>
                    <a:cs typeface="Assistant" pitchFamily="2" charset="-79"/>
                  </a:rPr>
                  <a:t>מספר ניצחונות</a:t>
                </a:r>
                <a:r>
                  <a:rPr lang="he-IL" sz="2000">
                    <a:latin typeface="Assistant" pitchFamily="2" charset="-79"/>
                    <a:cs typeface="Assistant" pitchFamily="2" charset="-79"/>
                  </a:rPr>
                  <a:t> לבין </a:t>
                </a:r>
                <a:r>
                  <a:rPr lang="he-IL" sz="2000" b="1">
                    <a:latin typeface="Assistant" pitchFamily="2" charset="-79"/>
                    <a:cs typeface="Assistant" pitchFamily="2" charset="-79"/>
                  </a:rPr>
                  <a:t>מספר המשחים</a:t>
                </a:r>
                <a:r>
                  <a:rPr lang="he-IL" sz="2000">
                    <a:latin typeface="Assistant" pitchFamily="2" charset="-79"/>
                    <a:cs typeface="Assistant" pitchFamily="2" charset="-79"/>
                  </a:rPr>
                  <a:t> שהשתתפה בהם הוא </a:t>
                </a:r>
                <a14:m>
                  <m:oMath xmlns:m="http://schemas.openxmlformats.org/officeDocument/2006/math">
                    <m:r>
                      <a:rPr lang="he-IL" sz="2000">
                        <a:latin typeface="Cambria Math" panose="02040503050406030204" pitchFamily="18" charset="0"/>
                      </a:rPr>
                      <m:t>3:8</m:t>
                    </m:r>
                  </m:oMath>
                </a14:m>
                <a:r>
                  <a:rPr lang="he-IL" sz="2000">
                    <a:latin typeface="Assistant" pitchFamily="2" charset="-79"/>
                    <a:cs typeface="Assistant" pitchFamily="2" charset="-79"/>
                  </a:rPr>
                  <a:t>.</a:t>
                </a:r>
              </a:p>
              <a:p>
                <a:pPr marL="0" indent="0">
                  <a:buNone/>
                </a:pPr>
                <a:endParaRPr lang="he-IL" sz="2000" b="1">
                  <a:latin typeface="Assistant" pitchFamily="2" charset="-79"/>
                  <a:cs typeface="Assistant" pitchFamily="2" charset="-79"/>
                </a:endParaRPr>
              </a:p>
              <a:p>
                <a:pPr marL="0" indent="0">
                  <a:buNone/>
                </a:pPr>
                <a:r>
                  <a:rPr lang="he-IL" sz="2000" b="1">
                    <a:latin typeface="Assistant" pitchFamily="2" charset="-79"/>
                    <a:cs typeface="Assistant" pitchFamily="2" charset="-79"/>
                  </a:rPr>
                  <a:t>ב. מי </a:t>
                </a:r>
                <a:r>
                  <a:rPr lang="he-IL" sz="2000">
                    <a:latin typeface="Assistant" pitchFamily="2" charset="-79"/>
                    <a:cs typeface="Assistant" pitchFamily="2" charset="-79"/>
                  </a:rPr>
                  <a:t>ניצח ביותר מישחים העונה?</a:t>
                </a:r>
              </a:p>
              <a:p>
                <a:pPr>
                  <a:buFont typeface="Courier New" panose="02070309020205020404" pitchFamily="49" charset="0"/>
                  <a:buChar char="o"/>
                </a:pPr>
                <a:r>
                  <a:rPr lang="he-IL" sz="2000">
                    <a:highlight>
                      <a:srgbClr val="FFFF00"/>
                    </a:highlight>
                    <a:latin typeface="Assistant" pitchFamily="2" charset="-79"/>
                    <a:cs typeface="Assistant" pitchFamily="2" charset="-79"/>
                  </a:rPr>
                  <a:t>דניאל</a:t>
                </a:r>
              </a:p>
              <a:p>
                <a:pPr>
                  <a:buFont typeface="Courier New" panose="02070309020205020404" pitchFamily="49" charset="0"/>
                  <a:buChar char="o"/>
                </a:pPr>
                <a:r>
                  <a:rPr lang="he-IL" sz="2000">
                    <a:latin typeface="Assistant" pitchFamily="2" charset="-79"/>
                    <a:cs typeface="Assistant" pitchFamily="2" charset="-79"/>
                  </a:rPr>
                  <a:t>נופר</a:t>
                </a:r>
              </a:p>
              <a:p>
                <a:pPr>
                  <a:buFont typeface="Courier New" panose="02070309020205020404" pitchFamily="49" charset="0"/>
                  <a:buChar char="o"/>
                </a:pPr>
                <a:r>
                  <a:rPr lang="he-IL" sz="2000">
                    <a:latin typeface="Assistant" pitchFamily="2" charset="-79"/>
                    <a:cs typeface="Assistant" pitchFamily="2" charset="-79"/>
                  </a:rPr>
                  <a:t>שניהם ניצחו באותו מספר משחים.</a:t>
                </a:r>
              </a:p>
              <a:p>
                <a:pPr marL="0" indent="0">
                  <a:buNone/>
                </a:pPr>
                <a:endParaRPr lang="he-IL"/>
              </a:p>
            </p:txBody>
          </p:sp>
        </mc:Choice>
        <mc:Fallback xmlns="">
          <p:sp>
            <p:nvSpPr>
              <p:cNvPr id="3" name="מציין מיקום תוכן 2">
                <a:extLst>
                  <a:ext uri="{FF2B5EF4-FFF2-40B4-BE49-F238E27FC236}">
                    <a16:creationId xmlns:a16="http://schemas.microsoft.com/office/drawing/2014/main" id="{02956F86-37D8-CE85-4589-508B3C5B2B9A}"/>
                  </a:ext>
                </a:extLst>
              </p:cNvPr>
              <p:cNvSpPr>
                <a:spLocks noGrp="1" noRot="1" noChangeAspect="1" noMove="1" noResize="1" noEditPoints="1" noAdjustHandles="1" noChangeArrowheads="1" noChangeShapeType="1" noTextEdit="1"/>
              </p:cNvSpPr>
              <p:nvPr>
                <p:ph idx="1"/>
              </p:nvPr>
            </p:nvSpPr>
            <p:spPr>
              <a:xfrm>
                <a:off x="886177" y="1472540"/>
                <a:ext cx="10668000" cy="6074228"/>
              </a:xfrm>
              <a:blipFill>
                <a:blip r:embed="rId3"/>
                <a:stretch>
                  <a:fillRect t="-1104" r="-686"/>
                </a:stretch>
              </a:blipFill>
            </p:spPr>
            <p:txBody>
              <a:bodyPr/>
              <a:lstStyle/>
              <a:p>
                <a:r>
                  <a:rPr lang="en-US">
                    <a:noFill/>
                  </a:rPr>
                  <a:t> </a:t>
                </a:r>
              </a:p>
            </p:txBody>
          </p:sp>
        </mc:Fallback>
      </mc:AlternateContent>
      <p:sp>
        <p:nvSpPr>
          <p:cNvPr id="8" name="תיבת טקסט 7">
            <a:extLst>
              <a:ext uri="{FF2B5EF4-FFF2-40B4-BE49-F238E27FC236}">
                <a16:creationId xmlns:a16="http://schemas.microsoft.com/office/drawing/2014/main" id="{D8A3055E-8ECF-B49E-310E-181D4D0A3A82}"/>
              </a:ext>
            </a:extLst>
          </p:cNvPr>
          <p:cNvSpPr txBox="1"/>
          <p:nvPr/>
        </p:nvSpPr>
        <p:spPr>
          <a:xfrm>
            <a:off x="-5644444" y="3948669"/>
            <a:ext cx="6084711" cy="1200329"/>
          </a:xfrm>
          <a:prstGeom prst="rect">
            <a:avLst/>
          </a:prstGeom>
          <a:solidFill>
            <a:schemeClr val="accent6">
              <a:lumMod val="20000"/>
              <a:lumOff val="80000"/>
            </a:schemeClr>
          </a:solidFill>
        </p:spPr>
        <p:txBody>
          <a:bodyPr wrap="square" rtlCol="1">
            <a:spAutoFit/>
          </a:bodyPr>
          <a:lstStyle/>
          <a:p>
            <a:r>
              <a:rPr lang="he-IL" b="1">
                <a:latin typeface="Assistant" pitchFamily="2" charset="-79"/>
                <a:cs typeface="Assistant" pitchFamily="2" charset="-79"/>
              </a:rPr>
              <a:t>נכון מאוד/ טעיתם, בואו נסביר:</a:t>
            </a:r>
          </a:p>
          <a:p>
            <a:r>
              <a:rPr lang="he-IL">
                <a:latin typeface="Assistant" pitchFamily="2" charset="-79"/>
                <a:cs typeface="Assistant" pitchFamily="2" charset="-79"/>
              </a:rPr>
              <a:t>ב. </a:t>
            </a:r>
            <a:r>
              <a:rPr lang="he-IL" b="1">
                <a:latin typeface="Assistant" pitchFamily="2" charset="-79"/>
                <a:cs typeface="Assistant" pitchFamily="2" charset="-79"/>
              </a:rPr>
              <a:t>דניאל</a:t>
            </a:r>
            <a:r>
              <a:rPr lang="he-IL">
                <a:latin typeface="Assistant" pitchFamily="2" charset="-79"/>
                <a:cs typeface="Assistant" pitchFamily="2" charset="-79"/>
              </a:rPr>
              <a:t> </a:t>
            </a:r>
            <a:r>
              <a:rPr lang="he-IL" b="1">
                <a:latin typeface="Assistant" pitchFamily="2" charset="-79"/>
                <a:cs typeface="Assistant" pitchFamily="2" charset="-79"/>
              </a:rPr>
              <a:t>ניצח ביותר מישחים</a:t>
            </a:r>
            <a:r>
              <a:rPr lang="he-IL">
                <a:latin typeface="Assistant" pitchFamily="2" charset="-79"/>
                <a:cs typeface="Assistant" pitchFamily="2" charset="-79"/>
              </a:rPr>
              <a:t>– דניאל מנצח ב-3 מתוך 5 מישחים (יותר ממחצית מסך המישחים שלו), לעומת נופר שמנצחת ב-3 מתוך 8 (פחות מחצי).</a:t>
            </a:r>
          </a:p>
        </p:txBody>
      </p:sp>
      <p:pic>
        <p:nvPicPr>
          <p:cNvPr id="10" name="תמונה 9">
            <a:extLst>
              <a:ext uri="{FF2B5EF4-FFF2-40B4-BE49-F238E27FC236}">
                <a16:creationId xmlns:a16="http://schemas.microsoft.com/office/drawing/2014/main" id="{09819DCE-0767-061D-0229-49AA69219646}"/>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5660969" y="0"/>
            <a:ext cx="6204884" cy="3816427"/>
          </a:xfrm>
          <a:prstGeom prst="rect">
            <a:avLst/>
          </a:prstGeom>
        </p:spPr>
      </p:pic>
      <p:sp>
        <p:nvSpPr>
          <p:cNvPr id="11" name="תיבת טקסט 10">
            <a:extLst>
              <a:ext uri="{FF2B5EF4-FFF2-40B4-BE49-F238E27FC236}">
                <a16:creationId xmlns:a16="http://schemas.microsoft.com/office/drawing/2014/main" id="{FE464EE5-EB40-6D30-F508-75639CB5915B}"/>
              </a:ext>
            </a:extLst>
          </p:cNvPr>
          <p:cNvSpPr txBox="1"/>
          <p:nvPr/>
        </p:nvSpPr>
        <p:spPr>
          <a:xfrm>
            <a:off x="-5644444" y="391886"/>
            <a:ext cx="6220177" cy="923330"/>
          </a:xfrm>
          <a:prstGeom prst="rect">
            <a:avLst/>
          </a:prstGeom>
          <a:noFill/>
        </p:spPr>
        <p:txBody>
          <a:bodyPr wrap="square" rtlCol="1">
            <a:spAutoFit/>
          </a:bodyPr>
          <a:lstStyle/>
          <a:p>
            <a:r>
              <a:rPr lang="he-IL">
                <a:latin typeface="Assistant" pitchFamily="2" charset="-79"/>
                <a:cs typeface="Assistant" pitchFamily="2" charset="-79"/>
              </a:rPr>
              <a:t>ב. השוו בין כמות הניצחונות של דניאל מתוך סך המישחים שלו בין כמות הנצחונות של נופר מתוך סך המישחים שלה.</a:t>
            </a:r>
          </a:p>
          <a:p>
            <a:endParaRPr lang="he-IL"/>
          </a:p>
        </p:txBody>
      </p:sp>
      <p:cxnSp>
        <p:nvCxnSpPr>
          <p:cNvPr id="2" name="מחבר ישר 3">
            <a:extLst>
              <a:ext uri="{FF2B5EF4-FFF2-40B4-BE49-F238E27FC236}">
                <a16:creationId xmlns:a16="http://schemas.microsoft.com/office/drawing/2014/main" id="{7846875E-7AD6-2E73-85A5-953A09C9E191}"/>
              </a:ext>
            </a:extLst>
          </p:cNvPr>
          <p:cNvCxnSpPr>
            <a:cxnSpLocks/>
          </p:cNvCxnSpPr>
          <p:nvPr/>
        </p:nvCxnSpPr>
        <p:spPr>
          <a:xfrm>
            <a:off x="0" y="6079252"/>
            <a:ext cx="12192000" cy="0"/>
          </a:xfrm>
          <a:prstGeom prst="line">
            <a:avLst/>
          </a:prstGeom>
          <a:ln>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4" name="מלבן: פינות מעוגלות 4">
            <a:extLst>
              <a:ext uri="{FF2B5EF4-FFF2-40B4-BE49-F238E27FC236}">
                <a16:creationId xmlns:a16="http://schemas.microsoft.com/office/drawing/2014/main" id="{DE29A421-AC5E-6FAC-A300-AE05CE2C3689}"/>
              </a:ext>
            </a:extLst>
          </p:cNvPr>
          <p:cNvSpPr/>
          <p:nvPr/>
        </p:nvSpPr>
        <p:spPr>
          <a:xfrm>
            <a:off x="268356" y="6182143"/>
            <a:ext cx="1798983" cy="506891"/>
          </a:xfrm>
          <a:prstGeom prst="roundRect">
            <a:avLst>
              <a:gd name="adj" fmla="val 50000"/>
            </a:avLst>
          </a:prstGeom>
          <a:solidFill>
            <a:schemeClr val="bg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he-IL"/>
              <a:t>צדקתי?</a:t>
            </a:r>
            <a:endParaRPr lang="LID4096"/>
          </a:p>
        </p:txBody>
      </p:sp>
      <p:sp>
        <p:nvSpPr>
          <p:cNvPr id="5" name="מלבן: פינות מעוגלות 1">
            <a:extLst>
              <a:ext uri="{FF2B5EF4-FFF2-40B4-BE49-F238E27FC236}">
                <a16:creationId xmlns:a16="http://schemas.microsoft.com/office/drawing/2014/main" id="{63CBAC66-ED68-D577-1501-A09ADCC60F5F}"/>
              </a:ext>
            </a:extLst>
          </p:cNvPr>
          <p:cNvSpPr/>
          <p:nvPr/>
        </p:nvSpPr>
        <p:spPr>
          <a:xfrm>
            <a:off x="2179982" y="6182142"/>
            <a:ext cx="2481470" cy="506891"/>
          </a:xfrm>
          <a:prstGeom prst="roundRect">
            <a:avLst>
              <a:gd name="adj" fmla="val 50000"/>
            </a:avLst>
          </a:prstGeom>
          <a:noFill/>
          <a:ln>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he-IL">
                <a:solidFill>
                  <a:srgbClr val="00B0F0"/>
                </a:solidFill>
              </a:rPr>
              <a:t>     אפשר רמז?</a:t>
            </a:r>
            <a:endParaRPr lang="LID4096">
              <a:solidFill>
                <a:srgbClr val="00B0F0"/>
              </a:solidFill>
            </a:endParaRPr>
          </a:p>
        </p:txBody>
      </p:sp>
      <p:sp>
        <p:nvSpPr>
          <p:cNvPr id="6" name="מלבן: פינות מעוגלות 6">
            <a:extLst>
              <a:ext uri="{FF2B5EF4-FFF2-40B4-BE49-F238E27FC236}">
                <a16:creationId xmlns:a16="http://schemas.microsoft.com/office/drawing/2014/main" id="{8A2695AB-149F-318C-2216-FE45FC2B71A8}"/>
              </a:ext>
            </a:extLst>
          </p:cNvPr>
          <p:cNvSpPr/>
          <p:nvPr/>
        </p:nvSpPr>
        <p:spPr>
          <a:xfrm>
            <a:off x="10244695" y="6193485"/>
            <a:ext cx="1798983" cy="506891"/>
          </a:xfrm>
          <a:prstGeom prst="roundRect">
            <a:avLst>
              <a:gd name="adj" fmla="val 50000"/>
            </a:avLst>
          </a:prstGeom>
          <a:noFill/>
          <a:ln>
            <a:solidFill>
              <a:srgbClr val="019DE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he-IL">
                <a:solidFill>
                  <a:srgbClr val="019DE5"/>
                </a:solidFill>
                <a:latin typeface="Assistant" pitchFamily="2" charset="-79"/>
                <a:cs typeface="Assistant" pitchFamily="2" charset="-79"/>
              </a:rPr>
              <a:t>חזרה</a:t>
            </a:r>
            <a:endParaRPr lang="LID4096">
              <a:solidFill>
                <a:srgbClr val="019DE5"/>
              </a:solidFill>
              <a:latin typeface="Assistant" pitchFamily="2" charset="-79"/>
              <a:cs typeface="Assistant" pitchFamily="2" charset="-79"/>
            </a:endParaRPr>
          </a:p>
        </p:txBody>
      </p:sp>
      <p:pic>
        <p:nvPicPr>
          <p:cNvPr id="7" name="תמונה 8">
            <a:extLst>
              <a:ext uri="{FF2B5EF4-FFF2-40B4-BE49-F238E27FC236}">
                <a16:creationId xmlns:a16="http://schemas.microsoft.com/office/drawing/2014/main" id="{9047593B-95DD-80D0-941C-570ED14B7B14}"/>
              </a:ext>
            </a:extLst>
          </p:cNvPr>
          <p:cNvPicPr>
            <a:picLocks noChangeAspect="1"/>
          </p:cNvPicPr>
          <p:nvPr/>
        </p:nvPicPr>
        <p:blipFill>
          <a:blip r:embed="rId5">
            <a:extLst>
              <a:ext uri="{28A0092B-C50C-407E-A947-70E740481C1C}">
                <a14:useLocalDpi xmlns:a14="http://schemas.microsoft.com/office/drawing/2010/main"/>
              </a:ext>
            </a:extLst>
          </a:blip>
          <a:stretch>
            <a:fillRect/>
          </a:stretch>
        </p:blipFill>
        <p:spPr>
          <a:xfrm>
            <a:off x="2803561" y="417934"/>
            <a:ext cx="7847619" cy="558730"/>
          </a:xfrm>
          <a:prstGeom prst="rect">
            <a:avLst/>
          </a:prstGeom>
        </p:spPr>
      </p:pic>
      <p:sp>
        <p:nvSpPr>
          <p:cNvPr id="12" name="מלבן 7">
            <a:extLst>
              <a:ext uri="{FF2B5EF4-FFF2-40B4-BE49-F238E27FC236}">
                <a16:creationId xmlns:a16="http://schemas.microsoft.com/office/drawing/2014/main" id="{2C7EC9A0-ECF9-7ED6-6B53-971C6BA518DD}"/>
              </a:ext>
            </a:extLst>
          </p:cNvPr>
          <p:cNvSpPr/>
          <p:nvPr/>
        </p:nvSpPr>
        <p:spPr>
          <a:xfrm>
            <a:off x="11896440" y="332438"/>
            <a:ext cx="45719" cy="5474677"/>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LID4096"/>
          </a:p>
        </p:txBody>
      </p:sp>
      <p:sp>
        <p:nvSpPr>
          <p:cNvPr id="14" name="מלבן 8">
            <a:extLst>
              <a:ext uri="{FF2B5EF4-FFF2-40B4-BE49-F238E27FC236}">
                <a16:creationId xmlns:a16="http://schemas.microsoft.com/office/drawing/2014/main" id="{6A0F84B8-4B6F-25FE-86A3-10CE3E7B9125}"/>
              </a:ext>
            </a:extLst>
          </p:cNvPr>
          <p:cNvSpPr/>
          <p:nvPr/>
        </p:nvSpPr>
        <p:spPr>
          <a:xfrm>
            <a:off x="11896440" y="1420868"/>
            <a:ext cx="45719" cy="3526971"/>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LID4096"/>
          </a:p>
        </p:txBody>
      </p:sp>
    </p:spTree>
    <p:extLst>
      <p:ext uri="{BB962C8B-B14F-4D97-AF65-F5344CB8AC3E}">
        <p14:creationId xmlns:p14="http://schemas.microsoft.com/office/powerpoint/2010/main" val="130414641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14D818-CAEE-6CBC-4C89-0C1AA1B06242}"/>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מציין מיקום תוכן 2">
                <a:extLst>
                  <a:ext uri="{FF2B5EF4-FFF2-40B4-BE49-F238E27FC236}">
                    <a16:creationId xmlns:a16="http://schemas.microsoft.com/office/drawing/2014/main" id="{00A2DA97-12FA-8865-1C6D-F205E101727E}"/>
                  </a:ext>
                </a:extLst>
              </p:cNvPr>
              <p:cNvSpPr>
                <a:spLocks noGrp="1"/>
              </p:cNvSpPr>
              <p:nvPr>
                <p:ph idx="1"/>
              </p:nvPr>
            </p:nvSpPr>
            <p:spPr>
              <a:xfrm>
                <a:off x="886177" y="1472540"/>
                <a:ext cx="10668000" cy="3234542"/>
              </a:xfrm>
            </p:spPr>
            <p:txBody>
              <a:bodyPr>
                <a:normAutofit/>
              </a:bodyPr>
              <a:lstStyle/>
              <a:p>
                <a:pPr marL="0" indent="0">
                  <a:buNone/>
                </a:pPr>
                <a:r>
                  <a:rPr lang="he-IL" sz="2000">
                    <a:latin typeface="Assistant" pitchFamily="2" charset="-79"/>
                    <a:cs typeface="Assistant" pitchFamily="2" charset="-79"/>
                  </a:rPr>
                  <a:t>4. מאמן שחייה משווה בין נתונים של שחיינית ושחיין שהצטיינו לאורך העונה:</a:t>
                </a:r>
              </a:p>
              <a:p>
                <a:pPr marL="0" lvl="0" indent="0">
                  <a:buNone/>
                </a:pPr>
                <a:r>
                  <a:rPr lang="he-IL" sz="2000" b="1">
                    <a:latin typeface="Assistant" pitchFamily="2" charset="-79"/>
                    <a:cs typeface="Assistant" pitchFamily="2" charset="-79"/>
                  </a:rPr>
                  <a:t>שחיין א' (דניאל):</a:t>
                </a:r>
                <a:r>
                  <a:rPr lang="he-IL" sz="2000">
                    <a:latin typeface="Assistant" pitchFamily="2" charset="-79"/>
                    <a:cs typeface="Assistant" pitchFamily="2" charset="-79"/>
                  </a:rPr>
                  <a:t> היחס בין </a:t>
                </a:r>
                <a:r>
                  <a:rPr lang="he-IL" sz="2000" b="1">
                    <a:latin typeface="Assistant" pitchFamily="2" charset="-79"/>
                    <a:cs typeface="Assistant" pitchFamily="2" charset="-79"/>
                  </a:rPr>
                  <a:t>מספר ניצחונות</a:t>
                </a:r>
                <a:r>
                  <a:rPr lang="he-IL" sz="2000">
                    <a:latin typeface="Assistant" pitchFamily="2" charset="-79"/>
                    <a:cs typeface="Assistant" pitchFamily="2" charset="-79"/>
                  </a:rPr>
                  <a:t> לבין </a:t>
                </a:r>
                <a:r>
                  <a:rPr lang="he-IL" sz="2000" b="1">
                    <a:latin typeface="Assistant" pitchFamily="2" charset="-79"/>
                    <a:cs typeface="Assistant" pitchFamily="2" charset="-79"/>
                  </a:rPr>
                  <a:t>מספר המשחים</a:t>
                </a:r>
                <a:r>
                  <a:rPr lang="he-IL" sz="2000">
                    <a:latin typeface="Assistant" pitchFamily="2" charset="-79"/>
                    <a:cs typeface="Assistant" pitchFamily="2" charset="-79"/>
                  </a:rPr>
                  <a:t> שהשתתף בהם הוא </a:t>
                </a:r>
                <a14:m>
                  <m:oMath xmlns:m="http://schemas.openxmlformats.org/officeDocument/2006/math">
                    <m:r>
                      <a:rPr lang="he-IL" sz="2000">
                        <a:latin typeface="Cambria Math" panose="02040503050406030204" pitchFamily="18" charset="0"/>
                      </a:rPr>
                      <m:t>3:5</m:t>
                    </m:r>
                  </m:oMath>
                </a14:m>
                <a:r>
                  <a:rPr lang="he-IL" sz="2000">
                    <a:latin typeface="Assistant" pitchFamily="2" charset="-79"/>
                    <a:cs typeface="Assistant" pitchFamily="2" charset="-79"/>
                  </a:rPr>
                  <a:t>.</a:t>
                </a:r>
              </a:p>
              <a:p>
                <a:pPr marL="0" lvl="0" indent="0">
                  <a:buNone/>
                </a:pPr>
                <a:r>
                  <a:rPr lang="he-IL" sz="2000" b="1">
                    <a:latin typeface="Assistant" pitchFamily="2" charset="-79"/>
                    <a:cs typeface="Assistant" pitchFamily="2" charset="-79"/>
                  </a:rPr>
                  <a:t>שחיינית ב' (נופר):</a:t>
                </a:r>
                <a:r>
                  <a:rPr lang="he-IL" sz="2000">
                    <a:latin typeface="Assistant" pitchFamily="2" charset="-79"/>
                    <a:cs typeface="Assistant" pitchFamily="2" charset="-79"/>
                  </a:rPr>
                  <a:t> היחס בין </a:t>
                </a:r>
                <a:r>
                  <a:rPr lang="he-IL" sz="2000" b="1">
                    <a:latin typeface="Assistant" pitchFamily="2" charset="-79"/>
                    <a:cs typeface="Assistant" pitchFamily="2" charset="-79"/>
                  </a:rPr>
                  <a:t>מספר ניצחונות</a:t>
                </a:r>
                <a:r>
                  <a:rPr lang="he-IL" sz="2000">
                    <a:latin typeface="Assistant" pitchFamily="2" charset="-79"/>
                    <a:cs typeface="Assistant" pitchFamily="2" charset="-79"/>
                  </a:rPr>
                  <a:t> לבין </a:t>
                </a:r>
                <a:r>
                  <a:rPr lang="he-IL" sz="2000" b="1">
                    <a:latin typeface="Assistant" pitchFamily="2" charset="-79"/>
                    <a:cs typeface="Assistant" pitchFamily="2" charset="-79"/>
                  </a:rPr>
                  <a:t>מספר המשחים</a:t>
                </a:r>
                <a:r>
                  <a:rPr lang="he-IL" sz="2000">
                    <a:latin typeface="Assistant" pitchFamily="2" charset="-79"/>
                    <a:cs typeface="Assistant" pitchFamily="2" charset="-79"/>
                  </a:rPr>
                  <a:t> שהשתתפה בהם הוא </a:t>
                </a:r>
                <a14:m>
                  <m:oMath xmlns:m="http://schemas.openxmlformats.org/officeDocument/2006/math">
                    <m:r>
                      <a:rPr lang="he-IL" sz="2000">
                        <a:latin typeface="Cambria Math" panose="02040503050406030204" pitchFamily="18" charset="0"/>
                      </a:rPr>
                      <m:t>3:8</m:t>
                    </m:r>
                  </m:oMath>
                </a14:m>
                <a:r>
                  <a:rPr lang="he-IL" sz="2000">
                    <a:latin typeface="Assistant" pitchFamily="2" charset="-79"/>
                    <a:cs typeface="Assistant" pitchFamily="2" charset="-79"/>
                  </a:rPr>
                  <a:t>.</a:t>
                </a:r>
              </a:p>
              <a:p>
                <a:pPr marL="0" indent="0">
                  <a:buNone/>
                </a:pPr>
                <a:endParaRPr lang="he-IL" sz="2000" b="1">
                  <a:latin typeface="Assistant" pitchFamily="2" charset="-79"/>
                  <a:cs typeface="Assistant" pitchFamily="2" charset="-79"/>
                </a:endParaRPr>
              </a:p>
              <a:p>
                <a:pPr marL="0" indent="0">
                  <a:buNone/>
                </a:pPr>
                <a:r>
                  <a:rPr lang="he-IL" sz="2000">
                    <a:latin typeface="Assistant" pitchFamily="2" charset="-79"/>
                    <a:cs typeface="Assistant" pitchFamily="2" charset="-79"/>
                  </a:rPr>
                  <a:t>ג. ידוע כי </a:t>
                </a:r>
                <a:r>
                  <a:rPr lang="he-IL" sz="2000" b="1">
                    <a:latin typeface="Assistant" pitchFamily="2" charset="-79"/>
                    <a:cs typeface="Assistant" pitchFamily="2" charset="-79"/>
                  </a:rPr>
                  <a:t>דניאל ניצח ב-12 משחים</a:t>
                </a:r>
                <a:r>
                  <a:rPr lang="he-IL" sz="2000">
                    <a:latin typeface="Assistant" pitchFamily="2" charset="-79"/>
                    <a:cs typeface="Assistant" pitchFamily="2" charset="-79"/>
                  </a:rPr>
                  <a:t>.</a:t>
                </a:r>
              </a:p>
              <a:p>
                <a:pPr marL="0" lvl="0" indent="0">
                  <a:buNone/>
                </a:pPr>
                <a:r>
                  <a:rPr lang="he-IL" sz="2000" b="1">
                    <a:latin typeface="Assistant" pitchFamily="2" charset="-79"/>
                    <a:cs typeface="Assistant" pitchFamily="2" charset="-79"/>
                  </a:rPr>
                  <a:t>השלימו: </a:t>
                </a:r>
                <a:endParaRPr lang="he-IL" sz="2000">
                  <a:latin typeface="Assistant" pitchFamily="2" charset="-79"/>
                  <a:cs typeface="Assistant" pitchFamily="2" charset="-79"/>
                </a:endParaRPr>
              </a:p>
              <a:p>
                <a:pPr marL="457200" lvl="1" indent="0">
                  <a:buNone/>
                </a:pPr>
                <a:r>
                  <a:rPr lang="he-IL" sz="2000">
                    <a:latin typeface="Assistant" pitchFamily="2" charset="-79"/>
                    <a:cs typeface="Assistant" pitchFamily="2" charset="-79"/>
                  </a:rPr>
                  <a:t>כמה מישחים בסך הכל שחה דניאל העונה? _____</a:t>
                </a:r>
              </a:p>
              <a:p>
                <a:pPr marL="457200" lvl="1" indent="0">
                  <a:buNone/>
                </a:pPr>
                <a:r>
                  <a:rPr lang="he-IL" sz="2000">
                    <a:latin typeface="Assistant" pitchFamily="2" charset="-79"/>
                    <a:cs typeface="Assistant" pitchFamily="2" charset="-79"/>
                  </a:rPr>
                  <a:t>כמה מישחים בסך הכל שחתה נופר העונה? _____</a:t>
                </a:r>
              </a:p>
              <a:p>
                <a:pPr marL="0" indent="0">
                  <a:buNone/>
                </a:pPr>
                <a:endParaRPr lang="he-IL"/>
              </a:p>
            </p:txBody>
          </p:sp>
        </mc:Choice>
        <mc:Fallback xmlns="">
          <p:sp>
            <p:nvSpPr>
              <p:cNvPr id="3" name="מציין מיקום תוכן 2">
                <a:extLst>
                  <a:ext uri="{FF2B5EF4-FFF2-40B4-BE49-F238E27FC236}">
                    <a16:creationId xmlns:a16="http://schemas.microsoft.com/office/drawing/2014/main" id="{00A2DA97-12FA-8865-1C6D-F205E101727E}"/>
                  </a:ext>
                </a:extLst>
              </p:cNvPr>
              <p:cNvSpPr>
                <a:spLocks noGrp="1" noRot="1" noChangeAspect="1" noMove="1" noResize="1" noEditPoints="1" noAdjustHandles="1" noChangeArrowheads="1" noChangeShapeType="1" noTextEdit="1"/>
              </p:cNvSpPr>
              <p:nvPr>
                <p:ph idx="1"/>
              </p:nvPr>
            </p:nvSpPr>
            <p:spPr>
              <a:xfrm>
                <a:off x="886177" y="1472540"/>
                <a:ext cx="10668000" cy="3234542"/>
              </a:xfrm>
              <a:blipFill>
                <a:blip r:embed="rId3"/>
                <a:stretch>
                  <a:fillRect t="-2075" r="-686"/>
                </a:stretch>
              </a:blipFill>
            </p:spPr>
            <p:txBody>
              <a:bodyPr/>
              <a:lstStyle/>
              <a:p>
                <a:r>
                  <a:rPr lang="en-US">
                    <a:noFill/>
                  </a:rPr>
                  <a:t> </a:t>
                </a:r>
              </a:p>
            </p:txBody>
          </p:sp>
        </mc:Fallback>
      </mc:AlternateContent>
      <p:pic>
        <p:nvPicPr>
          <p:cNvPr id="10" name="תמונה 9">
            <a:extLst>
              <a:ext uri="{FF2B5EF4-FFF2-40B4-BE49-F238E27FC236}">
                <a16:creationId xmlns:a16="http://schemas.microsoft.com/office/drawing/2014/main" id="{7CF79396-007B-4A36-281D-D091224732A9}"/>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7972778" y="0"/>
            <a:ext cx="9126503" cy="3816427"/>
          </a:xfrm>
          <a:prstGeom prst="rect">
            <a:avLst/>
          </a:prstGeom>
        </p:spPr>
      </p:pic>
      <p:sp>
        <p:nvSpPr>
          <p:cNvPr id="11" name="תיבת טקסט 10">
            <a:extLst>
              <a:ext uri="{FF2B5EF4-FFF2-40B4-BE49-F238E27FC236}">
                <a16:creationId xmlns:a16="http://schemas.microsoft.com/office/drawing/2014/main" id="{81ECEB7D-5F77-6217-1067-B7F812907507}"/>
              </a:ext>
            </a:extLst>
          </p:cNvPr>
          <p:cNvSpPr txBox="1"/>
          <p:nvPr/>
        </p:nvSpPr>
        <p:spPr>
          <a:xfrm>
            <a:off x="-5644444" y="391886"/>
            <a:ext cx="6220177" cy="369332"/>
          </a:xfrm>
          <a:prstGeom prst="rect">
            <a:avLst/>
          </a:prstGeom>
          <a:noFill/>
        </p:spPr>
        <p:txBody>
          <a:bodyPr wrap="square" rtlCol="1">
            <a:spAutoFit/>
          </a:bodyPr>
          <a:lstStyle/>
          <a:p>
            <a:r>
              <a:rPr lang="he-IL">
                <a:latin typeface="Assistant" pitchFamily="2" charset="-79"/>
                <a:cs typeface="Assistant" pitchFamily="2" charset="-79"/>
              </a:rPr>
              <a:t>ג. הגדירו את מספר המישחים של נופר כנעלם ומצאו אותו.</a:t>
            </a:r>
          </a:p>
        </p:txBody>
      </p:sp>
      <p:cxnSp>
        <p:nvCxnSpPr>
          <p:cNvPr id="2" name="מחבר ישר 3">
            <a:extLst>
              <a:ext uri="{FF2B5EF4-FFF2-40B4-BE49-F238E27FC236}">
                <a16:creationId xmlns:a16="http://schemas.microsoft.com/office/drawing/2014/main" id="{3620CFFB-1EAA-070B-B5FE-B81EBFDD5F15}"/>
              </a:ext>
            </a:extLst>
          </p:cNvPr>
          <p:cNvCxnSpPr>
            <a:cxnSpLocks/>
          </p:cNvCxnSpPr>
          <p:nvPr/>
        </p:nvCxnSpPr>
        <p:spPr>
          <a:xfrm>
            <a:off x="0" y="6079252"/>
            <a:ext cx="12192000" cy="0"/>
          </a:xfrm>
          <a:prstGeom prst="line">
            <a:avLst/>
          </a:prstGeom>
          <a:ln>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4" name="מלבן: פינות מעוגלות 4">
            <a:extLst>
              <a:ext uri="{FF2B5EF4-FFF2-40B4-BE49-F238E27FC236}">
                <a16:creationId xmlns:a16="http://schemas.microsoft.com/office/drawing/2014/main" id="{6305B9B2-845E-7CCE-A46E-44550AB4140E}"/>
              </a:ext>
            </a:extLst>
          </p:cNvPr>
          <p:cNvSpPr/>
          <p:nvPr/>
        </p:nvSpPr>
        <p:spPr>
          <a:xfrm>
            <a:off x="268356" y="6182143"/>
            <a:ext cx="1798983" cy="506891"/>
          </a:xfrm>
          <a:prstGeom prst="roundRect">
            <a:avLst>
              <a:gd name="adj" fmla="val 50000"/>
            </a:avLst>
          </a:prstGeom>
          <a:solidFill>
            <a:schemeClr val="bg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he-IL"/>
              <a:t>צדקתי?</a:t>
            </a:r>
            <a:endParaRPr lang="LID4096"/>
          </a:p>
        </p:txBody>
      </p:sp>
      <p:sp>
        <p:nvSpPr>
          <p:cNvPr id="5" name="מלבן: פינות מעוגלות 1">
            <a:extLst>
              <a:ext uri="{FF2B5EF4-FFF2-40B4-BE49-F238E27FC236}">
                <a16:creationId xmlns:a16="http://schemas.microsoft.com/office/drawing/2014/main" id="{569AB35D-CD8D-5F58-A062-415445B2976D}"/>
              </a:ext>
            </a:extLst>
          </p:cNvPr>
          <p:cNvSpPr/>
          <p:nvPr/>
        </p:nvSpPr>
        <p:spPr>
          <a:xfrm>
            <a:off x="2179982" y="6182142"/>
            <a:ext cx="2481470" cy="506891"/>
          </a:xfrm>
          <a:prstGeom prst="roundRect">
            <a:avLst>
              <a:gd name="adj" fmla="val 50000"/>
            </a:avLst>
          </a:prstGeom>
          <a:noFill/>
          <a:ln>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he-IL">
                <a:solidFill>
                  <a:srgbClr val="00B0F0"/>
                </a:solidFill>
              </a:rPr>
              <a:t>     אפשר רמז?</a:t>
            </a:r>
            <a:endParaRPr lang="LID4096">
              <a:solidFill>
                <a:srgbClr val="00B0F0"/>
              </a:solidFill>
            </a:endParaRPr>
          </a:p>
        </p:txBody>
      </p:sp>
      <p:sp>
        <p:nvSpPr>
          <p:cNvPr id="6" name="מלבן: פינות מעוגלות 6">
            <a:extLst>
              <a:ext uri="{FF2B5EF4-FFF2-40B4-BE49-F238E27FC236}">
                <a16:creationId xmlns:a16="http://schemas.microsoft.com/office/drawing/2014/main" id="{84E3E3D3-7B9F-8930-CBDD-27C9D1509D16}"/>
              </a:ext>
            </a:extLst>
          </p:cNvPr>
          <p:cNvSpPr/>
          <p:nvPr/>
        </p:nvSpPr>
        <p:spPr>
          <a:xfrm>
            <a:off x="10244695" y="6193485"/>
            <a:ext cx="1798983" cy="506891"/>
          </a:xfrm>
          <a:prstGeom prst="roundRect">
            <a:avLst>
              <a:gd name="adj" fmla="val 50000"/>
            </a:avLst>
          </a:prstGeom>
          <a:noFill/>
          <a:ln>
            <a:solidFill>
              <a:srgbClr val="019DE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he-IL">
                <a:solidFill>
                  <a:srgbClr val="019DE5"/>
                </a:solidFill>
                <a:latin typeface="Assistant" pitchFamily="2" charset="-79"/>
                <a:cs typeface="Assistant" pitchFamily="2" charset="-79"/>
              </a:rPr>
              <a:t>חזרה</a:t>
            </a:r>
            <a:endParaRPr lang="LID4096">
              <a:solidFill>
                <a:srgbClr val="019DE5"/>
              </a:solidFill>
              <a:latin typeface="Assistant" pitchFamily="2" charset="-79"/>
              <a:cs typeface="Assistant" pitchFamily="2" charset="-79"/>
            </a:endParaRPr>
          </a:p>
        </p:txBody>
      </p:sp>
      <p:pic>
        <p:nvPicPr>
          <p:cNvPr id="7" name="תמונה 8">
            <a:extLst>
              <a:ext uri="{FF2B5EF4-FFF2-40B4-BE49-F238E27FC236}">
                <a16:creationId xmlns:a16="http://schemas.microsoft.com/office/drawing/2014/main" id="{87F2B0C7-72B0-AE06-EB70-589D26735E71}"/>
              </a:ext>
            </a:extLst>
          </p:cNvPr>
          <p:cNvPicPr>
            <a:picLocks noChangeAspect="1"/>
          </p:cNvPicPr>
          <p:nvPr/>
        </p:nvPicPr>
        <p:blipFill>
          <a:blip r:embed="rId5">
            <a:extLst>
              <a:ext uri="{28A0092B-C50C-407E-A947-70E740481C1C}">
                <a14:useLocalDpi xmlns:a14="http://schemas.microsoft.com/office/drawing/2010/main"/>
              </a:ext>
            </a:extLst>
          </a:blip>
          <a:stretch>
            <a:fillRect/>
          </a:stretch>
        </p:blipFill>
        <p:spPr>
          <a:xfrm>
            <a:off x="2803561" y="417934"/>
            <a:ext cx="7847619" cy="558730"/>
          </a:xfrm>
          <a:prstGeom prst="rect">
            <a:avLst/>
          </a:prstGeom>
        </p:spPr>
      </p:pic>
      <p:sp>
        <p:nvSpPr>
          <p:cNvPr id="12" name="מלבן 7">
            <a:extLst>
              <a:ext uri="{FF2B5EF4-FFF2-40B4-BE49-F238E27FC236}">
                <a16:creationId xmlns:a16="http://schemas.microsoft.com/office/drawing/2014/main" id="{FCC8D2E1-9563-82B5-CBD7-28CC82DF6578}"/>
              </a:ext>
            </a:extLst>
          </p:cNvPr>
          <p:cNvSpPr/>
          <p:nvPr/>
        </p:nvSpPr>
        <p:spPr>
          <a:xfrm>
            <a:off x="11896440" y="332438"/>
            <a:ext cx="45719" cy="5474677"/>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LID4096"/>
          </a:p>
        </p:txBody>
      </p:sp>
      <p:sp>
        <p:nvSpPr>
          <p:cNvPr id="14" name="מלבן 8">
            <a:extLst>
              <a:ext uri="{FF2B5EF4-FFF2-40B4-BE49-F238E27FC236}">
                <a16:creationId xmlns:a16="http://schemas.microsoft.com/office/drawing/2014/main" id="{9B6C06BB-D463-9F37-5D12-D7A3BD691005}"/>
              </a:ext>
            </a:extLst>
          </p:cNvPr>
          <p:cNvSpPr/>
          <p:nvPr/>
        </p:nvSpPr>
        <p:spPr>
          <a:xfrm>
            <a:off x="11896440" y="1420868"/>
            <a:ext cx="45719" cy="3526971"/>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LID4096"/>
          </a:p>
        </p:txBody>
      </p:sp>
      <mc:AlternateContent xmlns:mc="http://schemas.openxmlformats.org/markup-compatibility/2006" xmlns:a14="http://schemas.microsoft.com/office/drawing/2010/main">
        <mc:Choice Requires="a14">
          <p:sp>
            <p:nvSpPr>
              <p:cNvPr id="8" name="תיבת טקסט 7">
                <a:extLst>
                  <a:ext uri="{FF2B5EF4-FFF2-40B4-BE49-F238E27FC236}">
                    <a16:creationId xmlns:a16="http://schemas.microsoft.com/office/drawing/2014/main" id="{92523F67-A74F-97A2-14D9-E274C1A6D5BB}"/>
                  </a:ext>
                </a:extLst>
              </p:cNvPr>
              <p:cNvSpPr txBox="1"/>
              <p:nvPr/>
            </p:nvSpPr>
            <p:spPr>
              <a:xfrm>
                <a:off x="-5987487" y="2101651"/>
                <a:ext cx="6084711" cy="4978351"/>
              </a:xfrm>
              <a:prstGeom prst="rect">
                <a:avLst/>
              </a:prstGeom>
              <a:solidFill>
                <a:schemeClr val="accent6">
                  <a:lumMod val="20000"/>
                  <a:lumOff val="80000"/>
                </a:schemeClr>
              </a:solidFill>
            </p:spPr>
            <p:txBody>
              <a:bodyPr wrap="square" rtlCol="1">
                <a:spAutoFit/>
              </a:bodyPr>
              <a:lstStyle/>
              <a:p>
                <a:r>
                  <a:rPr lang="he-IL" sz="2000" b="1">
                    <a:latin typeface="Assistant" pitchFamily="2" charset="-79"/>
                    <a:cs typeface="Assistant" pitchFamily="2" charset="-79"/>
                  </a:rPr>
                  <a:t>נכון מאוד/ טעית, בואו נסביר:</a:t>
                </a:r>
              </a:p>
              <a:p>
                <a:r>
                  <a:rPr lang="he-IL" sz="2000">
                    <a:latin typeface="Assistant" pitchFamily="2" charset="-79"/>
                    <a:cs typeface="Assistant" pitchFamily="2" charset="-79"/>
                  </a:rPr>
                  <a:t>ג. נתון כי דניאל ניצח ב- 12 מישחים שהם </a:t>
                </a:r>
                <a14:m>
                  <m:oMath xmlns:m="http://schemas.openxmlformats.org/officeDocument/2006/math">
                    <m:f>
                      <m:fPr>
                        <m:ctrlPr>
                          <a:rPr lang="he-IL" sz="2000" b="0" i="1" smtClean="0">
                            <a:latin typeface="Cambria Math" panose="02040503050406030204" pitchFamily="18" charset="0"/>
                          </a:rPr>
                        </m:ctrlPr>
                      </m:fPr>
                      <m:num>
                        <m:r>
                          <a:rPr lang="he-IL" sz="2000" b="0" i="1" smtClean="0">
                            <a:latin typeface="Cambria Math" panose="02040503050406030204" pitchFamily="18" charset="0"/>
                          </a:rPr>
                          <m:t>3</m:t>
                        </m:r>
                      </m:num>
                      <m:den>
                        <m:r>
                          <a:rPr lang="he-IL" sz="2000" b="0" i="1" smtClean="0">
                            <a:latin typeface="Cambria Math" panose="02040503050406030204" pitchFamily="18" charset="0"/>
                          </a:rPr>
                          <m:t>5</m:t>
                        </m:r>
                      </m:den>
                    </m:f>
                  </m:oMath>
                </a14:m>
                <a:r>
                  <a:rPr lang="he-IL" sz="2000">
                    <a:latin typeface="Assistant" pitchFamily="2" charset="-79"/>
                    <a:cs typeface="Assistant" pitchFamily="2" charset="-79"/>
                  </a:rPr>
                  <a:t>  מכלל המישחים שהוא השתתף בהם.</a:t>
                </a:r>
              </a:p>
              <a:p>
                <a:r>
                  <a:rPr lang="he-IL" sz="2000">
                    <a:latin typeface="Assistant" pitchFamily="2" charset="-79"/>
                    <a:cs typeface="Assistant" pitchFamily="2" charset="-79"/>
                  </a:rPr>
                  <a:t>נסמן את כלל המשחים ב- </a:t>
                </a:r>
                <a:r>
                  <a:rPr lang="en-US" sz="2000">
                    <a:latin typeface="Assistant" pitchFamily="2" charset="-79"/>
                    <a:cs typeface="Assistant" pitchFamily="2" charset="-79"/>
                  </a:rPr>
                  <a:t>x</a:t>
                </a:r>
                <a:r>
                  <a:rPr lang="he-IL" sz="2000">
                    <a:latin typeface="Assistant" pitchFamily="2" charset="-79"/>
                    <a:cs typeface="Assistant" pitchFamily="2" charset="-79"/>
                  </a:rPr>
                  <a:t> ונבנה את המשוואה: </a:t>
                </a:r>
                <a14:m>
                  <m:oMath xmlns:m="http://schemas.openxmlformats.org/officeDocument/2006/math">
                    <m:f>
                      <m:fPr>
                        <m:ctrlPr>
                          <a:rPr lang="he-IL" sz="2000" b="0" i="1" smtClean="0">
                            <a:latin typeface="Cambria Math" panose="02040503050406030204" pitchFamily="18" charset="0"/>
                            <a:ea typeface="Cambria Math" panose="02040503050406030204" pitchFamily="18" charset="0"/>
                          </a:rPr>
                        </m:ctrlPr>
                      </m:fPr>
                      <m:num>
                        <m:r>
                          <a:rPr lang="he-IL" sz="2000" b="0" i="1" smtClean="0">
                            <a:latin typeface="Cambria Math" panose="02040503050406030204" pitchFamily="18" charset="0"/>
                            <a:ea typeface="Cambria Math" panose="02040503050406030204" pitchFamily="18" charset="0"/>
                          </a:rPr>
                          <m:t>3</m:t>
                        </m:r>
                      </m:num>
                      <m:den>
                        <m:r>
                          <a:rPr lang="he-IL" sz="2000" b="0" i="1" smtClean="0">
                            <a:latin typeface="Cambria Math" panose="02040503050406030204" pitchFamily="18" charset="0"/>
                            <a:ea typeface="Cambria Math" panose="02040503050406030204" pitchFamily="18" charset="0"/>
                          </a:rPr>
                          <m:t>5</m:t>
                        </m:r>
                      </m:den>
                    </m:f>
                    <m:r>
                      <a:rPr lang="he-IL" sz="2000" i="1" smtClean="0">
                        <a:latin typeface="Cambria Math" panose="02040503050406030204" pitchFamily="18" charset="0"/>
                        <a:ea typeface="Cambria Math" panose="02040503050406030204" pitchFamily="18" charset="0"/>
                      </a:rPr>
                      <m:t>∙</m:t>
                    </m:r>
                    <m:r>
                      <a:rPr lang="en-US" sz="2000" i="1" smtClean="0">
                        <a:latin typeface="Cambria Math" panose="02040503050406030204" pitchFamily="18" charset="0"/>
                      </a:rPr>
                      <m:t>𝑥</m:t>
                    </m:r>
                    <m:r>
                      <a:rPr lang="en-US" sz="2000" b="0" i="1" smtClean="0">
                        <a:latin typeface="Cambria Math" panose="02040503050406030204" pitchFamily="18" charset="0"/>
                      </a:rPr>
                      <m:t>=12</m:t>
                    </m:r>
                  </m:oMath>
                </a14:m>
                <a:endParaRPr lang="he-IL" sz="2000">
                  <a:latin typeface="Assistant" pitchFamily="2" charset="-79"/>
                  <a:cs typeface="Assistant" pitchFamily="2" charset="-79"/>
                </a:endParaRPr>
              </a:p>
              <a:p>
                <a:r>
                  <a:rPr lang="he-IL" sz="2000">
                    <a:latin typeface="Assistant" pitchFamily="2" charset="-79"/>
                    <a:cs typeface="Assistant" pitchFamily="2" charset="-79"/>
                  </a:rPr>
                  <a:t>נחלק ב- </a:t>
                </a:r>
                <a14:m>
                  <m:oMath xmlns:m="http://schemas.openxmlformats.org/officeDocument/2006/math">
                    <m:f>
                      <m:fPr>
                        <m:ctrlPr>
                          <a:rPr lang="he-IL" sz="2000" i="1">
                            <a:latin typeface="Cambria Math" panose="02040503050406030204" pitchFamily="18" charset="0"/>
                            <a:ea typeface="Cambria Math" panose="02040503050406030204" pitchFamily="18" charset="0"/>
                          </a:rPr>
                        </m:ctrlPr>
                      </m:fPr>
                      <m:num>
                        <m:r>
                          <a:rPr lang="he-IL" sz="2000" i="1">
                            <a:latin typeface="Cambria Math" panose="02040503050406030204" pitchFamily="18" charset="0"/>
                            <a:ea typeface="Cambria Math" panose="02040503050406030204" pitchFamily="18" charset="0"/>
                          </a:rPr>
                          <m:t>3</m:t>
                        </m:r>
                      </m:num>
                      <m:den>
                        <m:r>
                          <a:rPr lang="he-IL" sz="2000" b="0" i="1" smtClean="0">
                            <a:latin typeface="Cambria Math" panose="02040503050406030204" pitchFamily="18" charset="0"/>
                            <a:ea typeface="Cambria Math" panose="02040503050406030204" pitchFamily="18" charset="0"/>
                          </a:rPr>
                          <m:t> </m:t>
                        </m:r>
                        <m:r>
                          <a:rPr lang="he-IL" sz="2000" i="1">
                            <a:latin typeface="Cambria Math" panose="02040503050406030204" pitchFamily="18" charset="0"/>
                            <a:ea typeface="Cambria Math" panose="02040503050406030204" pitchFamily="18" charset="0"/>
                          </a:rPr>
                          <m:t>5</m:t>
                        </m:r>
                      </m:den>
                    </m:f>
                  </m:oMath>
                </a14:m>
                <a:r>
                  <a:rPr lang="he-IL" sz="2000">
                    <a:latin typeface="Assistant" pitchFamily="2" charset="-79"/>
                    <a:cs typeface="Assistant" pitchFamily="2" charset="-79"/>
                  </a:rPr>
                  <a:t> ונקבל: </a:t>
                </a:r>
                <a:r>
                  <a:rPr lang="en-US" sz="2000">
                    <a:latin typeface="Assistant" pitchFamily="2" charset="-79"/>
                    <a:cs typeface="Assistant" pitchFamily="2" charset="-79"/>
                  </a:rPr>
                  <a:t>x=20</a:t>
                </a:r>
                <a:r>
                  <a:rPr lang="he-IL" sz="2000">
                    <a:latin typeface="Assistant" pitchFamily="2" charset="-79"/>
                    <a:cs typeface="Assistant" pitchFamily="2" charset="-79"/>
                  </a:rPr>
                  <a:t>.</a:t>
                </a:r>
              </a:p>
              <a:p>
                <a:r>
                  <a:rPr lang="he-IL" sz="2000" b="1">
                    <a:latin typeface="Assistant" pitchFamily="2" charset="-79"/>
                    <a:cs typeface="Assistant" pitchFamily="2" charset="-79"/>
                  </a:rPr>
                  <a:t>לכן, דניאל שחה 20 משחים בכל העונה.</a:t>
                </a:r>
              </a:p>
              <a:p>
                <a:r>
                  <a:rPr lang="he-IL" sz="2000">
                    <a:latin typeface="Assistant" pitchFamily="2" charset="-79"/>
                    <a:cs typeface="Assistant" pitchFamily="2" charset="-79"/>
                  </a:rPr>
                  <a:t>נתון כי נופר ודניאל השיגו את אותו מספר ניצחונות לכן נופר ניצחה ב- 12 משחים שהם </a:t>
                </a:r>
                <a14:m>
                  <m:oMath xmlns:m="http://schemas.openxmlformats.org/officeDocument/2006/math">
                    <m:f>
                      <m:fPr>
                        <m:ctrlPr>
                          <a:rPr lang="he-IL" sz="2000" i="1">
                            <a:latin typeface="Cambria Math" panose="02040503050406030204" pitchFamily="18" charset="0"/>
                          </a:rPr>
                        </m:ctrlPr>
                      </m:fPr>
                      <m:num>
                        <m:r>
                          <a:rPr lang="he-IL" sz="2000" i="1">
                            <a:latin typeface="Cambria Math" panose="02040503050406030204" pitchFamily="18" charset="0"/>
                          </a:rPr>
                          <m:t>3</m:t>
                        </m:r>
                      </m:num>
                      <m:den>
                        <m:r>
                          <a:rPr lang="he-IL" sz="2000" b="0" i="1" smtClean="0">
                            <a:latin typeface="Cambria Math" panose="02040503050406030204" pitchFamily="18" charset="0"/>
                          </a:rPr>
                          <m:t>11</m:t>
                        </m:r>
                      </m:den>
                    </m:f>
                  </m:oMath>
                </a14:m>
                <a:r>
                  <a:rPr lang="he-IL" sz="2000">
                    <a:latin typeface="Assistant" pitchFamily="2" charset="-79"/>
                    <a:cs typeface="Assistant" pitchFamily="2" charset="-79"/>
                  </a:rPr>
                  <a:t>  מכלל המישחים בהם השתתפה.</a:t>
                </a:r>
              </a:p>
              <a:p>
                <a:r>
                  <a:rPr lang="he-IL" sz="2000">
                    <a:latin typeface="Assistant" pitchFamily="2" charset="-79"/>
                    <a:cs typeface="Assistant" pitchFamily="2" charset="-79"/>
                  </a:rPr>
                  <a:t>נסמן את כלל המישחים ששחתה נופר ב- </a:t>
                </a:r>
                <a:r>
                  <a:rPr lang="en-US" sz="2000">
                    <a:latin typeface="Assistant" pitchFamily="2" charset="-79"/>
                    <a:cs typeface="Assistant" pitchFamily="2" charset="-79"/>
                  </a:rPr>
                  <a:t>y</a:t>
                </a:r>
                <a:r>
                  <a:rPr lang="he-IL" sz="2000">
                    <a:latin typeface="Assistant" pitchFamily="2" charset="-79"/>
                    <a:cs typeface="Assistant" pitchFamily="2" charset="-79"/>
                  </a:rPr>
                  <a:t> ונבנה את המשוואה: </a:t>
                </a:r>
              </a:p>
              <a:p>
                <a:pPr/>
                <a14:m>
                  <m:oMathPara xmlns:m="http://schemas.openxmlformats.org/officeDocument/2006/math">
                    <m:oMath>
                      <m:f>
                        <m:fPr>
                          <m:ctrlPr>
                            <a:rPr lang="he-IL" sz="2000" i="1">
                              <a:latin typeface="Cambria Math" panose="02040503050406030204" pitchFamily="18" charset="0"/>
                              <a:ea typeface="Cambria Math" panose="02040503050406030204" pitchFamily="18" charset="0"/>
                            </a:rPr>
                          </m:ctrlPr>
                        </m:fPr>
                        <m:num>
                          <m:r>
                            <a:rPr lang="he-IL" sz="2000" i="1">
                              <a:latin typeface="Cambria Math" panose="02040503050406030204" pitchFamily="18" charset="0"/>
                              <a:ea typeface="Cambria Math" panose="02040503050406030204" pitchFamily="18" charset="0"/>
                            </a:rPr>
                            <m:t>3</m:t>
                          </m:r>
                        </m:num>
                        <m:den>
                          <m:r>
                            <a:rPr lang="he-IL" sz="2000" b="0" i="1" smtClean="0">
                              <a:latin typeface="Cambria Math" panose="02040503050406030204" pitchFamily="18" charset="0"/>
                              <a:ea typeface="Cambria Math" panose="02040503050406030204" pitchFamily="18" charset="0"/>
                            </a:rPr>
                            <m:t>8</m:t>
                          </m:r>
                        </m:den>
                      </m:f>
                      <m:r>
                        <a:rPr lang="he-IL" sz="2000" i="1">
                          <a:latin typeface="Cambria Math" panose="02040503050406030204" pitchFamily="18" charset="0"/>
                          <a:ea typeface="Cambria Math" panose="02040503050406030204" pitchFamily="18" charset="0"/>
                        </a:rPr>
                        <m:t>∙</m:t>
                      </m:r>
                      <m:r>
                        <a:rPr lang="en-US" sz="2000" b="0" i="1" smtClean="0">
                          <a:latin typeface="Cambria Math" panose="02040503050406030204" pitchFamily="18" charset="0"/>
                        </a:rPr>
                        <m:t>𝑦</m:t>
                      </m:r>
                      <m:r>
                        <a:rPr lang="en-US" sz="2000" i="1">
                          <a:latin typeface="Cambria Math" panose="02040503050406030204" pitchFamily="18" charset="0"/>
                        </a:rPr>
                        <m:t>=12</m:t>
                      </m:r>
                    </m:oMath>
                  </m:oMathPara>
                </a14:m>
                <a:endParaRPr lang="he-IL" sz="2000">
                  <a:latin typeface="Assistant" pitchFamily="2" charset="-79"/>
                  <a:cs typeface="Assistant" pitchFamily="2" charset="-79"/>
                </a:endParaRPr>
              </a:p>
              <a:p>
                <a:r>
                  <a:rPr lang="he-IL" sz="2000">
                    <a:latin typeface="Assistant" pitchFamily="2" charset="-79"/>
                    <a:cs typeface="Assistant" pitchFamily="2" charset="-79"/>
                  </a:rPr>
                  <a:t>נחלק ב- </a:t>
                </a:r>
                <a14:m>
                  <m:oMath xmlns:m="http://schemas.openxmlformats.org/officeDocument/2006/math">
                    <m:f>
                      <m:fPr>
                        <m:ctrlPr>
                          <a:rPr lang="he-IL" sz="2000" i="1">
                            <a:latin typeface="Cambria Math" panose="02040503050406030204" pitchFamily="18" charset="0"/>
                            <a:ea typeface="Cambria Math" panose="02040503050406030204" pitchFamily="18" charset="0"/>
                          </a:rPr>
                        </m:ctrlPr>
                      </m:fPr>
                      <m:num>
                        <m:r>
                          <a:rPr lang="he-IL" sz="2000" i="1">
                            <a:latin typeface="Cambria Math" panose="02040503050406030204" pitchFamily="18" charset="0"/>
                            <a:ea typeface="Cambria Math" panose="02040503050406030204" pitchFamily="18" charset="0"/>
                          </a:rPr>
                          <m:t>3</m:t>
                        </m:r>
                      </m:num>
                      <m:den>
                        <m:r>
                          <a:rPr lang="he-IL" sz="2000" i="1">
                            <a:latin typeface="Cambria Math" panose="02040503050406030204" pitchFamily="18" charset="0"/>
                            <a:ea typeface="Cambria Math" panose="02040503050406030204" pitchFamily="18" charset="0"/>
                          </a:rPr>
                          <m:t> </m:t>
                        </m:r>
                        <m:r>
                          <a:rPr lang="he-IL" sz="2000" b="0" i="1" smtClean="0">
                            <a:latin typeface="Cambria Math" panose="02040503050406030204" pitchFamily="18" charset="0"/>
                            <a:ea typeface="Cambria Math" panose="02040503050406030204" pitchFamily="18" charset="0"/>
                          </a:rPr>
                          <m:t>8</m:t>
                        </m:r>
                      </m:den>
                    </m:f>
                  </m:oMath>
                </a14:m>
                <a:r>
                  <a:rPr lang="he-IL" sz="2000">
                    <a:latin typeface="Assistant" pitchFamily="2" charset="-79"/>
                    <a:cs typeface="Assistant" pitchFamily="2" charset="-79"/>
                  </a:rPr>
                  <a:t> ונקבל: </a:t>
                </a:r>
                <a:r>
                  <a:rPr lang="en-US" sz="2000">
                    <a:latin typeface="Assistant" pitchFamily="2" charset="-79"/>
                    <a:cs typeface="Assistant" pitchFamily="2" charset="-79"/>
                  </a:rPr>
                  <a:t>x=32</a:t>
                </a:r>
                <a:r>
                  <a:rPr lang="he-IL" sz="2000">
                    <a:latin typeface="Assistant" pitchFamily="2" charset="-79"/>
                    <a:cs typeface="Assistant" pitchFamily="2" charset="-79"/>
                  </a:rPr>
                  <a:t>.</a:t>
                </a:r>
              </a:p>
              <a:p>
                <a:r>
                  <a:rPr lang="he-IL" sz="2000" b="1">
                    <a:latin typeface="Assistant" pitchFamily="2" charset="-79"/>
                    <a:cs typeface="Assistant" pitchFamily="2" charset="-79"/>
                  </a:rPr>
                  <a:t>לכן, נופר שחתה 32 מישחים בכל העונה.</a:t>
                </a:r>
                <a:endParaRPr lang="he-IL"/>
              </a:p>
              <a:p>
                <a:endParaRPr lang="he-IL"/>
              </a:p>
            </p:txBody>
          </p:sp>
        </mc:Choice>
        <mc:Fallback xmlns="">
          <p:sp>
            <p:nvSpPr>
              <p:cNvPr id="8" name="תיבת טקסט 7">
                <a:extLst>
                  <a:ext uri="{FF2B5EF4-FFF2-40B4-BE49-F238E27FC236}">
                    <a16:creationId xmlns:a16="http://schemas.microsoft.com/office/drawing/2014/main" id="{92523F67-A74F-97A2-14D9-E274C1A6D5BB}"/>
                  </a:ext>
                </a:extLst>
              </p:cNvPr>
              <p:cNvSpPr txBox="1">
                <a:spLocks noRot="1" noChangeAspect="1" noMove="1" noResize="1" noEditPoints="1" noAdjustHandles="1" noChangeArrowheads="1" noChangeShapeType="1" noTextEdit="1"/>
              </p:cNvSpPr>
              <p:nvPr/>
            </p:nvSpPr>
            <p:spPr>
              <a:xfrm>
                <a:off x="-5987487" y="2101651"/>
                <a:ext cx="6084711" cy="4978351"/>
              </a:xfrm>
              <a:prstGeom prst="rect">
                <a:avLst/>
              </a:prstGeom>
              <a:blipFill>
                <a:blip r:embed="rId6"/>
                <a:stretch>
                  <a:fillRect t="-735" r="-1002"/>
                </a:stretch>
              </a:blipFill>
            </p:spPr>
            <p:txBody>
              <a:bodyPr/>
              <a:lstStyle/>
              <a:p>
                <a:r>
                  <a:rPr lang="en-US">
                    <a:noFill/>
                  </a:rPr>
                  <a:t> </a:t>
                </a:r>
              </a:p>
            </p:txBody>
          </p:sp>
        </mc:Fallback>
      </mc:AlternateContent>
    </p:spTree>
    <p:extLst>
      <p:ext uri="{BB962C8B-B14F-4D97-AF65-F5344CB8AC3E}">
        <p14:creationId xmlns:p14="http://schemas.microsoft.com/office/powerpoint/2010/main" val="80277614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328BBD-167E-FEB3-B1C8-42E9BC956F22}"/>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B7C13C98-DE5A-2FD4-B7F7-3B0F418F10F0}"/>
              </a:ext>
            </a:extLst>
          </p:cNvPr>
          <p:cNvSpPr txBox="1"/>
          <p:nvPr/>
        </p:nvSpPr>
        <p:spPr>
          <a:xfrm>
            <a:off x="2621280" y="3167390"/>
            <a:ext cx="5815584" cy="954107"/>
          </a:xfrm>
          <a:prstGeom prst="rect">
            <a:avLst/>
          </a:prstGeom>
          <a:noFill/>
        </p:spPr>
        <p:txBody>
          <a:bodyPr wrap="square">
            <a:spAutoFit/>
          </a:bodyPr>
          <a:lstStyle/>
          <a:p>
            <a:pPr algn="ctr"/>
            <a:r>
              <a:rPr lang="he-IL" sz="2800" b="0" i="0" kern="1200" dirty="0">
                <a:solidFill>
                  <a:schemeClr val="dk1"/>
                </a:solidFill>
                <a:effectLst/>
                <a:latin typeface="+mn-lt"/>
                <a:ea typeface="+mn-ea"/>
                <a:cs typeface="+mn-cs"/>
              </a:rPr>
              <a:t> רכיב </a:t>
            </a:r>
            <a:r>
              <a:rPr lang="en-US" sz="2800" b="0" i="0" kern="1200" dirty="0">
                <a:solidFill>
                  <a:schemeClr val="dk1"/>
                </a:solidFill>
                <a:effectLst/>
                <a:latin typeface="+mn-lt"/>
                <a:ea typeface="+mn-ea"/>
                <a:cs typeface="+mn-cs"/>
              </a:rPr>
              <a:t>3</a:t>
            </a:r>
            <a:endParaRPr lang="he-IL" sz="2800" b="0" i="0" kern="1200" dirty="0">
              <a:solidFill>
                <a:schemeClr val="dk1"/>
              </a:solidFill>
              <a:effectLst/>
              <a:latin typeface="+mn-lt"/>
              <a:ea typeface="+mn-ea"/>
              <a:cs typeface="+mn-cs"/>
            </a:endParaRPr>
          </a:p>
          <a:p>
            <a:pPr algn="ctr"/>
            <a:r>
              <a:rPr lang="en-IL" sz="2800" b="0" i="0" kern="1200" dirty="0">
                <a:solidFill>
                  <a:schemeClr val="dk1"/>
                </a:solidFill>
                <a:effectLst/>
                <a:latin typeface="+mn-lt"/>
                <a:ea typeface="+mn-ea"/>
                <a:cs typeface="+mn-cs"/>
              </a:rPr>
              <a:t>methodica-math-ratio-01</a:t>
            </a:r>
            <a:r>
              <a:rPr lang="en-US" sz="2800" b="0" i="0" kern="1200" dirty="0">
                <a:solidFill>
                  <a:schemeClr val="dk1"/>
                </a:solidFill>
                <a:effectLst/>
                <a:latin typeface="+mn-lt"/>
                <a:ea typeface="+mn-ea"/>
                <a:cs typeface="+mn-cs"/>
              </a:rPr>
              <a:t>-03</a:t>
            </a:r>
            <a:endParaRPr lang="LID4096" sz="2800" dirty="0">
              <a:latin typeface="Assistant" pitchFamily="2" charset="-79"/>
              <a:cs typeface="Assistant" pitchFamily="2" charset="-79"/>
            </a:endParaRPr>
          </a:p>
        </p:txBody>
      </p:sp>
    </p:spTree>
    <p:extLst>
      <p:ext uri="{BB962C8B-B14F-4D97-AF65-F5344CB8AC3E}">
        <p14:creationId xmlns:p14="http://schemas.microsoft.com/office/powerpoint/2010/main" val="140848866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DD7F47-3972-B413-DA17-1BF380D148E8}"/>
            </a:ext>
          </a:extLst>
        </p:cNvPr>
        <p:cNvGrpSpPr/>
        <p:nvPr/>
      </p:nvGrpSpPr>
      <p:grpSpPr>
        <a:xfrm>
          <a:off x="0" y="0"/>
          <a:ext cx="0" cy="0"/>
          <a:chOff x="0" y="0"/>
          <a:chExt cx="0" cy="0"/>
        </a:xfrm>
      </p:grpSpPr>
      <p:pic>
        <p:nvPicPr>
          <p:cNvPr id="4" name="תמונה 3">
            <a:extLst>
              <a:ext uri="{FF2B5EF4-FFF2-40B4-BE49-F238E27FC236}">
                <a16:creationId xmlns:a16="http://schemas.microsoft.com/office/drawing/2014/main" id="{A1B30582-3659-A06E-789A-EA77DF076D6D}"/>
              </a:ext>
            </a:extLst>
          </p:cNvPr>
          <p:cNvPicPr>
            <a:picLocks noChangeAspect="1"/>
          </p:cNvPicPr>
          <p:nvPr/>
        </p:nvPicPr>
        <p:blipFill>
          <a:blip r:embed="rId4">
            <a:extLst>
              <a:ext uri="{28A0092B-C50C-407E-A947-70E740481C1C}">
                <a14:useLocalDpi xmlns:a14="http://schemas.microsoft.com/office/drawing/2010/main"/>
              </a:ext>
            </a:extLst>
          </a:blip>
          <a:stretch>
            <a:fillRect/>
          </a:stretch>
        </p:blipFill>
        <p:spPr>
          <a:xfrm>
            <a:off x="192984" y="6236080"/>
            <a:ext cx="1777778" cy="495238"/>
          </a:xfrm>
          <a:prstGeom prst="rect">
            <a:avLst/>
          </a:prstGeom>
        </p:spPr>
      </p:pic>
      <p:cxnSp>
        <p:nvCxnSpPr>
          <p:cNvPr id="5" name="מחבר ישר 4">
            <a:extLst>
              <a:ext uri="{FF2B5EF4-FFF2-40B4-BE49-F238E27FC236}">
                <a16:creationId xmlns:a16="http://schemas.microsoft.com/office/drawing/2014/main" id="{9E49A2A3-15CC-D5F8-CEAF-B59E48F15B5A}"/>
              </a:ext>
            </a:extLst>
          </p:cNvPr>
          <p:cNvCxnSpPr>
            <a:cxnSpLocks/>
          </p:cNvCxnSpPr>
          <p:nvPr/>
        </p:nvCxnSpPr>
        <p:spPr>
          <a:xfrm>
            <a:off x="0" y="6079252"/>
            <a:ext cx="12192000" cy="0"/>
          </a:xfrm>
          <a:prstGeom prst="line">
            <a:avLst/>
          </a:prstGeom>
          <a:ln>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pic>
        <p:nvPicPr>
          <p:cNvPr id="8" name="Picture 7">
            <a:extLst>
              <a:ext uri="{FF2B5EF4-FFF2-40B4-BE49-F238E27FC236}">
                <a16:creationId xmlns:a16="http://schemas.microsoft.com/office/drawing/2014/main" id="{D39C684D-438D-7DC3-18DE-3F5ADEA04E33}"/>
              </a:ext>
            </a:extLst>
          </p:cNvPr>
          <p:cNvPicPr>
            <a:picLocks noChangeAspect="1"/>
          </p:cNvPicPr>
          <p:nvPr/>
        </p:nvPicPr>
        <p:blipFill>
          <a:blip r:embed="rId5"/>
          <a:stretch>
            <a:fillRect/>
          </a:stretch>
        </p:blipFill>
        <p:spPr>
          <a:xfrm>
            <a:off x="10371417" y="6124170"/>
            <a:ext cx="1820583" cy="622831"/>
          </a:xfrm>
          <a:prstGeom prst="rect">
            <a:avLst/>
          </a:prstGeom>
        </p:spPr>
      </p:pic>
      <p:sp>
        <p:nvSpPr>
          <p:cNvPr id="9" name="תיבת טקסט 2">
            <a:extLst>
              <a:ext uri="{FF2B5EF4-FFF2-40B4-BE49-F238E27FC236}">
                <a16:creationId xmlns:a16="http://schemas.microsoft.com/office/drawing/2014/main" id="{BC210BB7-5924-3030-42CD-9F9947F78A1F}"/>
              </a:ext>
            </a:extLst>
          </p:cNvPr>
          <p:cNvSpPr txBox="1"/>
          <p:nvPr/>
        </p:nvSpPr>
        <p:spPr>
          <a:xfrm>
            <a:off x="1185659" y="485140"/>
            <a:ext cx="10031387" cy="1846659"/>
          </a:xfrm>
          <a:prstGeom prst="rect">
            <a:avLst/>
          </a:prstGeom>
          <a:noFill/>
        </p:spPr>
        <p:txBody>
          <a:bodyPr wrap="square" lIns="91440" tIns="45720" rIns="91440" bIns="45720" anchor="t">
            <a:spAutoFit/>
          </a:bodyPr>
          <a:lstStyle/>
          <a:p>
            <a:pPr algn="ctr"/>
            <a:endParaRPr lang="he-IL" sz="2000">
              <a:solidFill>
                <a:srgbClr val="0070C0"/>
              </a:solidFill>
              <a:latin typeface="Assistant" pitchFamily="2" charset="-79"/>
              <a:cs typeface="Assistant" pitchFamily="2" charset="-79"/>
            </a:endParaRPr>
          </a:p>
          <a:p>
            <a:pPr algn="ctr"/>
            <a:r>
              <a:rPr lang="he-IL" sz="2000">
                <a:latin typeface="Assistant" pitchFamily="2" charset="-79"/>
                <a:cs typeface="Assistant" pitchFamily="2" charset="-79"/>
              </a:rPr>
              <a:t>אין כמו תרגול לחיזוק הלמידה</a:t>
            </a:r>
          </a:p>
          <a:p>
            <a:pPr algn="ctr"/>
            <a:r>
              <a:rPr lang="he-IL" sz="5400" b="1">
                <a:latin typeface="Assistant ExtraBold" pitchFamily="2" charset="-79"/>
                <a:cs typeface="Assistant ExtraBold" pitchFamily="2" charset="-79"/>
              </a:rPr>
              <a:t>3 שאלות </a:t>
            </a:r>
          </a:p>
          <a:p>
            <a:pPr algn="ctr"/>
            <a:r>
              <a:rPr lang="he-IL" sz="2000" b="1">
                <a:latin typeface="Assistant"/>
                <a:cs typeface="Assistant"/>
              </a:rPr>
              <a:t>וכבר בהתחלה יש רמז! ענו נכון על 2 שאלות ומעלה כדי להתקדם.</a:t>
            </a:r>
          </a:p>
        </p:txBody>
      </p:sp>
      <p:pic>
        <p:nvPicPr>
          <p:cNvPr id="11" name="תמונה 8">
            <a:extLst>
              <a:ext uri="{FF2B5EF4-FFF2-40B4-BE49-F238E27FC236}">
                <a16:creationId xmlns:a16="http://schemas.microsoft.com/office/drawing/2014/main" id="{A0290C26-0644-A3DF-ED88-F044571BBD46}"/>
              </a:ext>
            </a:extLst>
          </p:cNvPr>
          <p:cNvPicPr>
            <a:picLocks noChangeAspect="1"/>
          </p:cNvPicPr>
          <p:nvPr/>
        </p:nvPicPr>
        <p:blipFill>
          <a:blip r:embed="rId6" cstate="email">
            <a:extLst>
              <a:ext uri="{28A0092B-C50C-407E-A947-70E740481C1C}">
                <a14:useLocalDpi xmlns:a14="http://schemas.microsoft.com/office/drawing/2010/main"/>
              </a:ext>
            </a:extLst>
          </a:blip>
          <a:srcRect/>
          <a:stretch/>
        </p:blipFill>
        <p:spPr>
          <a:xfrm>
            <a:off x="4776005" y="2331799"/>
            <a:ext cx="2639990" cy="3340618"/>
          </a:xfrm>
          <a:prstGeom prst="rect">
            <a:avLst/>
          </a:prstGeom>
        </p:spPr>
      </p:pic>
    </p:spTree>
    <p:custDataLst>
      <p:tags r:id="rId1"/>
    </p:custDataLst>
    <p:extLst>
      <p:ext uri="{BB962C8B-B14F-4D97-AF65-F5344CB8AC3E}">
        <p14:creationId xmlns:p14="http://schemas.microsoft.com/office/powerpoint/2010/main" val="89049649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9EA9FB-E551-D413-7DE6-DA8D2C42FAEB}"/>
            </a:ext>
          </a:extLst>
        </p:cNvPr>
        <p:cNvGrpSpPr/>
        <p:nvPr/>
      </p:nvGrpSpPr>
      <p:grpSpPr>
        <a:xfrm>
          <a:off x="0" y="0"/>
          <a:ext cx="0" cy="0"/>
          <a:chOff x="0" y="0"/>
          <a:chExt cx="0" cy="0"/>
        </a:xfrm>
      </p:grpSpPr>
      <p:cxnSp>
        <p:nvCxnSpPr>
          <p:cNvPr id="4" name="מחבר ישר 3">
            <a:extLst>
              <a:ext uri="{FF2B5EF4-FFF2-40B4-BE49-F238E27FC236}">
                <a16:creationId xmlns:a16="http://schemas.microsoft.com/office/drawing/2014/main" id="{32EDA8FB-101A-40B8-0FC6-E6727CA9CA0B}"/>
              </a:ext>
            </a:extLst>
          </p:cNvPr>
          <p:cNvCxnSpPr>
            <a:cxnSpLocks/>
          </p:cNvCxnSpPr>
          <p:nvPr/>
        </p:nvCxnSpPr>
        <p:spPr>
          <a:xfrm>
            <a:off x="0" y="6079252"/>
            <a:ext cx="12192000" cy="0"/>
          </a:xfrm>
          <a:prstGeom prst="line">
            <a:avLst/>
          </a:prstGeom>
          <a:ln>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5" name="מלבן: פינות מעוגלות 4">
            <a:extLst>
              <a:ext uri="{FF2B5EF4-FFF2-40B4-BE49-F238E27FC236}">
                <a16:creationId xmlns:a16="http://schemas.microsoft.com/office/drawing/2014/main" id="{B110BAC2-77DA-F0A2-B765-9725F36C0023}"/>
              </a:ext>
            </a:extLst>
          </p:cNvPr>
          <p:cNvSpPr/>
          <p:nvPr/>
        </p:nvSpPr>
        <p:spPr>
          <a:xfrm>
            <a:off x="268356" y="6182143"/>
            <a:ext cx="1798983" cy="506891"/>
          </a:xfrm>
          <a:prstGeom prst="roundRect">
            <a:avLst>
              <a:gd name="adj" fmla="val 50000"/>
            </a:avLst>
          </a:prstGeom>
          <a:solidFill>
            <a:schemeClr val="bg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he-IL"/>
              <a:t>צדקתי?</a:t>
            </a:r>
            <a:endParaRPr lang="LID4096"/>
          </a:p>
        </p:txBody>
      </p:sp>
      <p:sp>
        <p:nvSpPr>
          <p:cNvPr id="6" name="תיבת טקסט 5">
            <a:extLst>
              <a:ext uri="{FF2B5EF4-FFF2-40B4-BE49-F238E27FC236}">
                <a16:creationId xmlns:a16="http://schemas.microsoft.com/office/drawing/2014/main" id="{4F5C9597-2C22-1944-1A38-9C98F67BD9A9}"/>
              </a:ext>
            </a:extLst>
          </p:cNvPr>
          <p:cNvSpPr txBox="1"/>
          <p:nvPr/>
        </p:nvSpPr>
        <p:spPr>
          <a:xfrm>
            <a:off x="6172276" y="1156726"/>
            <a:ext cx="5395248" cy="5016758"/>
          </a:xfrm>
          <a:prstGeom prst="rect">
            <a:avLst/>
          </a:prstGeom>
          <a:noFill/>
        </p:spPr>
        <p:txBody>
          <a:bodyPr wrap="square" rtlCol="0">
            <a:spAutoFit/>
          </a:bodyPr>
          <a:lstStyle/>
          <a:p>
            <a:r>
              <a:rPr lang="he-IL" sz="2000">
                <a:latin typeface="Assistant" pitchFamily="2" charset="-79"/>
                <a:cs typeface="Assistant" pitchFamily="2" charset="-79"/>
              </a:rPr>
              <a:t>1. רינה הכינה פרחי שוקולד משני סוגים: שוקולד לבן ושוקולד מריר. </a:t>
            </a:r>
            <a:endParaRPr lang="en-US" sz="2000">
              <a:latin typeface="Assistant" pitchFamily="2" charset="-79"/>
              <a:cs typeface="Assistant" pitchFamily="2" charset="-79"/>
            </a:endParaRPr>
          </a:p>
          <a:p>
            <a:r>
              <a:rPr lang="he-IL" sz="2000">
                <a:latin typeface="Assistant" pitchFamily="2" charset="-79"/>
                <a:cs typeface="Assistant" pitchFamily="2" charset="-79"/>
              </a:rPr>
              <a:t>היא רצתה לסדר אותם בתבנית עם 50 שקעים.</a:t>
            </a:r>
          </a:p>
          <a:p>
            <a:endParaRPr lang="en-US" sz="2000">
              <a:latin typeface="Assistant" pitchFamily="2" charset="-79"/>
              <a:cs typeface="Assistant" pitchFamily="2" charset="-79"/>
            </a:endParaRPr>
          </a:p>
          <a:p>
            <a:r>
              <a:rPr lang="he-IL" sz="2000">
                <a:latin typeface="Assistant" pitchFamily="2" charset="-79"/>
                <a:cs typeface="Assistant" pitchFamily="2" charset="-79"/>
              </a:rPr>
              <a:t>היעזרו ביישומון, בחרו סוג שוקולד, וצבעו את המשבצות בהתאם ליחס הנדרש בכל סעיף, וענו על השאלות.</a:t>
            </a:r>
          </a:p>
          <a:p>
            <a:endParaRPr lang="he-IL" sz="2000">
              <a:latin typeface="Assistant" pitchFamily="2" charset="-79"/>
              <a:cs typeface="Assistant" pitchFamily="2" charset="-79"/>
            </a:endParaRPr>
          </a:p>
          <a:p>
            <a:r>
              <a:rPr lang="he-IL" sz="2000">
                <a:latin typeface="Assistant" pitchFamily="2" charset="-79"/>
                <a:cs typeface="Assistant" pitchFamily="2" charset="-79"/>
              </a:rPr>
              <a:t>א. היחס בין מספר פרחי השוקולד המריר למספר פרחי השוקולד הלבן הוא 9 : 1.</a:t>
            </a:r>
            <a:endParaRPr lang="he-IL" sz="2000" b="1">
              <a:solidFill>
                <a:srgbClr val="00B0F0"/>
              </a:solidFill>
              <a:latin typeface="Assistant" pitchFamily="2" charset="-79"/>
              <a:cs typeface="Assistant" pitchFamily="2" charset="-79"/>
            </a:endParaRPr>
          </a:p>
          <a:p>
            <a:endParaRPr lang="he-IL" sz="2000" b="1">
              <a:solidFill>
                <a:srgbClr val="00B0F0"/>
              </a:solidFill>
              <a:latin typeface="Assistant" pitchFamily="2" charset="-79"/>
              <a:cs typeface="Assistant" pitchFamily="2" charset="-79"/>
            </a:endParaRPr>
          </a:p>
          <a:p>
            <a:pPr marL="342900" indent="-342900">
              <a:buFont typeface="Arial" panose="020B0604020202020204" pitchFamily="34" charset="0"/>
              <a:buChar char="•"/>
            </a:pPr>
            <a:r>
              <a:rPr lang="he-IL" sz="2000">
                <a:latin typeface="Assistant" pitchFamily="2" charset="-79"/>
                <a:cs typeface="Assistant" pitchFamily="2" charset="-79"/>
              </a:rPr>
              <a:t>מספר פרחי השוקולד הלבנים בתבנית</a:t>
            </a:r>
          </a:p>
          <a:p>
            <a:r>
              <a:rPr lang="he-IL" sz="2000">
                <a:latin typeface="Assistant" pitchFamily="2" charset="-79"/>
                <a:cs typeface="Assistant" pitchFamily="2" charset="-79"/>
              </a:rPr>
              <a:t> </a:t>
            </a:r>
          </a:p>
          <a:p>
            <a:pPr marL="342900" indent="-342900">
              <a:buFont typeface="Arial" panose="020B0604020202020204" pitchFamily="34" charset="0"/>
              <a:buChar char="•"/>
            </a:pPr>
            <a:r>
              <a:rPr lang="he-IL" sz="2000">
                <a:latin typeface="Assistant" pitchFamily="2" charset="-79"/>
                <a:cs typeface="Assistant" pitchFamily="2" charset="-79"/>
              </a:rPr>
              <a:t>מספר פרחי השוקולד המריר בתבנית</a:t>
            </a:r>
          </a:p>
          <a:p>
            <a:endParaRPr lang="he-IL" sz="2000">
              <a:latin typeface="Assistant" pitchFamily="2" charset="-79"/>
              <a:cs typeface="Assistant" pitchFamily="2" charset="-79"/>
            </a:endParaRPr>
          </a:p>
          <a:p>
            <a:pPr marL="342900" indent="-342900">
              <a:buFont typeface="Arial" panose="020B0604020202020204" pitchFamily="34" charset="0"/>
              <a:buChar char="•"/>
            </a:pPr>
            <a:r>
              <a:rPr lang="he-IL" sz="2000">
                <a:latin typeface="Assistant" pitchFamily="2" charset="-79"/>
                <a:cs typeface="Assistant" pitchFamily="2" charset="-79"/>
              </a:rPr>
              <a:t>האם נשארו שקעים ריקים? </a:t>
            </a:r>
          </a:p>
          <a:p>
            <a:endParaRPr lang="he-IL" sz="2000">
              <a:latin typeface="Assistant" pitchFamily="2" charset="-79"/>
              <a:cs typeface="Assistant" pitchFamily="2" charset="-79"/>
            </a:endParaRPr>
          </a:p>
        </p:txBody>
      </p:sp>
      <p:sp>
        <p:nvSpPr>
          <p:cNvPr id="2" name="מלבן: פינות מעוגלות 1">
            <a:extLst>
              <a:ext uri="{FF2B5EF4-FFF2-40B4-BE49-F238E27FC236}">
                <a16:creationId xmlns:a16="http://schemas.microsoft.com/office/drawing/2014/main" id="{B8512DE0-D4C4-CBB0-8F91-00E4B11B6DDB}"/>
              </a:ext>
            </a:extLst>
          </p:cNvPr>
          <p:cNvSpPr/>
          <p:nvPr/>
        </p:nvSpPr>
        <p:spPr>
          <a:xfrm>
            <a:off x="2179982" y="6182142"/>
            <a:ext cx="2481470" cy="506891"/>
          </a:xfrm>
          <a:prstGeom prst="roundRect">
            <a:avLst>
              <a:gd name="adj" fmla="val 50000"/>
            </a:avLst>
          </a:prstGeom>
          <a:noFill/>
          <a:ln>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he-IL">
                <a:solidFill>
                  <a:srgbClr val="00B0F0"/>
                </a:solidFill>
              </a:rPr>
              <a:t>     אפשר רמז?</a:t>
            </a:r>
            <a:endParaRPr lang="LID4096">
              <a:solidFill>
                <a:srgbClr val="00B0F0"/>
              </a:solidFill>
            </a:endParaRPr>
          </a:p>
        </p:txBody>
      </p:sp>
      <p:pic>
        <p:nvPicPr>
          <p:cNvPr id="12" name="גרפיקה 11" descr="נורת חשמל וגלגל שיניים עם מילוי מלא">
            <a:extLst>
              <a:ext uri="{FF2B5EF4-FFF2-40B4-BE49-F238E27FC236}">
                <a16:creationId xmlns:a16="http://schemas.microsoft.com/office/drawing/2014/main" id="{8722BD2C-700D-202A-FCFD-C2DD39349503}"/>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831910" y="6266545"/>
            <a:ext cx="338083" cy="338083"/>
          </a:xfrm>
          <a:prstGeom prst="rect">
            <a:avLst/>
          </a:prstGeom>
        </p:spPr>
      </p:pic>
      <p:pic>
        <p:nvPicPr>
          <p:cNvPr id="3" name="תמונה 2">
            <a:extLst>
              <a:ext uri="{FF2B5EF4-FFF2-40B4-BE49-F238E27FC236}">
                <a16:creationId xmlns:a16="http://schemas.microsoft.com/office/drawing/2014/main" id="{A3B31450-7B78-59BF-C7CB-3277D4643BFB}"/>
              </a:ext>
            </a:extLst>
          </p:cNvPr>
          <p:cNvPicPr>
            <a:picLocks noChangeAspect="1"/>
          </p:cNvPicPr>
          <p:nvPr/>
        </p:nvPicPr>
        <p:blipFill>
          <a:blip r:embed="rId5">
            <a:extLst>
              <a:ext uri="{28A0092B-C50C-407E-A947-70E740481C1C}">
                <a14:useLocalDpi xmlns:a14="http://schemas.microsoft.com/office/drawing/2010/main"/>
              </a:ext>
            </a:extLst>
          </a:blip>
          <a:stretch>
            <a:fillRect/>
          </a:stretch>
        </p:blipFill>
        <p:spPr>
          <a:xfrm>
            <a:off x="0" y="57121"/>
            <a:ext cx="933869" cy="721626"/>
          </a:xfrm>
          <a:prstGeom prst="rect">
            <a:avLst/>
          </a:prstGeom>
        </p:spPr>
      </p:pic>
      <p:sp>
        <p:nvSpPr>
          <p:cNvPr id="7" name="מלבן: פינות מעוגלות 6">
            <a:extLst>
              <a:ext uri="{FF2B5EF4-FFF2-40B4-BE49-F238E27FC236}">
                <a16:creationId xmlns:a16="http://schemas.microsoft.com/office/drawing/2014/main" id="{3B8FCD7B-9FEB-CB6E-408C-EF7CFE84D560}"/>
              </a:ext>
            </a:extLst>
          </p:cNvPr>
          <p:cNvSpPr/>
          <p:nvPr/>
        </p:nvSpPr>
        <p:spPr>
          <a:xfrm>
            <a:off x="10244695" y="6193485"/>
            <a:ext cx="1798983" cy="506891"/>
          </a:xfrm>
          <a:prstGeom prst="roundRect">
            <a:avLst>
              <a:gd name="adj" fmla="val 50000"/>
            </a:avLst>
          </a:prstGeom>
          <a:noFill/>
          <a:ln>
            <a:solidFill>
              <a:srgbClr val="019DE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he-IL">
                <a:solidFill>
                  <a:srgbClr val="019DE5"/>
                </a:solidFill>
                <a:latin typeface="Assistant" pitchFamily="2" charset="-79"/>
                <a:cs typeface="Assistant" pitchFamily="2" charset="-79"/>
              </a:rPr>
              <a:t>חזרה</a:t>
            </a:r>
            <a:endParaRPr lang="LID4096">
              <a:solidFill>
                <a:srgbClr val="019DE5"/>
              </a:solidFill>
              <a:latin typeface="Assistant" pitchFamily="2" charset="-79"/>
              <a:cs typeface="Assistant" pitchFamily="2" charset="-79"/>
            </a:endParaRPr>
          </a:p>
        </p:txBody>
      </p:sp>
      <p:pic>
        <p:nvPicPr>
          <p:cNvPr id="9" name="תמונה 8">
            <a:extLst>
              <a:ext uri="{FF2B5EF4-FFF2-40B4-BE49-F238E27FC236}">
                <a16:creationId xmlns:a16="http://schemas.microsoft.com/office/drawing/2014/main" id="{443CBF94-F190-F6CC-E16C-DD4C6EF7E4CD}"/>
              </a:ext>
            </a:extLst>
          </p:cNvPr>
          <p:cNvPicPr>
            <a:picLocks noChangeAspect="1"/>
          </p:cNvPicPr>
          <p:nvPr/>
        </p:nvPicPr>
        <p:blipFill>
          <a:blip r:embed="rId6">
            <a:extLst>
              <a:ext uri="{28A0092B-C50C-407E-A947-70E740481C1C}">
                <a14:useLocalDpi xmlns:a14="http://schemas.microsoft.com/office/drawing/2010/main"/>
              </a:ext>
            </a:extLst>
          </a:blip>
          <a:stretch>
            <a:fillRect/>
          </a:stretch>
        </p:blipFill>
        <p:spPr>
          <a:xfrm>
            <a:off x="2803561" y="417934"/>
            <a:ext cx="7847619" cy="558730"/>
          </a:xfrm>
          <a:prstGeom prst="rect">
            <a:avLst/>
          </a:prstGeom>
        </p:spPr>
      </p:pic>
      <mc:AlternateContent xmlns:mc="http://schemas.openxmlformats.org/markup-compatibility/2006" xmlns:a14="http://schemas.microsoft.com/office/drawing/2010/main">
        <mc:Choice Requires="a14">
          <p:sp>
            <p:nvSpPr>
              <p:cNvPr id="10" name="מלבן: פינות מעוגלות 9">
                <a:extLst>
                  <a:ext uri="{FF2B5EF4-FFF2-40B4-BE49-F238E27FC236}">
                    <a16:creationId xmlns:a16="http://schemas.microsoft.com/office/drawing/2014/main" id="{60EEF849-5922-D77F-491D-F7DD23930C58}"/>
                  </a:ext>
                </a:extLst>
              </p:cNvPr>
              <p:cNvSpPr/>
              <p:nvPr/>
            </p:nvSpPr>
            <p:spPr>
              <a:xfrm>
                <a:off x="-7067550" y="4034704"/>
                <a:ext cx="6659319" cy="4978665"/>
              </a:xfrm>
              <a:prstGeom prst="roundRect">
                <a:avLst>
                  <a:gd name="adj" fmla="val 1647"/>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he-IL" sz="2000" b="1">
                    <a:solidFill>
                      <a:schemeClr val="tx1"/>
                    </a:solidFill>
                    <a:latin typeface="Assistant" pitchFamily="2" charset="-79"/>
                    <a:cs typeface="Assistant" pitchFamily="2" charset="-79"/>
                  </a:rPr>
                  <a:t>כל הכבוד, צדקתם! / טעיתם. לא נורא, מטעויות לומדים</a:t>
                </a:r>
              </a:p>
              <a:p>
                <a:pPr algn="ctr"/>
                <a:endParaRPr lang="he-IL" sz="2000">
                  <a:solidFill>
                    <a:schemeClr val="tx1"/>
                  </a:solidFill>
                  <a:latin typeface="Assistant" pitchFamily="2" charset="-79"/>
                  <a:cs typeface="Assistant" pitchFamily="2" charset="-79"/>
                </a:endParaRPr>
              </a:p>
              <a:p>
                <a:pPr algn="ctr"/>
                <a:r>
                  <a:rPr lang="he-IL" sz="2000">
                    <a:solidFill>
                      <a:schemeClr val="tx1"/>
                    </a:solidFill>
                    <a:latin typeface="Assistant" pitchFamily="2" charset="-79"/>
                    <a:cs typeface="Assistant" pitchFamily="2" charset="-79"/>
                  </a:rPr>
                  <a:t>בכל שורה נשים פרח שוקולד לבן אחד, ו-9 פרחי שוקולד מריר, </a:t>
                </a:r>
              </a:p>
              <a:p>
                <a:pPr algn="ctr"/>
                <a:r>
                  <a:rPr lang="he-IL" sz="2000">
                    <a:solidFill>
                      <a:schemeClr val="tx1"/>
                    </a:solidFill>
                    <a:latin typeface="Assistant" pitchFamily="2" charset="-79"/>
                    <a:cs typeface="Assistant" pitchFamily="2" charset="-79"/>
                  </a:rPr>
                  <a:t>סה"כ 10 פרחים בשורה. נקבל 5 שורות מכיוון ש: 5 = 10 : 50.</a:t>
                </a:r>
              </a:p>
              <a:p>
                <a:pPr algn="ctr"/>
                <a:r>
                  <a:rPr lang="he-IL" sz="2000">
                    <a:solidFill>
                      <a:schemeClr val="tx1"/>
                    </a:solidFill>
                    <a:latin typeface="Assistant" pitchFamily="2" charset="-79"/>
                    <a:cs typeface="Assistant" pitchFamily="2" charset="-79"/>
                  </a:rPr>
                  <a:t>מספר פרחי שוקולד לבן בכל התבנית הוא: </a:t>
                </a:r>
                <a14:m>
                  <m:oMath xmlns:m="http://schemas.openxmlformats.org/officeDocument/2006/math">
                    <m:r>
                      <a:rPr lang="en-US" sz="2000" b="0" i="0" smtClean="0">
                        <a:solidFill>
                          <a:schemeClr val="tx1"/>
                        </a:solidFill>
                        <a:latin typeface="Cambria Math" panose="02040503050406030204" pitchFamily="18" charset="0"/>
                      </a:rPr>
                      <m:t>5</m:t>
                    </m:r>
                    <m:r>
                      <a:rPr lang="en-US" sz="2000" i="1">
                        <a:solidFill>
                          <a:schemeClr val="tx1"/>
                        </a:solidFill>
                        <a:latin typeface="Cambria Math" panose="02040503050406030204" pitchFamily="18" charset="0"/>
                      </a:rPr>
                      <m:t>⋅</m:t>
                    </m:r>
                    <m:r>
                      <a:rPr lang="en-US" sz="2000" b="0" i="1" smtClean="0">
                        <a:solidFill>
                          <a:schemeClr val="tx1"/>
                        </a:solidFill>
                        <a:latin typeface="Cambria Math" panose="02040503050406030204" pitchFamily="18" charset="0"/>
                      </a:rPr>
                      <m:t>1</m:t>
                    </m:r>
                    <m:r>
                      <a:rPr lang="en-US" sz="2000" i="1">
                        <a:solidFill>
                          <a:schemeClr val="tx1"/>
                        </a:solidFill>
                        <a:latin typeface="Cambria Math" panose="02040503050406030204" pitchFamily="18" charset="0"/>
                      </a:rPr>
                      <m:t>= </m:t>
                    </m:r>
                  </m:oMath>
                </a14:m>
                <a:r>
                  <a:rPr lang="en-US" sz="2000">
                    <a:solidFill>
                      <a:schemeClr val="tx1"/>
                    </a:solidFill>
                    <a:latin typeface="Assistant" pitchFamily="2" charset="-79"/>
                    <a:cs typeface="Assistant" pitchFamily="2" charset="-79"/>
                  </a:rPr>
                  <a:t>5</a:t>
                </a:r>
                <a:r>
                  <a:rPr lang="he-IL" sz="2000">
                    <a:solidFill>
                      <a:schemeClr val="tx1"/>
                    </a:solidFill>
                    <a:latin typeface="Assistant" pitchFamily="2" charset="-79"/>
                    <a:cs typeface="Assistant" pitchFamily="2" charset="-79"/>
                  </a:rPr>
                  <a:t>,</a:t>
                </a:r>
              </a:p>
              <a:p>
                <a:pPr algn="ctr"/>
                <a:r>
                  <a:rPr lang="he-IL" sz="2000">
                    <a:solidFill>
                      <a:schemeClr val="tx1"/>
                    </a:solidFill>
                    <a:latin typeface="Assistant" pitchFamily="2" charset="-79"/>
                    <a:cs typeface="Assistant" pitchFamily="2" charset="-79"/>
                  </a:rPr>
                  <a:t>מספר פרחי שוקולד המריר בכל התבנית הוא: </a:t>
                </a:r>
                <a14:m>
                  <m:oMath xmlns:m="http://schemas.openxmlformats.org/officeDocument/2006/math">
                    <m:r>
                      <a:rPr lang="en-US" sz="2000">
                        <a:solidFill>
                          <a:schemeClr val="tx1"/>
                        </a:solidFill>
                        <a:latin typeface="Cambria Math" panose="02040503050406030204" pitchFamily="18" charset="0"/>
                      </a:rPr>
                      <m:t>5</m:t>
                    </m:r>
                    <m:r>
                      <a:rPr lang="en-US" sz="2000" i="1">
                        <a:solidFill>
                          <a:schemeClr val="tx1"/>
                        </a:solidFill>
                        <a:latin typeface="Cambria Math" panose="02040503050406030204" pitchFamily="18" charset="0"/>
                      </a:rPr>
                      <m:t>⋅</m:t>
                    </m:r>
                    <m:r>
                      <a:rPr lang="en-US" sz="2000" b="0" i="1" smtClean="0">
                        <a:solidFill>
                          <a:schemeClr val="tx1"/>
                        </a:solidFill>
                        <a:latin typeface="Cambria Math" panose="02040503050406030204" pitchFamily="18" charset="0"/>
                      </a:rPr>
                      <m:t>9</m:t>
                    </m:r>
                    <m:r>
                      <a:rPr lang="en-US" sz="2000" i="1">
                        <a:solidFill>
                          <a:schemeClr val="tx1"/>
                        </a:solidFill>
                        <a:latin typeface="Cambria Math" panose="02040503050406030204" pitchFamily="18" charset="0"/>
                      </a:rPr>
                      <m:t>= </m:t>
                    </m:r>
                  </m:oMath>
                </a14:m>
                <a:r>
                  <a:rPr lang="en-US" sz="2000">
                    <a:solidFill>
                      <a:schemeClr val="tx1"/>
                    </a:solidFill>
                    <a:latin typeface="Assistant" pitchFamily="2" charset="-79"/>
                    <a:cs typeface="Assistant" pitchFamily="2" charset="-79"/>
                  </a:rPr>
                  <a:t>45</a:t>
                </a:r>
                <a:r>
                  <a:rPr lang="he-IL" sz="2000">
                    <a:solidFill>
                      <a:schemeClr val="tx1"/>
                    </a:solidFill>
                    <a:latin typeface="Assistant" pitchFamily="2" charset="-79"/>
                    <a:cs typeface="Assistant" pitchFamily="2" charset="-79"/>
                  </a:rPr>
                  <a:t>.</a:t>
                </a:r>
              </a:p>
              <a:p>
                <a:pPr algn="ctr"/>
                <a:endParaRPr lang="he-IL" sz="2000">
                  <a:solidFill>
                    <a:schemeClr val="tx1"/>
                  </a:solidFill>
                  <a:latin typeface="Assistant" pitchFamily="2" charset="-79"/>
                  <a:cs typeface="Assistant" pitchFamily="2" charset="-79"/>
                </a:endParaRPr>
              </a:p>
              <a:p>
                <a:pPr algn="ctr"/>
                <a:r>
                  <a:rPr lang="he-IL" sz="2000">
                    <a:solidFill>
                      <a:schemeClr val="tx1"/>
                    </a:solidFill>
                    <a:latin typeface="Assistant" pitchFamily="2" charset="-79"/>
                    <a:cs typeface="Assistant" pitchFamily="2" charset="-79"/>
                  </a:rPr>
                  <a:t>מאחר ו- 50 = 5 + 45, אז לא נשארו שקעים ריקים. </a:t>
                </a:r>
              </a:p>
              <a:p>
                <a:pPr algn="ctr"/>
                <a:endParaRPr lang="he-IL" sz="2000" b="1">
                  <a:solidFill>
                    <a:schemeClr val="tx1"/>
                  </a:solidFill>
                  <a:latin typeface="Assistant" pitchFamily="2" charset="-79"/>
                  <a:cs typeface="Assistant" pitchFamily="2" charset="-79"/>
                </a:endParaRPr>
              </a:p>
              <a:p>
                <a:pPr algn="ctr"/>
                <a:endParaRPr lang="he-IL" sz="2000" b="1">
                  <a:solidFill>
                    <a:schemeClr val="tx1"/>
                  </a:solidFill>
                  <a:latin typeface="Assistant" pitchFamily="2" charset="-79"/>
                  <a:cs typeface="Assistant" pitchFamily="2" charset="-79"/>
                </a:endParaRPr>
              </a:p>
              <a:p>
                <a:pPr algn="ctr"/>
                <a:endParaRPr lang="he-IL" sz="2000" b="1">
                  <a:solidFill>
                    <a:schemeClr val="tx1"/>
                  </a:solidFill>
                  <a:latin typeface="Assistant" pitchFamily="2" charset="-79"/>
                  <a:cs typeface="Assistant" pitchFamily="2" charset="-79"/>
                </a:endParaRPr>
              </a:p>
              <a:p>
                <a:pPr algn="ctr"/>
                <a:endParaRPr lang="he-IL" sz="2000" b="1">
                  <a:solidFill>
                    <a:schemeClr val="tx1"/>
                  </a:solidFill>
                  <a:latin typeface="Assistant" pitchFamily="2" charset="-79"/>
                  <a:cs typeface="Assistant" pitchFamily="2" charset="-79"/>
                </a:endParaRPr>
              </a:p>
              <a:p>
                <a:pPr algn="ctr"/>
                <a:endParaRPr lang="he-IL" sz="2000" b="1">
                  <a:solidFill>
                    <a:schemeClr val="tx1"/>
                  </a:solidFill>
                  <a:latin typeface="Assistant" pitchFamily="2" charset="-79"/>
                  <a:cs typeface="Assistant" pitchFamily="2" charset="-79"/>
                </a:endParaRPr>
              </a:p>
            </p:txBody>
          </p:sp>
        </mc:Choice>
        <mc:Fallback xmlns="">
          <p:sp>
            <p:nvSpPr>
              <p:cNvPr id="10" name="מלבן: פינות מעוגלות 9">
                <a:extLst>
                  <a:ext uri="{FF2B5EF4-FFF2-40B4-BE49-F238E27FC236}">
                    <a16:creationId xmlns:a16="http://schemas.microsoft.com/office/drawing/2014/main" id="{60EEF849-5922-D77F-491D-F7DD23930C58}"/>
                  </a:ext>
                </a:extLst>
              </p:cNvPr>
              <p:cNvSpPr>
                <a:spLocks noRot="1" noChangeAspect="1" noMove="1" noResize="1" noEditPoints="1" noAdjustHandles="1" noChangeArrowheads="1" noChangeShapeType="1" noTextEdit="1"/>
              </p:cNvSpPr>
              <p:nvPr/>
            </p:nvSpPr>
            <p:spPr>
              <a:xfrm>
                <a:off x="-7067550" y="4034704"/>
                <a:ext cx="6659319" cy="4978665"/>
              </a:xfrm>
              <a:prstGeom prst="roundRect">
                <a:avLst>
                  <a:gd name="adj" fmla="val 1647"/>
                </a:avLst>
              </a:prstGeom>
              <a:blipFill>
                <a:blip r:embed="rId7"/>
                <a:stretch>
                  <a:fillRect/>
                </a:stretch>
              </a:blipFill>
              <a:ln>
                <a:noFill/>
              </a:ln>
            </p:spPr>
            <p:txBody>
              <a:bodyPr/>
              <a:lstStyle/>
              <a:p>
                <a:r>
                  <a:rPr lang="en-US">
                    <a:noFill/>
                  </a:rPr>
                  <a:t> </a:t>
                </a:r>
              </a:p>
            </p:txBody>
          </p:sp>
        </mc:Fallback>
      </mc:AlternateContent>
      <p:sp>
        <p:nvSpPr>
          <p:cNvPr id="11" name="מלבן 10">
            <a:extLst>
              <a:ext uri="{FF2B5EF4-FFF2-40B4-BE49-F238E27FC236}">
                <a16:creationId xmlns:a16="http://schemas.microsoft.com/office/drawing/2014/main" id="{5E11F682-D8B9-187C-26AC-D1C9F82C7CFF}"/>
              </a:ext>
            </a:extLst>
          </p:cNvPr>
          <p:cNvSpPr/>
          <p:nvPr/>
        </p:nvSpPr>
        <p:spPr>
          <a:xfrm>
            <a:off x="-115414" y="-1103086"/>
            <a:ext cx="2295396" cy="976083"/>
          </a:xfrm>
          <a:prstGeom prst="rect">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he-IL" sz="1800" b="1" i="0" u="none" strike="noStrike" kern="1200" cap="none" spc="0" normalizeH="0" baseline="0" noProof="0">
                <a:ln>
                  <a:noFill/>
                </a:ln>
                <a:solidFill>
                  <a:prstClr val="black"/>
                </a:solidFill>
                <a:effectLst/>
                <a:uLnTx/>
                <a:uFillTx/>
                <a:latin typeface="Assistant" pitchFamily="2" charset="-79"/>
                <a:ea typeface="+mn-ea"/>
                <a:cs typeface="Assistant" pitchFamily="2" charset="-79"/>
                <a:hlinkClick r:id="rId8"/>
              </a:rPr>
              <a:t>רמת חשיבה</a:t>
            </a:r>
            <a:endParaRPr kumimoji="0" lang="he-IL" sz="1800" b="1" i="0" u="none" strike="noStrike" kern="1200" cap="none" spc="0" normalizeH="0" baseline="0" noProof="0">
              <a:ln>
                <a:noFill/>
              </a:ln>
              <a:solidFill>
                <a:prstClr val="black"/>
              </a:solidFill>
              <a:effectLst/>
              <a:uLnTx/>
              <a:uFillTx/>
              <a:latin typeface="Assistant" pitchFamily="2" charset="-79"/>
              <a:ea typeface="+mn-ea"/>
              <a:cs typeface="Assistant" pitchFamily="2" charset="-79"/>
            </a:endParaRPr>
          </a:p>
          <a:p>
            <a:pPr marL="285750" marR="0" lvl="0" indent="-285750" defTabSz="91440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he-IL" sz="1800" i="0" u="none" strike="noStrike" kern="1200" cap="none" spc="0" normalizeH="0" baseline="0" noProof="0">
                <a:ln>
                  <a:noFill/>
                </a:ln>
                <a:solidFill>
                  <a:prstClr val="black"/>
                </a:solidFill>
                <a:effectLst/>
                <a:uLnTx/>
                <a:uFillTx/>
                <a:latin typeface="Assistant" pitchFamily="2" charset="-79"/>
                <a:ea typeface="+mn-ea"/>
                <a:cs typeface="Assistant" pitchFamily="2" charset="-79"/>
              </a:rPr>
              <a:t>טקסט </a:t>
            </a:r>
          </a:p>
          <a:p>
            <a:pPr marL="285750" marR="0" lvl="0" indent="-285750" defTabSz="914400" eaLnBrk="1" fontAlgn="auto" latinLnBrk="0" hangingPunct="1">
              <a:lnSpc>
                <a:spcPct val="100000"/>
              </a:lnSpc>
              <a:spcBef>
                <a:spcPts val="0"/>
              </a:spcBef>
              <a:spcAft>
                <a:spcPts val="0"/>
              </a:spcAft>
              <a:buClrTx/>
              <a:buSzTx/>
              <a:buFont typeface="Arial" panose="020B0604020202020204" pitchFamily="34" charset="0"/>
              <a:buChar char="•"/>
              <a:tabLst/>
              <a:defRPr/>
            </a:pPr>
            <a:r>
              <a:rPr lang="he-IL">
                <a:solidFill>
                  <a:prstClr val="black"/>
                </a:solidFill>
                <a:latin typeface="Assistant" pitchFamily="2" charset="-79"/>
                <a:cs typeface="Assistant" pitchFamily="2" charset="-79"/>
              </a:rPr>
              <a:t>טקסט</a:t>
            </a:r>
            <a:endParaRPr kumimoji="0" lang="he-IL" sz="1800" i="0" u="none" strike="noStrike" kern="1200" cap="none" spc="0" normalizeH="0" baseline="0" noProof="0">
              <a:ln>
                <a:noFill/>
              </a:ln>
              <a:solidFill>
                <a:prstClr val="black"/>
              </a:solidFill>
              <a:effectLst/>
              <a:uLnTx/>
              <a:uFillTx/>
              <a:latin typeface="Assistant" pitchFamily="2" charset="-79"/>
              <a:ea typeface="+mn-ea"/>
              <a:cs typeface="Assistant" pitchFamily="2" charset="-79"/>
            </a:endParaRPr>
          </a:p>
        </p:txBody>
      </p:sp>
      <p:grpSp>
        <p:nvGrpSpPr>
          <p:cNvPr id="15" name="קבוצה 14">
            <a:extLst>
              <a:ext uri="{FF2B5EF4-FFF2-40B4-BE49-F238E27FC236}">
                <a16:creationId xmlns:a16="http://schemas.microsoft.com/office/drawing/2014/main" id="{2063A120-7BDF-5AB5-0871-AB7E7EE19603}"/>
              </a:ext>
            </a:extLst>
          </p:cNvPr>
          <p:cNvGrpSpPr/>
          <p:nvPr/>
        </p:nvGrpSpPr>
        <p:grpSpPr>
          <a:xfrm>
            <a:off x="-9344826" y="26138"/>
            <a:ext cx="9123904" cy="3818372"/>
            <a:chOff x="-9229411" y="26138"/>
            <a:chExt cx="9123904" cy="3818372"/>
          </a:xfrm>
        </p:grpSpPr>
        <p:sp>
          <p:nvSpPr>
            <p:cNvPr id="17" name="מלבן: פינות מעוגלות 16">
              <a:extLst>
                <a:ext uri="{FF2B5EF4-FFF2-40B4-BE49-F238E27FC236}">
                  <a16:creationId xmlns:a16="http://schemas.microsoft.com/office/drawing/2014/main" id="{1A16DBCF-B1F3-5DDF-E9F5-6B19A1CF8C73}"/>
                </a:ext>
              </a:extLst>
            </p:cNvPr>
            <p:cNvSpPr/>
            <p:nvPr/>
          </p:nvSpPr>
          <p:spPr>
            <a:xfrm>
              <a:off x="-9229411" y="26138"/>
              <a:ext cx="9123904" cy="3818372"/>
            </a:xfrm>
            <a:prstGeom prst="roundRect">
              <a:avLst>
                <a:gd name="adj" fmla="val 8509"/>
              </a:avLst>
            </a:prstGeom>
            <a:solidFill>
              <a:srgbClr val="00B0F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LID4096"/>
            </a:p>
          </p:txBody>
        </p:sp>
        <p:sp>
          <p:nvSpPr>
            <p:cNvPr id="27" name="תיבת טקסט 26">
              <a:extLst>
                <a:ext uri="{FF2B5EF4-FFF2-40B4-BE49-F238E27FC236}">
                  <a16:creationId xmlns:a16="http://schemas.microsoft.com/office/drawing/2014/main" id="{811A3671-5A8F-AC93-3F84-E5F12FC5B282}"/>
                </a:ext>
              </a:extLst>
            </p:cNvPr>
            <p:cNvSpPr txBox="1"/>
            <p:nvPr/>
          </p:nvSpPr>
          <p:spPr>
            <a:xfrm>
              <a:off x="-6259985" y="474122"/>
              <a:ext cx="5276427" cy="400110"/>
            </a:xfrm>
            <a:prstGeom prst="rect">
              <a:avLst/>
            </a:prstGeom>
            <a:noFill/>
          </p:spPr>
          <p:txBody>
            <a:bodyPr wrap="square" rtlCol="0">
              <a:spAutoFit/>
            </a:bodyPr>
            <a:lstStyle/>
            <a:p>
              <a:r>
                <a:rPr lang="he-IL" sz="2000">
                  <a:solidFill>
                    <a:schemeClr val="bg1"/>
                  </a:solidFill>
                  <a:latin typeface="Assistant" pitchFamily="2" charset="-79"/>
                  <a:cs typeface="Assistant" pitchFamily="2" charset="-79"/>
                </a:rPr>
                <a:t>נסו לחשוב</a:t>
              </a:r>
              <a:r>
                <a:rPr lang="en-US" sz="2000">
                  <a:solidFill>
                    <a:schemeClr val="bg1"/>
                  </a:solidFill>
                  <a:latin typeface="Assistant" pitchFamily="2" charset="-79"/>
                  <a:cs typeface="Assistant" pitchFamily="2" charset="-79"/>
                </a:rPr>
                <a:t>: </a:t>
              </a:r>
              <a:r>
                <a:rPr lang="en-US" sz="2000" err="1">
                  <a:solidFill>
                    <a:schemeClr val="bg1"/>
                  </a:solidFill>
                  <a:latin typeface="Assistant" pitchFamily="2" charset="-79"/>
                  <a:cs typeface="Assistant" pitchFamily="2" charset="-79"/>
                </a:rPr>
                <a:t>כמה</a:t>
              </a:r>
              <a:r>
                <a:rPr lang="en-US" sz="2000">
                  <a:solidFill>
                    <a:schemeClr val="bg1"/>
                  </a:solidFill>
                  <a:latin typeface="Assistant" pitchFamily="2" charset="-79"/>
                  <a:cs typeface="Assistant" pitchFamily="2" charset="-79"/>
                </a:rPr>
                <a:t> "</a:t>
              </a:r>
              <a:r>
                <a:rPr lang="en-US" sz="2000" err="1">
                  <a:solidFill>
                    <a:schemeClr val="bg1"/>
                  </a:solidFill>
                  <a:latin typeface="Assistant" pitchFamily="2" charset="-79"/>
                  <a:cs typeface="Assistant" pitchFamily="2" charset="-79"/>
                </a:rPr>
                <a:t>חלקים</a:t>
              </a:r>
              <a:r>
                <a:rPr lang="he-IL" sz="2000">
                  <a:solidFill>
                    <a:schemeClr val="bg1"/>
                  </a:solidFill>
                  <a:latin typeface="Assistant" pitchFamily="2" charset="-79"/>
                  <a:cs typeface="Assistant" pitchFamily="2" charset="-79"/>
                </a:rPr>
                <a:t>" </a:t>
              </a:r>
              <a:r>
                <a:rPr lang="en-US" sz="2000" err="1">
                  <a:solidFill>
                    <a:schemeClr val="bg1"/>
                  </a:solidFill>
                  <a:latin typeface="Assistant" pitchFamily="2" charset="-79"/>
                  <a:cs typeface="Assistant" pitchFamily="2" charset="-79"/>
                </a:rPr>
                <a:t>יש</a:t>
              </a:r>
              <a:r>
                <a:rPr lang="en-US" sz="2000">
                  <a:solidFill>
                    <a:schemeClr val="bg1"/>
                  </a:solidFill>
                  <a:latin typeface="Assistant" pitchFamily="2" charset="-79"/>
                  <a:cs typeface="Assistant" pitchFamily="2" charset="-79"/>
                </a:rPr>
                <a:t> </a:t>
              </a:r>
              <a:r>
                <a:rPr lang="en-US" sz="2000" err="1">
                  <a:solidFill>
                    <a:schemeClr val="bg1"/>
                  </a:solidFill>
                  <a:latin typeface="Assistant" pitchFamily="2" charset="-79"/>
                  <a:cs typeface="Assistant" pitchFamily="2" charset="-79"/>
                </a:rPr>
                <a:t>בסך</a:t>
              </a:r>
              <a:r>
                <a:rPr lang="en-US" sz="2000">
                  <a:solidFill>
                    <a:schemeClr val="bg1"/>
                  </a:solidFill>
                  <a:latin typeface="Assistant" pitchFamily="2" charset="-79"/>
                  <a:cs typeface="Assistant" pitchFamily="2" charset="-79"/>
                </a:rPr>
                <a:t> </a:t>
              </a:r>
              <a:r>
                <a:rPr lang="en-US" sz="2000" err="1">
                  <a:solidFill>
                    <a:schemeClr val="bg1"/>
                  </a:solidFill>
                  <a:latin typeface="Assistant" pitchFamily="2" charset="-79"/>
                  <a:cs typeface="Assistant" pitchFamily="2" charset="-79"/>
                </a:rPr>
                <a:t>הכול</a:t>
              </a:r>
              <a:r>
                <a:rPr lang="en-US" sz="2000">
                  <a:solidFill>
                    <a:schemeClr val="bg1"/>
                  </a:solidFill>
                  <a:latin typeface="Assistant" pitchFamily="2" charset="-79"/>
                  <a:cs typeface="Assistant" pitchFamily="2" charset="-79"/>
                </a:rPr>
                <a:t> </a:t>
              </a:r>
              <a:r>
                <a:rPr lang="en-US" sz="2000" err="1">
                  <a:solidFill>
                    <a:schemeClr val="bg1"/>
                  </a:solidFill>
                  <a:latin typeface="Assistant" pitchFamily="2" charset="-79"/>
                  <a:cs typeface="Assistant" pitchFamily="2" charset="-79"/>
                </a:rPr>
                <a:t>ביחס</a:t>
              </a:r>
              <a:r>
                <a:rPr lang="en-US" sz="2000">
                  <a:solidFill>
                    <a:schemeClr val="bg1"/>
                  </a:solidFill>
                  <a:latin typeface="Assistant" pitchFamily="2" charset="-79"/>
                  <a:cs typeface="Assistant" pitchFamily="2" charset="-79"/>
                </a:rPr>
                <a:t> </a:t>
              </a:r>
              <a:r>
                <a:rPr lang="en-US" sz="2000" err="1">
                  <a:solidFill>
                    <a:schemeClr val="bg1"/>
                  </a:solidFill>
                  <a:latin typeface="Assistant" pitchFamily="2" charset="-79"/>
                  <a:cs typeface="Assistant" pitchFamily="2" charset="-79"/>
                </a:rPr>
                <a:t>הזה</a:t>
              </a:r>
              <a:r>
                <a:rPr lang="he-IL" sz="2000">
                  <a:solidFill>
                    <a:schemeClr val="bg1"/>
                  </a:solidFill>
                  <a:latin typeface="Assistant" pitchFamily="2" charset="-79"/>
                  <a:cs typeface="Assistant" pitchFamily="2" charset="-79"/>
                </a:rPr>
                <a:t>? </a:t>
              </a:r>
              <a:endParaRPr lang="LID4096" sz="2000">
                <a:solidFill>
                  <a:schemeClr val="bg1"/>
                </a:solidFill>
                <a:latin typeface="Assistant" pitchFamily="2" charset="-79"/>
                <a:cs typeface="Assistant" pitchFamily="2" charset="-79"/>
              </a:endParaRPr>
            </a:p>
          </p:txBody>
        </p:sp>
        <p:sp>
          <p:nvSpPr>
            <p:cNvPr id="28" name="מלבן: פינות מעוגלות 27">
              <a:extLst>
                <a:ext uri="{FF2B5EF4-FFF2-40B4-BE49-F238E27FC236}">
                  <a16:creationId xmlns:a16="http://schemas.microsoft.com/office/drawing/2014/main" id="{031A817F-C827-FE65-8D28-6CACD6792550}"/>
                </a:ext>
              </a:extLst>
            </p:cNvPr>
            <p:cNvSpPr/>
            <p:nvPr/>
          </p:nvSpPr>
          <p:spPr>
            <a:xfrm>
              <a:off x="-5861703" y="3135618"/>
              <a:ext cx="1798983" cy="506891"/>
            </a:xfrm>
            <a:prstGeom prst="roundRect">
              <a:avLst>
                <a:gd name="adj" fmla="val 50000"/>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he-IL">
                  <a:solidFill>
                    <a:schemeClr val="tx1"/>
                  </a:solidFill>
                  <a:latin typeface="Assistant" pitchFamily="2" charset="-79"/>
                  <a:cs typeface="Assistant" pitchFamily="2" charset="-79"/>
                </a:rPr>
                <a:t>חזרה לשאלה</a:t>
              </a:r>
              <a:endParaRPr lang="LID4096">
                <a:solidFill>
                  <a:schemeClr val="tx1"/>
                </a:solidFill>
                <a:latin typeface="Assistant" pitchFamily="2" charset="-79"/>
                <a:cs typeface="Assistant" pitchFamily="2" charset="-79"/>
              </a:endParaRPr>
            </a:p>
          </p:txBody>
        </p:sp>
        <p:pic>
          <p:nvPicPr>
            <p:cNvPr id="29" name="גרפיקה 28" descr="נורת חשמל וגלגל שיניים עם מילוי מלא">
              <a:extLst>
                <a:ext uri="{FF2B5EF4-FFF2-40B4-BE49-F238E27FC236}">
                  <a16:creationId xmlns:a16="http://schemas.microsoft.com/office/drawing/2014/main" id="{BAD45C06-2B75-40FB-F162-E8B021C390E3}"/>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983558" y="489982"/>
              <a:ext cx="338083" cy="338083"/>
            </a:xfrm>
            <a:prstGeom prst="rect">
              <a:avLst/>
            </a:prstGeom>
          </p:spPr>
        </p:pic>
      </p:grpSp>
      <p:sp>
        <p:nvSpPr>
          <p:cNvPr id="13" name="מלבן: פינות מעוגלות 6">
            <a:extLst>
              <a:ext uri="{FF2B5EF4-FFF2-40B4-BE49-F238E27FC236}">
                <a16:creationId xmlns:a16="http://schemas.microsoft.com/office/drawing/2014/main" id="{A60D8378-D0B9-F69B-F973-B6455ACEC5A9}"/>
              </a:ext>
            </a:extLst>
          </p:cNvPr>
          <p:cNvSpPr/>
          <p:nvPr/>
        </p:nvSpPr>
        <p:spPr>
          <a:xfrm>
            <a:off x="6574008" y="4295118"/>
            <a:ext cx="911152" cy="366247"/>
          </a:xfrm>
          <a:prstGeom prst="roundRect">
            <a:avLst>
              <a:gd name="adj" fmla="val 1764"/>
            </a:avLst>
          </a:prstGeom>
          <a:noFill/>
          <a:ln w="12700">
            <a:solidFill>
              <a:srgbClr val="92D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5</a:t>
            </a:r>
            <a:endParaRPr lang="LID4096" sz="2800">
              <a:solidFill>
                <a:schemeClr val="tx1"/>
              </a:solidFill>
            </a:endParaRPr>
          </a:p>
        </p:txBody>
      </p:sp>
      <p:sp>
        <p:nvSpPr>
          <p:cNvPr id="16" name="מלבן: פינות מעוגלות 6">
            <a:extLst>
              <a:ext uri="{FF2B5EF4-FFF2-40B4-BE49-F238E27FC236}">
                <a16:creationId xmlns:a16="http://schemas.microsoft.com/office/drawing/2014/main" id="{A542C062-DDB0-9A1C-CAA4-D70A741A6C82}"/>
              </a:ext>
            </a:extLst>
          </p:cNvPr>
          <p:cNvSpPr/>
          <p:nvPr/>
        </p:nvSpPr>
        <p:spPr>
          <a:xfrm>
            <a:off x="6588522" y="4901032"/>
            <a:ext cx="911152" cy="366247"/>
          </a:xfrm>
          <a:prstGeom prst="roundRect">
            <a:avLst>
              <a:gd name="adj" fmla="val 1764"/>
            </a:avLst>
          </a:prstGeom>
          <a:noFill/>
          <a:ln w="12700">
            <a:solidFill>
              <a:srgbClr val="92D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45</a:t>
            </a:r>
            <a:endParaRPr lang="LID4096" sz="2800">
              <a:solidFill>
                <a:schemeClr val="tx1"/>
              </a:solidFill>
            </a:endParaRPr>
          </a:p>
        </p:txBody>
      </p:sp>
      <p:grpSp>
        <p:nvGrpSpPr>
          <p:cNvPr id="18" name="קבוצה 48">
            <a:extLst>
              <a:ext uri="{FF2B5EF4-FFF2-40B4-BE49-F238E27FC236}">
                <a16:creationId xmlns:a16="http://schemas.microsoft.com/office/drawing/2014/main" id="{F743CCDF-2B48-F603-F734-71D0FF07B117}"/>
              </a:ext>
            </a:extLst>
          </p:cNvPr>
          <p:cNvGrpSpPr/>
          <p:nvPr/>
        </p:nvGrpSpPr>
        <p:grpSpPr>
          <a:xfrm>
            <a:off x="7661071" y="5506946"/>
            <a:ext cx="911152" cy="400110"/>
            <a:chOff x="10849438" y="3089736"/>
            <a:chExt cx="911152" cy="487092"/>
          </a:xfrm>
        </p:grpSpPr>
        <p:sp>
          <p:nvSpPr>
            <p:cNvPr id="19" name="מלבן: פינות מעוגלות 52">
              <a:extLst>
                <a:ext uri="{FF2B5EF4-FFF2-40B4-BE49-F238E27FC236}">
                  <a16:creationId xmlns:a16="http://schemas.microsoft.com/office/drawing/2014/main" id="{1AC57ED9-2C8A-A1DD-2C63-BB45E7CC096C}"/>
                </a:ext>
              </a:extLst>
            </p:cNvPr>
            <p:cNvSpPr/>
            <p:nvPr/>
          </p:nvSpPr>
          <p:spPr>
            <a:xfrm>
              <a:off x="10849438" y="3108472"/>
              <a:ext cx="911152" cy="449621"/>
            </a:xfrm>
            <a:prstGeom prst="roundRect">
              <a:avLst>
                <a:gd name="adj" fmla="val 50000"/>
              </a:avLst>
            </a:prstGeom>
            <a:noFill/>
            <a:ln w="12700">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LID4096"/>
            </a:p>
          </p:txBody>
        </p:sp>
        <p:sp>
          <p:nvSpPr>
            <p:cNvPr id="20" name="תיבת טקסט 53">
              <a:extLst>
                <a:ext uri="{FF2B5EF4-FFF2-40B4-BE49-F238E27FC236}">
                  <a16:creationId xmlns:a16="http://schemas.microsoft.com/office/drawing/2014/main" id="{836A0BBA-B6BA-53C2-91AE-C397DB854294}"/>
                </a:ext>
              </a:extLst>
            </p:cNvPr>
            <p:cNvSpPr txBox="1"/>
            <p:nvPr/>
          </p:nvSpPr>
          <p:spPr>
            <a:xfrm>
              <a:off x="10946911" y="3089736"/>
              <a:ext cx="763013" cy="487092"/>
            </a:xfrm>
            <a:prstGeom prst="rect">
              <a:avLst/>
            </a:prstGeom>
            <a:noFill/>
          </p:spPr>
          <p:txBody>
            <a:bodyPr wrap="square" rtlCol="0">
              <a:spAutoFit/>
            </a:bodyPr>
            <a:lstStyle/>
            <a:p>
              <a:pPr algn="ctr"/>
              <a:r>
                <a:rPr lang="he-IL" sz="2000">
                  <a:latin typeface="Assistant" pitchFamily="2" charset="-79"/>
                  <a:cs typeface="Assistant" pitchFamily="2" charset="-79"/>
                </a:rPr>
                <a:t>כן</a:t>
              </a:r>
              <a:endParaRPr lang="LID4096" sz="2000">
                <a:latin typeface="Assistant" pitchFamily="2" charset="-79"/>
                <a:cs typeface="Assistant" pitchFamily="2" charset="-79"/>
              </a:endParaRPr>
            </a:p>
          </p:txBody>
        </p:sp>
      </p:grpSp>
      <p:grpSp>
        <p:nvGrpSpPr>
          <p:cNvPr id="21" name="קבוצה 49">
            <a:extLst>
              <a:ext uri="{FF2B5EF4-FFF2-40B4-BE49-F238E27FC236}">
                <a16:creationId xmlns:a16="http://schemas.microsoft.com/office/drawing/2014/main" id="{DF3AC512-1B7D-9C2F-9398-026F7C0EA239}"/>
              </a:ext>
            </a:extLst>
          </p:cNvPr>
          <p:cNvGrpSpPr/>
          <p:nvPr/>
        </p:nvGrpSpPr>
        <p:grpSpPr>
          <a:xfrm>
            <a:off x="6591768" y="5506946"/>
            <a:ext cx="911153" cy="400110"/>
            <a:chOff x="10849436" y="3089736"/>
            <a:chExt cx="911153" cy="487092"/>
          </a:xfrm>
        </p:grpSpPr>
        <p:sp>
          <p:nvSpPr>
            <p:cNvPr id="22" name="מלבן: פינות מעוגלות 50">
              <a:extLst>
                <a:ext uri="{FF2B5EF4-FFF2-40B4-BE49-F238E27FC236}">
                  <a16:creationId xmlns:a16="http://schemas.microsoft.com/office/drawing/2014/main" id="{9E5ABD84-7BFC-BDD1-A9D1-153F09656DFE}"/>
                </a:ext>
              </a:extLst>
            </p:cNvPr>
            <p:cNvSpPr/>
            <p:nvPr/>
          </p:nvSpPr>
          <p:spPr>
            <a:xfrm>
              <a:off x="10849436" y="3108472"/>
              <a:ext cx="911153" cy="449621"/>
            </a:xfrm>
            <a:prstGeom prst="roundRect">
              <a:avLst>
                <a:gd name="adj" fmla="val 50000"/>
              </a:avLst>
            </a:prstGeom>
            <a:noFill/>
            <a:ln w="12700">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LID4096"/>
            </a:p>
          </p:txBody>
        </p:sp>
        <p:sp>
          <p:nvSpPr>
            <p:cNvPr id="23" name="תיבת טקסט 51">
              <a:extLst>
                <a:ext uri="{FF2B5EF4-FFF2-40B4-BE49-F238E27FC236}">
                  <a16:creationId xmlns:a16="http://schemas.microsoft.com/office/drawing/2014/main" id="{310B8427-C3EE-CB71-5B78-7A7C2DEE185C}"/>
                </a:ext>
              </a:extLst>
            </p:cNvPr>
            <p:cNvSpPr txBox="1"/>
            <p:nvPr/>
          </p:nvSpPr>
          <p:spPr>
            <a:xfrm>
              <a:off x="10946911" y="3089736"/>
              <a:ext cx="763013" cy="487092"/>
            </a:xfrm>
            <a:prstGeom prst="rect">
              <a:avLst/>
            </a:prstGeom>
            <a:noFill/>
          </p:spPr>
          <p:txBody>
            <a:bodyPr wrap="square" rtlCol="0">
              <a:spAutoFit/>
            </a:bodyPr>
            <a:lstStyle/>
            <a:p>
              <a:pPr algn="ctr"/>
              <a:r>
                <a:rPr lang="he-IL" sz="2000">
                  <a:highlight>
                    <a:srgbClr val="00FF00"/>
                  </a:highlight>
                  <a:latin typeface="Assistant" pitchFamily="2" charset="-79"/>
                  <a:cs typeface="Assistant" pitchFamily="2" charset="-79"/>
                </a:rPr>
                <a:t>לא</a:t>
              </a:r>
              <a:endParaRPr lang="LID4096" sz="2000">
                <a:highlight>
                  <a:srgbClr val="00FF00"/>
                </a:highlight>
                <a:latin typeface="Assistant" pitchFamily="2" charset="-79"/>
                <a:cs typeface="Assistant" pitchFamily="2" charset="-79"/>
              </a:endParaRPr>
            </a:p>
          </p:txBody>
        </p:sp>
      </p:grpSp>
      <p:pic>
        <p:nvPicPr>
          <p:cNvPr id="25" name="Picture 24">
            <a:extLst>
              <a:ext uri="{FF2B5EF4-FFF2-40B4-BE49-F238E27FC236}">
                <a16:creationId xmlns:a16="http://schemas.microsoft.com/office/drawing/2014/main" id="{F395ACAD-C419-EABA-8D88-9184056F5FEA}"/>
              </a:ext>
            </a:extLst>
          </p:cNvPr>
          <p:cNvPicPr>
            <a:picLocks noChangeAspect="1"/>
          </p:cNvPicPr>
          <p:nvPr/>
        </p:nvPicPr>
        <p:blipFill>
          <a:blip r:embed="rId10" cstate="email">
            <a:extLst>
              <a:ext uri="{28A0092B-C50C-407E-A947-70E740481C1C}">
                <a14:useLocalDpi xmlns:a14="http://schemas.microsoft.com/office/drawing/2010/main"/>
              </a:ext>
            </a:extLst>
          </a:blip>
          <a:stretch>
            <a:fillRect/>
          </a:stretch>
        </p:blipFill>
        <p:spPr>
          <a:xfrm>
            <a:off x="466933" y="1132594"/>
            <a:ext cx="5552793" cy="4568671"/>
          </a:xfrm>
          <a:prstGeom prst="rect">
            <a:avLst/>
          </a:prstGeom>
        </p:spPr>
      </p:pic>
      <p:pic>
        <p:nvPicPr>
          <p:cNvPr id="26" name="Picture 25">
            <a:extLst>
              <a:ext uri="{FF2B5EF4-FFF2-40B4-BE49-F238E27FC236}">
                <a16:creationId xmlns:a16="http://schemas.microsoft.com/office/drawing/2014/main" id="{C0962B70-64F2-9C95-26C0-8E9E8143486B}"/>
              </a:ext>
            </a:extLst>
          </p:cNvPr>
          <p:cNvPicPr>
            <a:picLocks noChangeAspect="1"/>
          </p:cNvPicPr>
          <p:nvPr/>
        </p:nvPicPr>
        <p:blipFill>
          <a:blip r:embed="rId11" cstate="email">
            <a:extLst>
              <a:ext uri="{28A0092B-C50C-407E-A947-70E740481C1C}">
                <a14:useLocalDpi xmlns:a14="http://schemas.microsoft.com/office/drawing/2010/main"/>
              </a:ext>
            </a:extLst>
          </a:blip>
          <a:stretch>
            <a:fillRect/>
          </a:stretch>
        </p:blipFill>
        <p:spPr>
          <a:xfrm>
            <a:off x="-5296939" y="7172622"/>
            <a:ext cx="3119795" cy="1588651"/>
          </a:xfrm>
          <a:prstGeom prst="rect">
            <a:avLst/>
          </a:prstGeom>
        </p:spPr>
      </p:pic>
      <p:sp>
        <p:nvSpPr>
          <p:cNvPr id="24" name="מלבן 7">
            <a:extLst>
              <a:ext uri="{FF2B5EF4-FFF2-40B4-BE49-F238E27FC236}">
                <a16:creationId xmlns:a16="http://schemas.microsoft.com/office/drawing/2014/main" id="{9C35C26D-E2F6-0484-E130-CEE77C875574}"/>
              </a:ext>
            </a:extLst>
          </p:cNvPr>
          <p:cNvSpPr/>
          <p:nvPr/>
        </p:nvSpPr>
        <p:spPr>
          <a:xfrm>
            <a:off x="11896440" y="332438"/>
            <a:ext cx="45719" cy="5474677"/>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LID4096"/>
          </a:p>
        </p:txBody>
      </p:sp>
      <p:sp>
        <p:nvSpPr>
          <p:cNvPr id="32" name="מלבן 8">
            <a:extLst>
              <a:ext uri="{FF2B5EF4-FFF2-40B4-BE49-F238E27FC236}">
                <a16:creationId xmlns:a16="http://schemas.microsoft.com/office/drawing/2014/main" id="{ABD6FE99-DCE5-2EB4-CB2C-F1D496234EBC}"/>
              </a:ext>
            </a:extLst>
          </p:cNvPr>
          <p:cNvSpPr/>
          <p:nvPr/>
        </p:nvSpPr>
        <p:spPr>
          <a:xfrm>
            <a:off x="11896440" y="332438"/>
            <a:ext cx="45719" cy="3526971"/>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LID4096"/>
          </a:p>
        </p:txBody>
      </p:sp>
    </p:spTree>
    <p:custDataLst>
      <p:tags r:id="rId1"/>
    </p:custDataLst>
    <p:extLst>
      <p:ext uri="{BB962C8B-B14F-4D97-AF65-F5344CB8AC3E}">
        <p14:creationId xmlns:p14="http://schemas.microsoft.com/office/powerpoint/2010/main" val="116833695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A3FDED-B5BA-ABF2-0CA1-B54F9131629B}"/>
            </a:ext>
          </a:extLst>
        </p:cNvPr>
        <p:cNvGrpSpPr/>
        <p:nvPr/>
      </p:nvGrpSpPr>
      <p:grpSpPr>
        <a:xfrm>
          <a:off x="0" y="0"/>
          <a:ext cx="0" cy="0"/>
          <a:chOff x="0" y="0"/>
          <a:chExt cx="0" cy="0"/>
        </a:xfrm>
      </p:grpSpPr>
      <p:cxnSp>
        <p:nvCxnSpPr>
          <p:cNvPr id="4" name="מחבר ישר 3">
            <a:extLst>
              <a:ext uri="{FF2B5EF4-FFF2-40B4-BE49-F238E27FC236}">
                <a16:creationId xmlns:a16="http://schemas.microsoft.com/office/drawing/2014/main" id="{96F70745-BD81-E4CD-0E53-3D5B9BE393F2}"/>
              </a:ext>
            </a:extLst>
          </p:cNvPr>
          <p:cNvCxnSpPr>
            <a:cxnSpLocks/>
          </p:cNvCxnSpPr>
          <p:nvPr/>
        </p:nvCxnSpPr>
        <p:spPr>
          <a:xfrm>
            <a:off x="0" y="6079252"/>
            <a:ext cx="12192000" cy="0"/>
          </a:xfrm>
          <a:prstGeom prst="line">
            <a:avLst/>
          </a:prstGeom>
          <a:ln>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5" name="מלבן: פינות מעוגלות 4">
            <a:extLst>
              <a:ext uri="{FF2B5EF4-FFF2-40B4-BE49-F238E27FC236}">
                <a16:creationId xmlns:a16="http://schemas.microsoft.com/office/drawing/2014/main" id="{D1FC1E0E-C1C4-C18C-4A86-8452D6374CA1}"/>
              </a:ext>
            </a:extLst>
          </p:cNvPr>
          <p:cNvSpPr/>
          <p:nvPr/>
        </p:nvSpPr>
        <p:spPr>
          <a:xfrm>
            <a:off x="268356" y="6182143"/>
            <a:ext cx="1798983" cy="506891"/>
          </a:xfrm>
          <a:prstGeom prst="roundRect">
            <a:avLst>
              <a:gd name="adj" fmla="val 50000"/>
            </a:avLst>
          </a:prstGeom>
          <a:solidFill>
            <a:schemeClr val="bg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he-IL"/>
              <a:t>צדקתי?</a:t>
            </a:r>
            <a:endParaRPr lang="LID4096"/>
          </a:p>
        </p:txBody>
      </p:sp>
      <p:sp>
        <p:nvSpPr>
          <p:cNvPr id="6" name="תיבת טקסט 5">
            <a:extLst>
              <a:ext uri="{FF2B5EF4-FFF2-40B4-BE49-F238E27FC236}">
                <a16:creationId xmlns:a16="http://schemas.microsoft.com/office/drawing/2014/main" id="{D197F9D0-EBF9-DE6E-498A-04901C5F7BF7}"/>
              </a:ext>
            </a:extLst>
          </p:cNvPr>
          <p:cNvSpPr txBox="1"/>
          <p:nvPr/>
        </p:nvSpPr>
        <p:spPr>
          <a:xfrm>
            <a:off x="6172276" y="1156726"/>
            <a:ext cx="5395248" cy="2862322"/>
          </a:xfrm>
          <a:prstGeom prst="rect">
            <a:avLst/>
          </a:prstGeom>
          <a:noFill/>
        </p:spPr>
        <p:txBody>
          <a:bodyPr wrap="square" rtlCol="0">
            <a:spAutoFit/>
          </a:bodyPr>
          <a:lstStyle/>
          <a:p>
            <a:r>
              <a:rPr lang="he-IL" sz="2000">
                <a:latin typeface="Assistant" pitchFamily="2" charset="-79"/>
                <a:cs typeface="Assistant" pitchFamily="2" charset="-79"/>
              </a:rPr>
              <a:t>ב. כעת היחס בין מספר פרחי השוקולד המריר למספר </a:t>
            </a:r>
          </a:p>
          <a:p>
            <a:r>
              <a:rPr lang="he-IL" sz="2000">
                <a:latin typeface="Assistant" pitchFamily="2" charset="-79"/>
                <a:cs typeface="Assistant" pitchFamily="2" charset="-79"/>
              </a:rPr>
              <a:t>פרחי השוקולד הלבן הוא 3 : 1.</a:t>
            </a:r>
            <a:endParaRPr lang="he-IL" sz="2000" b="1">
              <a:solidFill>
                <a:srgbClr val="00B0F0"/>
              </a:solidFill>
              <a:latin typeface="Assistant" pitchFamily="2" charset="-79"/>
              <a:cs typeface="Assistant" pitchFamily="2" charset="-79"/>
            </a:endParaRPr>
          </a:p>
          <a:p>
            <a:endParaRPr lang="he-IL" sz="2000" b="1">
              <a:solidFill>
                <a:srgbClr val="00B0F0"/>
              </a:solidFill>
              <a:latin typeface="Assistant" pitchFamily="2" charset="-79"/>
              <a:cs typeface="Assistant" pitchFamily="2" charset="-79"/>
            </a:endParaRPr>
          </a:p>
          <a:p>
            <a:pPr marL="342900" indent="-342900">
              <a:buFont typeface="Arial" panose="020B0604020202020204" pitchFamily="34" charset="0"/>
              <a:buChar char="•"/>
            </a:pPr>
            <a:r>
              <a:rPr lang="he-IL" sz="2000">
                <a:latin typeface="Assistant" pitchFamily="2" charset="-79"/>
                <a:cs typeface="Assistant" pitchFamily="2" charset="-79"/>
              </a:rPr>
              <a:t>מספר פרחי השוקולד הלבנים בתבנית</a:t>
            </a:r>
          </a:p>
          <a:p>
            <a:r>
              <a:rPr lang="he-IL" sz="2000">
                <a:latin typeface="Assistant" pitchFamily="2" charset="-79"/>
                <a:cs typeface="Assistant" pitchFamily="2" charset="-79"/>
              </a:rPr>
              <a:t> </a:t>
            </a:r>
          </a:p>
          <a:p>
            <a:pPr marL="342900" indent="-342900">
              <a:buFont typeface="Arial" panose="020B0604020202020204" pitchFamily="34" charset="0"/>
              <a:buChar char="•"/>
            </a:pPr>
            <a:r>
              <a:rPr lang="he-IL" sz="2000">
                <a:latin typeface="Assistant" pitchFamily="2" charset="-79"/>
                <a:cs typeface="Assistant" pitchFamily="2" charset="-79"/>
              </a:rPr>
              <a:t>מספר פרחי השוקולד המריר בתבנית</a:t>
            </a:r>
          </a:p>
          <a:p>
            <a:endParaRPr lang="he-IL" sz="2000">
              <a:latin typeface="Assistant" pitchFamily="2" charset="-79"/>
              <a:cs typeface="Assistant" pitchFamily="2" charset="-79"/>
            </a:endParaRPr>
          </a:p>
          <a:p>
            <a:pPr marL="342900" indent="-342900">
              <a:buFont typeface="Arial" panose="020B0604020202020204" pitchFamily="34" charset="0"/>
              <a:buChar char="•"/>
            </a:pPr>
            <a:r>
              <a:rPr lang="he-IL" sz="2000">
                <a:latin typeface="Assistant" pitchFamily="2" charset="-79"/>
                <a:cs typeface="Assistant" pitchFamily="2" charset="-79"/>
              </a:rPr>
              <a:t>האם נשארו שקעים ריקים? </a:t>
            </a:r>
          </a:p>
          <a:p>
            <a:endParaRPr lang="he-IL" sz="2000">
              <a:latin typeface="Assistant" pitchFamily="2" charset="-79"/>
              <a:cs typeface="Assistant" pitchFamily="2" charset="-79"/>
            </a:endParaRPr>
          </a:p>
        </p:txBody>
      </p:sp>
      <p:sp>
        <p:nvSpPr>
          <p:cNvPr id="2" name="מלבן: פינות מעוגלות 1">
            <a:extLst>
              <a:ext uri="{FF2B5EF4-FFF2-40B4-BE49-F238E27FC236}">
                <a16:creationId xmlns:a16="http://schemas.microsoft.com/office/drawing/2014/main" id="{D3943AA5-2DB6-26C0-16F2-67983D5275F3}"/>
              </a:ext>
            </a:extLst>
          </p:cNvPr>
          <p:cNvSpPr/>
          <p:nvPr/>
        </p:nvSpPr>
        <p:spPr>
          <a:xfrm>
            <a:off x="2179982" y="6182142"/>
            <a:ext cx="2481470" cy="506891"/>
          </a:xfrm>
          <a:prstGeom prst="roundRect">
            <a:avLst>
              <a:gd name="adj" fmla="val 50000"/>
            </a:avLst>
          </a:prstGeom>
          <a:noFill/>
          <a:ln>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he-IL">
                <a:solidFill>
                  <a:srgbClr val="00B0F0"/>
                </a:solidFill>
              </a:rPr>
              <a:t>     אפשר רמז?</a:t>
            </a:r>
            <a:endParaRPr lang="LID4096">
              <a:solidFill>
                <a:srgbClr val="00B0F0"/>
              </a:solidFill>
            </a:endParaRPr>
          </a:p>
        </p:txBody>
      </p:sp>
      <p:pic>
        <p:nvPicPr>
          <p:cNvPr id="12" name="גרפיקה 11" descr="נורת חשמל וגלגל שיניים עם מילוי מלא">
            <a:extLst>
              <a:ext uri="{FF2B5EF4-FFF2-40B4-BE49-F238E27FC236}">
                <a16:creationId xmlns:a16="http://schemas.microsoft.com/office/drawing/2014/main" id="{19C4437C-E45F-7F66-0FFD-CEE46CDD275C}"/>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3831910" y="6266545"/>
            <a:ext cx="338083" cy="338083"/>
          </a:xfrm>
          <a:prstGeom prst="rect">
            <a:avLst/>
          </a:prstGeom>
        </p:spPr>
      </p:pic>
      <p:pic>
        <p:nvPicPr>
          <p:cNvPr id="3" name="תמונה 2">
            <a:extLst>
              <a:ext uri="{FF2B5EF4-FFF2-40B4-BE49-F238E27FC236}">
                <a16:creationId xmlns:a16="http://schemas.microsoft.com/office/drawing/2014/main" id="{8EFAD0F1-1804-40CB-1A97-B10FF4EF04DA}"/>
              </a:ext>
            </a:extLst>
          </p:cNvPr>
          <p:cNvPicPr>
            <a:picLocks noChangeAspect="1"/>
          </p:cNvPicPr>
          <p:nvPr/>
        </p:nvPicPr>
        <p:blipFill>
          <a:blip r:embed="rId6">
            <a:extLst>
              <a:ext uri="{28A0092B-C50C-407E-A947-70E740481C1C}">
                <a14:useLocalDpi xmlns:a14="http://schemas.microsoft.com/office/drawing/2010/main"/>
              </a:ext>
            </a:extLst>
          </a:blip>
          <a:stretch>
            <a:fillRect/>
          </a:stretch>
        </p:blipFill>
        <p:spPr>
          <a:xfrm>
            <a:off x="0" y="57121"/>
            <a:ext cx="933869" cy="721626"/>
          </a:xfrm>
          <a:prstGeom prst="rect">
            <a:avLst/>
          </a:prstGeom>
        </p:spPr>
      </p:pic>
      <p:sp>
        <p:nvSpPr>
          <p:cNvPr id="7" name="מלבן: פינות מעוגלות 6">
            <a:extLst>
              <a:ext uri="{FF2B5EF4-FFF2-40B4-BE49-F238E27FC236}">
                <a16:creationId xmlns:a16="http://schemas.microsoft.com/office/drawing/2014/main" id="{B2407113-7828-B8A9-106F-EE3DD859BD51}"/>
              </a:ext>
            </a:extLst>
          </p:cNvPr>
          <p:cNvSpPr/>
          <p:nvPr/>
        </p:nvSpPr>
        <p:spPr>
          <a:xfrm>
            <a:off x="10244695" y="6193485"/>
            <a:ext cx="1798983" cy="506891"/>
          </a:xfrm>
          <a:prstGeom prst="roundRect">
            <a:avLst>
              <a:gd name="adj" fmla="val 50000"/>
            </a:avLst>
          </a:prstGeom>
          <a:noFill/>
          <a:ln>
            <a:solidFill>
              <a:srgbClr val="019DE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he-IL">
                <a:solidFill>
                  <a:srgbClr val="019DE5"/>
                </a:solidFill>
                <a:latin typeface="Assistant" pitchFamily="2" charset="-79"/>
                <a:cs typeface="Assistant" pitchFamily="2" charset="-79"/>
              </a:rPr>
              <a:t>חזרה</a:t>
            </a:r>
            <a:endParaRPr lang="LID4096">
              <a:solidFill>
                <a:srgbClr val="019DE5"/>
              </a:solidFill>
              <a:latin typeface="Assistant" pitchFamily="2" charset="-79"/>
              <a:cs typeface="Assistant" pitchFamily="2" charset="-79"/>
            </a:endParaRPr>
          </a:p>
        </p:txBody>
      </p:sp>
      <p:pic>
        <p:nvPicPr>
          <p:cNvPr id="9" name="תמונה 8">
            <a:extLst>
              <a:ext uri="{FF2B5EF4-FFF2-40B4-BE49-F238E27FC236}">
                <a16:creationId xmlns:a16="http://schemas.microsoft.com/office/drawing/2014/main" id="{892A5698-91F4-33EB-9937-7CCED1C681E0}"/>
              </a:ext>
            </a:extLst>
          </p:cNvPr>
          <p:cNvPicPr>
            <a:picLocks noChangeAspect="1"/>
          </p:cNvPicPr>
          <p:nvPr/>
        </p:nvPicPr>
        <p:blipFill>
          <a:blip r:embed="rId7">
            <a:extLst>
              <a:ext uri="{28A0092B-C50C-407E-A947-70E740481C1C}">
                <a14:useLocalDpi xmlns:a14="http://schemas.microsoft.com/office/drawing/2010/main"/>
              </a:ext>
            </a:extLst>
          </a:blip>
          <a:stretch>
            <a:fillRect/>
          </a:stretch>
        </p:blipFill>
        <p:spPr>
          <a:xfrm>
            <a:off x="2803561" y="417934"/>
            <a:ext cx="7847619" cy="558730"/>
          </a:xfrm>
          <a:prstGeom prst="rect">
            <a:avLst/>
          </a:prstGeom>
        </p:spPr>
      </p:pic>
      <p:sp>
        <p:nvSpPr>
          <p:cNvPr id="10" name="מלבן: פינות מעוגלות 9">
            <a:extLst>
              <a:ext uri="{FF2B5EF4-FFF2-40B4-BE49-F238E27FC236}">
                <a16:creationId xmlns:a16="http://schemas.microsoft.com/office/drawing/2014/main" id="{352F3D8E-5D8C-A1E9-D291-FA66ACC5145D}"/>
              </a:ext>
            </a:extLst>
          </p:cNvPr>
          <p:cNvSpPr/>
          <p:nvPr/>
        </p:nvSpPr>
        <p:spPr>
          <a:xfrm>
            <a:off x="-5116310" y="4034704"/>
            <a:ext cx="4708079" cy="4978665"/>
          </a:xfrm>
          <a:prstGeom prst="roundRect">
            <a:avLst>
              <a:gd name="adj" fmla="val 1647"/>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he-IL" sz="2000" b="1">
                <a:solidFill>
                  <a:schemeClr val="tx1"/>
                </a:solidFill>
                <a:latin typeface="Assistant" pitchFamily="2" charset="-79"/>
                <a:cs typeface="Assistant" pitchFamily="2" charset="-79"/>
              </a:rPr>
              <a:t>כל הכבוד, צדקתם! / טעיתם. לא נורא, מטעויות לומדים</a:t>
            </a:r>
          </a:p>
          <a:p>
            <a:pPr algn="ctr"/>
            <a:endParaRPr lang="he-IL" sz="2000">
              <a:solidFill>
                <a:schemeClr val="tx1"/>
              </a:solidFill>
              <a:latin typeface="Assistant" pitchFamily="2" charset="-79"/>
              <a:cs typeface="Assistant" pitchFamily="2" charset="-79"/>
            </a:endParaRPr>
          </a:p>
          <a:p>
            <a:pPr algn="ctr"/>
            <a:r>
              <a:rPr lang="he-IL" sz="2000">
                <a:solidFill>
                  <a:schemeClr val="tx1"/>
                </a:solidFill>
                <a:latin typeface="Assistant" pitchFamily="2" charset="-79"/>
                <a:cs typeface="Assistant" pitchFamily="2" charset="-79"/>
              </a:rPr>
              <a:t>על כל משבצת לבנה נסמן 3 משבצות חומות. נקבל סך הכל 12 פרחי שוקולד לבן, 36 פרחי שוקולד מריר ו-2 משבצות ריקות.</a:t>
            </a:r>
          </a:p>
          <a:p>
            <a:pPr algn="ctr"/>
            <a:endParaRPr lang="he-IL" sz="2000" b="1">
              <a:solidFill>
                <a:schemeClr val="tx1"/>
              </a:solidFill>
              <a:latin typeface="Assistant" pitchFamily="2" charset="-79"/>
              <a:cs typeface="Assistant" pitchFamily="2" charset="-79"/>
            </a:endParaRPr>
          </a:p>
          <a:p>
            <a:pPr algn="ctr"/>
            <a:endParaRPr lang="he-IL" sz="2000" b="1">
              <a:solidFill>
                <a:schemeClr val="tx1"/>
              </a:solidFill>
              <a:latin typeface="Assistant" pitchFamily="2" charset="-79"/>
              <a:cs typeface="Assistant" pitchFamily="2" charset="-79"/>
            </a:endParaRPr>
          </a:p>
          <a:p>
            <a:pPr algn="ctr"/>
            <a:endParaRPr lang="he-IL" sz="2000" b="1">
              <a:solidFill>
                <a:schemeClr val="tx1"/>
              </a:solidFill>
              <a:latin typeface="Assistant" pitchFamily="2" charset="-79"/>
              <a:cs typeface="Assistant" pitchFamily="2" charset="-79"/>
            </a:endParaRPr>
          </a:p>
          <a:p>
            <a:pPr algn="ctr"/>
            <a:endParaRPr lang="he-IL" sz="2000" b="1">
              <a:solidFill>
                <a:schemeClr val="tx1"/>
              </a:solidFill>
              <a:latin typeface="Assistant" pitchFamily="2" charset="-79"/>
              <a:cs typeface="Assistant" pitchFamily="2" charset="-79"/>
            </a:endParaRPr>
          </a:p>
          <a:p>
            <a:pPr algn="ctr"/>
            <a:endParaRPr lang="he-IL" sz="2000" b="1">
              <a:solidFill>
                <a:schemeClr val="tx1"/>
              </a:solidFill>
              <a:latin typeface="Assistant" pitchFamily="2" charset="-79"/>
              <a:cs typeface="Assistant" pitchFamily="2" charset="-79"/>
            </a:endParaRPr>
          </a:p>
        </p:txBody>
      </p:sp>
      <p:grpSp>
        <p:nvGrpSpPr>
          <p:cNvPr id="15" name="קבוצה 14">
            <a:extLst>
              <a:ext uri="{FF2B5EF4-FFF2-40B4-BE49-F238E27FC236}">
                <a16:creationId xmlns:a16="http://schemas.microsoft.com/office/drawing/2014/main" id="{C50E663D-A5C8-EA12-038B-39AA0F8DC560}"/>
              </a:ext>
            </a:extLst>
          </p:cNvPr>
          <p:cNvGrpSpPr/>
          <p:nvPr/>
        </p:nvGrpSpPr>
        <p:grpSpPr>
          <a:xfrm>
            <a:off x="-9344826" y="26138"/>
            <a:ext cx="9123904" cy="3818372"/>
            <a:chOff x="-9229411" y="26138"/>
            <a:chExt cx="9123904" cy="3818372"/>
          </a:xfrm>
        </p:grpSpPr>
        <p:sp>
          <p:nvSpPr>
            <p:cNvPr id="17" name="מלבן: פינות מעוגלות 16">
              <a:extLst>
                <a:ext uri="{FF2B5EF4-FFF2-40B4-BE49-F238E27FC236}">
                  <a16:creationId xmlns:a16="http://schemas.microsoft.com/office/drawing/2014/main" id="{961D4C09-8F84-9C03-7ECB-FBF476089A41}"/>
                </a:ext>
              </a:extLst>
            </p:cNvPr>
            <p:cNvSpPr/>
            <p:nvPr/>
          </p:nvSpPr>
          <p:spPr>
            <a:xfrm>
              <a:off x="-9229411" y="26138"/>
              <a:ext cx="9123904" cy="3818372"/>
            </a:xfrm>
            <a:prstGeom prst="roundRect">
              <a:avLst>
                <a:gd name="adj" fmla="val 8509"/>
              </a:avLst>
            </a:prstGeom>
            <a:solidFill>
              <a:srgbClr val="00B0F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LID4096"/>
            </a:p>
          </p:txBody>
        </p:sp>
        <p:sp>
          <p:nvSpPr>
            <p:cNvPr id="27" name="תיבת טקסט 26">
              <a:extLst>
                <a:ext uri="{FF2B5EF4-FFF2-40B4-BE49-F238E27FC236}">
                  <a16:creationId xmlns:a16="http://schemas.microsoft.com/office/drawing/2014/main" id="{F217FA34-2ADF-4265-DE85-77A5E070AED0}"/>
                </a:ext>
              </a:extLst>
            </p:cNvPr>
            <p:cNvSpPr txBox="1"/>
            <p:nvPr/>
          </p:nvSpPr>
          <p:spPr>
            <a:xfrm>
              <a:off x="-8368185" y="474122"/>
              <a:ext cx="7384627" cy="400110"/>
            </a:xfrm>
            <a:prstGeom prst="rect">
              <a:avLst/>
            </a:prstGeom>
            <a:noFill/>
          </p:spPr>
          <p:txBody>
            <a:bodyPr wrap="square" rtlCol="0">
              <a:spAutoFit/>
            </a:bodyPr>
            <a:lstStyle/>
            <a:p>
              <a:r>
                <a:rPr lang="he-IL" sz="2000">
                  <a:solidFill>
                    <a:schemeClr val="bg1"/>
                  </a:solidFill>
                  <a:latin typeface="Assistant" pitchFamily="2" charset="-79"/>
                  <a:cs typeface="Assistant" pitchFamily="2" charset="-79"/>
                </a:rPr>
                <a:t>חשבו איך כדאי לכם למלא את התבניות לפי היחס הנתון.</a:t>
              </a:r>
              <a:endParaRPr lang="LID4096" sz="2000">
                <a:solidFill>
                  <a:schemeClr val="bg1"/>
                </a:solidFill>
                <a:latin typeface="Assistant" pitchFamily="2" charset="-79"/>
                <a:cs typeface="Assistant" pitchFamily="2" charset="-79"/>
              </a:endParaRPr>
            </a:p>
          </p:txBody>
        </p:sp>
        <p:sp>
          <p:nvSpPr>
            <p:cNvPr id="28" name="מלבן: פינות מעוגלות 27">
              <a:extLst>
                <a:ext uri="{FF2B5EF4-FFF2-40B4-BE49-F238E27FC236}">
                  <a16:creationId xmlns:a16="http://schemas.microsoft.com/office/drawing/2014/main" id="{ABF75269-43E2-5F41-8913-DBA628B5D407}"/>
                </a:ext>
              </a:extLst>
            </p:cNvPr>
            <p:cNvSpPr/>
            <p:nvPr/>
          </p:nvSpPr>
          <p:spPr>
            <a:xfrm>
              <a:off x="-5861703" y="3135618"/>
              <a:ext cx="1798983" cy="506891"/>
            </a:xfrm>
            <a:prstGeom prst="roundRect">
              <a:avLst>
                <a:gd name="adj" fmla="val 50000"/>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he-IL">
                  <a:solidFill>
                    <a:schemeClr val="tx1"/>
                  </a:solidFill>
                  <a:latin typeface="Assistant" pitchFamily="2" charset="-79"/>
                  <a:cs typeface="Assistant" pitchFamily="2" charset="-79"/>
                </a:rPr>
                <a:t>חזרה לשאלה</a:t>
              </a:r>
              <a:endParaRPr lang="LID4096">
                <a:solidFill>
                  <a:schemeClr val="tx1"/>
                </a:solidFill>
                <a:latin typeface="Assistant" pitchFamily="2" charset="-79"/>
                <a:cs typeface="Assistant" pitchFamily="2" charset="-79"/>
              </a:endParaRPr>
            </a:p>
          </p:txBody>
        </p:sp>
        <p:pic>
          <p:nvPicPr>
            <p:cNvPr id="29" name="גרפיקה 28" descr="נורת חשמל וגלגל שיניים עם מילוי מלא">
              <a:extLst>
                <a:ext uri="{FF2B5EF4-FFF2-40B4-BE49-F238E27FC236}">
                  <a16:creationId xmlns:a16="http://schemas.microsoft.com/office/drawing/2014/main" id="{51EBC3DD-ECFD-B47B-C23A-2301105AA295}"/>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983558" y="489982"/>
              <a:ext cx="338083" cy="338083"/>
            </a:xfrm>
            <a:prstGeom prst="rect">
              <a:avLst/>
            </a:prstGeom>
          </p:spPr>
        </p:pic>
      </p:grpSp>
      <p:sp>
        <p:nvSpPr>
          <p:cNvPr id="13" name="מלבן: פינות מעוגלות 6">
            <a:extLst>
              <a:ext uri="{FF2B5EF4-FFF2-40B4-BE49-F238E27FC236}">
                <a16:creationId xmlns:a16="http://schemas.microsoft.com/office/drawing/2014/main" id="{6CD506EA-766C-6171-CC11-0D01E5AFB9B6}"/>
              </a:ext>
            </a:extLst>
          </p:cNvPr>
          <p:cNvSpPr/>
          <p:nvPr/>
        </p:nvSpPr>
        <p:spPr>
          <a:xfrm>
            <a:off x="6511663" y="2076392"/>
            <a:ext cx="911152" cy="366247"/>
          </a:xfrm>
          <a:prstGeom prst="roundRect">
            <a:avLst>
              <a:gd name="adj" fmla="val 1764"/>
            </a:avLst>
          </a:prstGeom>
          <a:noFill/>
          <a:ln w="12700">
            <a:solidFill>
              <a:srgbClr val="92D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12</a:t>
            </a:r>
            <a:endParaRPr lang="LID4096" sz="2800">
              <a:solidFill>
                <a:schemeClr val="tx1"/>
              </a:solidFill>
            </a:endParaRPr>
          </a:p>
        </p:txBody>
      </p:sp>
      <p:sp>
        <p:nvSpPr>
          <p:cNvPr id="16" name="מלבן: פינות מעוגלות 6">
            <a:extLst>
              <a:ext uri="{FF2B5EF4-FFF2-40B4-BE49-F238E27FC236}">
                <a16:creationId xmlns:a16="http://schemas.microsoft.com/office/drawing/2014/main" id="{5AF803F9-61BC-23C0-7FC1-8C862080F146}"/>
              </a:ext>
            </a:extLst>
          </p:cNvPr>
          <p:cNvSpPr/>
          <p:nvPr/>
        </p:nvSpPr>
        <p:spPr>
          <a:xfrm>
            <a:off x="6526177" y="2682306"/>
            <a:ext cx="911152" cy="366247"/>
          </a:xfrm>
          <a:prstGeom prst="roundRect">
            <a:avLst>
              <a:gd name="adj" fmla="val 1764"/>
            </a:avLst>
          </a:prstGeom>
          <a:noFill/>
          <a:ln w="12700">
            <a:solidFill>
              <a:srgbClr val="92D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36</a:t>
            </a:r>
            <a:endParaRPr lang="LID4096" sz="2800">
              <a:solidFill>
                <a:schemeClr val="tx1"/>
              </a:solidFill>
            </a:endParaRPr>
          </a:p>
        </p:txBody>
      </p:sp>
      <p:grpSp>
        <p:nvGrpSpPr>
          <p:cNvPr id="18" name="קבוצה 48">
            <a:extLst>
              <a:ext uri="{FF2B5EF4-FFF2-40B4-BE49-F238E27FC236}">
                <a16:creationId xmlns:a16="http://schemas.microsoft.com/office/drawing/2014/main" id="{B2D901D8-DDF7-A7A5-3F57-682E032111E4}"/>
              </a:ext>
            </a:extLst>
          </p:cNvPr>
          <p:cNvGrpSpPr/>
          <p:nvPr/>
        </p:nvGrpSpPr>
        <p:grpSpPr>
          <a:xfrm>
            <a:off x="7598726" y="3288220"/>
            <a:ext cx="911152" cy="400110"/>
            <a:chOff x="10849438" y="3089736"/>
            <a:chExt cx="911152" cy="487092"/>
          </a:xfrm>
        </p:grpSpPr>
        <p:sp>
          <p:nvSpPr>
            <p:cNvPr id="19" name="מלבן: פינות מעוגלות 52">
              <a:extLst>
                <a:ext uri="{FF2B5EF4-FFF2-40B4-BE49-F238E27FC236}">
                  <a16:creationId xmlns:a16="http://schemas.microsoft.com/office/drawing/2014/main" id="{927A07DB-8A8E-929E-112F-B85D0E2CC922}"/>
                </a:ext>
              </a:extLst>
            </p:cNvPr>
            <p:cNvSpPr/>
            <p:nvPr/>
          </p:nvSpPr>
          <p:spPr>
            <a:xfrm>
              <a:off x="10849438" y="3108472"/>
              <a:ext cx="911152" cy="449621"/>
            </a:xfrm>
            <a:prstGeom prst="roundRect">
              <a:avLst>
                <a:gd name="adj" fmla="val 50000"/>
              </a:avLst>
            </a:prstGeom>
            <a:noFill/>
            <a:ln w="12700">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LID4096"/>
            </a:p>
          </p:txBody>
        </p:sp>
        <p:sp>
          <p:nvSpPr>
            <p:cNvPr id="20" name="תיבת טקסט 53">
              <a:extLst>
                <a:ext uri="{FF2B5EF4-FFF2-40B4-BE49-F238E27FC236}">
                  <a16:creationId xmlns:a16="http://schemas.microsoft.com/office/drawing/2014/main" id="{558F0318-15D9-6EE3-7801-50B52006CC8C}"/>
                </a:ext>
              </a:extLst>
            </p:cNvPr>
            <p:cNvSpPr txBox="1"/>
            <p:nvPr/>
          </p:nvSpPr>
          <p:spPr>
            <a:xfrm>
              <a:off x="10946911" y="3089736"/>
              <a:ext cx="763013" cy="487092"/>
            </a:xfrm>
            <a:prstGeom prst="rect">
              <a:avLst/>
            </a:prstGeom>
            <a:noFill/>
          </p:spPr>
          <p:txBody>
            <a:bodyPr wrap="square" rtlCol="0">
              <a:spAutoFit/>
            </a:bodyPr>
            <a:lstStyle/>
            <a:p>
              <a:pPr algn="ctr"/>
              <a:r>
                <a:rPr lang="he-IL" sz="2000">
                  <a:highlight>
                    <a:srgbClr val="00FF00"/>
                  </a:highlight>
                  <a:latin typeface="Assistant" pitchFamily="2" charset="-79"/>
                  <a:cs typeface="Assistant" pitchFamily="2" charset="-79"/>
                </a:rPr>
                <a:t>כן</a:t>
              </a:r>
              <a:endParaRPr lang="LID4096" sz="2000">
                <a:highlight>
                  <a:srgbClr val="00FF00"/>
                </a:highlight>
                <a:latin typeface="Assistant" pitchFamily="2" charset="-79"/>
                <a:cs typeface="Assistant" pitchFamily="2" charset="-79"/>
              </a:endParaRPr>
            </a:p>
          </p:txBody>
        </p:sp>
      </p:grpSp>
      <p:grpSp>
        <p:nvGrpSpPr>
          <p:cNvPr id="21" name="קבוצה 49">
            <a:extLst>
              <a:ext uri="{FF2B5EF4-FFF2-40B4-BE49-F238E27FC236}">
                <a16:creationId xmlns:a16="http://schemas.microsoft.com/office/drawing/2014/main" id="{23CD23F7-F6B1-4D72-9496-2D2AE6CFD898}"/>
              </a:ext>
            </a:extLst>
          </p:cNvPr>
          <p:cNvGrpSpPr/>
          <p:nvPr/>
        </p:nvGrpSpPr>
        <p:grpSpPr>
          <a:xfrm>
            <a:off x="6529423" y="3288220"/>
            <a:ext cx="911153" cy="400110"/>
            <a:chOff x="10849436" y="3089736"/>
            <a:chExt cx="911153" cy="487092"/>
          </a:xfrm>
        </p:grpSpPr>
        <p:sp>
          <p:nvSpPr>
            <p:cNvPr id="22" name="מלבן: פינות מעוגלות 50">
              <a:extLst>
                <a:ext uri="{FF2B5EF4-FFF2-40B4-BE49-F238E27FC236}">
                  <a16:creationId xmlns:a16="http://schemas.microsoft.com/office/drawing/2014/main" id="{BB6A00CD-239F-8C6B-BDC6-4DD12B5C3145}"/>
                </a:ext>
              </a:extLst>
            </p:cNvPr>
            <p:cNvSpPr/>
            <p:nvPr/>
          </p:nvSpPr>
          <p:spPr>
            <a:xfrm>
              <a:off x="10849436" y="3108472"/>
              <a:ext cx="911153" cy="449621"/>
            </a:xfrm>
            <a:prstGeom prst="roundRect">
              <a:avLst>
                <a:gd name="adj" fmla="val 50000"/>
              </a:avLst>
            </a:prstGeom>
            <a:noFill/>
            <a:ln w="12700">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LID4096"/>
            </a:p>
          </p:txBody>
        </p:sp>
        <p:sp>
          <p:nvSpPr>
            <p:cNvPr id="23" name="תיבת טקסט 51">
              <a:extLst>
                <a:ext uri="{FF2B5EF4-FFF2-40B4-BE49-F238E27FC236}">
                  <a16:creationId xmlns:a16="http://schemas.microsoft.com/office/drawing/2014/main" id="{B352D04B-D660-8037-43B1-574BD52EC361}"/>
                </a:ext>
              </a:extLst>
            </p:cNvPr>
            <p:cNvSpPr txBox="1"/>
            <p:nvPr/>
          </p:nvSpPr>
          <p:spPr>
            <a:xfrm>
              <a:off x="10946911" y="3089736"/>
              <a:ext cx="763013" cy="487092"/>
            </a:xfrm>
            <a:prstGeom prst="rect">
              <a:avLst/>
            </a:prstGeom>
            <a:noFill/>
          </p:spPr>
          <p:txBody>
            <a:bodyPr wrap="square" rtlCol="0">
              <a:spAutoFit/>
            </a:bodyPr>
            <a:lstStyle/>
            <a:p>
              <a:pPr algn="ctr"/>
              <a:r>
                <a:rPr lang="he-IL" sz="2000">
                  <a:latin typeface="Assistant" pitchFamily="2" charset="-79"/>
                  <a:cs typeface="Assistant" pitchFamily="2" charset="-79"/>
                </a:rPr>
                <a:t>לא</a:t>
              </a:r>
              <a:endParaRPr lang="LID4096" sz="2000">
                <a:latin typeface="Assistant" pitchFamily="2" charset="-79"/>
                <a:cs typeface="Assistant" pitchFamily="2" charset="-79"/>
              </a:endParaRPr>
            </a:p>
          </p:txBody>
        </p:sp>
      </p:grpSp>
      <p:pic>
        <p:nvPicPr>
          <p:cNvPr id="25" name="Picture 24">
            <a:extLst>
              <a:ext uri="{FF2B5EF4-FFF2-40B4-BE49-F238E27FC236}">
                <a16:creationId xmlns:a16="http://schemas.microsoft.com/office/drawing/2014/main" id="{6AD408F7-B702-0AEA-6038-2FE41EC11F03}"/>
              </a:ext>
            </a:extLst>
          </p:cNvPr>
          <p:cNvPicPr>
            <a:picLocks noChangeAspect="1"/>
          </p:cNvPicPr>
          <p:nvPr/>
        </p:nvPicPr>
        <p:blipFill>
          <a:blip r:embed="rId9" cstate="email">
            <a:extLst>
              <a:ext uri="{28A0092B-C50C-407E-A947-70E740481C1C}">
                <a14:useLocalDpi xmlns:a14="http://schemas.microsoft.com/office/drawing/2010/main"/>
              </a:ext>
            </a:extLst>
          </a:blip>
          <a:stretch>
            <a:fillRect/>
          </a:stretch>
        </p:blipFill>
        <p:spPr>
          <a:xfrm>
            <a:off x="466933" y="1132594"/>
            <a:ext cx="5552793" cy="4568671"/>
          </a:xfrm>
          <a:prstGeom prst="rect">
            <a:avLst/>
          </a:prstGeom>
        </p:spPr>
      </p:pic>
      <p:pic>
        <p:nvPicPr>
          <p:cNvPr id="8" name="Picture 7">
            <a:extLst>
              <a:ext uri="{FF2B5EF4-FFF2-40B4-BE49-F238E27FC236}">
                <a16:creationId xmlns:a16="http://schemas.microsoft.com/office/drawing/2014/main" id="{7F5E82F1-159D-822C-6EA0-D2D4591508B8}"/>
              </a:ext>
            </a:extLst>
          </p:cNvPr>
          <p:cNvPicPr>
            <a:picLocks noChangeAspect="1"/>
          </p:cNvPicPr>
          <p:nvPr/>
        </p:nvPicPr>
        <p:blipFill>
          <a:blip r:embed="rId10" cstate="email">
            <a:extLst>
              <a:ext uri="{28A0092B-C50C-407E-A947-70E740481C1C}">
                <a14:useLocalDpi xmlns:a14="http://schemas.microsoft.com/office/drawing/2010/main"/>
              </a:ext>
            </a:extLst>
          </a:blip>
          <a:stretch>
            <a:fillRect/>
          </a:stretch>
        </p:blipFill>
        <p:spPr>
          <a:xfrm>
            <a:off x="-4433909" y="6871327"/>
            <a:ext cx="3343275" cy="1694695"/>
          </a:xfrm>
          <a:prstGeom prst="rect">
            <a:avLst/>
          </a:prstGeom>
        </p:spPr>
      </p:pic>
      <p:sp>
        <p:nvSpPr>
          <p:cNvPr id="34" name="מלבן 7">
            <a:extLst>
              <a:ext uri="{FF2B5EF4-FFF2-40B4-BE49-F238E27FC236}">
                <a16:creationId xmlns:a16="http://schemas.microsoft.com/office/drawing/2014/main" id="{4542C616-5C53-2CF7-28CF-B327EB5AB9F9}"/>
              </a:ext>
            </a:extLst>
          </p:cNvPr>
          <p:cNvSpPr/>
          <p:nvPr/>
        </p:nvSpPr>
        <p:spPr>
          <a:xfrm>
            <a:off x="11921425" y="386680"/>
            <a:ext cx="45719" cy="5474677"/>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LID4096"/>
          </a:p>
        </p:txBody>
      </p:sp>
      <p:sp>
        <p:nvSpPr>
          <p:cNvPr id="36" name="מלבן 8">
            <a:extLst>
              <a:ext uri="{FF2B5EF4-FFF2-40B4-BE49-F238E27FC236}">
                <a16:creationId xmlns:a16="http://schemas.microsoft.com/office/drawing/2014/main" id="{CBBB657B-432F-8441-27B8-E9A400790152}"/>
              </a:ext>
            </a:extLst>
          </p:cNvPr>
          <p:cNvSpPr/>
          <p:nvPr/>
        </p:nvSpPr>
        <p:spPr>
          <a:xfrm>
            <a:off x="11921425" y="874232"/>
            <a:ext cx="45719" cy="3526971"/>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LID4096"/>
          </a:p>
        </p:txBody>
      </p:sp>
    </p:spTree>
    <p:custDataLst>
      <p:tags r:id="rId1"/>
    </p:custDataLst>
    <p:extLst>
      <p:ext uri="{BB962C8B-B14F-4D97-AF65-F5344CB8AC3E}">
        <p14:creationId xmlns:p14="http://schemas.microsoft.com/office/powerpoint/2010/main" val="1157258770"/>
      </p:ext>
    </p:extLst>
  </p:cSld>
  <p:clrMapOvr>
    <a:masterClrMapping/>
  </p:clrMapOvr>
  <p:extLst>
    <p:ext uri="{6950BFC3-D8DA-4A85-94F7-54DA5524770B}">
      <p188:commentRel xmlns:p188="http://schemas.microsoft.com/office/powerpoint/2018/8/main" r:id="rId4"/>
    </p:ext>
  </p:extLs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A408DB-AEC5-AAC6-9403-29DCB2BC4E4F}"/>
            </a:ext>
          </a:extLst>
        </p:cNvPr>
        <p:cNvGrpSpPr/>
        <p:nvPr/>
      </p:nvGrpSpPr>
      <p:grpSpPr>
        <a:xfrm>
          <a:off x="0" y="0"/>
          <a:ext cx="0" cy="0"/>
          <a:chOff x="0" y="0"/>
          <a:chExt cx="0" cy="0"/>
        </a:xfrm>
      </p:grpSpPr>
      <p:cxnSp>
        <p:nvCxnSpPr>
          <p:cNvPr id="4" name="מחבר ישר 3">
            <a:extLst>
              <a:ext uri="{FF2B5EF4-FFF2-40B4-BE49-F238E27FC236}">
                <a16:creationId xmlns:a16="http://schemas.microsoft.com/office/drawing/2014/main" id="{0AECA309-672A-0FC8-8340-194FF45D4275}"/>
              </a:ext>
            </a:extLst>
          </p:cNvPr>
          <p:cNvCxnSpPr>
            <a:cxnSpLocks/>
          </p:cNvCxnSpPr>
          <p:nvPr/>
        </p:nvCxnSpPr>
        <p:spPr>
          <a:xfrm>
            <a:off x="0" y="6079252"/>
            <a:ext cx="12192000" cy="0"/>
          </a:xfrm>
          <a:prstGeom prst="line">
            <a:avLst/>
          </a:prstGeom>
          <a:ln>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5" name="מלבן: פינות מעוגלות 4">
            <a:extLst>
              <a:ext uri="{FF2B5EF4-FFF2-40B4-BE49-F238E27FC236}">
                <a16:creationId xmlns:a16="http://schemas.microsoft.com/office/drawing/2014/main" id="{5EDF75F3-36A5-9A62-8423-C35BC5931A41}"/>
              </a:ext>
            </a:extLst>
          </p:cNvPr>
          <p:cNvSpPr/>
          <p:nvPr/>
        </p:nvSpPr>
        <p:spPr>
          <a:xfrm>
            <a:off x="268356" y="6182143"/>
            <a:ext cx="1798983" cy="506891"/>
          </a:xfrm>
          <a:prstGeom prst="roundRect">
            <a:avLst>
              <a:gd name="adj" fmla="val 50000"/>
            </a:avLst>
          </a:prstGeom>
          <a:solidFill>
            <a:schemeClr val="bg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he-IL"/>
              <a:t>צדקתי?</a:t>
            </a:r>
            <a:endParaRPr lang="LID4096"/>
          </a:p>
        </p:txBody>
      </p:sp>
      <mc:AlternateContent xmlns:mc="http://schemas.openxmlformats.org/markup-compatibility/2006" xmlns:a14="http://schemas.microsoft.com/office/drawing/2010/main">
        <mc:Choice Requires="a14">
          <p:sp>
            <p:nvSpPr>
              <p:cNvPr id="6" name="תיבת טקסט 5">
                <a:extLst>
                  <a:ext uri="{FF2B5EF4-FFF2-40B4-BE49-F238E27FC236}">
                    <a16:creationId xmlns:a16="http://schemas.microsoft.com/office/drawing/2014/main" id="{FDABC4C1-BA90-B065-6BDE-0895922F01FA}"/>
                  </a:ext>
                </a:extLst>
              </p:cNvPr>
              <p:cNvSpPr txBox="1"/>
              <p:nvPr/>
            </p:nvSpPr>
            <p:spPr>
              <a:xfrm>
                <a:off x="2067339" y="1156726"/>
                <a:ext cx="9500185" cy="2065822"/>
              </a:xfrm>
              <a:prstGeom prst="rect">
                <a:avLst/>
              </a:prstGeom>
              <a:noFill/>
            </p:spPr>
            <p:txBody>
              <a:bodyPr wrap="square" rtlCol="0">
                <a:spAutoFit/>
              </a:bodyPr>
              <a:lstStyle/>
              <a:p>
                <a:r>
                  <a:rPr lang="he-IL" sz="2000">
                    <a:latin typeface="Assistant" pitchFamily="2" charset="-79"/>
                    <a:cs typeface="Assistant" pitchFamily="2" charset="-79"/>
                  </a:rPr>
                  <a:t>ג. רונית טוענת שכאשר היחס בין מספר פרחי השוקולד המריר למספר פרחי השוקולד הלבן הוא 3 : 1,</a:t>
                </a:r>
                <a:endParaRPr lang="he-IL" sz="2000" b="1">
                  <a:solidFill>
                    <a:srgbClr val="00B0F0"/>
                  </a:solidFill>
                  <a:latin typeface="Assistant" pitchFamily="2" charset="-79"/>
                  <a:cs typeface="Assistant" pitchFamily="2" charset="-79"/>
                </a:endParaRPr>
              </a:p>
              <a:p>
                <a:r>
                  <a:rPr lang="he-IL" sz="2000">
                    <a:latin typeface="Assistant" pitchFamily="2" charset="-79"/>
                    <a:cs typeface="Assistant" pitchFamily="2" charset="-79"/>
                  </a:rPr>
                  <a:t>אפשר לחשב מראש כמה פרחי שוקולד נקבל מכל סוג. </a:t>
                </a:r>
              </a:p>
              <a:p>
                <a:r>
                  <a:rPr lang="he-IL" sz="2000">
                    <a:latin typeface="Assistant" pitchFamily="2" charset="-79"/>
                    <a:cs typeface="Assistant" pitchFamily="2" charset="-79"/>
                  </a:rPr>
                  <a:t>מספר פרחי השוקולד הלבן הוא </a:t>
                </a:r>
                <a14:m>
                  <m:oMath xmlns:m="http://schemas.openxmlformats.org/officeDocument/2006/math">
                    <m:f>
                      <m:fPr>
                        <m:ctrlPr>
                          <a:rPr lang="en-US" sz="2000" b="0" i="1" smtClean="0">
                            <a:latin typeface="Cambria Math" panose="02040503050406030204" pitchFamily="18" charset="0"/>
                          </a:rPr>
                        </m:ctrlPr>
                      </m:fPr>
                      <m:num>
                        <m:r>
                          <a:rPr lang="en-US" sz="2000" b="0" i="1" smtClean="0">
                            <a:latin typeface="Cambria Math" panose="02040503050406030204" pitchFamily="18" charset="0"/>
                          </a:rPr>
                          <m:t>1</m:t>
                        </m:r>
                      </m:num>
                      <m:den>
                        <m:r>
                          <a:rPr lang="en-US" sz="2000" b="0" i="1" smtClean="0">
                            <a:latin typeface="Cambria Math" panose="02040503050406030204" pitchFamily="18" charset="0"/>
                          </a:rPr>
                          <m:t>4</m:t>
                        </m:r>
                      </m:den>
                    </m:f>
                    <m:r>
                      <a:rPr lang="en-US" sz="2000" i="1">
                        <a:latin typeface="Cambria Math" panose="02040503050406030204" pitchFamily="18" charset="0"/>
                      </a:rPr>
                      <m:t>⋅</m:t>
                    </m:r>
                    <m:r>
                      <a:rPr lang="en-US" sz="2000" b="0" i="1" smtClean="0">
                        <a:latin typeface="Cambria Math" panose="02040503050406030204" pitchFamily="18" charset="0"/>
                      </a:rPr>
                      <m:t>50</m:t>
                    </m:r>
                    <m:r>
                      <a:rPr lang="en-US" sz="2000" i="1" smtClean="0">
                        <a:latin typeface="Cambria Math" panose="02040503050406030204" pitchFamily="18" charset="0"/>
                      </a:rPr>
                      <m:t>=</m:t>
                    </m:r>
                    <m:r>
                      <a:rPr lang="en-US" sz="2000" b="0" i="1" smtClean="0">
                        <a:latin typeface="Cambria Math" panose="02040503050406030204" pitchFamily="18" charset="0"/>
                      </a:rPr>
                      <m:t>12.5</m:t>
                    </m:r>
                  </m:oMath>
                </a14:m>
                <a:r>
                  <a:rPr lang="he-IL" sz="2000">
                    <a:latin typeface="Assistant" pitchFamily="2" charset="-79"/>
                    <a:cs typeface="Assistant" pitchFamily="2" charset="-79"/>
                  </a:rPr>
                  <a:t>. </a:t>
                </a:r>
              </a:p>
              <a:p>
                <a:r>
                  <a:rPr lang="he-IL" sz="2000">
                    <a:latin typeface="Assistant" pitchFamily="2" charset="-79"/>
                    <a:cs typeface="Assistant" pitchFamily="2" charset="-79"/>
                  </a:rPr>
                  <a:t>מאחר שלא ייתכן לקבל חצי פרח שוקולד, יישארו לנו שקעים ריקים.</a:t>
                </a:r>
              </a:p>
              <a:p>
                <a:endParaRPr lang="he-IL" sz="2000">
                  <a:latin typeface="Assistant" pitchFamily="2" charset="-79"/>
                  <a:cs typeface="Assistant" pitchFamily="2" charset="-79"/>
                </a:endParaRPr>
              </a:p>
              <a:p>
                <a:r>
                  <a:rPr lang="he-IL" sz="2000" b="1">
                    <a:solidFill>
                      <a:srgbClr val="00B0F0"/>
                    </a:solidFill>
                    <a:latin typeface="Assistant" pitchFamily="2" charset="-79"/>
                    <a:cs typeface="Assistant" pitchFamily="2" charset="-79"/>
                  </a:rPr>
                  <a:t>האם רונית צודקת?</a:t>
                </a:r>
              </a:p>
            </p:txBody>
          </p:sp>
        </mc:Choice>
        <mc:Fallback xmlns="">
          <p:sp>
            <p:nvSpPr>
              <p:cNvPr id="6" name="תיבת טקסט 5">
                <a:extLst>
                  <a:ext uri="{FF2B5EF4-FFF2-40B4-BE49-F238E27FC236}">
                    <a16:creationId xmlns:a16="http://schemas.microsoft.com/office/drawing/2014/main" id="{FDABC4C1-BA90-B065-6BDE-0895922F01FA}"/>
                  </a:ext>
                </a:extLst>
              </p:cNvPr>
              <p:cNvSpPr txBox="1">
                <a:spLocks noRot="1" noChangeAspect="1" noMove="1" noResize="1" noEditPoints="1" noAdjustHandles="1" noChangeArrowheads="1" noChangeShapeType="1" noTextEdit="1"/>
              </p:cNvSpPr>
              <p:nvPr/>
            </p:nvSpPr>
            <p:spPr>
              <a:xfrm>
                <a:off x="2067339" y="1156726"/>
                <a:ext cx="9500185" cy="2065822"/>
              </a:xfrm>
              <a:prstGeom prst="rect">
                <a:avLst/>
              </a:prstGeom>
              <a:blipFill>
                <a:blip r:embed="rId5"/>
                <a:stretch>
                  <a:fillRect t="-1770" r="-641" b="-4425"/>
                </a:stretch>
              </a:blipFill>
            </p:spPr>
            <p:txBody>
              <a:bodyPr/>
              <a:lstStyle/>
              <a:p>
                <a:r>
                  <a:rPr lang="en-US">
                    <a:noFill/>
                  </a:rPr>
                  <a:t> </a:t>
                </a:r>
              </a:p>
            </p:txBody>
          </p:sp>
        </mc:Fallback>
      </mc:AlternateContent>
      <p:pic>
        <p:nvPicPr>
          <p:cNvPr id="3" name="תמונה 2">
            <a:extLst>
              <a:ext uri="{FF2B5EF4-FFF2-40B4-BE49-F238E27FC236}">
                <a16:creationId xmlns:a16="http://schemas.microsoft.com/office/drawing/2014/main" id="{5252C740-6D49-47B3-A11E-EDD2E22D3763}"/>
              </a:ext>
            </a:extLst>
          </p:cNvPr>
          <p:cNvPicPr>
            <a:picLocks noChangeAspect="1"/>
          </p:cNvPicPr>
          <p:nvPr/>
        </p:nvPicPr>
        <p:blipFill>
          <a:blip r:embed="rId6">
            <a:extLst>
              <a:ext uri="{28A0092B-C50C-407E-A947-70E740481C1C}">
                <a14:useLocalDpi xmlns:a14="http://schemas.microsoft.com/office/drawing/2010/main"/>
              </a:ext>
            </a:extLst>
          </a:blip>
          <a:stretch>
            <a:fillRect/>
          </a:stretch>
        </p:blipFill>
        <p:spPr>
          <a:xfrm>
            <a:off x="0" y="57121"/>
            <a:ext cx="933869" cy="721626"/>
          </a:xfrm>
          <a:prstGeom prst="rect">
            <a:avLst/>
          </a:prstGeom>
        </p:spPr>
      </p:pic>
      <p:sp>
        <p:nvSpPr>
          <p:cNvPr id="7" name="מלבן: פינות מעוגלות 6">
            <a:extLst>
              <a:ext uri="{FF2B5EF4-FFF2-40B4-BE49-F238E27FC236}">
                <a16:creationId xmlns:a16="http://schemas.microsoft.com/office/drawing/2014/main" id="{1F5BE6C9-0470-0E6A-3298-6F6748916165}"/>
              </a:ext>
            </a:extLst>
          </p:cNvPr>
          <p:cNvSpPr/>
          <p:nvPr/>
        </p:nvSpPr>
        <p:spPr>
          <a:xfrm>
            <a:off x="10244695" y="6193485"/>
            <a:ext cx="1798983" cy="506891"/>
          </a:xfrm>
          <a:prstGeom prst="roundRect">
            <a:avLst>
              <a:gd name="adj" fmla="val 50000"/>
            </a:avLst>
          </a:prstGeom>
          <a:noFill/>
          <a:ln>
            <a:solidFill>
              <a:srgbClr val="019DE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he-IL">
                <a:solidFill>
                  <a:srgbClr val="019DE5"/>
                </a:solidFill>
                <a:latin typeface="Assistant" pitchFamily="2" charset="-79"/>
                <a:cs typeface="Assistant" pitchFamily="2" charset="-79"/>
              </a:rPr>
              <a:t>חזרה</a:t>
            </a:r>
            <a:endParaRPr lang="LID4096">
              <a:solidFill>
                <a:srgbClr val="019DE5"/>
              </a:solidFill>
              <a:latin typeface="Assistant" pitchFamily="2" charset="-79"/>
              <a:cs typeface="Assistant" pitchFamily="2" charset="-79"/>
            </a:endParaRPr>
          </a:p>
        </p:txBody>
      </p:sp>
      <p:pic>
        <p:nvPicPr>
          <p:cNvPr id="9" name="תמונה 8">
            <a:extLst>
              <a:ext uri="{FF2B5EF4-FFF2-40B4-BE49-F238E27FC236}">
                <a16:creationId xmlns:a16="http://schemas.microsoft.com/office/drawing/2014/main" id="{81B54F77-F2A2-E6DC-D9D1-AC86D735FAAE}"/>
              </a:ext>
            </a:extLst>
          </p:cNvPr>
          <p:cNvPicPr>
            <a:picLocks noChangeAspect="1"/>
          </p:cNvPicPr>
          <p:nvPr/>
        </p:nvPicPr>
        <p:blipFill>
          <a:blip r:embed="rId7">
            <a:extLst>
              <a:ext uri="{28A0092B-C50C-407E-A947-70E740481C1C}">
                <a14:useLocalDpi xmlns:a14="http://schemas.microsoft.com/office/drawing/2010/main"/>
              </a:ext>
            </a:extLst>
          </a:blip>
          <a:stretch>
            <a:fillRect/>
          </a:stretch>
        </p:blipFill>
        <p:spPr>
          <a:xfrm>
            <a:off x="2803561" y="417934"/>
            <a:ext cx="7847619" cy="558730"/>
          </a:xfrm>
          <a:prstGeom prst="rect">
            <a:avLst/>
          </a:prstGeom>
        </p:spPr>
      </p:pic>
      <p:sp>
        <p:nvSpPr>
          <p:cNvPr id="10" name="מלבן: פינות מעוגלות 9">
            <a:extLst>
              <a:ext uri="{FF2B5EF4-FFF2-40B4-BE49-F238E27FC236}">
                <a16:creationId xmlns:a16="http://schemas.microsoft.com/office/drawing/2014/main" id="{5BB9D8BF-A75B-5CB9-642D-484EDAED193C}"/>
              </a:ext>
            </a:extLst>
          </p:cNvPr>
          <p:cNvSpPr/>
          <p:nvPr/>
        </p:nvSpPr>
        <p:spPr>
          <a:xfrm>
            <a:off x="-3386829" y="1951488"/>
            <a:ext cx="5079533" cy="3991696"/>
          </a:xfrm>
          <a:prstGeom prst="roundRect">
            <a:avLst>
              <a:gd name="adj" fmla="val 1647"/>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he-IL" sz="2000" b="1">
                <a:solidFill>
                  <a:schemeClr val="tx1"/>
                </a:solidFill>
                <a:latin typeface="Assistant" pitchFamily="2" charset="-79"/>
                <a:cs typeface="Assistant" pitchFamily="2" charset="-79"/>
              </a:rPr>
              <a:t>כל הכבוד, צדקתם! / טעית. לא נורא, מטעויות לומדים</a:t>
            </a:r>
          </a:p>
          <a:p>
            <a:pPr algn="ctr"/>
            <a:endParaRPr lang="he-IL" sz="2000">
              <a:solidFill>
                <a:schemeClr val="tx1"/>
              </a:solidFill>
              <a:latin typeface="Assistant" pitchFamily="2" charset="-79"/>
              <a:cs typeface="Assistant" pitchFamily="2" charset="-79"/>
            </a:endParaRPr>
          </a:p>
          <a:p>
            <a:pPr algn="ctr"/>
            <a:r>
              <a:rPr lang="he-IL" sz="2000">
                <a:solidFill>
                  <a:schemeClr val="tx1"/>
                </a:solidFill>
                <a:latin typeface="Assistant" pitchFamily="2" charset="-79"/>
                <a:cs typeface="Assistant" pitchFamily="2" charset="-79"/>
              </a:rPr>
              <a:t>רונית צודקת, זו הדרך לחשב את מספר פרחי השוקולד הלבן בהתאם לחלק שלהם מכלל המשבצות.</a:t>
            </a:r>
            <a:endParaRPr lang="he-IL" sz="2000" b="1">
              <a:solidFill>
                <a:schemeClr val="tx1"/>
              </a:solidFill>
              <a:latin typeface="Assistant" pitchFamily="2" charset="-79"/>
              <a:cs typeface="Assistant" pitchFamily="2" charset="-79"/>
            </a:endParaRPr>
          </a:p>
          <a:p>
            <a:pPr algn="ctr"/>
            <a:endParaRPr lang="he-IL" sz="2000" b="1">
              <a:solidFill>
                <a:schemeClr val="tx1"/>
              </a:solidFill>
              <a:latin typeface="Assistant" pitchFamily="2" charset="-79"/>
              <a:cs typeface="Assistant" pitchFamily="2" charset="-79"/>
            </a:endParaRPr>
          </a:p>
        </p:txBody>
      </p:sp>
      <p:sp>
        <p:nvSpPr>
          <p:cNvPr id="11" name="מלבן 10">
            <a:extLst>
              <a:ext uri="{FF2B5EF4-FFF2-40B4-BE49-F238E27FC236}">
                <a16:creationId xmlns:a16="http://schemas.microsoft.com/office/drawing/2014/main" id="{B053985A-1674-890B-93D5-4742551057C8}"/>
              </a:ext>
            </a:extLst>
          </p:cNvPr>
          <p:cNvSpPr/>
          <p:nvPr/>
        </p:nvSpPr>
        <p:spPr>
          <a:xfrm>
            <a:off x="-115414" y="-1103086"/>
            <a:ext cx="2295396" cy="976083"/>
          </a:xfrm>
          <a:prstGeom prst="rect">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he-IL" sz="1800" b="1" i="0" u="none" strike="noStrike" kern="1200" cap="none" spc="0" normalizeH="0" baseline="0" noProof="0">
                <a:ln>
                  <a:noFill/>
                </a:ln>
                <a:solidFill>
                  <a:prstClr val="black"/>
                </a:solidFill>
                <a:effectLst/>
                <a:uLnTx/>
                <a:uFillTx/>
                <a:latin typeface="Assistant" pitchFamily="2" charset="-79"/>
                <a:ea typeface="+mn-ea"/>
                <a:cs typeface="Assistant" pitchFamily="2" charset="-79"/>
                <a:hlinkClick r:id="rId8"/>
              </a:rPr>
              <a:t>רמת חשיבה</a:t>
            </a:r>
            <a:endParaRPr kumimoji="0" lang="he-IL" sz="1800" b="1" i="0" u="none" strike="noStrike" kern="1200" cap="none" spc="0" normalizeH="0" baseline="0" noProof="0">
              <a:ln>
                <a:noFill/>
              </a:ln>
              <a:solidFill>
                <a:prstClr val="black"/>
              </a:solidFill>
              <a:effectLst/>
              <a:uLnTx/>
              <a:uFillTx/>
              <a:latin typeface="Assistant" pitchFamily="2" charset="-79"/>
              <a:ea typeface="+mn-ea"/>
              <a:cs typeface="Assistant" pitchFamily="2" charset="-79"/>
            </a:endParaRPr>
          </a:p>
          <a:p>
            <a:pPr marL="285750" marR="0" lvl="0" indent="-285750" defTabSz="91440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he-IL" sz="1800" i="0" u="none" strike="noStrike" kern="1200" cap="none" spc="0" normalizeH="0" baseline="0" noProof="0">
                <a:ln>
                  <a:noFill/>
                </a:ln>
                <a:solidFill>
                  <a:prstClr val="black"/>
                </a:solidFill>
                <a:effectLst/>
                <a:uLnTx/>
                <a:uFillTx/>
                <a:latin typeface="Assistant" pitchFamily="2" charset="-79"/>
                <a:ea typeface="+mn-ea"/>
                <a:cs typeface="Assistant" pitchFamily="2" charset="-79"/>
              </a:rPr>
              <a:t>טקסט </a:t>
            </a:r>
          </a:p>
          <a:p>
            <a:pPr marL="285750" marR="0" lvl="0" indent="-285750" defTabSz="914400" eaLnBrk="1" fontAlgn="auto" latinLnBrk="0" hangingPunct="1">
              <a:lnSpc>
                <a:spcPct val="100000"/>
              </a:lnSpc>
              <a:spcBef>
                <a:spcPts val="0"/>
              </a:spcBef>
              <a:spcAft>
                <a:spcPts val="0"/>
              </a:spcAft>
              <a:buClrTx/>
              <a:buSzTx/>
              <a:buFont typeface="Arial" panose="020B0604020202020204" pitchFamily="34" charset="0"/>
              <a:buChar char="•"/>
              <a:tabLst/>
              <a:defRPr/>
            </a:pPr>
            <a:r>
              <a:rPr lang="he-IL">
                <a:solidFill>
                  <a:prstClr val="black"/>
                </a:solidFill>
                <a:latin typeface="Assistant" pitchFamily="2" charset="-79"/>
                <a:cs typeface="Assistant" pitchFamily="2" charset="-79"/>
              </a:rPr>
              <a:t>טקסט</a:t>
            </a:r>
            <a:endParaRPr kumimoji="0" lang="he-IL" sz="1800" i="0" u="none" strike="noStrike" kern="1200" cap="none" spc="0" normalizeH="0" baseline="0" noProof="0">
              <a:ln>
                <a:noFill/>
              </a:ln>
              <a:solidFill>
                <a:prstClr val="black"/>
              </a:solidFill>
              <a:effectLst/>
              <a:uLnTx/>
              <a:uFillTx/>
              <a:latin typeface="Assistant" pitchFamily="2" charset="-79"/>
              <a:ea typeface="+mn-ea"/>
              <a:cs typeface="Assistant" pitchFamily="2" charset="-79"/>
            </a:endParaRPr>
          </a:p>
        </p:txBody>
      </p:sp>
      <p:grpSp>
        <p:nvGrpSpPr>
          <p:cNvPr id="18" name="קבוצה 48">
            <a:extLst>
              <a:ext uri="{FF2B5EF4-FFF2-40B4-BE49-F238E27FC236}">
                <a16:creationId xmlns:a16="http://schemas.microsoft.com/office/drawing/2014/main" id="{4A7BE11D-C065-62C0-3AD4-43BE01081ED6}"/>
              </a:ext>
            </a:extLst>
          </p:cNvPr>
          <p:cNvGrpSpPr/>
          <p:nvPr/>
        </p:nvGrpSpPr>
        <p:grpSpPr>
          <a:xfrm>
            <a:off x="10436616" y="3222548"/>
            <a:ext cx="911152" cy="400110"/>
            <a:chOff x="10849438" y="3089736"/>
            <a:chExt cx="911152" cy="487092"/>
          </a:xfrm>
        </p:grpSpPr>
        <p:sp>
          <p:nvSpPr>
            <p:cNvPr id="19" name="מלבן: פינות מעוגלות 52">
              <a:extLst>
                <a:ext uri="{FF2B5EF4-FFF2-40B4-BE49-F238E27FC236}">
                  <a16:creationId xmlns:a16="http://schemas.microsoft.com/office/drawing/2014/main" id="{4FBF6D38-3E63-6DB3-BACF-A0562B408260}"/>
                </a:ext>
              </a:extLst>
            </p:cNvPr>
            <p:cNvSpPr/>
            <p:nvPr/>
          </p:nvSpPr>
          <p:spPr>
            <a:xfrm>
              <a:off x="10849438" y="3108472"/>
              <a:ext cx="911152" cy="449621"/>
            </a:xfrm>
            <a:prstGeom prst="roundRect">
              <a:avLst>
                <a:gd name="adj" fmla="val 50000"/>
              </a:avLst>
            </a:prstGeom>
            <a:noFill/>
            <a:ln w="12700">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LID4096"/>
            </a:p>
          </p:txBody>
        </p:sp>
        <p:sp>
          <p:nvSpPr>
            <p:cNvPr id="20" name="תיבת טקסט 53">
              <a:extLst>
                <a:ext uri="{FF2B5EF4-FFF2-40B4-BE49-F238E27FC236}">
                  <a16:creationId xmlns:a16="http://schemas.microsoft.com/office/drawing/2014/main" id="{D2084F61-8BEE-559D-C2DA-723734D60F48}"/>
                </a:ext>
              </a:extLst>
            </p:cNvPr>
            <p:cNvSpPr txBox="1"/>
            <p:nvPr/>
          </p:nvSpPr>
          <p:spPr>
            <a:xfrm>
              <a:off x="10946911" y="3089736"/>
              <a:ext cx="763013" cy="487092"/>
            </a:xfrm>
            <a:prstGeom prst="rect">
              <a:avLst/>
            </a:prstGeom>
            <a:noFill/>
          </p:spPr>
          <p:txBody>
            <a:bodyPr wrap="square" rtlCol="0">
              <a:spAutoFit/>
            </a:bodyPr>
            <a:lstStyle/>
            <a:p>
              <a:pPr algn="ctr"/>
              <a:r>
                <a:rPr lang="he-IL" sz="2000">
                  <a:highlight>
                    <a:srgbClr val="00FF00"/>
                  </a:highlight>
                  <a:latin typeface="Assistant" pitchFamily="2" charset="-79"/>
                  <a:cs typeface="Assistant" pitchFamily="2" charset="-79"/>
                </a:rPr>
                <a:t>כן</a:t>
              </a:r>
              <a:endParaRPr lang="LID4096" sz="2000">
                <a:highlight>
                  <a:srgbClr val="00FF00"/>
                </a:highlight>
                <a:latin typeface="Assistant" pitchFamily="2" charset="-79"/>
                <a:cs typeface="Assistant" pitchFamily="2" charset="-79"/>
              </a:endParaRPr>
            </a:p>
          </p:txBody>
        </p:sp>
      </p:grpSp>
      <p:grpSp>
        <p:nvGrpSpPr>
          <p:cNvPr id="21" name="קבוצה 49">
            <a:extLst>
              <a:ext uri="{FF2B5EF4-FFF2-40B4-BE49-F238E27FC236}">
                <a16:creationId xmlns:a16="http://schemas.microsoft.com/office/drawing/2014/main" id="{DAE46C7F-AED9-B38E-61C8-B1F2E8BDF223}"/>
              </a:ext>
            </a:extLst>
          </p:cNvPr>
          <p:cNvGrpSpPr/>
          <p:nvPr/>
        </p:nvGrpSpPr>
        <p:grpSpPr>
          <a:xfrm>
            <a:off x="10436615" y="3753387"/>
            <a:ext cx="911153" cy="400110"/>
            <a:chOff x="10849436" y="3089736"/>
            <a:chExt cx="911153" cy="487092"/>
          </a:xfrm>
        </p:grpSpPr>
        <p:sp>
          <p:nvSpPr>
            <p:cNvPr id="22" name="מלבן: פינות מעוגלות 50">
              <a:extLst>
                <a:ext uri="{FF2B5EF4-FFF2-40B4-BE49-F238E27FC236}">
                  <a16:creationId xmlns:a16="http://schemas.microsoft.com/office/drawing/2014/main" id="{202182D7-72A5-EE23-87AE-B25E22689862}"/>
                </a:ext>
              </a:extLst>
            </p:cNvPr>
            <p:cNvSpPr/>
            <p:nvPr/>
          </p:nvSpPr>
          <p:spPr>
            <a:xfrm>
              <a:off x="10849436" y="3108472"/>
              <a:ext cx="911153" cy="449621"/>
            </a:xfrm>
            <a:prstGeom prst="roundRect">
              <a:avLst>
                <a:gd name="adj" fmla="val 50000"/>
              </a:avLst>
            </a:prstGeom>
            <a:noFill/>
            <a:ln w="12700">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LID4096"/>
            </a:p>
          </p:txBody>
        </p:sp>
        <p:sp>
          <p:nvSpPr>
            <p:cNvPr id="23" name="תיבת טקסט 51">
              <a:extLst>
                <a:ext uri="{FF2B5EF4-FFF2-40B4-BE49-F238E27FC236}">
                  <a16:creationId xmlns:a16="http://schemas.microsoft.com/office/drawing/2014/main" id="{3F0731D6-23C2-E54D-E1C0-91F0A324FBBC}"/>
                </a:ext>
              </a:extLst>
            </p:cNvPr>
            <p:cNvSpPr txBox="1"/>
            <p:nvPr/>
          </p:nvSpPr>
          <p:spPr>
            <a:xfrm>
              <a:off x="10946911" y="3089736"/>
              <a:ext cx="763013" cy="487092"/>
            </a:xfrm>
            <a:prstGeom prst="rect">
              <a:avLst/>
            </a:prstGeom>
            <a:noFill/>
          </p:spPr>
          <p:txBody>
            <a:bodyPr wrap="square" rtlCol="0">
              <a:spAutoFit/>
            </a:bodyPr>
            <a:lstStyle/>
            <a:p>
              <a:pPr algn="ctr"/>
              <a:r>
                <a:rPr lang="he-IL" sz="2000">
                  <a:latin typeface="Assistant" pitchFamily="2" charset="-79"/>
                  <a:cs typeface="Assistant" pitchFamily="2" charset="-79"/>
                </a:rPr>
                <a:t>לא</a:t>
              </a:r>
              <a:endParaRPr lang="LID4096" sz="2000">
                <a:latin typeface="Assistant" pitchFamily="2" charset="-79"/>
                <a:cs typeface="Assistant" pitchFamily="2" charset="-79"/>
              </a:endParaRPr>
            </a:p>
          </p:txBody>
        </p:sp>
      </p:grpSp>
      <p:grpSp>
        <p:nvGrpSpPr>
          <p:cNvPr id="2" name="קבוצה 49">
            <a:extLst>
              <a:ext uri="{FF2B5EF4-FFF2-40B4-BE49-F238E27FC236}">
                <a16:creationId xmlns:a16="http://schemas.microsoft.com/office/drawing/2014/main" id="{B0F63DC2-B4B7-98F2-7DB2-CB51E967F33E}"/>
              </a:ext>
            </a:extLst>
          </p:cNvPr>
          <p:cNvGrpSpPr/>
          <p:nvPr/>
        </p:nvGrpSpPr>
        <p:grpSpPr>
          <a:xfrm>
            <a:off x="9654867" y="4317070"/>
            <a:ext cx="1798945" cy="400110"/>
            <a:chOff x="10273802" y="3089736"/>
            <a:chExt cx="1549666" cy="487092"/>
          </a:xfrm>
        </p:grpSpPr>
        <p:sp>
          <p:nvSpPr>
            <p:cNvPr id="12" name="מלבן: פינות מעוגלות 50">
              <a:extLst>
                <a:ext uri="{FF2B5EF4-FFF2-40B4-BE49-F238E27FC236}">
                  <a16:creationId xmlns:a16="http://schemas.microsoft.com/office/drawing/2014/main" id="{2E2B509F-F532-9EE7-1CFA-9E57E4CC0611}"/>
                </a:ext>
              </a:extLst>
            </p:cNvPr>
            <p:cNvSpPr/>
            <p:nvPr/>
          </p:nvSpPr>
          <p:spPr>
            <a:xfrm>
              <a:off x="10273802" y="3108472"/>
              <a:ext cx="1486788" cy="449620"/>
            </a:xfrm>
            <a:prstGeom prst="roundRect">
              <a:avLst>
                <a:gd name="adj" fmla="val 50000"/>
              </a:avLst>
            </a:prstGeom>
            <a:noFill/>
            <a:ln w="12700">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LID4096"/>
            </a:p>
          </p:txBody>
        </p:sp>
        <p:sp>
          <p:nvSpPr>
            <p:cNvPr id="14" name="תיבת טקסט 51">
              <a:extLst>
                <a:ext uri="{FF2B5EF4-FFF2-40B4-BE49-F238E27FC236}">
                  <a16:creationId xmlns:a16="http://schemas.microsoft.com/office/drawing/2014/main" id="{BFF10CA1-197A-7E9E-279C-CB8668054E98}"/>
                </a:ext>
              </a:extLst>
            </p:cNvPr>
            <p:cNvSpPr txBox="1"/>
            <p:nvPr/>
          </p:nvSpPr>
          <p:spPr>
            <a:xfrm>
              <a:off x="10336680" y="3089736"/>
              <a:ext cx="1486788" cy="487092"/>
            </a:xfrm>
            <a:prstGeom prst="rect">
              <a:avLst/>
            </a:prstGeom>
            <a:noFill/>
          </p:spPr>
          <p:txBody>
            <a:bodyPr wrap="square" rtlCol="0">
              <a:spAutoFit/>
            </a:bodyPr>
            <a:lstStyle/>
            <a:p>
              <a:pPr algn="ctr"/>
              <a:r>
                <a:rPr lang="he-IL" sz="2000">
                  <a:latin typeface="Assistant" pitchFamily="2" charset="-79"/>
                  <a:cs typeface="Assistant" pitchFamily="2" charset="-79"/>
                </a:rPr>
                <a:t>אי אפשר לדעת</a:t>
              </a:r>
              <a:endParaRPr lang="LID4096" sz="2000">
                <a:latin typeface="Assistant" pitchFamily="2" charset="-79"/>
                <a:cs typeface="Assistant" pitchFamily="2" charset="-79"/>
              </a:endParaRPr>
            </a:p>
          </p:txBody>
        </p:sp>
      </p:grpSp>
      <p:sp>
        <p:nvSpPr>
          <p:cNvPr id="16" name="מלבן 7">
            <a:extLst>
              <a:ext uri="{FF2B5EF4-FFF2-40B4-BE49-F238E27FC236}">
                <a16:creationId xmlns:a16="http://schemas.microsoft.com/office/drawing/2014/main" id="{EE1ED847-E469-A759-FE7D-9D019383F477}"/>
              </a:ext>
            </a:extLst>
          </p:cNvPr>
          <p:cNvSpPr/>
          <p:nvPr/>
        </p:nvSpPr>
        <p:spPr>
          <a:xfrm>
            <a:off x="11896440" y="332438"/>
            <a:ext cx="45719" cy="5474677"/>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LID4096"/>
          </a:p>
        </p:txBody>
      </p:sp>
      <p:sp>
        <p:nvSpPr>
          <p:cNvPr id="24" name="מלבן 8">
            <a:extLst>
              <a:ext uri="{FF2B5EF4-FFF2-40B4-BE49-F238E27FC236}">
                <a16:creationId xmlns:a16="http://schemas.microsoft.com/office/drawing/2014/main" id="{07153B83-A10D-EB37-AD2D-6AF667557D1C}"/>
              </a:ext>
            </a:extLst>
          </p:cNvPr>
          <p:cNvSpPr/>
          <p:nvPr/>
        </p:nvSpPr>
        <p:spPr>
          <a:xfrm>
            <a:off x="11896440" y="2438049"/>
            <a:ext cx="45719" cy="3526971"/>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LID4096"/>
          </a:p>
        </p:txBody>
      </p:sp>
    </p:spTree>
    <p:custDataLst>
      <p:tags r:id="rId1"/>
    </p:custDataLst>
    <p:extLst>
      <p:ext uri="{BB962C8B-B14F-4D97-AF65-F5344CB8AC3E}">
        <p14:creationId xmlns:p14="http://schemas.microsoft.com/office/powerpoint/2010/main" val="2195263134"/>
      </p:ext>
    </p:extLst>
  </p:cSld>
  <p:clrMapOvr>
    <a:masterClrMapping/>
  </p:clrMapOvr>
  <p:extLst>
    <p:ext uri="{6950BFC3-D8DA-4A85-94F7-54DA5524770B}">
      <p188:commentRel xmlns:p188="http://schemas.microsoft.com/office/powerpoint/2018/8/main" r:id="rId4"/>
    </p:ext>
  </p:extLs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1B9FFE-082F-9DBC-8ACE-A8FD4C666A41}"/>
            </a:ext>
          </a:extLst>
        </p:cNvPr>
        <p:cNvGrpSpPr/>
        <p:nvPr/>
      </p:nvGrpSpPr>
      <p:grpSpPr>
        <a:xfrm>
          <a:off x="0" y="0"/>
          <a:ext cx="0" cy="0"/>
          <a:chOff x="0" y="0"/>
          <a:chExt cx="0" cy="0"/>
        </a:xfrm>
      </p:grpSpPr>
      <p:cxnSp>
        <p:nvCxnSpPr>
          <p:cNvPr id="4" name="מחבר ישר 3">
            <a:extLst>
              <a:ext uri="{FF2B5EF4-FFF2-40B4-BE49-F238E27FC236}">
                <a16:creationId xmlns:a16="http://schemas.microsoft.com/office/drawing/2014/main" id="{68A323AA-C6C4-A7FA-028F-57B7045054C8}"/>
              </a:ext>
            </a:extLst>
          </p:cNvPr>
          <p:cNvCxnSpPr>
            <a:cxnSpLocks/>
          </p:cNvCxnSpPr>
          <p:nvPr/>
        </p:nvCxnSpPr>
        <p:spPr>
          <a:xfrm>
            <a:off x="0" y="6079252"/>
            <a:ext cx="12192000" cy="0"/>
          </a:xfrm>
          <a:prstGeom prst="line">
            <a:avLst/>
          </a:prstGeom>
          <a:ln>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5" name="מלבן: פינות מעוגלות 4">
            <a:extLst>
              <a:ext uri="{FF2B5EF4-FFF2-40B4-BE49-F238E27FC236}">
                <a16:creationId xmlns:a16="http://schemas.microsoft.com/office/drawing/2014/main" id="{BEF6A57D-74FE-2906-2724-13F2DD184EE0}"/>
              </a:ext>
            </a:extLst>
          </p:cNvPr>
          <p:cNvSpPr/>
          <p:nvPr/>
        </p:nvSpPr>
        <p:spPr>
          <a:xfrm>
            <a:off x="268356" y="6182143"/>
            <a:ext cx="1798983" cy="506891"/>
          </a:xfrm>
          <a:prstGeom prst="roundRect">
            <a:avLst>
              <a:gd name="adj" fmla="val 50000"/>
            </a:avLst>
          </a:prstGeom>
          <a:solidFill>
            <a:schemeClr val="bg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he-IL"/>
              <a:t>צדקתי?</a:t>
            </a:r>
            <a:endParaRPr lang="LID4096"/>
          </a:p>
        </p:txBody>
      </p:sp>
      <mc:AlternateContent xmlns:mc="http://schemas.openxmlformats.org/markup-compatibility/2006" xmlns:a14="http://schemas.microsoft.com/office/drawing/2010/main">
        <mc:Choice Requires="a14">
          <p:sp>
            <p:nvSpPr>
              <p:cNvPr id="6" name="תיבת טקסט 5">
                <a:extLst>
                  <a:ext uri="{FF2B5EF4-FFF2-40B4-BE49-F238E27FC236}">
                    <a16:creationId xmlns:a16="http://schemas.microsoft.com/office/drawing/2014/main" id="{2312FC6A-2A06-2284-7FD7-B58194D06C13}"/>
                  </a:ext>
                </a:extLst>
              </p:cNvPr>
              <p:cNvSpPr txBox="1"/>
              <p:nvPr/>
            </p:nvSpPr>
            <p:spPr>
              <a:xfrm>
                <a:off x="4224782" y="1156726"/>
                <a:ext cx="7342742" cy="1538883"/>
              </a:xfrm>
              <a:prstGeom prst="rect">
                <a:avLst/>
              </a:prstGeom>
              <a:noFill/>
            </p:spPr>
            <p:txBody>
              <a:bodyPr wrap="square" rtlCol="0">
                <a:spAutoFit/>
              </a:bodyPr>
              <a:lstStyle/>
              <a:p>
                <a:r>
                  <a:rPr lang="he-IL">
                    <a:latin typeface="Assistant" pitchFamily="2" charset="-79"/>
                    <a:cs typeface="Assistant" pitchFamily="2" charset="-79"/>
                  </a:rPr>
                  <a:t>2. בסרטוט נתונה </a:t>
                </a:r>
                <a14:m>
                  <m:oMath xmlns:m="http://schemas.openxmlformats.org/officeDocument/2006/math">
                    <m:r>
                      <a:rPr lang="en-US" i="1">
                        <a:latin typeface="Cambria Math" panose="02040503050406030204" pitchFamily="18" charset="0"/>
                      </a:rPr>
                      <m:t>∡</m:t>
                    </m:r>
                    <m:r>
                      <a:rPr lang="en-US" i="1">
                        <a:latin typeface="Cambria Math" panose="02040503050406030204" pitchFamily="18" charset="0"/>
                      </a:rPr>
                      <m:t>𝐴𝐶𝐵</m:t>
                    </m:r>
                  </m:oMath>
                </a14:m>
                <a:r>
                  <a:rPr lang="he-IL">
                    <a:latin typeface="Assistant" pitchFamily="2" charset="-79"/>
                    <a:cs typeface="Assistant" pitchFamily="2" charset="-79"/>
                  </a:rPr>
                  <a:t> וקטע </a:t>
                </a:r>
                <a:r>
                  <a:rPr lang="en-US">
                    <a:latin typeface="Assistant" pitchFamily="2" charset="-79"/>
                    <a:cs typeface="Assistant" pitchFamily="2" charset="-79"/>
                  </a:rPr>
                  <a:t>CD</a:t>
                </a:r>
                <a:r>
                  <a:rPr lang="he-IL">
                    <a:latin typeface="Assistant" pitchFamily="2" charset="-79"/>
                    <a:cs typeface="Assistant" pitchFamily="2" charset="-79"/>
                  </a:rPr>
                  <a:t> היוצא מקודקוד הזווית ומחלק אותה לשתי זוויות</a:t>
                </a:r>
              </a:p>
              <a:p>
                <a:r>
                  <a:rPr lang="he-IL">
                    <a:latin typeface="Assistant" pitchFamily="2" charset="-79"/>
                    <a:cs typeface="Assistant" pitchFamily="2" charset="-79"/>
                  </a:rPr>
                  <a:t> </a:t>
                </a:r>
                <a14:m>
                  <m:oMath xmlns:m="http://schemas.openxmlformats.org/officeDocument/2006/math">
                    <m:r>
                      <a:rPr lang="en-US" i="1">
                        <a:latin typeface="Cambria Math" panose="02040503050406030204" pitchFamily="18" charset="0"/>
                      </a:rPr>
                      <m:t>𝛼</m:t>
                    </m:r>
                  </m:oMath>
                </a14:m>
                <a:r>
                  <a:rPr lang="he-IL">
                    <a:latin typeface="Assistant" pitchFamily="2" charset="-79"/>
                    <a:cs typeface="Assistant" pitchFamily="2" charset="-79"/>
                  </a:rPr>
                  <a:t> ו-</a:t>
                </a:r>
                <a14:m>
                  <m:oMath xmlns:m="http://schemas.openxmlformats.org/officeDocument/2006/math">
                    <m:r>
                      <a:rPr lang="en-US" i="1" smtClean="0">
                        <a:latin typeface="Cambria Math" panose="02040503050406030204" pitchFamily="18" charset="0"/>
                      </a:rPr>
                      <m:t>𝛽</m:t>
                    </m:r>
                  </m:oMath>
                </a14:m>
                <a:r>
                  <a:rPr lang="he-IL">
                    <a:latin typeface="Assistant" pitchFamily="2" charset="-79"/>
                    <a:cs typeface="Assistant" pitchFamily="2" charset="-79"/>
                  </a:rPr>
                  <a:t>.  </a:t>
                </a:r>
              </a:p>
              <a:p>
                <a:r>
                  <a:rPr lang="he-IL">
                    <a:latin typeface="Assistant" pitchFamily="2" charset="-79"/>
                    <a:cs typeface="Assistant" pitchFamily="2" charset="-79"/>
                  </a:rPr>
                  <a:t>היחס בין </a:t>
                </a:r>
                <a14:m>
                  <m:oMath xmlns:m="http://schemas.openxmlformats.org/officeDocument/2006/math">
                    <m:r>
                      <a:rPr lang="en-US" i="1">
                        <a:latin typeface="Cambria Math" panose="02040503050406030204" pitchFamily="18" charset="0"/>
                      </a:rPr>
                      <m:t>𝛼</m:t>
                    </m:r>
                  </m:oMath>
                </a14:m>
                <a:r>
                  <a:rPr lang="he-IL">
                    <a:latin typeface="Assistant" pitchFamily="2" charset="-79"/>
                    <a:cs typeface="Assistant" pitchFamily="2" charset="-79"/>
                  </a:rPr>
                  <a:t> ל-</a:t>
                </a:r>
                <a14:m>
                  <m:oMath xmlns:m="http://schemas.openxmlformats.org/officeDocument/2006/math">
                    <m:r>
                      <a:rPr lang="en-US" i="1">
                        <a:latin typeface="Cambria Math" panose="02040503050406030204" pitchFamily="18" charset="0"/>
                      </a:rPr>
                      <m:t>𝛽</m:t>
                    </m:r>
                  </m:oMath>
                </a14:m>
                <a:r>
                  <a:rPr lang="he-IL">
                    <a:latin typeface="Assistant" pitchFamily="2" charset="-79"/>
                    <a:cs typeface="Assistant" pitchFamily="2" charset="-79"/>
                  </a:rPr>
                  <a:t> הוא 7 : 2.</a:t>
                </a:r>
              </a:p>
              <a:p>
                <a:endParaRPr lang="he-IL" sz="2000" b="1">
                  <a:solidFill>
                    <a:srgbClr val="019DE5"/>
                  </a:solidFill>
                  <a:latin typeface="Assistant" pitchFamily="2" charset="-79"/>
                  <a:cs typeface="Assistant" pitchFamily="2" charset="-79"/>
                </a:endParaRPr>
              </a:p>
              <a:p>
                <a:r>
                  <a:rPr lang="he-IL" sz="2000" b="1">
                    <a:solidFill>
                      <a:srgbClr val="019DE5"/>
                    </a:solidFill>
                    <a:latin typeface="Assistant" pitchFamily="2" charset="-79"/>
                    <a:cs typeface="Assistant" pitchFamily="2" charset="-79"/>
                  </a:rPr>
                  <a:t>סמנו את המשפטים הנכונים:</a:t>
                </a:r>
                <a:endParaRPr lang="LID4096" sz="2000" b="1">
                  <a:latin typeface="Assistant" pitchFamily="2" charset="-79"/>
                  <a:cs typeface="Assistant" pitchFamily="2" charset="-79"/>
                </a:endParaRPr>
              </a:p>
            </p:txBody>
          </p:sp>
        </mc:Choice>
        <mc:Fallback xmlns="">
          <p:sp>
            <p:nvSpPr>
              <p:cNvPr id="6" name="תיבת טקסט 5">
                <a:extLst>
                  <a:ext uri="{FF2B5EF4-FFF2-40B4-BE49-F238E27FC236}">
                    <a16:creationId xmlns:a16="http://schemas.microsoft.com/office/drawing/2014/main" id="{2312FC6A-2A06-2284-7FD7-B58194D06C13}"/>
                  </a:ext>
                </a:extLst>
              </p:cNvPr>
              <p:cNvSpPr txBox="1">
                <a:spLocks noRot="1" noChangeAspect="1" noMove="1" noResize="1" noEditPoints="1" noAdjustHandles="1" noChangeArrowheads="1" noChangeShapeType="1" noTextEdit="1"/>
              </p:cNvSpPr>
              <p:nvPr/>
            </p:nvSpPr>
            <p:spPr>
              <a:xfrm>
                <a:off x="4224782" y="1156726"/>
                <a:ext cx="7342742" cy="1538883"/>
              </a:xfrm>
              <a:prstGeom prst="rect">
                <a:avLst/>
              </a:prstGeom>
              <a:blipFill>
                <a:blip r:embed="rId4"/>
                <a:stretch>
                  <a:fillRect t="-2381" r="-830" b="-6349"/>
                </a:stretch>
              </a:blipFill>
            </p:spPr>
            <p:txBody>
              <a:bodyPr/>
              <a:lstStyle/>
              <a:p>
                <a:r>
                  <a:rPr lang="en-US">
                    <a:noFill/>
                  </a:rPr>
                  <a:t> </a:t>
                </a:r>
              </a:p>
            </p:txBody>
          </p:sp>
        </mc:Fallback>
      </mc:AlternateContent>
      <p:sp>
        <p:nvSpPr>
          <p:cNvPr id="2" name="מלבן: פינות מעוגלות 1">
            <a:extLst>
              <a:ext uri="{FF2B5EF4-FFF2-40B4-BE49-F238E27FC236}">
                <a16:creationId xmlns:a16="http://schemas.microsoft.com/office/drawing/2014/main" id="{C127B80B-2CBB-4E6F-5447-EB96321D2AEF}"/>
              </a:ext>
            </a:extLst>
          </p:cNvPr>
          <p:cNvSpPr/>
          <p:nvPr/>
        </p:nvSpPr>
        <p:spPr>
          <a:xfrm>
            <a:off x="2179982" y="6182142"/>
            <a:ext cx="2481470" cy="506891"/>
          </a:xfrm>
          <a:prstGeom prst="roundRect">
            <a:avLst>
              <a:gd name="adj" fmla="val 50000"/>
            </a:avLst>
          </a:prstGeom>
          <a:noFill/>
          <a:ln>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he-IL">
                <a:solidFill>
                  <a:srgbClr val="00B0F0"/>
                </a:solidFill>
              </a:rPr>
              <a:t>     אפשר רמז?</a:t>
            </a:r>
            <a:endParaRPr lang="LID4096">
              <a:solidFill>
                <a:srgbClr val="00B0F0"/>
              </a:solidFill>
            </a:endParaRPr>
          </a:p>
        </p:txBody>
      </p:sp>
      <p:pic>
        <p:nvPicPr>
          <p:cNvPr id="12" name="גרפיקה 11" descr="נורת חשמל וגלגל שיניים עם מילוי מלא">
            <a:extLst>
              <a:ext uri="{FF2B5EF4-FFF2-40B4-BE49-F238E27FC236}">
                <a16:creationId xmlns:a16="http://schemas.microsoft.com/office/drawing/2014/main" id="{F8B453B1-9695-8367-EE6E-D862A742D84E}"/>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3831910" y="6266545"/>
            <a:ext cx="338083" cy="338083"/>
          </a:xfrm>
          <a:prstGeom prst="rect">
            <a:avLst/>
          </a:prstGeom>
        </p:spPr>
      </p:pic>
      <p:pic>
        <p:nvPicPr>
          <p:cNvPr id="3" name="תמונה 2">
            <a:extLst>
              <a:ext uri="{FF2B5EF4-FFF2-40B4-BE49-F238E27FC236}">
                <a16:creationId xmlns:a16="http://schemas.microsoft.com/office/drawing/2014/main" id="{EBF13C9A-AA24-A39F-4B64-E4E5144D574A}"/>
              </a:ext>
            </a:extLst>
          </p:cNvPr>
          <p:cNvPicPr>
            <a:picLocks noChangeAspect="1"/>
          </p:cNvPicPr>
          <p:nvPr/>
        </p:nvPicPr>
        <p:blipFill>
          <a:blip r:embed="rId6">
            <a:extLst>
              <a:ext uri="{28A0092B-C50C-407E-A947-70E740481C1C}">
                <a14:useLocalDpi xmlns:a14="http://schemas.microsoft.com/office/drawing/2010/main"/>
              </a:ext>
            </a:extLst>
          </a:blip>
          <a:stretch>
            <a:fillRect/>
          </a:stretch>
        </p:blipFill>
        <p:spPr>
          <a:xfrm>
            <a:off x="0" y="57121"/>
            <a:ext cx="933869" cy="721626"/>
          </a:xfrm>
          <a:prstGeom prst="rect">
            <a:avLst/>
          </a:prstGeom>
        </p:spPr>
      </p:pic>
      <p:sp>
        <p:nvSpPr>
          <p:cNvPr id="7" name="מלבן: פינות מעוגלות 6">
            <a:extLst>
              <a:ext uri="{FF2B5EF4-FFF2-40B4-BE49-F238E27FC236}">
                <a16:creationId xmlns:a16="http://schemas.microsoft.com/office/drawing/2014/main" id="{190AE81E-5E61-8A3E-0FA1-4C9E12890BCA}"/>
              </a:ext>
            </a:extLst>
          </p:cNvPr>
          <p:cNvSpPr/>
          <p:nvPr/>
        </p:nvSpPr>
        <p:spPr>
          <a:xfrm>
            <a:off x="10244695" y="6193485"/>
            <a:ext cx="1798983" cy="506891"/>
          </a:xfrm>
          <a:prstGeom prst="roundRect">
            <a:avLst>
              <a:gd name="adj" fmla="val 50000"/>
            </a:avLst>
          </a:prstGeom>
          <a:noFill/>
          <a:ln>
            <a:solidFill>
              <a:srgbClr val="019DE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he-IL">
                <a:solidFill>
                  <a:srgbClr val="019DE5"/>
                </a:solidFill>
                <a:latin typeface="Assistant" pitchFamily="2" charset="-79"/>
                <a:cs typeface="Assistant" pitchFamily="2" charset="-79"/>
              </a:rPr>
              <a:t>חזרה</a:t>
            </a:r>
            <a:endParaRPr lang="LID4096">
              <a:solidFill>
                <a:srgbClr val="019DE5"/>
              </a:solidFill>
              <a:latin typeface="Assistant" pitchFamily="2" charset="-79"/>
              <a:cs typeface="Assistant" pitchFamily="2" charset="-79"/>
            </a:endParaRPr>
          </a:p>
        </p:txBody>
      </p:sp>
      <p:pic>
        <p:nvPicPr>
          <p:cNvPr id="9" name="תמונה 8">
            <a:extLst>
              <a:ext uri="{FF2B5EF4-FFF2-40B4-BE49-F238E27FC236}">
                <a16:creationId xmlns:a16="http://schemas.microsoft.com/office/drawing/2014/main" id="{624B0C19-2D56-AA90-E2DC-D175EA5C1376}"/>
              </a:ext>
            </a:extLst>
          </p:cNvPr>
          <p:cNvPicPr>
            <a:picLocks noChangeAspect="1"/>
          </p:cNvPicPr>
          <p:nvPr/>
        </p:nvPicPr>
        <p:blipFill>
          <a:blip r:embed="rId7">
            <a:extLst>
              <a:ext uri="{28A0092B-C50C-407E-A947-70E740481C1C}">
                <a14:useLocalDpi xmlns:a14="http://schemas.microsoft.com/office/drawing/2010/main"/>
              </a:ext>
            </a:extLst>
          </a:blip>
          <a:stretch>
            <a:fillRect/>
          </a:stretch>
        </p:blipFill>
        <p:spPr>
          <a:xfrm>
            <a:off x="2803561" y="417934"/>
            <a:ext cx="7847619" cy="558730"/>
          </a:xfrm>
          <a:prstGeom prst="rect">
            <a:avLst/>
          </a:prstGeom>
        </p:spPr>
      </p:pic>
      <mc:AlternateContent xmlns:mc="http://schemas.openxmlformats.org/markup-compatibility/2006" xmlns:a14="http://schemas.microsoft.com/office/drawing/2010/main">
        <mc:Choice Requires="a14">
          <p:sp>
            <p:nvSpPr>
              <p:cNvPr id="10" name="מלבן: פינות מעוגלות 9">
                <a:extLst>
                  <a:ext uri="{FF2B5EF4-FFF2-40B4-BE49-F238E27FC236}">
                    <a16:creationId xmlns:a16="http://schemas.microsoft.com/office/drawing/2014/main" id="{387085E4-ECFD-72A8-D6A8-8D0AA45746B1}"/>
                  </a:ext>
                </a:extLst>
              </p:cNvPr>
              <p:cNvSpPr/>
              <p:nvPr/>
            </p:nvSpPr>
            <p:spPr>
              <a:xfrm>
                <a:off x="-5583243" y="4034705"/>
                <a:ext cx="5175012" cy="4463680"/>
              </a:xfrm>
              <a:prstGeom prst="roundRect">
                <a:avLst>
                  <a:gd name="adj" fmla="val 1647"/>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he-IL" sz="2000" b="1">
                    <a:solidFill>
                      <a:schemeClr val="tx1"/>
                    </a:solidFill>
                    <a:latin typeface="Assistant" pitchFamily="2" charset="-79"/>
                    <a:cs typeface="Assistant" pitchFamily="2" charset="-79"/>
                  </a:rPr>
                  <a:t>כל הכבוד, צדקתם! / טעיתם. לא נורא, מטעויות לומדים</a:t>
                </a:r>
              </a:p>
              <a:p>
                <a:pPr algn="ctr"/>
                <a:endParaRPr lang="he-IL" sz="2000" b="1">
                  <a:solidFill>
                    <a:schemeClr val="tx1"/>
                  </a:solidFill>
                  <a:latin typeface="Assistant" pitchFamily="2" charset="-79"/>
                  <a:cs typeface="Assistant" pitchFamily="2" charset="-79"/>
                </a:endParaRPr>
              </a:p>
              <a:p>
                <a:r>
                  <a:rPr lang="he-IL" sz="2000">
                    <a:solidFill>
                      <a:schemeClr val="tx1"/>
                    </a:solidFill>
                    <a:latin typeface="Assistant" pitchFamily="2" charset="-79"/>
                    <a:cs typeface="Assistant" pitchFamily="2" charset="-79"/>
                  </a:rPr>
                  <a:t>זוויות </a:t>
                </a:r>
                <a:r>
                  <a:rPr lang="en-US" sz="2000">
                    <a:solidFill>
                      <a:schemeClr val="tx1"/>
                    </a:solidFill>
                  </a:rPr>
                  <a:t> </a:t>
                </a:r>
                <a14:m>
                  <m:oMath xmlns:m="http://schemas.openxmlformats.org/officeDocument/2006/math">
                    <m:r>
                      <a:rPr lang="en-US" sz="2000" i="1">
                        <a:solidFill>
                          <a:schemeClr val="tx1"/>
                        </a:solidFill>
                        <a:latin typeface="Cambria Math" panose="02040503050406030204" pitchFamily="18" charset="0"/>
                      </a:rPr>
                      <m:t>𝛼</m:t>
                    </m:r>
                  </m:oMath>
                </a14:m>
                <a:r>
                  <a:rPr lang="he-IL" sz="2000">
                    <a:solidFill>
                      <a:schemeClr val="tx1"/>
                    </a:solidFill>
                    <a:latin typeface="Assistant" pitchFamily="2" charset="-79"/>
                    <a:cs typeface="Assistant" pitchFamily="2" charset="-79"/>
                  </a:rPr>
                  <a:t> ו-</a:t>
                </a:r>
                <a14:m>
                  <m:oMath xmlns:m="http://schemas.openxmlformats.org/officeDocument/2006/math">
                    <m:r>
                      <a:rPr lang="en-US" sz="2000" i="1">
                        <a:solidFill>
                          <a:schemeClr val="tx1"/>
                        </a:solidFill>
                        <a:latin typeface="Cambria Math" panose="02040503050406030204" pitchFamily="18" charset="0"/>
                      </a:rPr>
                      <m:t>𝛽</m:t>
                    </m:r>
                    <m:r>
                      <a:rPr lang="en-US" sz="2000" i="1">
                        <a:solidFill>
                          <a:schemeClr val="tx1"/>
                        </a:solidFill>
                        <a:latin typeface="Cambria Math" panose="02040503050406030204" pitchFamily="18" charset="0"/>
                      </a:rPr>
                      <m:t> </m:t>
                    </m:r>
                  </m:oMath>
                </a14:m>
                <a:r>
                  <a:rPr lang="he-IL" sz="2000">
                    <a:solidFill>
                      <a:schemeClr val="tx1"/>
                    </a:solidFill>
                    <a:latin typeface="Assistant" pitchFamily="2" charset="-79"/>
                    <a:cs typeface="Assistant" pitchFamily="2" charset="-79"/>
                  </a:rPr>
                  <a:t> הן זוויות צמודות ולכן סכומן הוא </a:t>
                </a:r>
                <a:r>
                  <a:rPr lang="en-US" sz="2000">
                    <a:solidFill>
                      <a:schemeClr val="tx1"/>
                    </a:solidFill>
                    <a:latin typeface="Assistant" pitchFamily="2" charset="-79"/>
                    <a:cs typeface="Assistant" pitchFamily="2" charset="-79"/>
                  </a:rPr>
                  <a:t>180° </a:t>
                </a:r>
                <a:r>
                  <a:rPr lang="he-IL" sz="2000">
                    <a:solidFill>
                      <a:schemeClr val="tx1"/>
                    </a:solidFill>
                    <a:latin typeface="Assistant" pitchFamily="2" charset="-79"/>
                    <a:cs typeface="Assistant" pitchFamily="2" charset="-79"/>
                  </a:rPr>
                  <a:t>, היחס בין </a:t>
                </a:r>
                <a14:m>
                  <m:oMath xmlns:m="http://schemas.openxmlformats.org/officeDocument/2006/math">
                    <m:r>
                      <a:rPr lang="en-US" sz="2000" i="1">
                        <a:solidFill>
                          <a:schemeClr val="tx1"/>
                        </a:solidFill>
                        <a:latin typeface="Cambria Math" panose="02040503050406030204" pitchFamily="18" charset="0"/>
                      </a:rPr>
                      <m:t>𝛼</m:t>
                    </m:r>
                  </m:oMath>
                </a14:m>
                <a:r>
                  <a:rPr lang="he-IL" sz="2000">
                    <a:solidFill>
                      <a:schemeClr val="tx1"/>
                    </a:solidFill>
                    <a:latin typeface="Assistant" pitchFamily="2" charset="-79"/>
                    <a:cs typeface="Assistant" pitchFamily="2" charset="-79"/>
                  </a:rPr>
                  <a:t> ל-</a:t>
                </a:r>
                <a14:m>
                  <m:oMath xmlns:m="http://schemas.openxmlformats.org/officeDocument/2006/math">
                    <m:r>
                      <a:rPr lang="en-US" sz="2000" i="1">
                        <a:solidFill>
                          <a:schemeClr val="tx1"/>
                        </a:solidFill>
                        <a:latin typeface="Cambria Math" panose="02040503050406030204" pitchFamily="18" charset="0"/>
                      </a:rPr>
                      <m:t>𝛽</m:t>
                    </m:r>
                  </m:oMath>
                </a14:m>
                <a:r>
                  <a:rPr lang="he-IL" sz="2000">
                    <a:solidFill>
                      <a:schemeClr val="tx1"/>
                    </a:solidFill>
                    <a:latin typeface="Assistant" pitchFamily="2" charset="-79"/>
                    <a:cs typeface="Assistant" pitchFamily="2" charset="-79"/>
                  </a:rPr>
                  <a:t> הוא 7 : 2.</a:t>
                </a:r>
              </a:p>
              <a:p>
                <a:r>
                  <a:rPr lang="he-IL" sz="2000">
                    <a:solidFill>
                      <a:schemeClr val="tx1"/>
                    </a:solidFill>
                    <a:latin typeface="Assistant" pitchFamily="2" charset="-79"/>
                    <a:cs typeface="Assistant" pitchFamily="2" charset="-79"/>
                  </a:rPr>
                  <a:t>לכן, גודלה של זווית </a:t>
                </a:r>
                <a14:m>
                  <m:oMath xmlns:m="http://schemas.openxmlformats.org/officeDocument/2006/math">
                    <m:r>
                      <a:rPr lang="en-US" sz="2000" i="1">
                        <a:solidFill>
                          <a:schemeClr val="tx1"/>
                        </a:solidFill>
                        <a:latin typeface="Cambria Math" panose="02040503050406030204" pitchFamily="18" charset="0"/>
                      </a:rPr>
                      <m:t>𝛽</m:t>
                    </m:r>
                  </m:oMath>
                </a14:m>
                <a:r>
                  <a:rPr lang="he-IL" sz="2000">
                    <a:solidFill>
                      <a:schemeClr val="tx1"/>
                    </a:solidFill>
                    <a:latin typeface="Assistant" pitchFamily="2" charset="-79"/>
                    <a:cs typeface="Assistant" pitchFamily="2" charset="-79"/>
                  </a:rPr>
                  <a:t> הוא </a:t>
                </a:r>
                <a14:m>
                  <m:oMath xmlns:m="http://schemas.openxmlformats.org/officeDocument/2006/math">
                    <m:f>
                      <m:fPr>
                        <m:ctrlPr>
                          <a:rPr lang="en-US" sz="2000" i="1">
                            <a:solidFill>
                              <a:schemeClr val="tx1"/>
                            </a:solidFill>
                            <a:latin typeface="Cambria Math" panose="02040503050406030204" pitchFamily="18" charset="0"/>
                          </a:rPr>
                        </m:ctrlPr>
                      </m:fPr>
                      <m:num>
                        <m:r>
                          <a:rPr lang="en-US" sz="2000" i="1">
                            <a:solidFill>
                              <a:schemeClr val="tx1"/>
                            </a:solidFill>
                            <a:latin typeface="Cambria Math" panose="02040503050406030204" pitchFamily="18" charset="0"/>
                          </a:rPr>
                          <m:t>7</m:t>
                        </m:r>
                      </m:num>
                      <m:den>
                        <m:r>
                          <a:rPr lang="en-US" sz="2000" i="1">
                            <a:solidFill>
                              <a:schemeClr val="tx1"/>
                            </a:solidFill>
                            <a:latin typeface="Cambria Math" panose="02040503050406030204" pitchFamily="18" charset="0"/>
                          </a:rPr>
                          <m:t>9</m:t>
                        </m:r>
                      </m:den>
                    </m:f>
                    <m:r>
                      <a:rPr lang="en-US" sz="2000" i="1">
                        <a:solidFill>
                          <a:schemeClr val="tx1"/>
                        </a:solidFill>
                        <a:latin typeface="Cambria Math" panose="02040503050406030204" pitchFamily="18" charset="0"/>
                      </a:rPr>
                      <m:t>⋅180=140°</m:t>
                    </m:r>
                  </m:oMath>
                </a14:m>
                <a:r>
                  <a:rPr lang="he-IL" sz="2000">
                    <a:solidFill>
                      <a:schemeClr val="tx1"/>
                    </a:solidFill>
                    <a:latin typeface="Assistant" pitchFamily="2" charset="-79"/>
                    <a:cs typeface="Assistant" pitchFamily="2" charset="-79"/>
                  </a:rPr>
                  <a:t>.</a:t>
                </a:r>
                <a:endParaRPr lang="en-US" sz="2000">
                  <a:solidFill>
                    <a:schemeClr val="tx1"/>
                  </a:solidFill>
                  <a:latin typeface="Assistant" pitchFamily="2" charset="-79"/>
                  <a:cs typeface="Assistant" pitchFamily="2" charset="-79"/>
                </a:endParaRPr>
              </a:p>
              <a:p>
                <a:r>
                  <a:rPr lang="he-IL" sz="2000">
                    <a:solidFill>
                      <a:schemeClr val="tx1"/>
                    </a:solidFill>
                    <a:latin typeface="Assistant" pitchFamily="2" charset="-79"/>
                    <a:cs typeface="Assistant" pitchFamily="2" charset="-79"/>
                  </a:rPr>
                  <a:t>גודלה של זווית</a:t>
                </a:r>
                <a14:m>
                  <m:oMath xmlns:m="http://schemas.openxmlformats.org/officeDocument/2006/math">
                    <m:r>
                      <a:rPr lang="en-US" sz="2000" i="1">
                        <a:solidFill>
                          <a:schemeClr val="tx1"/>
                        </a:solidFill>
                        <a:latin typeface="Cambria Math" panose="02040503050406030204" pitchFamily="18" charset="0"/>
                      </a:rPr>
                      <m:t>𝛼</m:t>
                    </m:r>
                    <m:r>
                      <a:rPr lang="en-US" sz="2000" i="1">
                        <a:solidFill>
                          <a:schemeClr val="tx1"/>
                        </a:solidFill>
                        <a:latin typeface="Cambria Math" panose="02040503050406030204" pitchFamily="18" charset="0"/>
                      </a:rPr>
                      <m:t> </m:t>
                    </m:r>
                  </m:oMath>
                </a14:m>
                <a:r>
                  <a:rPr lang="he-IL" sz="2000">
                    <a:solidFill>
                      <a:schemeClr val="tx1"/>
                    </a:solidFill>
                    <a:latin typeface="Assistant" pitchFamily="2" charset="-79"/>
                    <a:cs typeface="Assistant" pitchFamily="2" charset="-79"/>
                  </a:rPr>
                  <a:t> הוא </a:t>
                </a:r>
                <a14:m>
                  <m:oMath xmlns:m="http://schemas.openxmlformats.org/officeDocument/2006/math">
                    <m:r>
                      <a:rPr lang="en-US" sz="2000" i="1">
                        <a:solidFill>
                          <a:schemeClr val="tx1"/>
                        </a:solidFill>
                        <a:latin typeface="Cambria Math" panose="02040503050406030204" pitchFamily="18" charset="0"/>
                      </a:rPr>
                      <m:t>40°</m:t>
                    </m:r>
                  </m:oMath>
                </a14:m>
                <a:r>
                  <a:rPr lang="he-IL" sz="2000">
                    <a:solidFill>
                      <a:schemeClr val="tx1"/>
                    </a:solidFill>
                    <a:latin typeface="Assistant" pitchFamily="2" charset="-79"/>
                    <a:cs typeface="Assistant" pitchFamily="2" charset="-79"/>
                  </a:rPr>
                  <a:t> , מכיוון ש:</a:t>
                </a:r>
                <a:br>
                  <a:rPr lang="en-US" sz="2000">
                    <a:solidFill>
                      <a:schemeClr val="tx1"/>
                    </a:solidFill>
                    <a:latin typeface="Assistant" pitchFamily="2" charset="-79"/>
                    <a:cs typeface="Assistant" pitchFamily="2" charset="-79"/>
                  </a:rPr>
                </a:br>
                <a14:m>
                  <m:oMath xmlns:m="http://schemas.openxmlformats.org/officeDocument/2006/math">
                    <m:r>
                      <a:rPr lang="en-US" sz="2000" i="1">
                        <a:solidFill>
                          <a:schemeClr val="tx1"/>
                        </a:solidFill>
                        <a:latin typeface="Cambria Math" panose="02040503050406030204" pitchFamily="18" charset="0"/>
                      </a:rPr>
                      <m:t>180</m:t>
                    </m:r>
                    <m:r>
                      <a:rPr lang="en-US" sz="2000" i="1" smtClean="0">
                        <a:solidFill>
                          <a:schemeClr val="tx1"/>
                        </a:solidFill>
                        <a:latin typeface="Cambria Math" panose="02040503050406030204" pitchFamily="18" charset="0"/>
                        <a:ea typeface="Cambria Math" panose="02040503050406030204" pitchFamily="18" charset="0"/>
                      </a:rPr>
                      <m:t>°</m:t>
                    </m:r>
                    <m:r>
                      <a:rPr lang="en-US" sz="2000" b="0" i="1" smtClean="0">
                        <a:solidFill>
                          <a:schemeClr val="tx1"/>
                        </a:solidFill>
                        <a:latin typeface="Cambria Math" panose="02040503050406030204" pitchFamily="18" charset="0"/>
                      </a:rPr>
                      <m:t> −40</m:t>
                    </m:r>
                    <m:r>
                      <a:rPr lang="en-US" sz="2000" b="0" i="1" smtClean="0">
                        <a:solidFill>
                          <a:schemeClr val="tx1"/>
                        </a:solidFill>
                        <a:latin typeface="Cambria Math" panose="02040503050406030204" pitchFamily="18" charset="0"/>
                        <a:ea typeface="Cambria Math" panose="02040503050406030204" pitchFamily="18" charset="0"/>
                      </a:rPr>
                      <m:t>°</m:t>
                    </m:r>
                    <m:r>
                      <a:rPr lang="en-US" sz="2000" i="1">
                        <a:solidFill>
                          <a:schemeClr val="tx1"/>
                        </a:solidFill>
                        <a:latin typeface="Cambria Math" panose="02040503050406030204" pitchFamily="18" charset="0"/>
                      </a:rPr>
                      <m:t>=140°</m:t>
                    </m:r>
                  </m:oMath>
                </a14:m>
                <a:r>
                  <a:rPr lang="he-IL" sz="2000">
                    <a:solidFill>
                      <a:schemeClr val="tx1"/>
                    </a:solidFill>
                    <a:latin typeface="Assistant" pitchFamily="2" charset="-79"/>
                    <a:cs typeface="Assistant" pitchFamily="2" charset="-79"/>
                  </a:rPr>
                  <a:t>.</a:t>
                </a:r>
              </a:p>
            </p:txBody>
          </p:sp>
        </mc:Choice>
        <mc:Fallback xmlns="">
          <p:sp>
            <p:nvSpPr>
              <p:cNvPr id="10" name="מלבן: פינות מעוגלות 9">
                <a:extLst>
                  <a:ext uri="{FF2B5EF4-FFF2-40B4-BE49-F238E27FC236}">
                    <a16:creationId xmlns:a16="http://schemas.microsoft.com/office/drawing/2014/main" id="{387085E4-ECFD-72A8-D6A8-8D0AA45746B1}"/>
                  </a:ext>
                </a:extLst>
              </p:cNvPr>
              <p:cNvSpPr>
                <a:spLocks noRot="1" noChangeAspect="1" noMove="1" noResize="1" noEditPoints="1" noAdjustHandles="1" noChangeArrowheads="1" noChangeShapeType="1" noTextEdit="1"/>
              </p:cNvSpPr>
              <p:nvPr/>
            </p:nvSpPr>
            <p:spPr>
              <a:xfrm>
                <a:off x="-5583243" y="4034705"/>
                <a:ext cx="5175012" cy="4463680"/>
              </a:xfrm>
              <a:prstGeom prst="roundRect">
                <a:avLst>
                  <a:gd name="adj" fmla="val 1647"/>
                </a:avLst>
              </a:prstGeom>
              <a:blipFill>
                <a:blip r:embed="rId8"/>
                <a:stretch>
                  <a:fillRect r="-824"/>
                </a:stretch>
              </a:blipFill>
              <a:ln>
                <a:noFill/>
              </a:ln>
            </p:spPr>
            <p:txBody>
              <a:bodyPr/>
              <a:lstStyle/>
              <a:p>
                <a:r>
                  <a:rPr lang="en-US">
                    <a:noFill/>
                  </a:rPr>
                  <a:t> </a:t>
                </a:r>
              </a:p>
            </p:txBody>
          </p:sp>
        </mc:Fallback>
      </mc:AlternateContent>
      <p:sp>
        <p:nvSpPr>
          <p:cNvPr id="11" name="מלבן 10">
            <a:extLst>
              <a:ext uri="{FF2B5EF4-FFF2-40B4-BE49-F238E27FC236}">
                <a16:creationId xmlns:a16="http://schemas.microsoft.com/office/drawing/2014/main" id="{6B7F8AA7-2FD6-88F5-EC54-C982A395D113}"/>
              </a:ext>
            </a:extLst>
          </p:cNvPr>
          <p:cNvSpPr/>
          <p:nvPr/>
        </p:nvSpPr>
        <p:spPr>
          <a:xfrm>
            <a:off x="-115414" y="-1103086"/>
            <a:ext cx="2295396" cy="976083"/>
          </a:xfrm>
          <a:prstGeom prst="rect">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he-IL" sz="1800" b="1" i="0" u="none" strike="noStrike" kern="1200" cap="none" spc="0" normalizeH="0" baseline="0" noProof="0">
                <a:ln>
                  <a:noFill/>
                </a:ln>
                <a:solidFill>
                  <a:prstClr val="black"/>
                </a:solidFill>
                <a:effectLst/>
                <a:uLnTx/>
                <a:uFillTx/>
                <a:latin typeface="Assistant" pitchFamily="2" charset="-79"/>
                <a:ea typeface="+mn-ea"/>
                <a:cs typeface="Assistant" pitchFamily="2" charset="-79"/>
                <a:hlinkClick r:id="rId9"/>
              </a:rPr>
              <a:t>רמת חשיבה</a:t>
            </a:r>
            <a:endParaRPr kumimoji="0" lang="he-IL" sz="1800" b="1" i="0" u="none" strike="noStrike" kern="1200" cap="none" spc="0" normalizeH="0" baseline="0" noProof="0">
              <a:ln>
                <a:noFill/>
              </a:ln>
              <a:solidFill>
                <a:prstClr val="black"/>
              </a:solidFill>
              <a:effectLst/>
              <a:uLnTx/>
              <a:uFillTx/>
              <a:latin typeface="Assistant" pitchFamily="2" charset="-79"/>
              <a:ea typeface="+mn-ea"/>
              <a:cs typeface="Assistant" pitchFamily="2" charset="-79"/>
            </a:endParaRPr>
          </a:p>
          <a:p>
            <a:pPr marL="285750" marR="0" lvl="0" indent="-285750" defTabSz="91440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he-IL" sz="1800" i="0" u="none" strike="noStrike" kern="1200" cap="none" spc="0" normalizeH="0" baseline="0" noProof="0">
                <a:ln>
                  <a:noFill/>
                </a:ln>
                <a:solidFill>
                  <a:prstClr val="black"/>
                </a:solidFill>
                <a:effectLst/>
                <a:uLnTx/>
                <a:uFillTx/>
                <a:latin typeface="Assistant" pitchFamily="2" charset="-79"/>
                <a:ea typeface="+mn-ea"/>
                <a:cs typeface="Assistant" pitchFamily="2" charset="-79"/>
              </a:rPr>
              <a:t>טקסט </a:t>
            </a:r>
          </a:p>
          <a:p>
            <a:pPr marL="285750" marR="0" lvl="0" indent="-285750" defTabSz="914400" eaLnBrk="1" fontAlgn="auto" latinLnBrk="0" hangingPunct="1">
              <a:lnSpc>
                <a:spcPct val="100000"/>
              </a:lnSpc>
              <a:spcBef>
                <a:spcPts val="0"/>
              </a:spcBef>
              <a:spcAft>
                <a:spcPts val="0"/>
              </a:spcAft>
              <a:buClrTx/>
              <a:buSzTx/>
              <a:buFont typeface="Arial" panose="020B0604020202020204" pitchFamily="34" charset="0"/>
              <a:buChar char="•"/>
              <a:tabLst/>
              <a:defRPr/>
            </a:pPr>
            <a:r>
              <a:rPr lang="he-IL">
                <a:solidFill>
                  <a:prstClr val="black"/>
                </a:solidFill>
                <a:latin typeface="Assistant" pitchFamily="2" charset="-79"/>
                <a:cs typeface="Assistant" pitchFamily="2" charset="-79"/>
              </a:rPr>
              <a:t>טקסט</a:t>
            </a:r>
            <a:endParaRPr kumimoji="0" lang="he-IL" sz="1800" i="0" u="none" strike="noStrike" kern="1200" cap="none" spc="0" normalizeH="0" baseline="0" noProof="0">
              <a:ln>
                <a:noFill/>
              </a:ln>
              <a:solidFill>
                <a:prstClr val="black"/>
              </a:solidFill>
              <a:effectLst/>
              <a:uLnTx/>
              <a:uFillTx/>
              <a:latin typeface="Assistant" pitchFamily="2" charset="-79"/>
              <a:ea typeface="+mn-ea"/>
              <a:cs typeface="Assistant" pitchFamily="2" charset="-79"/>
            </a:endParaRPr>
          </a:p>
        </p:txBody>
      </p:sp>
      <p:grpSp>
        <p:nvGrpSpPr>
          <p:cNvPr id="15" name="קבוצה 14">
            <a:extLst>
              <a:ext uri="{FF2B5EF4-FFF2-40B4-BE49-F238E27FC236}">
                <a16:creationId xmlns:a16="http://schemas.microsoft.com/office/drawing/2014/main" id="{271A4B31-7A8D-10C1-CA18-E80A66654CC2}"/>
              </a:ext>
            </a:extLst>
          </p:cNvPr>
          <p:cNvGrpSpPr/>
          <p:nvPr/>
        </p:nvGrpSpPr>
        <p:grpSpPr>
          <a:xfrm>
            <a:off x="-9325053" y="0"/>
            <a:ext cx="9123904" cy="3818372"/>
            <a:chOff x="-9229411" y="26138"/>
            <a:chExt cx="9123904" cy="3818372"/>
          </a:xfrm>
        </p:grpSpPr>
        <p:sp>
          <p:nvSpPr>
            <p:cNvPr id="17" name="מלבן: פינות מעוגלות 16">
              <a:extLst>
                <a:ext uri="{FF2B5EF4-FFF2-40B4-BE49-F238E27FC236}">
                  <a16:creationId xmlns:a16="http://schemas.microsoft.com/office/drawing/2014/main" id="{D463E6E5-B6EC-B65D-5B06-8AC6321F29E0}"/>
                </a:ext>
              </a:extLst>
            </p:cNvPr>
            <p:cNvSpPr/>
            <p:nvPr/>
          </p:nvSpPr>
          <p:spPr>
            <a:xfrm>
              <a:off x="-9229411" y="26138"/>
              <a:ext cx="9123904" cy="3818372"/>
            </a:xfrm>
            <a:prstGeom prst="roundRect">
              <a:avLst>
                <a:gd name="adj" fmla="val 8509"/>
              </a:avLst>
            </a:prstGeom>
            <a:solidFill>
              <a:srgbClr val="00B0F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LID4096"/>
            </a:p>
          </p:txBody>
        </p:sp>
        <p:sp>
          <p:nvSpPr>
            <p:cNvPr id="27" name="תיבת טקסט 26">
              <a:extLst>
                <a:ext uri="{FF2B5EF4-FFF2-40B4-BE49-F238E27FC236}">
                  <a16:creationId xmlns:a16="http://schemas.microsoft.com/office/drawing/2014/main" id="{DE636986-81B0-8941-1F2A-55D132E83344}"/>
                </a:ext>
              </a:extLst>
            </p:cNvPr>
            <p:cNvSpPr txBox="1"/>
            <p:nvPr/>
          </p:nvSpPr>
          <p:spPr>
            <a:xfrm>
              <a:off x="-6933085" y="474122"/>
              <a:ext cx="5949527" cy="400110"/>
            </a:xfrm>
            <a:prstGeom prst="rect">
              <a:avLst/>
            </a:prstGeom>
            <a:noFill/>
          </p:spPr>
          <p:txBody>
            <a:bodyPr wrap="square" rtlCol="0">
              <a:spAutoFit/>
            </a:bodyPr>
            <a:lstStyle/>
            <a:p>
              <a:r>
                <a:rPr lang="he-IL" sz="2000">
                  <a:solidFill>
                    <a:schemeClr val="bg1"/>
                  </a:solidFill>
                  <a:latin typeface="Assistant" pitchFamily="2" charset="-79"/>
                  <a:cs typeface="Assistant" pitchFamily="2" charset="-79"/>
                </a:rPr>
                <a:t>מהו החלק של כל זווית מתוך היחס הנתון?</a:t>
              </a:r>
              <a:endParaRPr lang="LID4096" sz="2000">
                <a:solidFill>
                  <a:schemeClr val="bg1"/>
                </a:solidFill>
                <a:latin typeface="Assistant" pitchFamily="2" charset="-79"/>
                <a:cs typeface="Assistant" pitchFamily="2" charset="-79"/>
              </a:endParaRPr>
            </a:p>
          </p:txBody>
        </p:sp>
        <p:sp>
          <p:nvSpPr>
            <p:cNvPr id="28" name="מלבן: פינות מעוגלות 27">
              <a:extLst>
                <a:ext uri="{FF2B5EF4-FFF2-40B4-BE49-F238E27FC236}">
                  <a16:creationId xmlns:a16="http://schemas.microsoft.com/office/drawing/2014/main" id="{31D3D39F-3A29-AD45-1838-039288ABC3C0}"/>
                </a:ext>
              </a:extLst>
            </p:cNvPr>
            <p:cNvSpPr/>
            <p:nvPr/>
          </p:nvSpPr>
          <p:spPr>
            <a:xfrm>
              <a:off x="-5861703" y="3135618"/>
              <a:ext cx="1798983" cy="506891"/>
            </a:xfrm>
            <a:prstGeom prst="roundRect">
              <a:avLst>
                <a:gd name="adj" fmla="val 50000"/>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he-IL">
                  <a:solidFill>
                    <a:schemeClr val="tx1"/>
                  </a:solidFill>
                  <a:latin typeface="Assistant" pitchFamily="2" charset="-79"/>
                  <a:cs typeface="Assistant" pitchFamily="2" charset="-79"/>
                </a:rPr>
                <a:t>חזרה לשאלה</a:t>
              </a:r>
              <a:endParaRPr lang="LID4096">
                <a:solidFill>
                  <a:schemeClr val="tx1"/>
                </a:solidFill>
                <a:latin typeface="Assistant" pitchFamily="2" charset="-79"/>
                <a:cs typeface="Assistant" pitchFamily="2" charset="-79"/>
              </a:endParaRPr>
            </a:p>
          </p:txBody>
        </p:sp>
        <p:pic>
          <p:nvPicPr>
            <p:cNvPr id="29" name="גרפיקה 28" descr="נורת חשמל וגלגל שיניים עם מילוי מלא">
              <a:extLst>
                <a:ext uri="{FF2B5EF4-FFF2-40B4-BE49-F238E27FC236}">
                  <a16:creationId xmlns:a16="http://schemas.microsoft.com/office/drawing/2014/main" id="{0D6AF221-C78C-4163-9D43-C3246C3FD80C}"/>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983558" y="489982"/>
              <a:ext cx="338083" cy="338083"/>
            </a:xfrm>
            <a:prstGeom prst="rect">
              <a:avLst/>
            </a:prstGeom>
          </p:spPr>
        </p:pic>
      </p:grpSp>
      <p:grpSp>
        <p:nvGrpSpPr>
          <p:cNvPr id="49" name="Group 48">
            <a:extLst>
              <a:ext uri="{FF2B5EF4-FFF2-40B4-BE49-F238E27FC236}">
                <a16:creationId xmlns:a16="http://schemas.microsoft.com/office/drawing/2014/main" id="{D181BAF6-4CB9-9017-FC5B-17694A4499AE}"/>
              </a:ext>
            </a:extLst>
          </p:cNvPr>
          <p:cNvGrpSpPr/>
          <p:nvPr/>
        </p:nvGrpSpPr>
        <p:grpSpPr>
          <a:xfrm>
            <a:off x="371403" y="1254706"/>
            <a:ext cx="3190833" cy="1685866"/>
            <a:chOff x="1399775" y="267000"/>
            <a:chExt cx="2648450" cy="1124700"/>
          </a:xfrm>
        </p:grpSpPr>
        <p:cxnSp>
          <p:nvCxnSpPr>
            <p:cNvPr id="50" name="Straight Arrow Connector 49">
              <a:extLst>
                <a:ext uri="{FF2B5EF4-FFF2-40B4-BE49-F238E27FC236}">
                  <a16:creationId xmlns:a16="http://schemas.microsoft.com/office/drawing/2014/main" id="{94DFEF9E-3521-1FB0-9DBC-6A8AF5C95793}"/>
                </a:ext>
              </a:extLst>
            </p:cNvPr>
            <p:cNvCxnSpPr/>
            <p:nvPr/>
          </p:nvCxnSpPr>
          <p:spPr>
            <a:xfrm>
              <a:off x="1655425" y="1146400"/>
              <a:ext cx="2106600" cy="10200"/>
            </a:xfrm>
            <a:prstGeom prst="straightConnector1">
              <a:avLst/>
            </a:prstGeom>
            <a:noFill/>
            <a:ln w="9525" cap="flat" cmpd="sng">
              <a:solidFill>
                <a:srgbClr val="000000"/>
              </a:solidFill>
              <a:prstDash val="solid"/>
              <a:round/>
              <a:headEnd type="none" w="med" len="med"/>
              <a:tailEnd type="none" w="med" len="med"/>
            </a:ln>
          </p:spPr>
        </p:cxnSp>
        <p:cxnSp>
          <p:nvCxnSpPr>
            <p:cNvPr id="51" name="Straight Arrow Connector 50">
              <a:extLst>
                <a:ext uri="{FF2B5EF4-FFF2-40B4-BE49-F238E27FC236}">
                  <a16:creationId xmlns:a16="http://schemas.microsoft.com/office/drawing/2014/main" id="{4CF4C2C5-D9BE-F018-F82D-EE8053B0A97C}"/>
                </a:ext>
              </a:extLst>
            </p:cNvPr>
            <p:cNvCxnSpPr/>
            <p:nvPr/>
          </p:nvCxnSpPr>
          <p:spPr>
            <a:xfrm>
              <a:off x="1931500" y="532875"/>
              <a:ext cx="920400" cy="623700"/>
            </a:xfrm>
            <a:prstGeom prst="straightConnector1">
              <a:avLst/>
            </a:prstGeom>
            <a:noFill/>
            <a:ln w="9525" cap="flat" cmpd="sng">
              <a:solidFill>
                <a:srgbClr val="000000"/>
              </a:solidFill>
              <a:prstDash val="solid"/>
              <a:round/>
              <a:headEnd type="none" w="med" len="med"/>
              <a:tailEnd type="none" w="med" len="med"/>
            </a:ln>
          </p:spPr>
        </p:cxnSp>
        <p:sp>
          <p:nvSpPr>
            <p:cNvPr id="52" name="Text Box 305406371">
              <a:extLst>
                <a:ext uri="{FF2B5EF4-FFF2-40B4-BE49-F238E27FC236}">
                  <a16:creationId xmlns:a16="http://schemas.microsoft.com/office/drawing/2014/main" id="{85A78350-E6D9-25F1-84A9-E5072ECA482C}"/>
                </a:ext>
              </a:extLst>
            </p:cNvPr>
            <p:cNvSpPr txBox="1"/>
            <p:nvPr/>
          </p:nvSpPr>
          <p:spPr>
            <a:xfrm>
              <a:off x="2412125" y="1023700"/>
              <a:ext cx="153300" cy="122700"/>
            </a:xfrm>
            <a:prstGeom prst="rect">
              <a:avLst/>
            </a:prstGeom>
            <a:noFill/>
            <a:ln>
              <a:noFill/>
            </a:ln>
          </p:spPr>
          <p:txBody>
            <a:bodyPr spcFirstLastPara="1" wrap="square" lIns="91425" tIns="91425" rIns="91425" bIns="91425" anchor="t" anchorCtr="0">
              <a:noAutofit/>
            </a:bodyPr>
            <a:lstStyle/>
            <a:p>
              <a:pPr marL="0" marR="0">
                <a:lnSpc>
                  <a:spcPct val="115000"/>
                </a:lnSpc>
                <a:spcAft>
                  <a:spcPts val="800"/>
                </a:spcAft>
                <a:buNone/>
              </a:pPr>
              <a:r>
                <a:rPr lang="en-US" sz="1200">
                  <a:effectLst/>
                  <a:latin typeface="Aptos" panose="020B0004020202020204" pitchFamily="34" charset="0"/>
                  <a:ea typeface="Aptos" panose="020B0004020202020204" pitchFamily="34" charset="0"/>
                  <a:cs typeface="Aptos" panose="020B0004020202020204" pitchFamily="34" charset="0"/>
                </a:rPr>
                <a:t> </a:t>
              </a:r>
            </a:p>
          </p:txBody>
        </p:sp>
        <p:sp>
          <p:nvSpPr>
            <p:cNvPr id="53" name="Text Box 981931374">
              <a:extLst>
                <a:ext uri="{FF2B5EF4-FFF2-40B4-BE49-F238E27FC236}">
                  <a16:creationId xmlns:a16="http://schemas.microsoft.com/office/drawing/2014/main" id="{570E1384-FEC4-7CD5-B690-AECC9298FC34}"/>
                </a:ext>
              </a:extLst>
            </p:cNvPr>
            <p:cNvSpPr txBox="1"/>
            <p:nvPr/>
          </p:nvSpPr>
          <p:spPr>
            <a:xfrm>
              <a:off x="1399775" y="1064600"/>
              <a:ext cx="235200" cy="225000"/>
            </a:xfrm>
            <a:prstGeom prst="rect">
              <a:avLst/>
            </a:prstGeom>
            <a:noFill/>
            <a:ln>
              <a:noFill/>
            </a:ln>
          </p:spPr>
          <p:txBody>
            <a:bodyPr spcFirstLastPara="1" wrap="square" lIns="91425" tIns="91425" rIns="91425" bIns="91425" anchor="t" anchorCtr="0">
              <a:noAutofit/>
            </a:bodyPr>
            <a:lstStyle/>
            <a:p>
              <a:pPr marL="0" marR="0">
                <a:lnSpc>
                  <a:spcPct val="115000"/>
                </a:lnSpc>
                <a:spcAft>
                  <a:spcPts val="800"/>
                </a:spcAft>
                <a:buNone/>
              </a:pPr>
              <a:r>
                <a:rPr lang="en-US" sz="1400">
                  <a:solidFill>
                    <a:srgbClr val="000000"/>
                  </a:solidFill>
                  <a:effectLst/>
                  <a:latin typeface="Arial" panose="020B0604020202020204" pitchFamily="34" charset="0"/>
                  <a:ea typeface="Arial" panose="020B0604020202020204" pitchFamily="34" charset="0"/>
                  <a:cs typeface="Aptos" panose="020B0004020202020204" pitchFamily="34" charset="0"/>
                </a:rPr>
                <a:t>A</a:t>
              </a:r>
              <a:endParaRPr lang="en-US" sz="1200">
                <a:effectLst/>
                <a:latin typeface="Aptos" panose="020B0004020202020204" pitchFamily="34" charset="0"/>
                <a:ea typeface="Aptos" panose="020B0004020202020204" pitchFamily="34" charset="0"/>
                <a:cs typeface="Aptos" panose="020B0004020202020204" pitchFamily="34" charset="0"/>
              </a:endParaRPr>
            </a:p>
          </p:txBody>
        </p:sp>
        <p:sp>
          <p:nvSpPr>
            <p:cNvPr id="54" name="Text Box 756465914">
              <a:extLst>
                <a:ext uri="{FF2B5EF4-FFF2-40B4-BE49-F238E27FC236}">
                  <a16:creationId xmlns:a16="http://schemas.microsoft.com/office/drawing/2014/main" id="{1552B4B5-EFCF-8E4D-C378-D0E546D2BCCF}"/>
                </a:ext>
              </a:extLst>
            </p:cNvPr>
            <p:cNvSpPr txBox="1"/>
            <p:nvPr/>
          </p:nvSpPr>
          <p:spPr>
            <a:xfrm>
              <a:off x="2647300" y="1079900"/>
              <a:ext cx="204600" cy="194400"/>
            </a:xfrm>
            <a:prstGeom prst="rect">
              <a:avLst/>
            </a:prstGeom>
            <a:noFill/>
            <a:ln>
              <a:noFill/>
            </a:ln>
          </p:spPr>
          <p:txBody>
            <a:bodyPr spcFirstLastPara="1" wrap="square" lIns="91425" tIns="91425" rIns="91425" bIns="91425" anchor="t" anchorCtr="0">
              <a:noAutofit/>
            </a:bodyPr>
            <a:lstStyle/>
            <a:p>
              <a:pPr marL="0" marR="0">
                <a:lnSpc>
                  <a:spcPct val="115000"/>
                </a:lnSpc>
                <a:spcAft>
                  <a:spcPts val="800"/>
                </a:spcAft>
                <a:buNone/>
              </a:pPr>
              <a:r>
                <a:rPr lang="en-US" sz="1400">
                  <a:solidFill>
                    <a:srgbClr val="000000"/>
                  </a:solidFill>
                  <a:effectLst/>
                  <a:latin typeface="Arial" panose="020B0604020202020204" pitchFamily="34" charset="0"/>
                  <a:ea typeface="Arial" panose="020B0604020202020204" pitchFamily="34" charset="0"/>
                  <a:cs typeface="Aptos" panose="020B0004020202020204" pitchFamily="34" charset="0"/>
                </a:rPr>
                <a:t>C</a:t>
              </a:r>
              <a:endParaRPr lang="en-US" sz="1200">
                <a:effectLst/>
                <a:latin typeface="Aptos" panose="020B0004020202020204" pitchFamily="34" charset="0"/>
                <a:ea typeface="Aptos" panose="020B0004020202020204" pitchFamily="34" charset="0"/>
                <a:cs typeface="Aptos" panose="020B0004020202020204" pitchFamily="34" charset="0"/>
              </a:endParaRPr>
            </a:p>
          </p:txBody>
        </p:sp>
        <p:sp>
          <p:nvSpPr>
            <p:cNvPr id="55" name="Text Box 1271619787">
              <a:extLst>
                <a:ext uri="{FF2B5EF4-FFF2-40B4-BE49-F238E27FC236}">
                  <a16:creationId xmlns:a16="http://schemas.microsoft.com/office/drawing/2014/main" id="{CA539CBD-DBE8-7B3B-E8FC-32F463B7DF3D}"/>
                </a:ext>
              </a:extLst>
            </p:cNvPr>
            <p:cNvSpPr txBox="1"/>
            <p:nvPr/>
          </p:nvSpPr>
          <p:spPr>
            <a:xfrm>
              <a:off x="3813025" y="1105500"/>
              <a:ext cx="235200" cy="286200"/>
            </a:xfrm>
            <a:prstGeom prst="rect">
              <a:avLst/>
            </a:prstGeom>
            <a:noFill/>
            <a:ln>
              <a:noFill/>
            </a:ln>
          </p:spPr>
          <p:txBody>
            <a:bodyPr spcFirstLastPara="1" wrap="square" lIns="91425" tIns="91425" rIns="91425" bIns="91425" anchor="t" anchorCtr="0">
              <a:noAutofit/>
            </a:bodyPr>
            <a:lstStyle/>
            <a:p>
              <a:pPr marL="0" marR="0">
                <a:lnSpc>
                  <a:spcPct val="115000"/>
                </a:lnSpc>
                <a:spcAft>
                  <a:spcPts val="800"/>
                </a:spcAft>
                <a:buNone/>
              </a:pPr>
              <a:r>
                <a:rPr lang="en-US" sz="1400">
                  <a:solidFill>
                    <a:srgbClr val="000000"/>
                  </a:solidFill>
                  <a:effectLst/>
                  <a:latin typeface="Arial" panose="020B0604020202020204" pitchFamily="34" charset="0"/>
                  <a:ea typeface="Arial" panose="020B0604020202020204" pitchFamily="34" charset="0"/>
                  <a:cs typeface="Aptos" panose="020B0004020202020204" pitchFamily="34" charset="0"/>
                </a:rPr>
                <a:t>B</a:t>
              </a:r>
              <a:endParaRPr lang="en-US" sz="1200">
                <a:effectLst/>
                <a:latin typeface="Aptos" panose="020B0004020202020204" pitchFamily="34" charset="0"/>
                <a:ea typeface="Aptos" panose="020B0004020202020204" pitchFamily="34" charset="0"/>
                <a:cs typeface="Aptos" panose="020B0004020202020204" pitchFamily="34" charset="0"/>
              </a:endParaRPr>
            </a:p>
          </p:txBody>
        </p:sp>
        <p:sp>
          <p:nvSpPr>
            <p:cNvPr id="56" name="Text Box 1672357976">
              <a:extLst>
                <a:ext uri="{FF2B5EF4-FFF2-40B4-BE49-F238E27FC236}">
                  <a16:creationId xmlns:a16="http://schemas.microsoft.com/office/drawing/2014/main" id="{691DADDE-551A-1F0D-F45D-EE42C05A39BA}"/>
                </a:ext>
              </a:extLst>
            </p:cNvPr>
            <p:cNvSpPr txBox="1"/>
            <p:nvPr/>
          </p:nvSpPr>
          <p:spPr>
            <a:xfrm>
              <a:off x="1706450" y="267000"/>
              <a:ext cx="204600" cy="286200"/>
            </a:xfrm>
            <a:prstGeom prst="rect">
              <a:avLst/>
            </a:prstGeom>
            <a:noFill/>
            <a:ln>
              <a:noFill/>
            </a:ln>
          </p:spPr>
          <p:txBody>
            <a:bodyPr spcFirstLastPara="1" wrap="square" lIns="91425" tIns="91425" rIns="91425" bIns="91425" anchor="t" anchorCtr="0">
              <a:noAutofit/>
            </a:bodyPr>
            <a:lstStyle/>
            <a:p>
              <a:pPr marL="0" marR="0">
                <a:lnSpc>
                  <a:spcPct val="115000"/>
                </a:lnSpc>
                <a:spcAft>
                  <a:spcPts val="800"/>
                </a:spcAft>
                <a:buNone/>
              </a:pPr>
              <a:r>
                <a:rPr lang="en-US" sz="1400">
                  <a:solidFill>
                    <a:srgbClr val="000000"/>
                  </a:solidFill>
                  <a:effectLst/>
                  <a:latin typeface="Arial" panose="020B0604020202020204" pitchFamily="34" charset="0"/>
                  <a:ea typeface="Arial" panose="020B0604020202020204" pitchFamily="34" charset="0"/>
                  <a:cs typeface="Aptos" panose="020B0004020202020204" pitchFamily="34" charset="0"/>
                </a:rPr>
                <a:t>D</a:t>
              </a:r>
              <a:endParaRPr lang="en-US" sz="1200">
                <a:effectLst/>
                <a:latin typeface="Aptos" panose="020B0004020202020204" pitchFamily="34" charset="0"/>
                <a:ea typeface="Aptos" panose="020B0004020202020204" pitchFamily="34" charset="0"/>
                <a:cs typeface="Aptos" panose="020B0004020202020204" pitchFamily="34" charset="0"/>
              </a:endParaRPr>
            </a:p>
          </p:txBody>
        </p:sp>
        <p:pic>
          <p:nvPicPr>
            <p:cNvPr id="57" name="Shape 9">
              <a:extLst>
                <a:ext uri="{FF2B5EF4-FFF2-40B4-BE49-F238E27FC236}">
                  <a16:creationId xmlns:a16="http://schemas.microsoft.com/office/drawing/2014/main" id="{0DA752EB-CB8E-8C41-5B24-A596B34E65AE}"/>
                </a:ext>
              </a:extLst>
            </p:cNvPr>
            <p:cNvPicPr preferRelativeResize="0"/>
            <p:nvPr/>
          </p:nvPicPr>
          <p:blipFill>
            <a:blip r:embed="rId11">
              <a:alphaModFix/>
            </a:blip>
            <a:stretch>
              <a:fillRect/>
            </a:stretch>
          </p:blipFill>
          <p:spPr>
            <a:xfrm>
              <a:off x="2289400" y="900900"/>
              <a:ext cx="204600" cy="204600"/>
            </a:xfrm>
            <a:prstGeom prst="rect">
              <a:avLst/>
            </a:prstGeom>
            <a:noFill/>
            <a:ln>
              <a:noFill/>
            </a:ln>
          </p:spPr>
        </p:pic>
        <p:pic>
          <p:nvPicPr>
            <p:cNvPr id="58" name="Shape 10">
              <a:extLst>
                <a:ext uri="{FF2B5EF4-FFF2-40B4-BE49-F238E27FC236}">
                  <a16:creationId xmlns:a16="http://schemas.microsoft.com/office/drawing/2014/main" id="{95F4A35B-7797-4B58-57E5-DBDDF43A9303}"/>
                </a:ext>
              </a:extLst>
            </p:cNvPr>
            <p:cNvPicPr preferRelativeResize="0"/>
            <p:nvPr/>
          </p:nvPicPr>
          <p:blipFill>
            <a:blip r:embed="rId12">
              <a:alphaModFix/>
            </a:blip>
            <a:stretch>
              <a:fillRect/>
            </a:stretch>
          </p:blipFill>
          <p:spPr>
            <a:xfrm>
              <a:off x="2851900" y="909356"/>
              <a:ext cx="153300" cy="212917"/>
            </a:xfrm>
            <a:prstGeom prst="rect">
              <a:avLst/>
            </a:prstGeom>
            <a:noFill/>
            <a:ln>
              <a:noFill/>
            </a:ln>
          </p:spPr>
        </p:pic>
      </p:grpSp>
      <mc:AlternateContent xmlns:mc="http://schemas.openxmlformats.org/markup-compatibility/2006" xmlns:a14="http://schemas.microsoft.com/office/drawing/2010/main">
        <mc:Choice Requires="a14">
          <p:sp>
            <p:nvSpPr>
              <p:cNvPr id="59" name="תיבת טקסט 13">
                <a:extLst>
                  <a:ext uri="{FF2B5EF4-FFF2-40B4-BE49-F238E27FC236}">
                    <a16:creationId xmlns:a16="http://schemas.microsoft.com/office/drawing/2014/main" id="{AEB31655-890E-8CFF-7E61-9BC79DF0B661}"/>
                  </a:ext>
                </a:extLst>
              </p:cNvPr>
              <p:cNvSpPr txBox="1"/>
              <p:nvPr/>
            </p:nvSpPr>
            <p:spPr>
              <a:xfrm>
                <a:off x="6883401" y="2859671"/>
                <a:ext cx="4684123" cy="369332"/>
              </a:xfrm>
              <a:prstGeom prst="rect">
                <a:avLst/>
              </a:prstGeom>
              <a:noFill/>
            </p:spPr>
            <p:txBody>
              <a:bodyPr wrap="square">
                <a:spAutoFit/>
              </a:bodyPr>
              <a:lstStyle/>
              <a:p>
                <a:r>
                  <a:rPr lang="he-IL">
                    <a:latin typeface="Assistant" pitchFamily="2" charset="-79"/>
                    <a:cs typeface="Assistant" pitchFamily="2" charset="-79"/>
                  </a:rPr>
                  <a:t>א. זוויות </a:t>
                </a:r>
                <a14:m>
                  <m:oMath xmlns:m="http://schemas.openxmlformats.org/officeDocument/2006/math">
                    <m:r>
                      <a:rPr lang="en-US" i="1">
                        <a:latin typeface="Cambria Math" panose="02040503050406030204" pitchFamily="18" charset="0"/>
                      </a:rPr>
                      <m:t>𝛼</m:t>
                    </m:r>
                  </m:oMath>
                </a14:m>
                <a:r>
                  <a:rPr lang="he-IL">
                    <a:latin typeface="Assistant" pitchFamily="2" charset="-79"/>
                    <a:cs typeface="Assistant" pitchFamily="2" charset="-79"/>
                  </a:rPr>
                  <a:t> ו-</a:t>
                </a:r>
                <a14:m>
                  <m:oMath xmlns:m="http://schemas.openxmlformats.org/officeDocument/2006/math">
                    <m:r>
                      <a:rPr lang="en-US" i="1">
                        <a:latin typeface="Cambria Math" panose="02040503050406030204" pitchFamily="18" charset="0"/>
                      </a:rPr>
                      <m:t>𝛽</m:t>
                    </m:r>
                  </m:oMath>
                </a14:m>
                <a:r>
                  <a:rPr lang="he-IL">
                    <a:latin typeface="Assistant" pitchFamily="2" charset="-79"/>
                    <a:cs typeface="Assistant" pitchFamily="2" charset="-79"/>
                  </a:rPr>
                  <a:t> הן זוויות קודקודיות ולכן הן זוויות שוות.</a:t>
                </a:r>
                <a:endParaRPr lang="LID4096">
                  <a:latin typeface="Assistant" pitchFamily="2" charset="-79"/>
                  <a:cs typeface="Assistant" pitchFamily="2" charset="-79"/>
                </a:endParaRPr>
              </a:p>
            </p:txBody>
          </p:sp>
        </mc:Choice>
        <mc:Fallback xmlns="">
          <p:sp>
            <p:nvSpPr>
              <p:cNvPr id="59" name="תיבת טקסט 13">
                <a:extLst>
                  <a:ext uri="{FF2B5EF4-FFF2-40B4-BE49-F238E27FC236}">
                    <a16:creationId xmlns:a16="http://schemas.microsoft.com/office/drawing/2014/main" id="{AEB31655-890E-8CFF-7E61-9BC79DF0B661}"/>
                  </a:ext>
                </a:extLst>
              </p:cNvPr>
              <p:cNvSpPr txBox="1">
                <a:spLocks noRot="1" noChangeAspect="1" noMove="1" noResize="1" noEditPoints="1" noAdjustHandles="1" noChangeArrowheads="1" noChangeShapeType="1" noTextEdit="1"/>
              </p:cNvSpPr>
              <p:nvPr/>
            </p:nvSpPr>
            <p:spPr>
              <a:xfrm>
                <a:off x="6883401" y="2859671"/>
                <a:ext cx="4684123" cy="369332"/>
              </a:xfrm>
              <a:prstGeom prst="rect">
                <a:avLst/>
              </a:prstGeom>
              <a:blipFill>
                <a:blip r:embed="rId13"/>
                <a:stretch>
                  <a:fillRect t="-8197" r="-1040" b="-24590"/>
                </a:stretch>
              </a:blipFill>
            </p:spPr>
            <p:txBody>
              <a:bodyPr/>
              <a:lstStyle/>
              <a:p>
                <a:r>
                  <a:rPr lang="en-US">
                    <a:noFill/>
                  </a:rPr>
                  <a:t> </a:t>
                </a:r>
              </a:p>
            </p:txBody>
          </p:sp>
        </mc:Fallback>
      </mc:AlternateContent>
      <p:grpSp>
        <p:nvGrpSpPr>
          <p:cNvPr id="60" name="קבוצה 15">
            <a:extLst>
              <a:ext uri="{FF2B5EF4-FFF2-40B4-BE49-F238E27FC236}">
                <a16:creationId xmlns:a16="http://schemas.microsoft.com/office/drawing/2014/main" id="{16D3FD48-F4F9-A715-0D08-D9CD23C10C40}"/>
              </a:ext>
            </a:extLst>
          </p:cNvPr>
          <p:cNvGrpSpPr/>
          <p:nvPr/>
        </p:nvGrpSpPr>
        <p:grpSpPr>
          <a:xfrm>
            <a:off x="5558474" y="2863777"/>
            <a:ext cx="1351205" cy="400111"/>
            <a:chOff x="10409385" y="3089736"/>
            <a:chExt cx="1351205" cy="487092"/>
          </a:xfrm>
        </p:grpSpPr>
        <p:sp>
          <p:nvSpPr>
            <p:cNvPr id="61" name="מלבן: פינות מעוגלות 17">
              <a:extLst>
                <a:ext uri="{FF2B5EF4-FFF2-40B4-BE49-F238E27FC236}">
                  <a16:creationId xmlns:a16="http://schemas.microsoft.com/office/drawing/2014/main" id="{776F125B-EDF5-4822-3506-137E0CFF40D9}"/>
                </a:ext>
              </a:extLst>
            </p:cNvPr>
            <p:cNvSpPr/>
            <p:nvPr/>
          </p:nvSpPr>
          <p:spPr>
            <a:xfrm>
              <a:off x="10409385" y="3108463"/>
              <a:ext cx="1351205" cy="449621"/>
            </a:xfrm>
            <a:prstGeom prst="roundRect">
              <a:avLst>
                <a:gd name="adj" fmla="val 50000"/>
              </a:avLst>
            </a:prstGeom>
            <a:noFill/>
            <a:ln w="12700">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LID4096"/>
            </a:p>
          </p:txBody>
        </p:sp>
        <p:sp>
          <p:nvSpPr>
            <p:cNvPr id="62" name="תיבת טקסט 18">
              <a:extLst>
                <a:ext uri="{FF2B5EF4-FFF2-40B4-BE49-F238E27FC236}">
                  <a16:creationId xmlns:a16="http://schemas.microsoft.com/office/drawing/2014/main" id="{6CC67D1B-E5CB-6ADB-5765-0E74D3BE7D98}"/>
                </a:ext>
              </a:extLst>
            </p:cNvPr>
            <p:cNvSpPr txBox="1"/>
            <p:nvPr/>
          </p:nvSpPr>
          <p:spPr>
            <a:xfrm>
              <a:off x="10493829" y="3089736"/>
              <a:ext cx="1216096" cy="487092"/>
            </a:xfrm>
            <a:prstGeom prst="rect">
              <a:avLst/>
            </a:prstGeom>
            <a:noFill/>
          </p:spPr>
          <p:txBody>
            <a:bodyPr wrap="square" rtlCol="0">
              <a:spAutoFit/>
            </a:bodyPr>
            <a:lstStyle/>
            <a:p>
              <a:pPr algn="ctr"/>
              <a:r>
                <a:rPr lang="he-IL" sz="2000">
                  <a:latin typeface="Assistant" pitchFamily="2" charset="-79"/>
                  <a:cs typeface="Assistant" pitchFamily="2" charset="-79"/>
                </a:rPr>
                <a:t>נכון</a:t>
              </a:r>
              <a:endParaRPr lang="LID4096" sz="2000">
                <a:latin typeface="Assistant" pitchFamily="2" charset="-79"/>
                <a:cs typeface="Assistant" pitchFamily="2" charset="-79"/>
              </a:endParaRPr>
            </a:p>
          </p:txBody>
        </p:sp>
      </p:grpSp>
      <p:grpSp>
        <p:nvGrpSpPr>
          <p:cNvPr id="63" name="קבוצה 19">
            <a:extLst>
              <a:ext uri="{FF2B5EF4-FFF2-40B4-BE49-F238E27FC236}">
                <a16:creationId xmlns:a16="http://schemas.microsoft.com/office/drawing/2014/main" id="{42AD1B03-BA39-675E-4EE9-BB8FD82ED326}"/>
              </a:ext>
            </a:extLst>
          </p:cNvPr>
          <p:cNvGrpSpPr/>
          <p:nvPr/>
        </p:nvGrpSpPr>
        <p:grpSpPr>
          <a:xfrm>
            <a:off x="4105228" y="2863770"/>
            <a:ext cx="1351205" cy="400110"/>
            <a:chOff x="10409385" y="3089734"/>
            <a:chExt cx="1351205" cy="487092"/>
          </a:xfrm>
        </p:grpSpPr>
        <p:sp>
          <p:nvSpPr>
            <p:cNvPr id="66" name="מלבן: פינות מעוגלות 20">
              <a:extLst>
                <a:ext uri="{FF2B5EF4-FFF2-40B4-BE49-F238E27FC236}">
                  <a16:creationId xmlns:a16="http://schemas.microsoft.com/office/drawing/2014/main" id="{16021B52-DAE1-4524-B982-FE09070528C0}"/>
                </a:ext>
              </a:extLst>
            </p:cNvPr>
            <p:cNvSpPr/>
            <p:nvPr/>
          </p:nvSpPr>
          <p:spPr>
            <a:xfrm>
              <a:off x="10409385" y="3108472"/>
              <a:ext cx="1351205" cy="449620"/>
            </a:xfrm>
            <a:prstGeom prst="roundRect">
              <a:avLst>
                <a:gd name="adj" fmla="val 50000"/>
              </a:avLst>
            </a:prstGeom>
            <a:noFill/>
            <a:ln w="12700">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LID4096"/>
            </a:p>
          </p:txBody>
        </p:sp>
        <p:sp>
          <p:nvSpPr>
            <p:cNvPr id="67" name="תיבת טקסט 21">
              <a:extLst>
                <a:ext uri="{FF2B5EF4-FFF2-40B4-BE49-F238E27FC236}">
                  <a16:creationId xmlns:a16="http://schemas.microsoft.com/office/drawing/2014/main" id="{A7E8E8F6-CCC2-E2CA-5195-ED6F60A48C22}"/>
                </a:ext>
              </a:extLst>
            </p:cNvPr>
            <p:cNvSpPr txBox="1"/>
            <p:nvPr/>
          </p:nvSpPr>
          <p:spPr>
            <a:xfrm>
              <a:off x="10493829" y="3089734"/>
              <a:ext cx="1216096" cy="487092"/>
            </a:xfrm>
            <a:prstGeom prst="rect">
              <a:avLst/>
            </a:prstGeom>
            <a:noFill/>
          </p:spPr>
          <p:txBody>
            <a:bodyPr wrap="square" rtlCol="0">
              <a:spAutoFit/>
            </a:bodyPr>
            <a:lstStyle/>
            <a:p>
              <a:pPr algn="ctr"/>
              <a:r>
                <a:rPr lang="he-IL" sz="2000">
                  <a:highlight>
                    <a:srgbClr val="00FF00"/>
                  </a:highlight>
                  <a:latin typeface="Assistant" pitchFamily="2" charset="-79"/>
                  <a:cs typeface="Assistant" pitchFamily="2" charset="-79"/>
                </a:rPr>
                <a:t>לא נכון</a:t>
              </a:r>
              <a:endParaRPr lang="LID4096" sz="2000">
                <a:highlight>
                  <a:srgbClr val="00FF00"/>
                </a:highlight>
                <a:latin typeface="Assistant" pitchFamily="2" charset="-79"/>
                <a:cs typeface="Assistant" pitchFamily="2" charset="-79"/>
              </a:endParaRPr>
            </a:p>
          </p:txBody>
        </p:sp>
      </p:grpSp>
      <mc:AlternateContent xmlns:mc="http://schemas.openxmlformats.org/markup-compatibility/2006" xmlns:a14="http://schemas.microsoft.com/office/drawing/2010/main">
        <mc:Choice Requires="a14">
          <p:sp>
            <p:nvSpPr>
              <p:cNvPr id="68" name="תיבת טקסט 24">
                <a:extLst>
                  <a:ext uri="{FF2B5EF4-FFF2-40B4-BE49-F238E27FC236}">
                    <a16:creationId xmlns:a16="http://schemas.microsoft.com/office/drawing/2014/main" id="{14E7BF69-5AF2-96AD-D7A9-2FE582500B82}"/>
                  </a:ext>
                </a:extLst>
              </p:cNvPr>
              <p:cNvSpPr txBox="1"/>
              <p:nvPr/>
            </p:nvSpPr>
            <p:spPr>
              <a:xfrm>
                <a:off x="8406286" y="3677946"/>
                <a:ext cx="3161237" cy="369332"/>
              </a:xfrm>
              <a:prstGeom prst="rect">
                <a:avLst/>
              </a:prstGeom>
              <a:noFill/>
            </p:spPr>
            <p:txBody>
              <a:bodyPr wrap="square">
                <a:spAutoFit/>
              </a:bodyPr>
              <a:lstStyle/>
              <a:p>
                <a:r>
                  <a:rPr lang="he-IL">
                    <a:latin typeface="Assistant" pitchFamily="2" charset="-79"/>
                    <a:cs typeface="Assistant" pitchFamily="2" charset="-79"/>
                  </a:rPr>
                  <a:t>ב. גודלה של זווית </a:t>
                </a:r>
                <a14:m>
                  <m:oMath xmlns:m="http://schemas.openxmlformats.org/officeDocument/2006/math">
                    <m:r>
                      <a:rPr lang="en-US" i="1">
                        <a:latin typeface="Cambria Math" panose="02040503050406030204" pitchFamily="18" charset="0"/>
                      </a:rPr>
                      <m:t>𝛼</m:t>
                    </m:r>
                  </m:oMath>
                </a14:m>
                <a:r>
                  <a:rPr lang="he-IL">
                    <a:latin typeface="Assistant" pitchFamily="2" charset="-79"/>
                    <a:cs typeface="Assistant" pitchFamily="2" charset="-79"/>
                  </a:rPr>
                  <a:t> הוא </a:t>
                </a:r>
                <a:r>
                  <a:rPr lang="en-US">
                    <a:latin typeface="Assistant" pitchFamily="2" charset="-79"/>
                    <a:cs typeface="Assistant" pitchFamily="2" charset="-79"/>
                  </a:rPr>
                  <a:t>40</a:t>
                </a:r>
                <a14:m>
                  <m:oMath xmlns:m="http://schemas.openxmlformats.org/officeDocument/2006/math">
                    <m:r>
                      <a:rPr lang="en-US" i="1">
                        <a:latin typeface="Cambria Math" panose="02040503050406030204" pitchFamily="18" charset="0"/>
                      </a:rPr>
                      <m:t>°</m:t>
                    </m:r>
                  </m:oMath>
                </a14:m>
                <a:r>
                  <a:rPr lang="he-IL">
                    <a:latin typeface="Assistant" pitchFamily="2" charset="-79"/>
                    <a:cs typeface="Assistant" pitchFamily="2" charset="-79"/>
                  </a:rPr>
                  <a:t>.</a:t>
                </a:r>
                <a:endParaRPr lang="LID4096">
                  <a:latin typeface="Assistant" pitchFamily="2" charset="-79"/>
                  <a:cs typeface="Assistant" pitchFamily="2" charset="-79"/>
                </a:endParaRPr>
              </a:p>
            </p:txBody>
          </p:sp>
        </mc:Choice>
        <mc:Fallback xmlns="">
          <p:sp>
            <p:nvSpPr>
              <p:cNvPr id="68" name="תיבת טקסט 24">
                <a:extLst>
                  <a:ext uri="{FF2B5EF4-FFF2-40B4-BE49-F238E27FC236}">
                    <a16:creationId xmlns:a16="http://schemas.microsoft.com/office/drawing/2014/main" id="{14E7BF69-5AF2-96AD-D7A9-2FE582500B82}"/>
                  </a:ext>
                </a:extLst>
              </p:cNvPr>
              <p:cNvSpPr txBox="1">
                <a:spLocks noRot="1" noChangeAspect="1" noMove="1" noResize="1" noEditPoints="1" noAdjustHandles="1" noChangeArrowheads="1" noChangeShapeType="1" noTextEdit="1"/>
              </p:cNvSpPr>
              <p:nvPr/>
            </p:nvSpPr>
            <p:spPr>
              <a:xfrm>
                <a:off x="8406286" y="3677946"/>
                <a:ext cx="3161237" cy="369332"/>
              </a:xfrm>
              <a:prstGeom prst="rect">
                <a:avLst/>
              </a:prstGeom>
              <a:blipFill>
                <a:blip r:embed="rId14"/>
                <a:stretch>
                  <a:fillRect t="-8197" r="-1541" b="-24590"/>
                </a:stretch>
              </a:blipFill>
            </p:spPr>
            <p:txBody>
              <a:bodyPr/>
              <a:lstStyle/>
              <a:p>
                <a:r>
                  <a:rPr lang="en-US">
                    <a:noFill/>
                  </a:rPr>
                  <a:t> </a:t>
                </a:r>
              </a:p>
            </p:txBody>
          </p:sp>
        </mc:Fallback>
      </mc:AlternateContent>
      <p:grpSp>
        <p:nvGrpSpPr>
          <p:cNvPr id="69" name="קבוצה 25">
            <a:extLst>
              <a:ext uri="{FF2B5EF4-FFF2-40B4-BE49-F238E27FC236}">
                <a16:creationId xmlns:a16="http://schemas.microsoft.com/office/drawing/2014/main" id="{DB3975B4-ADA9-AEEF-5BB1-F8DD7423BB95}"/>
              </a:ext>
            </a:extLst>
          </p:cNvPr>
          <p:cNvGrpSpPr/>
          <p:nvPr/>
        </p:nvGrpSpPr>
        <p:grpSpPr>
          <a:xfrm>
            <a:off x="5558474" y="3707445"/>
            <a:ext cx="1351205" cy="400110"/>
            <a:chOff x="10409385" y="3089736"/>
            <a:chExt cx="1351205" cy="487092"/>
          </a:xfrm>
        </p:grpSpPr>
        <p:sp>
          <p:nvSpPr>
            <p:cNvPr id="70" name="מלבן: פינות מעוגלות 44">
              <a:extLst>
                <a:ext uri="{FF2B5EF4-FFF2-40B4-BE49-F238E27FC236}">
                  <a16:creationId xmlns:a16="http://schemas.microsoft.com/office/drawing/2014/main" id="{27934982-2DB1-037D-92C5-3CD6CAE4D020}"/>
                </a:ext>
              </a:extLst>
            </p:cNvPr>
            <p:cNvSpPr/>
            <p:nvPr/>
          </p:nvSpPr>
          <p:spPr>
            <a:xfrm>
              <a:off x="10409385" y="3108472"/>
              <a:ext cx="1351205" cy="449620"/>
            </a:xfrm>
            <a:prstGeom prst="roundRect">
              <a:avLst>
                <a:gd name="adj" fmla="val 50000"/>
              </a:avLst>
            </a:prstGeom>
            <a:noFill/>
            <a:ln w="12700">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LID4096"/>
            </a:p>
          </p:txBody>
        </p:sp>
        <p:sp>
          <p:nvSpPr>
            <p:cNvPr id="71" name="תיבת טקסט 45">
              <a:extLst>
                <a:ext uri="{FF2B5EF4-FFF2-40B4-BE49-F238E27FC236}">
                  <a16:creationId xmlns:a16="http://schemas.microsoft.com/office/drawing/2014/main" id="{2FA6C7EE-A4B6-E16D-C109-C30810EC0BBC}"/>
                </a:ext>
              </a:extLst>
            </p:cNvPr>
            <p:cNvSpPr txBox="1"/>
            <p:nvPr/>
          </p:nvSpPr>
          <p:spPr>
            <a:xfrm>
              <a:off x="10493829" y="3089736"/>
              <a:ext cx="1216096" cy="487092"/>
            </a:xfrm>
            <a:prstGeom prst="rect">
              <a:avLst/>
            </a:prstGeom>
            <a:noFill/>
          </p:spPr>
          <p:txBody>
            <a:bodyPr wrap="square" rtlCol="0">
              <a:spAutoFit/>
            </a:bodyPr>
            <a:lstStyle/>
            <a:p>
              <a:pPr algn="ctr"/>
              <a:r>
                <a:rPr lang="he-IL" sz="2000">
                  <a:highlight>
                    <a:srgbClr val="00FF00"/>
                  </a:highlight>
                  <a:latin typeface="Assistant" pitchFamily="2" charset="-79"/>
                  <a:cs typeface="Assistant" pitchFamily="2" charset="-79"/>
                </a:rPr>
                <a:t>נכון</a:t>
              </a:r>
              <a:endParaRPr lang="LID4096" sz="2000">
                <a:highlight>
                  <a:srgbClr val="00FF00"/>
                </a:highlight>
                <a:latin typeface="Assistant" pitchFamily="2" charset="-79"/>
                <a:cs typeface="Assistant" pitchFamily="2" charset="-79"/>
              </a:endParaRPr>
            </a:p>
          </p:txBody>
        </p:sp>
      </p:grpSp>
      <p:grpSp>
        <p:nvGrpSpPr>
          <p:cNvPr id="72" name="קבוצה 41">
            <a:extLst>
              <a:ext uri="{FF2B5EF4-FFF2-40B4-BE49-F238E27FC236}">
                <a16:creationId xmlns:a16="http://schemas.microsoft.com/office/drawing/2014/main" id="{2F4D9541-E410-9D04-22DF-BA1BAFFBE6D8}"/>
              </a:ext>
            </a:extLst>
          </p:cNvPr>
          <p:cNvGrpSpPr/>
          <p:nvPr/>
        </p:nvGrpSpPr>
        <p:grpSpPr>
          <a:xfrm>
            <a:off x="4105228" y="3707445"/>
            <a:ext cx="1351205" cy="400110"/>
            <a:chOff x="10409385" y="3089736"/>
            <a:chExt cx="1351205" cy="487092"/>
          </a:xfrm>
        </p:grpSpPr>
        <p:sp>
          <p:nvSpPr>
            <p:cNvPr id="73" name="מלבן: פינות מעוגלות 42">
              <a:extLst>
                <a:ext uri="{FF2B5EF4-FFF2-40B4-BE49-F238E27FC236}">
                  <a16:creationId xmlns:a16="http://schemas.microsoft.com/office/drawing/2014/main" id="{3437874D-D54C-F94B-CC69-4683D33F7247}"/>
                </a:ext>
              </a:extLst>
            </p:cNvPr>
            <p:cNvSpPr/>
            <p:nvPr/>
          </p:nvSpPr>
          <p:spPr>
            <a:xfrm>
              <a:off x="10409385" y="3108472"/>
              <a:ext cx="1351205" cy="449620"/>
            </a:xfrm>
            <a:prstGeom prst="roundRect">
              <a:avLst>
                <a:gd name="adj" fmla="val 50000"/>
              </a:avLst>
            </a:prstGeom>
            <a:noFill/>
            <a:ln w="12700">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LID4096"/>
            </a:p>
          </p:txBody>
        </p:sp>
        <p:sp>
          <p:nvSpPr>
            <p:cNvPr id="74" name="תיבת טקסט 43">
              <a:extLst>
                <a:ext uri="{FF2B5EF4-FFF2-40B4-BE49-F238E27FC236}">
                  <a16:creationId xmlns:a16="http://schemas.microsoft.com/office/drawing/2014/main" id="{4F35C0CC-D167-DBB5-600B-BEDBEDBD06D3}"/>
                </a:ext>
              </a:extLst>
            </p:cNvPr>
            <p:cNvSpPr txBox="1"/>
            <p:nvPr/>
          </p:nvSpPr>
          <p:spPr>
            <a:xfrm>
              <a:off x="10493829" y="3089736"/>
              <a:ext cx="1216096" cy="487092"/>
            </a:xfrm>
            <a:prstGeom prst="rect">
              <a:avLst/>
            </a:prstGeom>
            <a:noFill/>
          </p:spPr>
          <p:txBody>
            <a:bodyPr wrap="square" rtlCol="0">
              <a:spAutoFit/>
            </a:bodyPr>
            <a:lstStyle/>
            <a:p>
              <a:pPr algn="ctr"/>
              <a:r>
                <a:rPr lang="he-IL" sz="2000">
                  <a:latin typeface="Assistant" pitchFamily="2" charset="-79"/>
                  <a:cs typeface="Assistant" pitchFamily="2" charset="-79"/>
                </a:rPr>
                <a:t>לא נכון</a:t>
              </a:r>
              <a:endParaRPr lang="LID4096" sz="2000">
                <a:latin typeface="Assistant" pitchFamily="2" charset="-79"/>
                <a:cs typeface="Assistant" pitchFamily="2" charset="-79"/>
              </a:endParaRPr>
            </a:p>
          </p:txBody>
        </p:sp>
      </p:grpSp>
      <mc:AlternateContent xmlns:mc="http://schemas.openxmlformats.org/markup-compatibility/2006" xmlns:a14="http://schemas.microsoft.com/office/drawing/2010/main">
        <mc:Choice Requires="a14">
          <p:sp>
            <p:nvSpPr>
              <p:cNvPr id="75" name="תיבת טקסט 47">
                <a:extLst>
                  <a:ext uri="{FF2B5EF4-FFF2-40B4-BE49-F238E27FC236}">
                    <a16:creationId xmlns:a16="http://schemas.microsoft.com/office/drawing/2014/main" id="{518E61BC-4123-A11D-01BE-1C340F3EE2C3}"/>
                  </a:ext>
                </a:extLst>
              </p:cNvPr>
              <p:cNvSpPr txBox="1"/>
              <p:nvPr/>
            </p:nvSpPr>
            <p:spPr>
              <a:xfrm>
                <a:off x="6323589" y="4511151"/>
                <a:ext cx="5243934" cy="483915"/>
              </a:xfrm>
              <a:prstGeom prst="rect">
                <a:avLst/>
              </a:prstGeom>
              <a:noFill/>
            </p:spPr>
            <p:txBody>
              <a:bodyPr wrap="square">
                <a:spAutoFit/>
              </a:bodyPr>
              <a:lstStyle/>
              <a:p>
                <a:r>
                  <a:rPr lang="he-IL">
                    <a:latin typeface="Assistant" pitchFamily="2" charset="-79"/>
                    <a:cs typeface="Assistant" pitchFamily="2" charset="-79"/>
                  </a:rPr>
                  <a:t>ג. גודלה של זווית </a:t>
                </a:r>
                <a14:m>
                  <m:oMath xmlns:m="http://schemas.openxmlformats.org/officeDocument/2006/math">
                    <m:r>
                      <a:rPr lang="en-US" i="1" smtClean="0">
                        <a:latin typeface="Cambria Math" panose="02040503050406030204" pitchFamily="18" charset="0"/>
                        <a:ea typeface="Cambria Math" panose="02040503050406030204" pitchFamily="18" charset="0"/>
                      </a:rPr>
                      <m:t>𝛽</m:t>
                    </m:r>
                  </m:oMath>
                </a14:m>
                <a:r>
                  <a:rPr lang="he-IL">
                    <a:latin typeface="Assistant" pitchFamily="2" charset="-79"/>
                    <a:cs typeface="Assistant" pitchFamily="2" charset="-79"/>
                  </a:rPr>
                  <a:t> הוא  </a:t>
                </a:r>
                <a:r>
                  <a:rPr lang="en-US"/>
                  <a:t> </a:t>
                </a:r>
                <a14:m>
                  <m:oMath xmlns:m="http://schemas.openxmlformats.org/officeDocument/2006/math">
                    <m:f>
                      <m:fPr>
                        <m:ctrlPr>
                          <a:rPr lang="en-US" i="1">
                            <a:latin typeface="Cambria Math" panose="02040503050406030204" pitchFamily="18" charset="0"/>
                          </a:rPr>
                        </m:ctrlPr>
                      </m:fPr>
                      <m:num>
                        <m:r>
                          <a:rPr lang="en-US" i="1">
                            <a:latin typeface="Cambria Math" panose="02040503050406030204" pitchFamily="18" charset="0"/>
                          </a:rPr>
                          <m:t>7</m:t>
                        </m:r>
                      </m:num>
                      <m:den>
                        <m:r>
                          <a:rPr lang="en-US" i="1">
                            <a:latin typeface="Cambria Math" panose="02040503050406030204" pitchFamily="18" charset="0"/>
                          </a:rPr>
                          <m:t>9</m:t>
                        </m:r>
                      </m:den>
                    </m:f>
                    <m:r>
                      <a:rPr lang="en-US" i="1">
                        <a:latin typeface="Cambria Math" panose="02040503050406030204" pitchFamily="18" charset="0"/>
                      </a:rPr>
                      <m:t>⋅180=140°</m:t>
                    </m:r>
                  </m:oMath>
                </a14:m>
                <a:r>
                  <a:rPr lang="he-IL">
                    <a:latin typeface="Assistant" pitchFamily="2" charset="-79"/>
                    <a:cs typeface="Assistant" pitchFamily="2" charset="-79"/>
                  </a:rPr>
                  <a:t>.</a:t>
                </a:r>
                <a:endParaRPr lang="en-US">
                  <a:latin typeface="Assistant" pitchFamily="2" charset="-79"/>
                  <a:cs typeface="Assistant" pitchFamily="2" charset="-79"/>
                </a:endParaRPr>
              </a:p>
            </p:txBody>
          </p:sp>
        </mc:Choice>
        <mc:Fallback xmlns="">
          <p:sp>
            <p:nvSpPr>
              <p:cNvPr id="75" name="תיבת טקסט 47">
                <a:extLst>
                  <a:ext uri="{FF2B5EF4-FFF2-40B4-BE49-F238E27FC236}">
                    <a16:creationId xmlns:a16="http://schemas.microsoft.com/office/drawing/2014/main" id="{518E61BC-4123-A11D-01BE-1C340F3EE2C3}"/>
                  </a:ext>
                </a:extLst>
              </p:cNvPr>
              <p:cNvSpPr txBox="1">
                <a:spLocks noRot="1" noChangeAspect="1" noMove="1" noResize="1" noEditPoints="1" noAdjustHandles="1" noChangeArrowheads="1" noChangeShapeType="1" noTextEdit="1"/>
              </p:cNvSpPr>
              <p:nvPr/>
            </p:nvSpPr>
            <p:spPr>
              <a:xfrm>
                <a:off x="6323589" y="4511151"/>
                <a:ext cx="5243934" cy="483915"/>
              </a:xfrm>
              <a:prstGeom prst="rect">
                <a:avLst/>
              </a:prstGeom>
              <a:blipFill>
                <a:blip r:embed="rId15"/>
                <a:stretch>
                  <a:fillRect r="-929" b="-8861"/>
                </a:stretch>
              </a:blipFill>
            </p:spPr>
            <p:txBody>
              <a:bodyPr/>
              <a:lstStyle/>
              <a:p>
                <a:r>
                  <a:rPr lang="en-US">
                    <a:noFill/>
                  </a:rPr>
                  <a:t> </a:t>
                </a:r>
              </a:p>
            </p:txBody>
          </p:sp>
        </mc:Fallback>
      </mc:AlternateContent>
      <p:grpSp>
        <p:nvGrpSpPr>
          <p:cNvPr id="76" name="קבוצה 48">
            <a:extLst>
              <a:ext uri="{FF2B5EF4-FFF2-40B4-BE49-F238E27FC236}">
                <a16:creationId xmlns:a16="http://schemas.microsoft.com/office/drawing/2014/main" id="{D6DAB85B-205E-C8B9-41E1-9BA98AA6DE5A}"/>
              </a:ext>
            </a:extLst>
          </p:cNvPr>
          <p:cNvGrpSpPr/>
          <p:nvPr/>
        </p:nvGrpSpPr>
        <p:grpSpPr>
          <a:xfrm>
            <a:off x="5558474" y="4525720"/>
            <a:ext cx="1351205" cy="400110"/>
            <a:chOff x="10409385" y="3089736"/>
            <a:chExt cx="1351205" cy="487092"/>
          </a:xfrm>
        </p:grpSpPr>
        <p:sp>
          <p:nvSpPr>
            <p:cNvPr id="77" name="מלבן: פינות מעוגלות 52">
              <a:extLst>
                <a:ext uri="{FF2B5EF4-FFF2-40B4-BE49-F238E27FC236}">
                  <a16:creationId xmlns:a16="http://schemas.microsoft.com/office/drawing/2014/main" id="{F8DE9087-8F4B-1B9C-B541-1B1B3699F9BC}"/>
                </a:ext>
              </a:extLst>
            </p:cNvPr>
            <p:cNvSpPr/>
            <p:nvPr/>
          </p:nvSpPr>
          <p:spPr>
            <a:xfrm>
              <a:off x="10409385" y="3108472"/>
              <a:ext cx="1351205" cy="449620"/>
            </a:xfrm>
            <a:prstGeom prst="roundRect">
              <a:avLst>
                <a:gd name="adj" fmla="val 50000"/>
              </a:avLst>
            </a:prstGeom>
            <a:noFill/>
            <a:ln w="12700">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LID4096"/>
            </a:p>
          </p:txBody>
        </p:sp>
        <p:sp>
          <p:nvSpPr>
            <p:cNvPr id="78" name="תיבת טקסט 53">
              <a:extLst>
                <a:ext uri="{FF2B5EF4-FFF2-40B4-BE49-F238E27FC236}">
                  <a16:creationId xmlns:a16="http://schemas.microsoft.com/office/drawing/2014/main" id="{070ED4AF-FA3E-DC07-20F6-3E51F4399545}"/>
                </a:ext>
              </a:extLst>
            </p:cNvPr>
            <p:cNvSpPr txBox="1"/>
            <p:nvPr/>
          </p:nvSpPr>
          <p:spPr>
            <a:xfrm>
              <a:off x="10493829" y="3089736"/>
              <a:ext cx="1216096" cy="487092"/>
            </a:xfrm>
            <a:prstGeom prst="rect">
              <a:avLst/>
            </a:prstGeom>
            <a:noFill/>
          </p:spPr>
          <p:txBody>
            <a:bodyPr wrap="square" rtlCol="0">
              <a:spAutoFit/>
            </a:bodyPr>
            <a:lstStyle/>
            <a:p>
              <a:pPr algn="ctr"/>
              <a:r>
                <a:rPr lang="he-IL" sz="2000">
                  <a:highlight>
                    <a:srgbClr val="00FF00"/>
                  </a:highlight>
                  <a:latin typeface="Assistant" pitchFamily="2" charset="-79"/>
                  <a:cs typeface="Assistant" pitchFamily="2" charset="-79"/>
                </a:rPr>
                <a:t>נכון</a:t>
              </a:r>
              <a:endParaRPr lang="LID4096" sz="2000">
                <a:highlight>
                  <a:srgbClr val="00FF00"/>
                </a:highlight>
                <a:latin typeface="Assistant" pitchFamily="2" charset="-79"/>
                <a:cs typeface="Assistant" pitchFamily="2" charset="-79"/>
              </a:endParaRPr>
            </a:p>
          </p:txBody>
        </p:sp>
      </p:grpSp>
      <p:grpSp>
        <p:nvGrpSpPr>
          <p:cNvPr id="79" name="קבוצה 49">
            <a:extLst>
              <a:ext uri="{FF2B5EF4-FFF2-40B4-BE49-F238E27FC236}">
                <a16:creationId xmlns:a16="http://schemas.microsoft.com/office/drawing/2014/main" id="{D6235D33-505F-E991-1A4C-D877D9486FC5}"/>
              </a:ext>
            </a:extLst>
          </p:cNvPr>
          <p:cNvGrpSpPr/>
          <p:nvPr/>
        </p:nvGrpSpPr>
        <p:grpSpPr>
          <a:xfrm>
            <a:off x="4105228" y="4525720"/>
            <a:ext cx="1351205" cy="400110"/>
            <a:chOff x="10409385" y="3089736"/>
            <a:chExt cx="1351205" cy="487092"/>
          </a:xfrm>
        </p:grpSpPr>
        <p:sp>
          <p:nvSpPr>
            <p:cNvPr id="80" name="מלבן: פינות מעוגלות 50">
              <a:extLst>
                <a:ext uri="{FF2B5EF4-FFF2-40B4-BE49-F238E27FC236}">
                  <a16:creationId xmlns:a16="http://schemas.microsoft.com/office/drawing/2014/main" id="{FF15BE52-7994-8092-0EDA-D8E867F32E81}"/>
                </a:ext>
              </a:extLst>
            </p:cNvPr>
            <p:cNvSpPr/>
            <p:nvPr/>
          </p:nvSpPr>
          <p:spPr>
            <a:xfrm>
              <a:off x="10409385" y="3108472"/>
              <a:ext cx="1351205" cy="449620"/>
            </a:xfrm>
            <a:prstGeom prst="roundRect">
              <a:avLst>
                <a:gd name="adj" fmla="val 50000"/>
              </a:avLst>
            </a:prstGeom>
            <a:noFill/>
            <a:ln w="12700">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LID4096"/>
            </a:p>
          </p:txBody>
        </p:sp>
        <p:sp>
          <p:nvSpPr>
            <p:cNvPr id="81" name="תיבת טקסט 51">
              <a:extLst>
                <a:ext uri="{FF2B5EF4-FFF2-40B4-BE49-F238E27FC236}">
                  <a16:creationId xmlns:a16="http://schemas.microsoft.com/office/drawing/2014/main" id="{53C7860F-AC08-5991-DBA7-0AC56DFD0F4D}"/>
                </a:ext>
              </a:extLst>
            </p:cNvPr>
            <p:cNvSpPr txBox="1"/>
            <p:nvPr/>
          </p:nvSpPr>
          <p:spPr>
            <a:xfrm>
              <a:off x="10493829" y="3089736"/>
              <a:ext cx="1216096" cy="487092"/>
            </a:xfrm>
            <a:prstGeom prst="rect">
              <a:avLst/>
            </a:prstGeom>
            <a:noFill/>
          </p:spPr>
          <p:txBody>
            <a:bodyPr wrap="square" rtlCol="0">
              <a:spAutoFit/>
            </a:bodyPr>
            <a:lstStyle/>
            <a:p>
              <a:pPr algn="ctr"/>
              <a:r>
                <a:rPr lang="he-IL" sz="2000">
                  <a:latin typeface="Assistant" pitchFamily="2" charset="-79"/>
                  <a:cs typeface="Assistant" pitchFamily="2" charset="-79"/>
                </a:rPr>
                <a:t>לא נכון</a:t>
              </a:r>
              <a:endParaRPr lang="LID4096" sz="2000">
                <a:latin typeface="Assistant" pitchFamily="2" charset="-79"/>
                <a:cs typeface="Assistant" pitchFamily="2" charset="-79"/>
              </a:endParaRPr>
            </a:p>
          </p:txBody>
        </p:sp>
      </p:grpSp>
      <mc:AlternateContent xmlns:mc="http://schemas.openxmlformats.org/markup-compatibility/2006" xmlns:a14="http://schemas.microsoft.com/office/drawing/2010/main">
        <mc:Choice Requires="a14">
          <p:sp>
            <p:nvSpPr>
              <p:cNvPr id="83" name="תיבת טקסט 13">
                <a:extLst>
                  <a:ext uri="{FF2B5EF4-FFF2-40B4-BE49-F238E27FC236}">
                    <a16:creationId xmlns:a16="http://schemas.microsoft.com/office/drawing/2014/main" id="{10974DAB-809F-2043-DEF9-6837718E6564}"/>
                  </a:ext>
                </a:extLst>
              </p:cNvPr>
              <p:cNvSpPr txBox="1"/>
              <p:nvPr/>
            </p:nvSpPr>
            <p:spPr>
              <a:xfrm>
                <a:off x="6883401" y="5333458"/>
                <a:ext cx="4684123" cy="369332"/>
              </a:xfrm>
              <a:prstGeom prst="rect">
                <a:avLst/>
              </a:prstGeom>
              <a:noFill/>
            </p:spPr>
            <p:txBody>
              <a:bodyPr wrap="square">
                <a:spAutoFit/>
              </a:bodyPr>
              <a:lstStyle/>
              <a:p>
                <a:r>
                  <a:rPr lang="he-IL">
                    <a:latin typeface="Assistant" pitchFamily="2" charset="-79"/>
                    <a:cs typeface="Assistant" pitchFamily="2" charset="-79"/>
                  </a:rPr>
                  <a:t>ד. זוויות </a:t>
                </a:r>
                <a14:m>
                  <m:oMath xmlns:m="http://schemas.openxmlformats.org/officeDocument/2006/math">
                    <m:r>
                      <a:rPr lang="en-US" i="1">
                        <a:latin typeface="Cambria Math" panose="02040503050406030204" pitchFamily="18" charset="0"/>
                      </a:rPr>
                      <m:t>𝛼</m:t>
                    </m:r>
                  </m:oMath>
                </a14:m>
                <a:r>
                  <a:rPr lang="he-IL">
                    <a:latin typeface="Assistant" pitchFamily="2" charset="-79"/>
                    <a:cs typeface="Assistant" pitchFamily="2" charset="-79"/>
                  </a:rPr>
                  <a:t> ו-</a:t>
                </a:r>
                <a14:m>
                  <m:oMath xmlns:m="http://schemas.openxmlformats.org/officeDocument/2006/math">
                    <m:r>
                      <a:rPr lang="en-US" i="1">
                        <a:latin typeface="Cambria Math" panose="02040503050406030204" pitchFamily="18" charset="0"/>
                      </a:rPr>
                      <m:t>𝛽</m:t>
                    </m:r>
                  </m:oMath>
                </a14:m>
                <a:r>
                  <a:rPr lang="he-IL">
                    <a:latin typeface="Assistant" pitchFamily="2" charset="-79"/>
                    <a:cs typeface="Assistant" pitchFamily="2" charset="-79"/>
                  </a:rPr>
                  <a:t> הן זוויות צמודות ולכן סכומן הוא </a:t>
                </a:r>
                <a:r>
                  <a:rPr lang="en-US">
                    <a:latin typeface="Assistant" pitchFamily="2" charset="-79"/>
                    <a:cs typeface="Assistant" pitchFamily="2" charset="-79"/>
                  </a:rPr>
                  <a:t>1</a:t>
                </a:r>
                <a14:m>
                  <m:oMath xmlns:m="http://schemas.openxmlformats.org/officeDocument/2006/math">
                    <m:r>
                      <a:rPr lang="en-US" b="0" i="0" smtClean="0">
                        <a:latin typeface="Cambria Math" panose="02040503050406030204" pitchFamily="18" charset="0"/>
                      </a:rPr>
                      <m:t>80</m:t>
                    </m:r>
                    <m:r>
                      <a:rPr lang="en-US" i="1">
                        <a:latin typeface="Cambria Math" panose="02040503050406030204" pitchFamily="18" charset="0"/>
                      </a:rPr>
                      <m:t>°</m:t>
                    </m:r>
                  </m:oMath>
                </a14:m>
                <a:r>
                  <a:rPr lang="he-IL">
                    <a:latin typeface="Assistant" pitchFamily="2" charset="-79"/>
                    <a:cs typeface="Assistant" pitchFamily="2" charset="-79"/>
                  </a:rPr>
                  <a:t>. </a:t>
                </a:r>
                <a:endParaRPr lang="LID4096">
                  <a:latin typeface="Assistant" pitchFamily="2" charset="-79"/>
                  <a:cs typeface="Assistant" pitchFamily="2" charset="-79"/>
                </a:endParaRPr>
              </a:p>
            </p:txBody>
          </p:sp>
        </mc:Choice>
        <mc:Fallback xmlns="">
          <p:sp>
            <p:nvSpPr>
              <p:cNvPr id="83" name="תיבת טקסט 13">
                <a:extLst>
                  <a:ext uri="{FF2B5EF4-FFF2-40B4-BE49-F238E27FC236}">
                    <a16:creationId xmlns:a16="http://schemas.microsoft.com/office/drawing/2014/main" id="{10974DAB-809F-2043-DEF9-6837718E6564}"/>
                  </a:ext>
                </a:extLst>
              </p:cNvPr>
              <p:cNvSpPr txBox="1">
                <a:spLocks noRot="1" noChangeAspect="1" noMove="1" noResize="1" noEditPoints="1" noAdjustHandles="1" noChangeArrowheads="1" noChangeShapeType="1" noTextEdit="1"/>
              </p:cNvSpPr>
              <p:nvPr/>
            </p:nvSpPr>
            <p:spPr>
              <a:xfrm>
                <a:off x="6883401" y="5333458"/>
                <a:ext cx="4684123" cy="369332"/>
              </a:xfrm>
              <a:prstGeom prst="rect">
                <a:avLst/>
              </a:prstGeom>
              <a:blipFill>
                <a:blip r:embed="rId16"/>
                <a:stretch>
                  <a:fillRect t="-10000" r="-1040" b="-26667"/>
                </a:stretch>
              </a:blipFill>
            </p:spPr>
            <p:txBody>
              <a:bodyPr/>
              <a:lstStyle/>
              <a:p>
                <a:r>
                  <a:rPr lang="en-US">
                    <a:noFill/>
                  </a:rPr>
                  <a:t> </a:t>
                </a:r>
              </a:p>
            </p:txBody>
          </p:sp>
        </mc:Fallback>
      </mc:AlternateContent>
      <p:grpSp>
        <p:nvGrpSpPr>
          <p:cNvPr id="84" name="קבוצה 48">
            <a:extLst>
              <a:ext uri="{FF2B5EF4-FFF2-40B4-BE49-F238E27FC236}">
                <a16:creationId xmlns:a16="http://schemas.microsoft.com/office/drawing/2014/main" id="{4F6EFE70-8F98-A4D9-88F6-EAFCC78117A6}"/>
              </a:ext>
            </a:extLst>
          </p:cNvPr>
          <p:cNvGrpSpPr/>
          <p:nvPr/>
        </p:nvGrpSpPr>
        <p:grpSpPr>
          <a:xfrm>
            <a:off x="5558474" y="5344883"/>
            <a:ext cx="1351205" cy="400110"/>
            <a:chOff x="10409385" y="3089736"/>
            <a:chExt cx="1351205" cy="487092"/>
          </a:xfrm>
        </p:grpSpPr>
        <p:sp>
          <p:nvSpPr>
            <p:cNvPr id="85" name="מלבן: פינות מעוגלות 52">
              <a:extLst>
                <a:ext uri="{FF2B5EF4-FFF2-40B4-BE49-F238E27FC236}">
                  <a16:creationId xmlns:a16="http://schemas.microsoft.com/office/drawing/2014/main" id="{F454156E-D81E-A69A-DA03-7469EDE791A9}"/>
                </a:ext>
              </a:extLst>
            </p:cNvPr>
            <p:cNvSpPr/>
            <p:nvPr/>
          </p:nvSpPr>
          <p:spPr>
            <a:xfrm>
              <a:off x="10409385" y="3108472"/>
              <a:ext cx="1351205" cy="449620"/>
            </a:xfrm>
            <a:prstGeom prst="roundRect">
              <a:avLst>
                <a:gd name="adj" fmla="val 50000"/>
              </a:avLst>
            </a:prstGeom>
            <a:noFill/>
            <a:ln w="12700">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LID4096"/>
            </a:p>
          </p:txBody>
        </p:sp>
        <p:sp>
          <p:nvSpPr>
            <p:cNvPr id="86" name="תיבת טקסט 53">
              <a:extLst>
                <a:ext uri="{FF2B5EF4-FFF2-40B4-BE49-F238E27FC236}">
                  <a16:creationId xmlns:a16="http://schemas.microsoft.com/office/drawing/2014/main" id="{223FDD57-9A6E-DF7D-C93C-ECB14E73AA7D}"/>
                </a:ext>
              </a:extLst>
            </p:cNvPr>
            <p:cNvSpPr txBox="1"/>
            <p:nvPr/>
          </p:nvSpPr>
          <p:spPr>
            <a:xfrm>
              <a:off x="10493829" y="3089736"/>
              <a:ext cx="1216096" cy="487092"/>
            </a:xfrm>
            <a:prstGeom prst="rect">
              <a:avLst/>
            </a:prstGeom>
            <a:noFill/>
          </p:spPr>
          <p:txBody>
            <a:bodyPr wrap="square" rtlCol="0">
              <a:spAutoFit/>
            </a:bodyPr>
            <a:lstStyle/>
            <a:p>
              <a:pPr algn="ctr"/>
              <a:r>
                <a:rPr lang="he-IL" sz="2000">
                  <a:highlight>
                    <a:srgbClr val="00FF00"/>
                  </a:highlight>
                  <a:latin typeface="Assistant" pitchFamily="2" charset="-79"/>
                  <a:cs typeface="Assistant" pitchFamily="2" charset="-79"/>
                </a:rPr>
                <a:t>נכון</a:t>
              </a:r>
              <a:endParaRPr lang="LID4096" sz="2000">
                <a:highlight>
                  <a:srgbClr val="00FF00"/>
                </a:highlight>
                <a:latin typeface="Assistant" pitchFamily="2" charset="-79"/>
                <a:cs typeface="Assistant" pitchFamily="2" charset="-79"/>
              </a:endParaRPr>
            </a:p>
          </p:txBody>
        </p:sp>
      </p:grpSp>
      <p:grpSp>
        <p:nvGrpSpPr>
          <p:cNvPr id="87" name="קבוצה 49">
            <a:extLst>
              <a:ext uri="{FF2B5EF4-FFF2-40B4-BE49-F238E27FC236}">
                <a16:creationId xmlns:a16="http://schemas.microsoft.com/office/drawing/2014/main" id="{73C82CBE-5721-613A-2D10-3F6CD1807016}"/>
              </a:ext>
            </a:extLst>
          </p:cNvPr>
          <p:cNvGrpSpPr/>
          <p:nvPr/>
        </p:nvGrpSpPr>
        <p:grpSpPr>
          <a:xfrm>
            <a:off x="4105228" y="5344883"/>
            <a:ext cx="1351205" cy="400110"/>
            <a:chOff x="10409385" y="3089736"/>
            <a:chExt cx="1351205" cy="487092"/>
          </a:xfrm>
        </p:grpSpPr>
        <p:sp>
          <p:nvSpPr>
            <p:cNvPr id="88" name="מלבן: פינות מעוגלות 50">
              <a:extLst>
                <a:ext uri="{FF2B5EF4-FFF2-40B4-BE49-F238E27FC236}">
                  <a16:creationId xmlns:a16="http://schemas.microsoft.com/office/drawing/2014/main" id="{5594F9AB-12A8-381C-41D9-BDAE63917F5A}"/>
                </a:ext>
              </a:extLst>
            </p:cNvPr>
            <p:cNvSpPr/>
            <p:nvPr/>
          </p:nvSpPr>
          <p:spPr>
            <a:xfrm>
              <a:off x="10409385" y="3108472"/>
              <a:ext cx="1351205" cy="449620"/>
            </a:xfrm>
            <a:prstGeom prst="roundRect">
              <a:avLst>
                <a:gd name="adj" fmla="val 50000"/>
              </a:avLst>
            </a:prstGeom>
            <a:noFill/>
            <a:ln w="12700">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LID4096"/>
            </a:p>
          </p:txBody>
        </p:sp>
        <p:sp>
          <p:nvSpPr>
            <p:cNvPr id="89" name="תיבת טקסט 51">
              <a:extLst>
                <a:ext uri="{FF2B5EF4-FFF2-40B4-BE49-F238E27FC236}">
                  <a16:creationId xmlns:a16="http://schemas.microsoft.com/office/drawing/2014/main" id="{BA32DB55-B658-6883-D5B3-48AC32F9E0FB}"/>
                </a:ext>
              </a:extLst>
            </p:cNvPr>
            <p:cNvSpPr txBox="1"/>
            <p:nvPr/>
          </p:nvSpPr>
          <p:spPr>
            <a:xfrm>
              <a:off x="10493829" y="3089736"/>
              <a:ext cx="1216096" cy="487092"/>
            </a:xfrm>
            <a:prstGeom prst="rect">
              <a:avLst/>
            </a:prstGeom>
            <a:noFill/>
          </p:spPr>
          <p:txBody>
            <a:bodyPr wrap="square" rtlCol="0">
              <a:spAutoFit/>
            </a:bodyPr>
            <a:lstStyle/>
            <a:p>
              <a:pPr algn="ctr"/>
              <a:r>
                <a:rPr lang="he-IL" sz="2000">
                  <a:latin typeface="Assistant" pitchFamily="2" charset="-79"/>
                  <a:cs typeface="Assistant" pitchFamily="2" charset="-79"/>
                </a:rPr>
                <a:t>לא נכון</a:t>
              </a:r>
              <a:endParaRPr lang="LID4096" sz="2000">
                <a:latin typeface="Assistant" pitchFamily="2" charset="-79"/>
                <a:cs typeface="Assistant" pitchFamily="2" charset="-79"/>
              </a:endParaRPr>
            </a:p>
          </p:txBody>
        </p:sp>
      </p:grpSp>
    </p:spTree>
    <p:custDataLst>
      <p:tags r:id="rId1"/>
    </p:custDataLst>
    <p:extLst>
      <p:ext uri="{BB962C8B-B14F-4D97-AF65-F5344CB8AC3E}">
        <p14:creationId xmlns:p14="http://schemas.microsoft.com/office/powerpoint/2010/main" val="144305685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7E0714-FA99-C896-8F06-802F69A4DE53}"/>
            </a:ext>
          </a:extLst>
        </p:cNvPr>
        <p:cNvGrpSpPr/>
        <p:nvPr/>
      </p:nvGrpSpPr>
      <p:grpSpPr>
        <a:xfrm>
          <a:off x="0" y="0"/>
          <a:ext cx="0" cy="0"/>
          <a:chOff x="0" y="0"/>
          <a:chExt cx="0" cy="0"/>
        </a:xfrm>
      </p:grpSpPr>
      <p:cxnSp>
        <p:nvCxnSpPr>
          <p:cNvPr id="4" name="מחבר ישר 3">
            <a:extLst>
              <a:ext uri="{FF2B5EF4-FFF2-40B4-BE49-F238E27FC236}">
                <a16:creationId xmlns:a16="http://schemas.microsoft.com/office/drawing/2014/main" id="{4379B9EC-EA92-7B38-3A32-C79EF86B40A9}"/>
              </a:ext>
            </a:extLst>
          </p:cNvPr>
          <p:cNvCxnSpPr>
            <a:cxnSpLocks/>
          </p:cNvCxnSpPr>
          <p:nvPr/>
        </p:nvCxnSpPr>
        <p:spPr>
          <a:xfrm>
            <a:off x="0" y="6079252"/>
            <a:ext cx="12192000" cy="0"/>
          </a:xfrm>
          <a:prstGeom prst="line">
            <a:avLst/>
          </a:prstGeom>
          <a:ln>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5" name="מלבן: פינות מעוגלות 4">
            <a:extLst>
              <a:ext uri="{FF2B5EF4-FFF2-40B4-BE49-F238E27FC236}">
                <a16:creationId xmlns:a16="http://schemas.microsoft.com/office/drawing/2014/main" id="{8EA0EE73-3935-A8D5-9EE0-0AAEC9D58BC7}"/>
              </a:ext>
            </a:extLst>
          </p:cNvPr>
          <p:cNvSpPr/>
          <p:nvPr/>
        </p:nvSpPr>
        <p:spPr>
          <a:xfrm>
            <a:off x="268356" y="6182143"/>
            <a:ext cx="1798983" cy="506891"/>
          </a:xfrm>
          <a:prstGeom prst="roundRect">
            <a:avLst>
              <a:gd name="adj" fmla="val 50000"/>
            </a:avLst>
          </a:prstGeom>
          <a:solidFill>
            <a:schemeClr val="bg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he-IL"/>
              <a:t>צדקתי?</a:t>
            </a:r>
            <a:endParaRPr lang="LID4096"/>
          </a:p>
        </p:txBody>
      </p:sp>
      <p:sp>
        <p:nvSpPr>
          <p:cNvPr id="6" name="תיבת טקסט 5">
            <a:extLst>
              <a:ext uri="{FF2B5EF4-FFF2-40B4-BE49-F238E27FC236}">
                <a16:creationId xmlns:a16="http://schemas.microsoft.com/office/drawing/2014/main" id="{FF491F3A-E7E4-256F-9735-85229CBBEB53}"/>
              </a:ext>
            </a:extLst>
          </p:cNvPr>
          <p:cNvSpPr txBox="1"/>
          <p:nvPr/>
        </p:nvSpPr>
        <p:spPr>
          <a:xfrm>
            <a:off x="4953634" y="1307816"/>
            <a:ext cx="6589124" cy="2954655"/>
          </a:xfrm>
          <a:prstGeom prst="rect">
            <a:avLst/>
          </a:prstGeom>
          <a:noFill/>
        </p:spPr>
        <p:txBody>
          <a:bodyPr wrap="square" rtlCol="0">
            <a:spAutoFit/>
          </a:bodyPr>
          <a:lstStyle/>
          <a:p>
            <a:pPr>
              <a:lnSpc>
                <a:spcPct val="150000"/>
              </a:lnSpc>
            </a:pPr>
            <a:r>
              <a:rPr lang="he-IL">
                <a:latin typeface="Assistant" pitchFamily="2" charset="-79"/>
                <a:cs typeface="Assistant" pitchFamily="2" charset="-79"/>
              </a:rPr>
              <a:t>3. במסיבת פורים של תנועת הנוער, רועי ועינת רצו לקנות יחד את "כרטיס הזהב" הגדול שמחירו 12 שקלים, כדי להגדיל את הסיכוי שלהם לזכות בפרס.</a:t>
            </a:r>
          </a:p>
          <a:p>
            <a:pPr>
              <a:lnSpc>
                <a:spcPct val="150000"/>
              </a:lnSpc>
              <a:spcAft>
                <a:spcPts val="1200"/>
              </a:spcAft>
            </a:pPr>
            <a:r>
              <a:rPr lang="he-IL">
                <a:latin typeface="Assistant" pitchFamily="2" charset="-79"/>
                <a:cs typeface="Assistant" pitchFamily="2" charset="-79"/>
              </a:rPr>
              <a:t>הם אספו את המטבעות שהיו להם בכיס:</a:t>
            </a:r>
          </a:p>
          <a:p>
            <a:pPr marL="285750" indent="-285750">
              <a:lnSpc>
                <a:spcPct val="150000"/>
              </a:lnSpc>
              <a:buFont typeface="Arial" panose="020B0604020202020204" pitchFamily="34" charset="0"/>
              <a:buChar char="•"/>
            </a:pPr>
            <a:r>
              <a:rPr lang="he-IL">
                <a:latin typeface="Assistant" pitchFamily="2" charset="-79"/>
                <a:cs typeface="Assistant" pitchFamily="2" charset="-79"/>
              </a:rPr>
              <a:t>רועי מצא 5 שקלים.</a:t>
            </a:r>
          </a:p>
          <a:p>
            <a:pPr marL="285750" indent="-285750">
              <a:lnSpc>
                <a:spcPct val="150000"/>
              </a:lnSpc>
              <a:spcAft>
                <a:spcPts val="600"/>
              </a:spcAft>
              <a:buFont typeface="Arial" panose="020B0604020202020204" pitchFamily="34" charset="0"/>
              <a:buChar char="•"/>
            </a:pPr>
            <a:r>
              <a:rPr lang="he-IL">
                <a:latin typeface="Assistant" pitchFamily="2" charset="-79"/>
                <a:cs typeface="Assistant" pitchFamily="2" charset="-79"/>
              </a:rPr>
              <a:t>עינת מצאה 7 שקלים.</a:t>
            </a:r>
          </a:p>
          <a:p>
            <a:endParaRPr lang="he-IL">
              <a:latin typeface="Assistant" pitchFamily="2" charset="-79"/>
              <a:cs typeface="Assistant" pitchFamily="2" charset="-79"/>
            </a:endParaRPr>
          </a:p>
          <a:p>
            <a:r>
              <a:rPr lang="he-IL" b="1">
                <a:solidFill>
                  <a:srgbClr val="00B0F0"/>
                </a:solidFill>
                <a:latin typeface="Assistant" pitchFamily="2" charset="-79"/>
                <a:cs typeface="Assistant" pitchFamily="2" charset="-79"/>
              </a:rPr>
              <a:t>א. מהו היחס בין ההשקעה של רועי לבין ההשקעה של עינת?</a:t>
            </a:r>
          </a:p>
        </p:txBody>
      </p:sp>
      <p:sp>
        <p:nvSpPr>
          <p:cNvPr id="2" name="מלבן: פינות מעוגלות 1">
            <a:extLst>
              <a:ext uri="{FF2B5EF4-FFF2-40B4-BE49-F238E27FC236}">
                <a16:creationId xmlns:a16="http://schemas.microsoft.com/office/drawing/2014/main" id="{2D93E351-DFF2-281A-00D6-B56BAB1BA1B3}"/>
              </a:ext>
            </a:extLst>
          </p:cNvPr>
          <p:cNvSpPr/>
          <p:nvPr/>
        </p:nvSpPr>
        <p:spPr>
          <a:xfrm>
            <a:off x="2179982" y="6182142"/>
            <a:ext cx="2481470" cy="506891"/>
          </a:xfrm>
          <a:prstGeom prst="roundRect">
            <a:avLst>
              <a:gd name="adj" fmla="val 50000"/>
            </a:avLst>
          </a:prstGeom>
          <a:noFill/>
          <a:ln>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he-IL">
                <a:solidFill>
                  <a:srgbClr val="00B0F0"/>
                </a:solidFill>
              </a:rPr>
              <a:t>     אפשר רמז?</a:t>
            </a:r>
            <a:endParaRPr lang="LID4096">
              <a:solidFill>
                <a:srgbClr val="00B0F0"/>
              </a:solidFill>
            </a:endParaRPr>
          </a:p>
        </p:txBody>
      </p:sp>
      <p:pic>
        <p:nvPicPr>
          <p:cNvPr id="12" name="גרפיקה 11" descr="נורת חשמל וגלגל שיניים עם מילוי מלא">
            <a:extLst>
              <a:ext uri="{FF2B5EF4-FFF2-40B4-BE49-F238E27FC236}">
                <a16:creationId xmlns:a16="http://schemas.microsoft.com/office/drawing/2014/main" id="{6BF6B331-D86C-3EC8-8861-D2B56216286E}"/>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3831910" y="6266545"/>
            <a:ext cx="338083" cy="338083"/>
          </a:xfrm>
          <a:prstGeom prst="rect">
            <a:avLst/>
          </a:prstGeom>
        </p:spPr>
      </p:pic>
      <p:pic>
        <p:nvPicPr>
          <p:cNvPr id="3" name="תמונה 2">
            <a:extLst>
              <a:ext uri="{FF2B5EF4-FFF2-40B4-BE49-F238E27FC236}">
                <a16:creationId xmlns:a16="http://schemas.microsoft.com/office/drawing/2014/main" id="{1F0BBEA2-CE1A-A28D-F0E2-95B352FCB91F}"/>
              </a:ext>
            </a:extLst>
          </p:cNvPr>
          <p:cNvPicPr>
            <a:picLocks noChangeAspect="1"/>
          </p:cNvPicPr>
          <p:nvPr/>
        </p:nvPicPr>
        <p:blipFill>
          <a:blip r:embed="rId6">
            <a:extLst>
              <a:ext uri="{28A0092B-C50C-407E-A947-70E740481C1C}">
                <a14:useLocalDpi xmlns:a14="http://schemas.microsoft.com/office/drawing/2010/main"/>
              </a:ext>
            </a:extLst>
          </a:blip>
          <a:stretch>
            <a:fillRect/>
          </a:stretch>
        </p:blipFill>
        <p:spPr>
          <a:xfrm>
            <a:off x="0" y="57121"/>
            <a:ext cx="933869" cy="721626"/>
          </a:xfrm>
          <a:prstGeom prst="rect">
            <a:avLst/>
          </a:prstGeom>
        </p:spPr>
      </p:pic>
      <p:sp>
        <p:nvSpPr>
          <p:cNvPr id="7" name="מלבן: פינות מעוגלות 6">
            <a:extLst>
              <a:ext uri="{FF2B5EF4-FFF2-40B4-BE49-F238E27FC236}">
                <a16:creationId xmlns:a16="http://schemas.microsoft.com/office/drawing/2014/main" id="{BEB5DF28-BC07-DFF6-C454-67469962DEB9}"/>
              </a:ext>
            </a:extLst>
          </p:cNvPr>
          <p:cNvSpPr/>
          <p:nvPr/>
        </p:nvSpPr>
        <p:spPr>
          <a:xfrm>
            <a:off x="10244695" y="6193485"/>
            <a:ext cx="1798983" cy="506891"/>
          </a:xfrm>
          <a:prstGeom prst="roundRect">
            <a:avLst>
              <a:gd name="adj" fmla="val 50000"/>
            </a:avLst>
          </a:prstGeom>
          <a:noFill/>
          <a:ln>
            <a:solidFill>
              <a:srgbClr val="019DE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he-IL">
                <a:solidFill>
                  <a:srgbClr val="019DE5"/>
                </a:solidFill>
                <a:latin typeface="Assistant" pitchFamily="2" charset="-79"/>
                <a:cs typeface="Assistant" pitchFamily="2" charset="-79"/>
              </a:rPr>
              <a:t>חזרה</a:t>
            </a:r>
            <a:endParaRPr lang="LID4096">
              <a:solidFill>
                <a:srgbClr val="019DE5"/>
              </a:solidFill>
              <a:latin typeface="Assistant" pitchFamily="2" charset="-79"/>
              <a:cs typeface="Assistant" pitchFamily="2" charset="-79"/>
            </a:endParaRPr>
          </a:p>
        </p:txBody>
      </p:sp>
      <p:pic>
        <p:nvPicPr>
          <p:cNvPr id="9" name="תמונה 8">
            <a:extLst>
              <a:ext uri="{FF2B5EF4-FFF2-40B4-BE49-F238E27FC236}">
                <a16:creationId xmlns:a16="http://schemas.microsoft.com/office/drawing/2014/main" id="{89765DE0-A074-8999-0844-BD1DA6D539E4}"/>
              </a:ext>
            </a:extLst>
          </p:cNvPr>
          <p:cNvPicPr>
            <a:picLocks noChangeAspect="1"/>
          </p:cNvPicPr>
          <p:nvPr/>
        </p:nvPicPr>
        <p:blipFill>
          <a:blip r:embed="rId7">
            <a:extLst>
              <a:ext uri="{28A0092B-C50C-407E-A947-70E740481C1C}">
                <a14:useLocalDpi xmlns:a14="http://schemas.microsoft.com/office/drawing/2010/main"/>
              </a:ext>
            </a:extLst>
          </a:blip>
          <a:stretch>
            <a:fillRect/>
          </a:stretch>
        </p:blipFill>
        <p:spPr>
          <a:xfrm>
            <a:off x="2803561" y="417934"/>
            <a:ext cx="7847619" cy="558730"/>
          </a:xfrm>
          <a:prstGeom prst="rect">
            <a:avLst/>
          </a:prstGeom>
        </p:spPr>
      </p:pic>
      <p:sp>
        <p:nvSpPr>
          <p:cNvPr id="10" name="מלבן: פינות מעוגלות 9">
            <a:extLst>
              <a:ext uri="{FF2B5EF4-FFF2-40B4-BE49-F238E27FC236}">
                <a16:creationId xmlns:a16="http://schemas.microsoft.com/office/drawing/2014/main" id="{3A61DF70-7E31-2002-F6A9-D4B6CF9714B4}"/>
              </a:ext>
            </a:extLst>
          </p:cNvPr>
          <p:cNvSpPr/>
          <p:nvPr/>
        </p:nvSpPr>
        <p:spPr>
          <a:xfrm>
            <a:off x="-5502015" y="1983250"/>
            <a:ext cx="5175012" cy="4463680"/>
          </a:xfrm>
          <a:prstGeom prst="roundRect">
            <a:avLst>
              <a:gd name="adj" fmla="val 1647"/>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he-IL" sz="2000" b="1">
                <a:solidFill>
                  <a:schemeClr val="tx1"/>
                </a:solidFill>
                <a:latin typeface="Assistant" pitchFamily="2" charset="-79"/>
                <a:cs typeface="Assistant" pitchFamily="2" charset="-79"/>
              </a:rPr>
              <a:t>כל הכבוד, צדקתם! / טעיתם. לא נורא, מטעויות לומדים</a:t>
            </a:r>
          </a:p>
          <a:p>
            <a:pPr algn="ctr"/>
            <a:endParaRPr lang="he-IL" sz="2000" b="1">
              <a:solidFill>
                <a:schemeClr val="tx1"/>
              </a:solidFill>
              <a:latin typeface="Assistant" pitchFamily="2" charset="-79"/>
              <a:cs typeface="Assistant" pitchFamily="2" charset="-79"/>
            </a:endParaRPr>
          </a:p>
          <a:p>
            <a:r>
              <a:rPr lang="he-IL" sz="2000">
                <a:solidFill>
                  <a:schemeClr val="tx1"/>
                </a:solidFill>
                <a:latin typeface="Assistant" pitchFamily="2" charset="-79"/>
                <a:cs typeface="Assistant" pitchFamily="2" charset="-79"/>
              </a:rPr>
              <a:t>רועי שילם 5 ש"ח ועינת שילמה 7 ש"ח, לכן יחס ההשקעה הוא 7 : 5. </a:t>
            </a:r>
          </a:p>
        </p:txBody>
      </p:sp>
      <p:sp>
        <p:nvSpPr>
          <p:cNvPr id="13" name="מלבן: פינות מעוגלות 9">
            <a:extLst>
              <a:ext uri="{FF2B5EF4-FFF2-40B4-BE49-F238E27FC236}">
                <a16:creationId xmlns:a16="http://schemas.microsoft.com/office/drawing/2014/main" id="{6130D731-DE78-BE8B-516F-04AC1C5E9E02}"/>
              </a:ext>
            </a:extLst>
          </p:cNvPr>
          <p:cNvSpPr/>
          <p:nvPr/>
        </p:nvSpPr>
        <p:spPr>
          <a:xfrm>
            <a:off x="4905282" y="3823122"/>
            <a:ext cx="1190718" cy="490794"/>
          </a:xfrm>
          <a:prstGeom prst="roundRect">
            <a:avLst>
              <a:gd name="adj" fmla="val 1764"/>
            </a:avLst>
          </a:prstGeom>
          <a:noFill/>
          <a:ln w="12700">
            <a:solidFill>
              <a:srgbClr val="92D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he-IL" sz="2000">
                <a:solidFill>
                  <a:schemeClr val="tx1"/>
                </a:solidFill>
                <a:latin typeface="Assistant" pitchFamily="2" charset="-79"/>
                <a:cs typeface="Assistant" pitchFamily="2" charset="-79"/>
              </a:rPr>
              <a:t>7 : 5</a:t>
            </a:r>
            <a:endParaRPr lang="LID4096" sz="2000">
              <a:solidFill>
                <a:schemeClr val="tx1"/>
              </a:solidFill>
              <a:latin typeface="Assistant" pitchFamily="2" charset="-79"/>
              <a:cs typeface="Assistant" pitchFamily="2" charset="-79"/>
            </a:endParaRPr>
          </a:p>
        </p:txBody>
      </p:sp>
      <p:pic>
        <p:nvPicPr>
          <p:cNvPr id="16" name="Picture 15">
            <a:extLst>
              <a:ext uri="{FF2B5EF4-FFF2-40B4-BE49-F238E27FC236}">
                <a16:creationId xmlns:a16="http://schemas.microsoft.com/office/drawing/2014/main" id="{05E35EFA-B1D4-F6FD-90FC-AEF9B2675CD9}"/>
              </a:ext>
            </a:extLst>
          </p:cNvPr>
          <p:cNvPicPr>
            <a:picLocks noChangeAspect="1"/>
          </p:cNvPicPr>
          <p:nvPr/>
        </p:nvPicPr>
        <p:blipFill>
          <a:blip r:embed="rId8" cstate="email">
            <a:extLst>
              <a:ext uri="{28A0092B-C50C-407E-A947-70E740481C1C}">
                <a14:useLocalDpi xmlns:a14="http://schemas.microsoft.com/office/drawing/2010/main"/>
              </a:ext>
            </a:extLst>
          </a:blip>
          <a:stretch>
            <a:fillRect/>
          </a:stretch>
        </p:blipFill>
        <p:spPr>
          <a:xfrm>
            <a:off x="649242" y="1278650"/>
            <a:ext cx="3733799" cy="2489199"/>
          </a:xfrm>
          <a:prstGeom prst="rect">
            <a:avLst/>
          </a:prstGeom>
        </p:spPr>
      </p:pic>
      <p:grpSp>
        <p:nvGrpSpPr>
          <p:cNvPr id="8" name="קבוצה 14">
            <a:extLst>
              <a:ext uri="{FF2B5EF4-FFF2-40B4-BE49-F238E27FC236}">
                <a16:creationId xmlns:a16="http://schemas.microsoft.com/office/drawing/2014/main" id="{0672A853-BF37-CB0F-745A-07DEF100301D}"/>
              </a:ext>
            </a:extLst>
          </p:cNvPr>
          <p:cNvGrpSpPr/>
          <p:nvPr/>
        </p:nvGrpSpPr>
        <p:grpSpPr>
          <a:xfrm>
            <a:off x="-9409508" y="-752460"/>
            <a:ext cx="9123904" cy="3818372"/>
            <a:chOff x="-9229411" y="26138"/>
            <a:chExt cx="9123904" cy="3818372"/>
          </a:xfrm>
        </p:grpSpPr>
        <p:sp>
          <p:nvSpPr>
            <p:cNvPr id="14" name="מלבן: פינות מעוגלות 16">
              <a:extLst>
                <a:ext uri="{FF2B5EF4-FFF2-40B4-BE49-F238E27FC236}">
                  <a16:creationId xmlns:a16="http://schemas.microsoft.com/office/drawing/2014/main" id="{A5BAD789-95F7-3D39-50D8-B1A7F1A82AE5}"/>
                </a:ext>
              </a:extLst>
            </p:cNvPr>
            <p:cNvSpPr/>
            <p:nvPr/>
          </p:nvSpPr>
          <p:spPr>
            <a:xfrm>
              <a:off x="-9229411" y="26138"/>
              <a:ext cx="9123904" cy="3818372"/>
            </a:xfrm>
            <a:prstGeom prst="roundRect">
              <a:avLst>
                <a:gd name="adj" fmla="val 8509"/>
              </a:avLst>
            </a:prstGeom>
            <a:solidFill>
              <a:srgbClr val="00B0F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LID4096"/>
            </a:p>
          </p:txBody>
        </p:sp>
        <p:sp>
          <p:nvSpPr>
            <p:cNvPr id="15" name="תיבת טקסט 26">
              <a:extLst>
                <a:ext uri="{FF2B5EF4-FFF2-40B4-BE49-F238E27FC236}">
                  <a16:creationId xmlns:a16="http://schemas.microsoft.com/office/drawing/2014/main" id="{4B53FF17-CFB8-69D7-F931-93049F208397}"/>
                </a:ext>
              </a:extLst>
            </p:cNvPr>
            <p:cNvSpPr txBox="1"/>
            <p:nvPr/>
          </p:nvSpPr>
          <p:spPr>
            <a:xfrm>
              <a:off x="-5861703" y="474122"/>
              <a:ext cx="4878145" cy="707886"/>
            </a:xfrm>
            <a:prstGeom prst="rect">
              <a:avLst/>
            </a:prstGeom>
            <a:noFill/>
          </p:spPr>
          <p:txBody>
            <a:bodyPr wrap="square" rtlCol="0">
              <a:spAutoFit/>
            </a:bodyPr>
            <a:lstStyle/>
            <a:p>
              <a:r>
                <a:rPr lang="he-IL" sz="2000">
                  <a:solidFill>
                    <a:schemeClr val="bg1"/>
                  </a:solidFill>
                  <a:latin typeface="Assistant" pitchFamily="2" charset="-79"/>
                  <a:cs typeface="Assistant" pitchFamily="2" charset="-79"/>
                </a:rPr>
                <a:t>כמה שקלים שילם רועי וכמה עינת? </a:t>
              </a:r>
            </a:p>
            <a:p>
              <a:r>
                <a:rPr lang="he-IL" sz="2000">
                  <a:solidFill>
                    <a:schemeClr val="bg1"/>
                  </a:solidFill>
                  <a:latin typeface="Assistant" pitchFamily="2" charset="-79"/>
                  <a:cs typeface="Assistant" pitchFamily="2" charset="-79"/>
                </a:rPr>
                <a:t>כיצד תבטאו את הסכומים כיחס? </a:t>
              </a:r>
              <a:endParaRPr lang="LID4096" sz="2000">
                <a:solidFill>
                  <a:schemeClr val="bg1"/>
                </a:solidFill>
                <a:latin typeface="Assistant" pitchFamily="2" charset="-79"/>
                <a:cs typeface="Assistant" pitchFamily="2" charset="-79"/>
              </a:endParaRPr>
            </a:p>
          </p:txBody>
        </p:sp>
        <p:sp>
          <p:nvSpPr>
            <p:cNvPr id="17" name="מלבן: פינות מעוגלות 27">
              <a:extLst>
                <a:ext uri="{FF2B5EF4-FFF2-40B4-BE49-F238E27FC236}">
                  <a16:creationId xmlns:a16="http://schemas.microsoft.com/office/drawing/2014/main" id="{6BFB6E91-C119-784E-FAB9-EC14E012BF32}"/>
                </a:ext>
              </a:extLst>
            </p:cNvPr>
            <p:cNvSpPr/>
            <p:nvPr/>
          </p:nvSpPr>
          <p:spPr>
            <a:xfrm>
              <a:off x="-5861703" y="3135618"/>
              <a:ext cx="1798983" cy="506891"/>
            </a:xfrm>
            <a:prstGeom prst="roundRect">
              <a:avLst>
                <a:gd name="adj" fmla="val 50000"/>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he-IL">
                  <a:solidFill>
                    <a:schemeClr val="tx1"/>
                  </a:solidFill>
                  <a:latin typeface="Assistant" pitchFamily="2" charset="-79"/>
                  <a:cs typeface="Assistant" pitchFamily="2" charset="-79"/>
                </a:rPr>
                <a:t>חזרה לשאלה</a:t>
              </a:r>
              <a:endParaRPr lang="LID4096">
                <a:solidFill>
                  <a:schemeClr val="tx1"/>
                </a:solidFill>
                <a:latin typeface="Assistant" pitchFamily="2" charset="-79"/>
                <a:cs typeface="Assistant" pitchFamily="2" charset="-79"/>
              </a:endParaRPr>
            </a:p>
          </p:txBody>
        </p:sp>
        <p:pic>
          <p:nvPicPr>
            <p:cNvPr id="18" name="גרפיקה 28" descr="נורת חשמל וגלגל שיניים עם מילוי מלא">
              <a:extLst>
                <a:ext uri="{FF2B5EF4-FFF2-40B4-BE49-F238E27FC236}">
                  <a16:creationId xmlns:a16="http://schemas.microsoft.com/office/drawing/2014/main" id="{ABB4C019-80C3-05D8-6CD3-71233A36BB41}"/>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983558" y="489982"/>
              <a:ext cx="338083" cy="338083"/>
            </a:xfrm>
            <a:prstGeom prst="rect">
              <a:avLst/>
            </a:prstGeom>
          </p:spPr>
        </p:pic>
      </p:grpSp>
    </p:spTree>
    <p:custDataLst>
      <p:tags r:id="rId1"/>
    </p:custDataLst>
    <p:extLst>
      <p:ext uri="{BB962C8B-B14F-4D97-AF65-F5344CB8AC3E}">
        <p14:creationId xmlns:p14="http://schemas.microsoft.com/office/powerpoint/2010/main" val="1462193133"/>
      </p:ext>
    </p:extLst>
  </p:cSld>
  <p:clrMapOvr>
    <a:masterClrMapping/>
  </p:clrMapOvr>
  <p:extLst>
    <p:ext uri="{6950BFC3-D8DA-4A85-94F7-54DA5524770B}">
      <p188:commentRel xmlns:p188="http://schemas.microsoft.com/office/powerpoint/2018/8/main" r:id="rId4"/>
    </p:ext>
  </p:extLs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E736AA-25ED-930A-6CF8-E1B502E18F9C}"/>
            </a:ext>
          </a:extLst>
        </p:cNvPr>
        <p:cNvGrpSpPr/>
        <p:nvPr/>
      </p:nvGrpSpPr>
      <p:grpSpPr>
        <a:xfrm>
          <a:off x="0" y="0"/>
          <a:ext cx="0" cy="0"/>
          <a:chOff x="0" y="0"/>
          <a:chExt cx="0" cy="0"/>
        </a:xfrm>
      </p:grpSpPr>
      <p:cxnSp>
        <p:nvCxnSpPr>
          <p:cNvPr id="4" name="מחבר ישר 3">
            <a:extLst>
              <a:ext uri="{FF2B5EF4-FFF2-40B4-BE49-F238E27FC236}">
                <a16:creationId xmlns:a16="http://schemas.microsoft.com/office/drawing/2014/main" id="{ED2DA27D-6C09-AF3F-ED4A-DFA24531AE31}"/>
              </a:ext>
            </a:extLst>
          </p:cNvPr>
          <p:cNvCxnSpPr>
            <a:cxnSpLocks/>
          </p:cNvCxnSpPr>
          <p:nvPr/>
        </p:nvCxnSpPr>
        <p:spPr>
          <a:xfrm>
            <a:off x="0" y="6079252"/>
            <a:ext cx="12192000" cy="0"/>
          </a:xfrm>
          <a:prstGeom prst="line">
            <a:avLst/>
          </a:prstGeom>
          <a:ln>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5" name="מלבן: פינות מעוגלות 4">
            <a:extLst>
              <a:ext uri="{FF2B5EF4-FFF2-40B4-BE49-F238E27FC236}">
                <a16:creationId xmlns:a16="http://schemas.microsoft.com/office/drawing/2014/main" id="{7262FB33-65E8-0769-3640-5EC61EEE5B13}"/>
              </a:ext>
            </a:extLst>
          </p:cNvPr>
          <p:cNvSpPr/>
          <p:nvPr/>
        </p:nvSpPr>
        <p:spPr>
          <a:xfrm>
            <a:off x="268356" y="6182143"/>
            <a:ext cx="1798983" cy="506891"/>
          </a:xfrm>
          <a:prstGeom prst="roundRect">
            <a:avLst>
              <a:gd name="adj" fmla="val 50000"/>
            </a:avLst>
          </a:prstGeom>
          <a:solidFill>
            <a:schemeClr val="bg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he-IL"/>
              <a:t>צדקתי?</a:t>
            </a:r>
            <a:endParaRPr lang="LID4096"/>
          </a:p>
        </p:txBody>
      </p:sp>
      <p:sp>
        <p:nvSpPr>
          <p:cNvPr id="6" name="תיבת טקסט 5">
            <a:extLst>
              <a:ext uri="{FF2B5EF4-FFF2-40B4-BE49-F238E27FC236}">
                <a16:creationId xmlns:a16="http://schemas.microsoft.com/office/drawing/2014/main" id="{2B9D9E59-9B30-ED0E-2637-1EE4ACBB90C5}"/>
              </a:ext>
            </a:extLst>
          </p:cNvPr>
          <p:cNvSpPr txBox="1"/>
          <p:nvPr/>
        </p:nvSpPr>
        <p:spPr>
          <a:xfrm>
            <a:off x="4383041" y="1185926"/>
            <a:ext cx="7342742" cy="1938992"/>
          </a:xfrm>
          <a:prstGeom prst="rect">
            <a:avLst/>
          </a:prstGeom>
          <a:noFill/>
        </p:spPr>
        <p:txBody>
          <a:bodyPr wrap="square" rtlCol="0">
            <a:spAutoFit/>
          </a:bodyPr>
          <a:lstStyle/>
          <a:p>
            <a:r>
              <a:rPr lang="he-IL" sz="2000">
                <a:latin typeface="Assistant" pitchFamily="2" charset="-79"/>
                <a:cs typeface="Assistant" pitchFamily="2" charset="-79"/>
              </a:rPr>
              <a:t>רועי ועינת זכו בפרס הגדול של 120 שקלים!!!</a:t>
            </a:r>
          </a:p>
          <a:p>
            <a:endParaRPr lang="he-IL" sz="2000">
              <a:latin typeface="Assistant" pitchFamily="2" charset="-79"/>
              <a:cs typeface="Assistant" pitchFamily="2" charset="-79"/>
            </a:endParaRPr>
          </a:p>
          <a:p>
            <a:r>
              <a:rPr lang="he-IL" sz="2000">
                <a:latin typeface="Assistant" pitchFamily="2" charset="-79"/>
                <a:cs typeface="Assistant" pitchFamily="2" charset="-79"/>
              </a:rPr>
              <a:t>עכשיו הם רוצים לחלק את 120 השקלים בצורה הוגנת, </a:t>
            </a:r>
          </a:p>
          <a:p>
            <a:r>
              <a:rPr lang="he-IL" sz="2000">
                <a:latin typeface="Assistant" pitchFamily="2" charset="-79"/>
                <a:cs typeface="Assistant" pitchFamily="2" charset="-79"/>
              </a:rPr>
              <a:t>לפי יחס הכסף שכל אחד מהם שילם בקניה. </a:t>
            </a:r>
          </a:p>
          <a:p>
            <a:endParaRPr lang="he-IL" sz="2000" b="1">
              <a:solidFill>
                <a:srgbClr val="019DE5"/>
              </a:solidFill>
              <a:latin typeface="Assistant" pitchFamily="2" charset="-79"/>
              <a:cs typeface="Assistant" pitchFamily="2" charset="-79"/>
            </a:endParaRPr>
          </a:p>
          <a:p>
            <a:r>
              <a:rPr lang="he-IL" sz="2000" b="1">
                <a:solidFill>
                  <a:srgbClr val="019DE5"/>
                </a:solidFill>
                <a:latin typeface="Assistant" pitchFamily="2" charset="-79"/>
                <a:cs typeface="Assistant" pitchFamily="2" charset="-79"/>
              </a:rPr>
              <a:t>ב. סמנו את התשובה הנכונה:</a:t>
            </a:r>
            <a:endParaRPr lang="LID4096" sz="2000" b="1">
              <a:latin typeface="Assistant" pitchFamily="2" charset="-79"/>
              <a:cs typeface="Assistant" pitchFamily="2" charset="-79"/>
            </a:endParaRPr>
          </a:p>
        </p:txBody>
      </p:sp>
      <p:sp>
        <p:nvSpPr>
          <p:cNvPr id="2" name="מלבן: פינות מעוגלות 1">
            <a:extLst>
              <a:ext uri="{FF2B5EF4-FFF2-40B4-BE49-F238E27FC236}">
                <a16:creationId xmlns:a16="http://schemas.microsoft.com/office/drawing/2014/main" id="{C92BC8D3-66C9-3847-66F3-B66997F45A30}"/>
              </a:ext>
            </a:extLst>
          </p:cNvPr>
          <p:cNvSpPr/>
          <p:nvPr/>
        </p:nvSpPr>
        <p:spPr>
          <a:xfrm>
            <a:off x="2179982" y="6182142"/>
            <a:ext cx="2481470" cy="506891"/>
          </a:xfrm>
          <a:prstGeom prst="roundRect">
            <a:avLst>
              <a:gd name="adj" fmla="val 50000"/>
            </a:avLst>
          </a:prstGeom>
          <a:noFill/>
          <a:ln>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he-IL">
                <a:solidFill>
                  <a:srgbClr val="00B0F0"/>
                </a:solidFill>
              </a:rPr>
              <a:t>     אפשר רמז?</a:t>
            </a:r>
            <a:endParaRPr lang="LID4096">
              <a:solidFill>
                <a:srgbClr val="00B0F0"/>
              </a:solidFill>
            </a:endParaRPr>
          </a:p>
        </p:txBody>
      </p:sp>
      <p:pic>
        <p:nvPicPr>
          <p:cNvPr id="12" name="גרפיקה 11" descr="נורת חשמל וגלגל שיניים עם מילוי מלא">
            <a:extLst>
              <a:ext uri="{FF2B5EF4-FFF2-40B4-BE49-F238E27FC236}">
                <a16:creationId xmlns:a16="http://schemas.microsoft.com/office/drawing/2014/main" id="{60CDAD5D-A160-89BF-EBA3-B9CAD926A7F7}"/>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831910" y="6266545"/>
            <a:ext cx="338083" cy="338083"/>
          </a:xfrm>
          <a:prstGeom prst="rect">
            <a:avLst/>
          </a:prstGeom>
        </p:spPr>
      </p:pic>
      <p:pic>
        <p:nvPicPr>
          <p:cNvPr id="3" name="תמונה 2">
            <a:extLst>
              <a:ext uri="{FF2B5EF4-FFF2-40B4-BE49-F238E27FC236}">
                <a16:creationId xmlns:a16="http://schemas.microsoft.com/office/drawing/2014/main" id="{7322F4B3-F704-C601-1AB1-483462632DF7}"/>
              </a:ext>
            </a:extLst>
          </p:cNvPr>
          <p:cNvPicPr>
            <a:picLocks noChangeAspect="1"/>
          </p:cNvPicPr>
          <p:nvPr/>
        </p:nvPicPr>
        <p:blipFill>
          <a:blip r:embed="rId5">
            <a:extLst>
              <a:ext uri="{28A0092B-C50C-407E-A947-70E740481C1C}">
                <a14:useLocalDpi xmlns:a14="http://schemas.microsoft.com/office/drawing/2010/main"/>
              </a:ext>
            </a:extLst>
          </a:blip>
          <a:stretch>
            <a:fillRect/>
          </a:stretch>
        </p:blipFill>
        <p:spPr>
          <a:xfrm>
            <a:off x="0" y="57121"/>
            <a:ext cx="933869" cy="721626"/>
          </a:xfrm>
          <a:prstGeom prst="rect">
            <a:avLst/>
          </a:prstGeom>
        </p:spPr>
      </p:pic>
      <p:sp>
        <p:nvSpPr>
          <p:cNvPr id="7" name="מלבן: פינות מעוגלות 6">
            <a:extLst>
              <a:ext uri="{FF2B5EF4-FFF2-40B4-BE49-F238E27FC236}">
                <a16:creationId xmlns:a16="http://schemas.microsoft.com/office/drawing/2014/main" id="{A35483B4-A449-23A0-9328-34697FCCD693}"/>
              </a:ext>
            </a:extLst>
          </p:cNvPr>
          <p:cNvSpPr/>
          <p:nvPr/>
        </p:nvSpPr>
        <p:spPr>
          <a:xfrm>
            <a:off x="10244695" y="6193485"/>
            <a:ext cx="1798983" cy="506891"/>
          </a:xfrm>
          <a:prstGeom prst="roundRect">
            <a:avLst>
              <a:gd name="adj" fmla="val 50000"/>
            </a:avLst>
          </a:prstGeom>
          <a:noFill/>
          <a:ln>
            <a:solidFill>
              <a:srgbClr val="019DE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he-IL">
                <a:solidFill>
                  <a:srgbClr val="019DE5"/>
                </a:solidFill>
                <a:latin typeface="Assistant" pitchFamily="2" charset="-79"/>
                <a:cs typeface="Assistant" pitchFamily="2" charset="-79"/>
              </a:rPr>
              <a:t>חזרה</a:t>
            </a:r>
            <a:endParaRPr lang="LID4096">
              <a:solidFill>
                <a:srgbClr val="019DE5"/>
              </a:solidFill>
              <a:latin typeface="Assistant" pitchFamily="2" charset="-79"/>
              <a:cs typeface="Assistant" pitchFamily="2" charset="-79"/>
            </a:endParaRPr>
          </a:p>
        </p:txBody>
      </p:sp>
      <p:pic>
        <p:nvPicPr>
          <p:cNvPr id="9" name="תמונה 8">
            <a:extLst>
              <a:ext uri="{FF2B5EF4-FFF2-40B4-BE49-F238E27FC236}">
                <a16:creationId xmlns:a16="http://schemas.microsoft.com/office/drawing/2014/main" id="{DEFC13AC-AE24-987E-F7BE-91433C9FF050}"/>
              </a:ext>
            </a:extLst>
          </p:cNvPr>
          <p:cNvPicPr>
            <a:picLocks noChangeAspect="1"/>
          </p:cNvPicPr>
          <p:nvPr/>
        </p:nvPicPr>
        <p:blipFill>
          <a:blip r:embed="rId6">
            <a:extLst>
              <a:ext uri="{28A0092B-C50C-407E-A947-70E740481C1C}">
                <a14:useLocalDpi xmlns:a14="http://schemas.microsoft.com/office/drawing/2010/main"/>
              </a:ext>
            </a:extLst>
          </a:blip>
          <a:stretch>
            <a:fillRect/>
          </a:stretch>
        </p:blipFill>
        <p:spPr>
          <a:xfrm>
            <a:off x="2803561" y="417934"/>
            <a:ext cx="7847619" cy="558730"/>
          </a:xfrm>
          <a:prstGeom prst="rect">
            <a:avLst/>
          </a:prstGeom>
        </p:spPr>
      </p:pic>
      <mc:AlternateContent xmlns:mc="http://schemas.openxmlformats.org/markup-compatibility/2006" xmlns:a14="http://schemas.microsoft.com/office/drawing/2010/main">
        <mc:Choice Requires="a14">
          <p:sp>
            <p:nvSpPr>
              <p:cNvPr id="10" name="מלבן: פינות מעוגלות 9">
                <a:extLst>
                  <a:ext uri="{FF2B5EF4-FFF2-40B4-BE49-F238E27FC236}">
                    <a16:creationId xmlns:a16="http://schemas.microsoft.com/office/drawing/2014/main" id="{D007AE42-576C-02B4-6990-0339C1CDBA4B}"/>
                  </a:ext>
                </a:extLst>
              </p:cNvPr>
              <p:cNvSpPr/>
              <p:nvPr/>
            </p:nvSpPr>
            <p:spPr>
              <a:xfrm>
                <a:off x="-5485664" y="2529896"/>
                <a:ext cx="5175012" cy="4463680"/>
              </a:xfrm>
              <a:prstGeom prst="roundRect">
                <a:avLst>
                  <a:gd name="adj" fmla="val 1647"/>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he-IL" sz="2000" b="1">
                    <a:solidFill>
                      <a:schemeClr val="tx1"/>
                    </a:solidFill>
                    <a:latin typeface="Assistant" pitchFamily="2" charset="-79"/>
                    <a:cs typeface="Assistant" pitchFamily="2" charset="-79"/>
                  </a:rPr>
                  <a:t>כל הכבוד, צדקתם! / טעיתם. לא נורא, מטעויות לומדים</a:t>
                </a:r>
              </a:p>
              <a:p>
                <a:pPr algn="ctr"/>
                <a:endParaRPr lang="he-IL" sz="2000" b="1">
                  <a:solidFill>
                    <a:schemeClr val="tx1"/>
                  </a:solidFill>
                  <a:latin typeface="Assistant" pitchFamily="2" charset="-79"/>
                  <a:cs typeface="Assistant" pitchFamily="2" charset="-79"/>
                </a:endParaRPr>
              </a:p>
              <a:p>
                <a:r>
                  <a:rPr lang="he-IL" sz="2000">
                    <a:solidFill>
                      <a:schemeClr val="tx1"/>
                    </a:solidFill>
                    <a:latin typeface="Assistant" pitchFamily="2" charset="-79"/>
                    <a:cs typeface="Assistant" pitchFamily="2" charset="-79"/>
                  </a:rPr>
                  <a:t>רועי ועינת זכו ב- </a:t>
                </a:r>
                <a:r>
                  <a:rPr lang="en-US" sz="2000">
                    <a:solidFill>
                      <a:schemeClr val="tx1"/>
                    </a:solidFill>
                    <a:latin typeface="Assistant" pitchFamily="2" charset="-79"/>
                    <a:cs typeface="Assistant" pitchFamily="2" charset="-79"/>
                  </a:rPr>
                  <a:t>120</a:t>
                </a:r>
                <a:r>
                  <a:rPr lang="he-IL" sz="2000">
                    <a:solidFill>
                      <a:schemeClr val="tx1"/>
                    </a:solidFill>
                    <a:latin typeface="Assistant" pitchFamily="2" charset="-79"/>
                    <a:cs typeface="Assistant" pitchFamily="2" charset="-79"/>
                  </a:rPr>
                  <a:t> ש"ח ועליהם לחלק את הסכום ביחס של 7 : 5.</a:t>
                </a:r>
              </a:p>
              <a:p>
                <a:r>
                  <a:rPr lang="he-IL" sz="2000">
                    <a:solidFill>
                      <a:schemeClr val="tx1"/>
                    </a:solidFill>
                    <a:latin typeface="Assistant" pitchFamily="2" charset="-79"/>
                    <a:cs typeface="Assistant" pitchFamily="2" charset="-79"/>
                  </a:rPr>
                  <a:t>נחשב כמה רועי יקבל: </a:t>
                </a:r>
                <a14:m>
                  <m:oMath xmlns:m="http://schemas.openxmlformats.org/officeDocument/2006/math">
                    <m:f>
                      <m:fPr>
                        <m:ctrlPr>
                          <a:rPr lang="en-US" sz="2000" i="1">
                            <a:solidFill>
                              <a:schemeClr val="tx1"/>
                            </a:solidFill>
                            <a:latin typeface="Cambria Math" panose="02040503050406030204" pitchFamily="18" charset="0"/>
                          </a:rPr>
                        </m:ctrlPr>
                      </m:fPr>
                      <m:num>
                        <m:r>
                          <a:rPr lang="en-US" sz="2000" i="1">
                            <a:solidFill>
                              <a:schemeClr val="tx1"/>
                            </a:solidFill>
                            <a:latin typeface="Cambria Math" panose="02040503050406030204" pitchFamily="18" charset="0"/>
                          </a:rPr>
                          <m:t>5</m:t>
                        </m:r>
                      </m:num>
                      <m:den>
                        <m:r>
                          <a:rPr lang="en-US" sz="2000" i="1">
                            <a:solidFill>
                              <a:schemeClr val="tx1"/>
                            </a:solidFill>
                            <a:latin typeface="Cambria Math" panose="02040503050406030204" pitchFamily="18" charset="0"/>
                          </a:rPr>
                          <m:t>12</m:t>
                        </m:r>
                      </m:den>
                    </m:f>
                    <m:r>
                      <a:rPr lang="en-US" sz="2000" i="1">
                        <a:solidFill>
                          <a:schemeClr val="tx1"/>
                        </a:solidFill>
                        <a:latin typeface="Cambria Math" panose="02040503050406030204" pitchFamily="18" charset="0"/>
                      </a:rPr>
                      <m:t>⋅120=50 </m:t>
                    </m:r>
                  </m:oMath>
                </a14:m>
                <a:r>
                  <a:rPr lang="he-IL" sz="2000">
                    <a:solidFill>
                      <a:schemeClr val="tx1"/>
                    </a:solidFill>
                    <a:latin typeface="Assistant" pitchFamily="2" charset="-79"/>
                    <a:cs typeface="Assistant" pitchFamily="2" charset="-79"/>
                  </a:rPr>
                  <a:t>,</a:t>
                </a:r>
                <a:endParaRPr lang="en-US" sz="2000">
                  <a:solidFill>
                    <a:schemeClr val="tx1"/>
                  </a:solidFill>
                  <a:latin typeface="Assistant" pitchFamily="2" charset="-79"/>
                  <a:cs typeface="Assistant" pitchFamily="2" charset="-79"/>
                </a:endParaRPr>
              </a:p>
              <a:p>
                <a:r>
                  <a:rPr lang="he-IL" sz="2000">
                    <a:solidFill>
                      <a:schemeClr val="tx1"/>
                    </a:solidFill>
                    <a:latin typeface="Assistant" pitchFamily="2" charset="-79"/>
                    <a:cs typeface="Assistant" pitchFamily="2" charset="-79"/>
                  </a:rPr>
                  <a:t>וכמה עינת תקבל </a:t>
                </a:r>
                <a14:m>
                  <m:oMath xmlns:m="http://schemas.openxmlformats.org/officeDocument/2006/math">
                    <m:f>
                      <m:fPr>
                        <m:ctrlPr>
                          <a:rPr lang="en-US" sz="2000" i="1">
                            <a:solidFill>
                              <a:schemeClr val="tx1"/>
                            </a:solidFill>
                            <a:latin typeface="Cambria Math" panose="02040503050406030204" pitchFamily="18" charset="0"/>
                          </a:rPr>
                        </m:ctrlPr>
                      </m:fPr>
                      <m:num>
                        <m:r>
                          <a:rPr lang="en-US" sz="2000" i="1">
                            <a:solidFill>
                              <a:schemeClr val="tx1"/>
                            </a:solidFill>
                            <a:latin typeface="Cambria Math" panose="02040503050406030204" pitchFamily="18" charset="0"/>
                          </a:rPr>
                          <m:t>7</m:t>
                        </m:r>
                      </m:num>
                      <m:den>
                        <m:r>
                          <a:rPr lang="en-US" sz="2000" i="1">
                            <a:solidFill>
                              <a:schemeClr val="tx1"/>
                            </a:solidFill>
                            <a:latin typeface="Cambria Math" panose="02040503050406030204" pitchFamily="18" charset="0"/>
                          </a:rPr>
                          <m:t>12</m:t>
                        </m:r>
                      </m:den>
                    </m:f>
                    <m:r>
                      <a:rPr lang="en-US" sz="2000" i="1">
                        <a:solidFill>
                          <a:schemeClr val="tx1"/>
                        </a:solidFill>
                        <a:latin typeface="Cambria Math" panose="02040503050406030204" pitchFamily="18" charset="0"/>
                      </a:rPr>
                      <m:t>⋅120=70 </m:t>
                    </m:r>
                  </m:oMath>
                </a14:m>
                <a:r>
                  <a:rPr lang="he-IL" sz="2000">
                    <a:solidFill>
                      <a:schemeClr val="tx1"/>
                    </a:solidFill>
                    <a:latin typeface="Assistant" pitchFamily="2" charset="-79"/>
                    <a:cs typeface="Assistant" pitchFamily="2" charset="-79"/>
                  </a:rPr>
                  <a:t>.</a:t>
                </a:r>
                <a:endParaRPr lang="en-US" sz="2000">
                  <a:solidFill>
                    <a:schemeClr val="tx1"/>
                  </a:solidFill>
                  <a:latin typeface="Assistant" pitchFamily="2" charset="-79"/>
                  <a:cs typeface="Assistant" pitchFamily="2" charset="-79"/>
                </a:endParaRPr>
              </a:p>
            </p:txBody>
          </p:sp>
        </mc:Choice>
        <mc:Fallback xmlns="">
          <p:sp>
            <p:nvSpPr>
              <p:cNvPr id="10" name="מלבן: פינות מעוגלות 9">
                <a:extLst>
                  <a:ext uri="{FF2B5EF4-FFF2-40B4-BE49-F238E27FC236}">
                    <a16:creationId xmlns:a16="http://schemas.microsoft.com/office/drawing/2014/main" id="{D007AE42-576C-02B4-6990-0339C1CDBA4B}"/>
                  </a:ext>
                </a:extLst>
              </p:cNvPr>
              <p:cNvSpPr>
                <a:spLocks noRot="1" noChangeAspect="1" noMove="1" noResize="1" noEditPoints="1" noAdjustHandles="1" noChangeArrowheads="1" noChangeShapeType="1" noTextEdit="1"/>
              </p:cNvSpPr>
              <p:nvPr/>
            </p:nvSpPr>
            <p:spPr>
              <a:xfrm>
                <a:off x="-5485664" y="2529896"/>
                <a:ext cx="5175012" cy="4463680"/>
              </a:xfrm>
              <a:prstGeom prst="roundRect">
                <a:avLst>
                  <a:gd name="adj" fmla="val 1647"/>
                </a:avLst>
              </a:prstGeom>
              <a:blipFill>
                <a:blip r:embed="rId7"/>
                <a:stretch>
                  <a:fillRect r="-824"/>
                </a:stretch>
              </a:blipFill>
              <a:ln>
                <a:noFill/>
              </a:ln>
            </p:spPr>
            <p:txBody>
              <a:bodyPr/>
              <a:lstStyle/>
              <a:p>
                <a:r>
                  <a:rPr lang="en-US">
                    <a:noFill/>
                  </a:rPr>
                  <a:t> </a:t>
                </a:r>
              </a:p>
            </p:txBody>
          </p:sp>
        </mc:Fallback>
      </mc:AlternateContent>
      <p:sp>
        <p:nvSpPr>
          <p:cNvPr id="11" name="מלבן 10">
            <a:extLst>
              <a:ext uri="{FF2B5EF4-FFF2-40B4-BE49-F238E27FC236}">
                <a16:creationId xmlns:a16="http://schemas.microsoft.com/office/drawing/2014/main" id="{51E30E37-6A05-E5BE-F1AC-F0E70ACABF41}"/>
              </a:ext>
            </a:extLst>
          </p:cNvPr>
          <p:cNvSpPr/>
          <p:nvPr/>
        </p:nvSpPr>
        <p:spPr>
          <a:xfrm>
            <a:off x="-115414" y="-1103086"/>
            <a:ext cx="2295396" cy="976083"/>
          </a:xfrm>
          <a:prstGeom prst="rect">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he-IL" sz="1800" b="1" i="0" u="none" strike="noStrike" kern="1200" cap="none" spc="0" normalizeH="0" baseline="0" noProof="0">
                <a:ln>
                  <a:noFill/>
                </a:ln>
                <a:solidFill>
                  <a:prstClr val="black"/>
                </a:solidFill>
                <a:effectLst/>
                <a:uLnTx/>
                <a:uFillTx/>
                <a:latin typeface="Assistant" pitchFamily="2" charset="-79"/>
                <a:ea typeface="+mn-ea"/>
                <a:cs typeface="Assistant" pitchFamily="2" charset="-79"/>
                <a:hlinkClick r:id="rId8"/>
              </a:rPr>
              <a:t>רמת חשיבה</a:t>
            </a:r>
            <a:endParaRPr kumimoji="0" lang="he-IL" sz="1800" b="1" i="0" u="none" strike="noStrike" kern="1200" cap="none" spc="0" normalizeH="0" baseline="0" noProof="0">
              <a:ln>
                <a:noFill/>
              </a:ln>
              <a:solidFill>
                <a:prstClr val="black"/>
              </a:solidFill>
              <a:effectLst/>
              <a:uLnTx/>
              <a:uFillTx/>
              <a:latin typeface="Assistant" pitchFamily="2" charset="-79"/>
              <a:ea typeface="+mn-ea"/>
              <a:cs typeface="Assistant" pitchFamily="2" charset="-79"/>
            </a:endParaRPr>
          </a:p>
          <a:p>
            <a:pPr marL="285750" marR="0" lvl="0" indent="-285750" defTabSz="91440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he-IL" sz="1800" i="0" u="none" strike="noStrike" kern="1200" cap="none" spc="0" normalizeH="0" baseline="0" noProof="0">
                <a:ln>
                  <a:noFill/>
                </a:ln>
                <a:solidFill>
                  <a:prstClr val="black"/>
                </a:solidFill>
                <a:effectLst/>
                <a:uLnTx/>
                <a:uFillTx/>
                <a:latin typeface="Assistant" pitchFamily="2" charset="-79"/>
                <a:ea typeface="+mn-ea"/>
                <a:cs typeface="Assistant" pitchFamily="2" charset="-79"/>
              </a:rPr>
              <a:t>טקסט </a:t>
            </a:r>
          </a:p>
          <a:p>
            <a:pPr marL="285750" marR="0" lvl="0" indent="-285750" defTabSz="914400" eaLnBrk="1" fontAlgn="auto" latinLnBrk="0" hangingPunct="1">
              <a:lnSpc>
                <a:spcPct val="100000"/>
              </a:lnSpc>
              <a:spcBef>
                <a:spcPts val="0"/>
              </a:spcBef>
              <a:spcAft>
                <a:spcPts val="0"/>
              </a:spcAft>
              <a:buClrTx/>
              <a:buSzTx/>
              <a:buFont typeface="Arial" panose="020B0604020202020204" pitchFamily="34" charset="0"/>
              <a:buChar char="•"/>
              <a:tabLst/>
              <a:defRPr/>
            </a:pPr>
            <a:r>
              <a:rPr lang="he-IL">
                <a:solidFill>
                  <a:prstClr val="black"/>
                </a:solidFill>
                <a:latin typeface="Assistant" pitchFamily="2" charset="-79"/>
                <a:cs typeface="Assistant" pitchFamily="2" charset="-79"/>
              </a:rPr>
              <a:t>טקסט</a:t>
            </a:r>
            <a:endParaRPr kumimoji="0" lang="he-IL" sz="1800" i="0" u="none" strike="noStrike" kern="1200" cap="none" spc="0" normalizeH="0" baseline="0" noProof="0">
              <a:ln>
                <a:noFill/>
              </a:ln>
              <a:solidFill>
                <a:prstClr val="black"/>
              </a:solidFill>
              <a:effectLst/>
              <a:uLnTx/>
              <a:uFillTx/>
              <a:latin typeface="Assistant" pitchFamily="2" charset="-79"/>
              <a:ea typeface="+mn-ea"/>
              <a:cs typeface="Assistant" pitchFamily="2" charset="-79"/>
            </a:endParaRPr>
          </a:p>
        </p:txBody>
      </p:sp>
      <p:grpSp>
        <p:nvGrpSpPr>
          <p:cNvPr id="8" name="קבוצה 10">
            <a:extLst>
              <a:ext uri="{FF2B5EF4-FFF2-40B4-BE49-F238E27FC236}">
                <a16:creationId xmlns:a16="http://schemas.microsoft.com/office/drawing/2014/main" id="{F84D10CD-E67B-23EC-705D-DF51A50EEB06}"/>
              </a:ext>
            </a:extLst>
          </p:cNvPr>
          <p:cNvGrpSpPr/>
          <p:nvPr/>
        </p:nvGrpSpPr>
        <p:grpSpPr>
          <a:xfrm>
            <a:off x="5727700" y="3288067"/>
            <a:ext cx="5471524" cy="526581"/>
            <a:chOff x="6289068" y="3108471"/>
            <a:chExt cx="5471524" cy="641058"/>
          </a:xfrm>
        </p:grpSpPr>
        <p:grpSp>
          <p:nvGrpSpPr>
            <p:cNvPr id="13" name="קבוצה 8">
              <a:extLst>
                <a:ext uri="{FF2B5EF4-FFF2-40B4-BE49-F238E27FC236}">
                  <a16:creationId xmlns:a16="http://schemas.microsoft.com/office/drawing/2014/main" id="{14431C19-3D0B-2BAA-CB59-F49A44C7F644}"/>
                </a:ext>
              </a:extLst>
            </p:cNvPr>
            <p:cNvGrpSpPr/>
            <p:nvPr/>
          </p:nvGrpSpPr>
          <p:grpSpPr>
            <a:xfrm>
              <a:off x="6289068" y="3108471"/>
              <a:ext cx="5471524" cy="641058"/>
              <a:chOff x="6289068" y="3108471"/>
              <a:chExt cx="5471524" cy="641058"/>
            </a:xfrm>
          </p:grpSpPr>
          <p:sp>
            <p:nvSpPr>
              <p:cNvPr id="16" name="מלבן: פינות מעוגלות 6">
                <a:extLst>
                  <a:ext uri="{FF2B5EF4-FFF2-40B4-BE49-F238E27FC236}">
                    <a16:creationId xmlns:a16="http://schemas.microsoft.com/office/drawing/2014/main" id="{C31B92B4-9E85-0BDB-3485-4111B3EADC44}"/>
                  </a:ext>
                </a:extLst>
              </p:cNvPr>
              <p:cNvSpPr/>
              <p:nvPr/>
            </p:nvSpPr>
            <p:spPr>
              <a:xfrm>
                <a:off x="6289068" y="3108471"/>
                <a:ext cx="5471524" cy="641058"/>
              </a:xfrm>
              <a:prstGeom prst="roundRect">
                <a:avLst>
                  <a:gd name="adj" fmla="val 50000"/>
                </a:avLst>
              </a:prstGeom>
              <a:noFill/>
              <a:ln w="12700">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LID4096"/>
              </a:p>
            </p:txBody>
          </p:sp>
          <p:sp>
            <p:nvSpPr>
              <p:cNvPr id="18" name="תיבת טקסט 7">
                <a:extLst>
                  <a:ext uri="{FF2B5EF4-FFF2-40B4-BE49-F238E27FC236}">
                    <a16:creationId xmlns:a16="http://schemas.microsoft.com/office/drawing/2014/main" id="{D65A9A24-BC8D-EA89-4B30-8BFD3DE4918C}"/>
                  </a:ext>
                </a:extLst>
              </p:cNvPr>
              <p:cNvSpPr txBox="1"/>
              <p:nvPr/>
            </p:nvSpPr>
            <p:spPr>
              <a:xfrm>
                <a:off x="6898668" y="3193605"/>
                <a:ext cx="4300751" cy="487091"/>
              </a:xfrm>
              <a:prstGeom prst="rect">
                <a:avLst/>
              </a:prstGeom>
              <a:noFill/>
            </p:spPr>
            <p:txBody>
              <a:bodyPr wrap="square" rtlCol="0">
                <a:spAutoFit/>
              </a:bodyPr>
              <a:lstStyle/>
              <a:p>
                <a:r>
                  <a:rPr lang="he-IL" sz="2000">
                    <a:latin typeface="Assistant" pitchFamily="2" charset="-79"/>
                    <a:cs typeface="Assistant" pitchFamily="2" charset="-79"/>
                  </a:rPr>
                  <a:t>רועי יקבל 50 שקלים ועינת תקבל 70 שקלים</a:t>
                </a:r>
                <a:endParaRPr lang="LID4096" sz="2000">
                  <a:latin typeface="Assistant" pitchFamily="2" charset="-79"/>
                  <a:cs typeface="Assistant" pitchFamily="2" charset="-79"/>
                </a:endParaRPr>
              </a:p>
            </p:txBody>
          </p:sp>
        </p:grpSp>
        <p:sp>
          <p:nvSpPr>
            <p:cNvPr id="14" name="אליפסה 9">
              <a:extLst>
                <a:ext uri="{FF2B5EF4-FFF2-40B4-BE49-F238E27FC236}">
                  <a16:creationId xmlns:a16="http://schemas.microsoft.com/office/drawing/2014/main" id="{3A41DD69-1447-9FD0-7185-1F4C75A5E3F1}"/>
                </a:ext>
              </a:extLst>
            </p:cNvPr>
            <p:cNvSpPr/>
            <p:nvPr/>
          </p:nvSpPr>
          <p:spPr>
            <a:xfrm>
              <a:off x="11280913" y="3269817"/>
              <a:ext cx="252766" cy="318364"/>
            </a:xfrm>
            <a:prstGeom prst="ellipse">
              <a:avLst/>
            </a:prstGeom>
            <a:solidFill>
              <a:srgbClr val="00B050"/>
            </a:solid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LID4096"/>
            </a:p>
          </p:txBody>
        </p:sp>
      </p:grpSp>
      <p:grpSp>
        <p:nvGrpSpPr>
          <p:cNvPr id="19" name="קבוצה 10">
            <a:extLst>
              <a:ext uri="{FF2B5EF4-FFF2-40B4-BE49-F238E27FC236}">
                <a16:creationId xmlns:a16="http://schemas.microsoft.com/office/drawing/2014/main" id="{6C400E06-B5EB-973E-13DB-6D36E9EEFFC0}"/>
              </a:ext>
            </a:extLst>
          </p:cNvPr>
          <p:cNvGrpSpPr/>
          <p:nvPr/>
        </p:nvGrpSpPr>
        <p:grpSpPr>
          <a:xfrm>
            <a:off x="5727700" y="3947181"/>
            <a:ext cx="5471524" cy="526581"/>
            <a:chOff x="6289068" y="3108471"/>
            <a:chExt cx="5471524" cy="641058"/>
          </a:xfrm>
        </p:grpSpPr>
        <p:grpSp>
          <p:nvGrpSpPr>
            <p:cNvPr id="20" name="קבוצה 8">
              <a:extLst>
                <a:ext uri="{FF2B5EF4-FFF2-40B4-BE49-F238E27FC236}">
                  <a16:creationId xmlns:a16="http://schemas.microsoft.com/office/drawing/2014/main" id="{3CF8124C-81D5-E959-387E-8B904015CDB7}"/>
                </a:ext>
              </a:extLst>
            </p:cNvPr>
            <p:cNvGrpSpPr/>
            <p:nvPr/>
          </p:nvGrpSpPr>
          <p:grpSpPr>
            <a:xfrm>
              <a:off x="6289068" y="3108471"/>
              <a:ext cx="5471524" cy="641058"/>
              <a:chOff x="6289068" y="3108471"/>
              <a:chExt cx="5471524" cy="641058"/>
            </a:xfrm>
          </p:grpSpPr>
          <p:sp>
            <p:nvSpPr>
              <p:cNvPr id="22" name="מלבן: פינות מעוגלות 6">
                <a:extLst>
                  <a:ext uri="{FF2B5EF4-FFF2-40B4-BE49-F238E27FC236}">
                    <a16:creationId xmlns:a16="http://schemas.microsoft.com/office/drawing/2014/main" id="{3C4022BE-350C-C572-690B-3009993BCE2E}"/>
                  </a:ext>
                </a:extLst>
              </p:cNvPr>
              <p:cNvSpPr/>
              <p:nvPr/>
            </p:nvSpPr>
            <p:spPr>
              <a:xfrm>
                <a:off x="6289068" y="3108471"/>
                <a:ext cx="5471524" cy="641058"/>
              </a:xfrm>
              <a:prstGeom prst="roundRect">
                <a:avLst>
                  <a:gd name="adj" fmla="val 50000"/>
                </a:avLst>
              </a:prstGeom>
              <a:noFill/>
              <a:ln w="1270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LID4096"/>
              </a:p>
            </p:txBody>
          </p:sp>
          <p:sp>
            <p:nvSpPr>
              <p:cNvPr id="23" name="תיבת טקסט 7">
                <a:extLst>
                  <a:ext uri="{FF2B5EF4-FFF2-40B4-BE49-F238E27FC236}">
                    <a16:creationId xmlns:a16="http://schemas.microsoft.com/office/drawing/2014/main" id="{21699642-8D5F-5E0D-FD27-32FCA42F52A3}"/>
                  </a:ext>
                </a:extLst>
              </p:cNvPr>
              <p:cNvSpPr txBox="1"/>
              <p:nvPr/>
            </p:nvSpPr>
            <p:spPr>
              <a:xfrm>
                <a:off x="6709982" y="3193606"/>
                <a:ext cx="4489438" cy="487093"/>
              </a:xfrm>
              <a:prstGeom prst="rect">
                <a:avLst/>
              </a:prstGeom>
              <a:noFill/>
            </p:spPr>
            <p:txBody>
              <a:bodyPr wrap="square" rtlCol="0">
                <a:spAutoFit/>
              </a:bodyPr>
              <a:lstStyle/>
              <a:p>
                <a:r>
                  <a:rPr lang="he-IL" sz="2000">
                    <a:latin typeface="Assistant" pitchFamily="2" charset="-79"/>
                    <a:cs typeface="Assistant" pitchFamily="2" charset="-79"/>
                  </a:rPr>
                  <a:t>רועי יקבל 60 שקלים ועינת תקבל 60 שקלים</a:t>
                </a:r>
                <a:endParaRPr lang="LID4096" sz="2000">
                  <a:latin typeface="Assistant" pitchFamily="2" charset="-79"/>
                  <a:cs typeface="Assistant" pitchFamily="2" charset="-79"/>
                </a:endParaRPr>
              </a:p>
            </p:txBody>
          </p:sp>
        </p:grpSp>
        <p:sp>
          <p:nvSpPr>
            <p:cNvPr id="21" name="אליפסה 9">
              <a:extLst>
                <a:ext uri="{FF2B5EF4-FFF2-40B4-BE49-F238E27FC236}">
                  <a16:creationId xmlns:a16="http://schemas.microsoft.com/office/drawing/2014/main" id="{E358E38D-F4FE-A1B8-B06E-5771FF98BBBE}"/>
                </a:ext>
              </a:extLst>
            </p:cNvPr>
            <p:cNvSpPr/>
            <p:nvPr/>
          </p:nvSpPr>
          <p:spPr>
            <a:xfrm>
              <a:off x="11280913" y="3285278"/>
              <a:ext cx="252766" cy="318364"/>
            </a:xfrm>
            <a:prstGeom prst="ellipse">
              <a:avLst/>
            </a:prstGeom>
            <a:no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LID4096"/>
            </a:p>
          </p:txBody>
        </p:sp>
      </p:grpSp>
      <p:grpSp>
        <p:nvGrpSpPr>
          <p:cNvPr id="24" name="קבוצה 10">
            <a:extLst>
              <a:ext uri="{FF2B5EF4-FFF2-40B4-BE49-F238E27FC236}">
                <a16:creationId xmlns:a16="http://schemas.microsoft.com/office/drawing/2014/main" id="{19F7CF70-C81A-AE31-59B5-DAB5CA1A3E5B}"/>
              </a:ext>
            </a:extLst>
          </p:cNvPr>
          <p:cNvGrpSpPr/>
          <p:nvPr/>
        </p:nvGrpSpPr>
        <p:grpSpPr>
          <a:xfrm>
            <a:off x="5727698" y="4585813"/>
            <a:ext cx="5471525" cy="526581"/>
            <a:chOff x="6289066" y="3108471"/>
            <a:chExt cx="5471525" cy="641058"/>
          </a:xfrm>
        </p:grpSpPr>
        <p:grpSp>
          <p:nvGrpSpPr>
            <p:cNvPr id="25" name="קבוצה 8">
              <a:extLst>
                <a:ext uri="{FF2B5EF4-FFF2-40B4-BE49-F238E27FC236}">
                  <a16:creationId xmlns:a16="http://schemas.microsoft.com/office/drawing/2014/main" id="{E4B84BA2-C8FA-4A81-058E-F9C6EE78DDD5}"/>
                </a:ext>
              </a:extLst>
            </p:cNvPr>
            <p:cNvGrpSpPr/>
            <p:nvPr/>
          </p:nvGrpSpPr>
          <p:grpSpPr>
            <a:xfrm>
              <a:off x="6289066" y="3108471"/>
              <a:ext cx="5471525" cy="641058"/>
              <a:chOff x="6289066" y="3108471"/>
              <a:chExt cx="5471525" cy="641058"/>
            </a:xfrm>
          </p:grpSpPr>
          <p:sp>
            <p:nvSpPr>
              <p:cNvPr id="30" name="מלבן: פינות מעוגלות 6">
                <a:extLst>
                  <a:ext uri="{FF2B5EF4-FFF2-40B4-BE49-F238E27FC236}">
                    <a16:creationId xmlns:a16="http://schemas.microsoft.com/office/drawing/2014/main" id="{F9FC104A-B2E6-DDB7-42F9-319EAD15E72F}"/>
                  </a:ext>
                </a:extLst>
              </p:cNvPr>
              <p:cNvSpPr/>
              <p:nvPr/>
            </p:nvSpPr>
            <p:spPr>
              <a:xfrm>
                <a:off x="6289066" y="3108471"/>
                <a:ext cx="5471525" cy="641058"/>
              </a:xfrm>
              <a:prstGeom prst="roundRect">
                <a:avLst>
                  <a:gd name="adj" fmla="val 50000"/>
                </a:avLst>
              </a:prstGeom>
              <a:noFill/>
              <a:ln w="1270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LID4096"/>
              </a:p>
            </p:txBody>
          </p:sp>
          <p:sp>
            <p:nvSpPr>
              <p:cNvPr id="31" name="תיבת טקסט 7">
                <a:extLst>
                  <a:ext uri="{FF2B5EF4-FFF2-40B4-BE49-F238E27FC236}">
                    <a16:creationId xmlns:a16="http://schemas.microsoft.com/office/drawing/2014/main" id="{2DEDFE18-B24F-DDF3-5FF7-B0BD79E05D67}"/>
                  </a:ext>
                </a:extLst>
              </p:cNvPr>
              <p:cNvSpPr txBox="1"/>
              <p:nvPr/>
            </p:nvSpPr>
            <p:spPr>
              <a:xfrm>
                <a:off x="6709982" y="3193605"/>
                <a:ext cx="4489437" cy="487091"/>
              </a:xfrm>
              <a:prstGeom prst="rect">
                <a:avLst/>
              </a:prstGeom>
              <a:noFill/>
            </p:spPr>
            <p:txBody>
              <a:bodyPr wrap="square" rtlCol="0">
                <a:spAutoFit/>
              </a:bodyPr>
              <a:lstStyle/>
              <a:p>
                <a:r>
                  <a:rPr lang="he-IL" sz="2000">
                    <a:latin typeface="Assistant" pitchFamily="2" charset="-79"/>
                    <a:cs typeface="Assistant" pitchFamily="2" charset="-79"/>
                  </a:rPr>
                  <a:t>רועי יקבל 70 שקלים ועינת תקבל 50 שקלים</a:t>
                </a:r>
                <a:endParaRPr lang="LID4096" sz="2000">
                  <a:latin typeface="Assistant" pitchFamily="2" charset="-79"/>
                  <a:cs typeface="Assistant" pitchFamily="2" charset="-79"/>
                </a:endParaRPr>
              </a:p>
            </p:txBody>
          </p:sp>
        </p:grpSp>
        <p:sp>
          <p:nvSpPr>
            <p:cNvPr id="26" name="אליפסה 9">
              <a:extLst>
                <a:ext uri="{FF2B5EF4-FFF2-40B4-BE49-F238E27FC236}">
                  <a16:creationId xmlns:a16="http://schemas.microsoft.com/office/drawing/2014/main" id="{AFACCFC8-FB7D-113D-2946-F087B818A9DB}"/>
                </a:ext>
              </a:extLst>
            </p:cNvPr>
            <p:cNvSpPr/>
            <p:nvPr/>
          </p:nvSpPr>
          <p:spPr>
            <a:xfrm>
              <a:off x="11280913" y="3269817"/>
              <a:ext cx="252766" cy="318364"/>
            </a:xfrm>
            <a:prstGeom prst="ellipse">
              <a:avLst/>
            </a:prstGeom>
            <a:no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LID4096"/>
            </a:p>
          </p:txBody>
        </p:sp>
      </p:grpSp>
      <p:grpSp>
        <p:nvGrpSpPr>
          <p:cNvPr id="32" name="קבוצה 10">
            <a:extLst>
              <a:ext uri="{FF2B5EF4-FFF2-40B4-BE49-F238E27FC236}">
                <a16:creationId xmlns:a16="http://schemas.microsoft.com/office/drawing/2014/main" id="{DF42A1AC-3CDD-F98C-4C44-761271FF2271}"/>
              </a:ext>
            </a:extLst>
          </p:cNvPr>
          <p:cNvGrpSpPr/>
          <p:nvPr/>
        </p:nvGrpSpPr>
        <p:grpSpPr>
          <a:xfrm>
            <a:off x="5727698" y="5250115"/>
            <a:ext cx="5471526" cy="526581"/>
            <a:chOff x="6289066" y="3108471"/>
            <a:chExt cx="5471526" cy="641058"/>
          </a:xfrm>
        </p:grpSpPr>
        <p:grpSp>
          <p:nvGrpSpPr>
            <p:cNvPr id="33" name="קבוצה 8">
              <a:extLst>
                <a:ext uri="{FF2B5EF4-FFF2-40B4-BE49-F238E27FC236}">
                  <a16:creationId xmlns:a16="http://schemas.microsoft.com/office/drawing/2014/main" id="{1796F2DE-AA5E-FF85-2389-467C7905B14D}"/>
                </a:ext>
              </a:extLst>
            </p:cNvPr>
            <p:cNvGrpSpPr/>
            <p:nvPr/>
          </p:nvGrpSpPr>
          <p:grpSpPr>
            <a:xfrm>
              <a:off x="6289066" y="3108471"/>
              <a:ext cx="5471526" cy="641058"/>
              <a:chOff x="6289066" y="3108471"/>
              <a:chExt cx="5471526" cy="641058"/>
            </a:xfrm>
          </p:grpSpPr>
          <p:sp>
            <p:nvSpPr>
              <p:cNvPr id="35" name="מלבן: פינות מעוגלות 6">
                <a:extLst>
                  <a:ext uri="{FF2B5EF4-FFF2-40B4-BE49-F238E27FC236}">
                    <a16:creationId xmlns:a16="http://schemas.microsoft.com/office/drawing/2014/main" id="{CF624BB0-9ED3-452F-A62D-C484366A620D}"/>
                  </a:ext>
                </a:extLst>
              </p:cNvPr>
              <p:cNvSpPr/>
              <p:nvPr/>
            </p:nvSpPr>
            <p:spPr>
              <a:xfrm>
                <a:off x="6289066" y="3108471"/>
                <a:ext cx="5471526" cy="641058"/>
              </a:xfrm>
              <a:prstGeom prst="roundRect">
                <a:avLst>
                  <a:gd name="adj" fmla="val 50000"/>
                </a:avLst>
              </a:prstGeom>
              <a:noFill/>
              <a:ln w="1270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LID4096"/>
              </a:p>
            </p:txBody>
          </p:sp>
          <p:sp>
            <p:nvSpPr>
              <p:cNvPr id="36" name="תיבת טקסט 7">
                <a:extLst>
                  <a:ext uri="{FF2B5EF4-FFF2-40B4-BE49-F238E27FC236}">
                    <a16:creationId xmlns:a16="http://schemas.microsoft.com/office/drawing/2014/main" id="{81D86D2F-4E13-C2CA-79D4-4CA0ADF41512}"/>
                  </a:ext>
                </a:extLst>
              </p:cNvPr>
              <p:cNvSpPr txBox="1"/>
              <p:nvPr/>
            </p:nvSpPr>
            <p:spPr>
              <a:xfrm>
                <a:off x="6898668" y="3193605"/>
                <a:ext cx="4300751" cy="487091"/>
              </a:xfrm>
              <a:prstGeom prst="rect">
                <a:avLst/>
              </a:prstGeom>
              <a:noFill/>
            </p:spPr>
            <p:txBody>
              <a:bodyPr wrap="square" rtlCol="0">
                <a:spAutoFit/>
              </a:bodyPr>
              <a:lstStyle/>
              <a:p>
                <a:r>
                  <a:rPr lang="he-IL" sz="2000">
                    <a:latin typeface="Assistant" pitchFamily="2" charset="-79"/>
                    <a:cs typeface="Assistant" pitchFamily="2" charset="-79"/>
                  </a:rPr>
                  <a:t>רועי יקבל 20 שקלים ועינת תקבל 100 שקלים</a:t>
                </a:r>
                <a:endParaRPr lang="LID4096" sz="2000">
                  <a:latin typeface="Assistant" pitchFamily="2" charset="-79"/>
                  <a:cs typeface="Assistant" pitchFamily="2" charset="-79"/>
                </a:endParaRPr>
              </a:p>
            </p:txBody>
          </p:sp>
        </p:grpSp>
        <p:sp>
          <p:nvSpPr>
            <p:cNvPr id="34" name="אליפסה 9">
              <a:extLst>
                <a:ext uri="{FF2B5EF4-FFF2-40B4-BE49-F238E27FC236}">
                  <a16:creationId xmlns:a16="http://schemas.microsoft.com/office/drawing/2014/main" id="{9C7A4787-5D5D-F6F3-5543-EA3B75B475E4}"/>
                </a:ext>
              </a:extLst>
            </p:cNvPr>
            <p:cNvSpPr/>
            <p:nvPr/>
          </p:nvSpPr>
          <p:spPr>
            <a:xfrm>
              <a:off x="11280913" y="3269817"/>
              <a:ext cx="252766" cy="318364"/>
            </a:xfrm>
            <a:prstGeom prst="ellipse">
              <a:avLst/>
            </a:prstGeom>
            <a:no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LID4096"/>
            </a:p>
          </p:txBody>
        </p:sp>
      </p:grpSp>
      <p:pic>
        <p:nvPicPr>
          <p:cNvPr id="38" name="Picture 37">
            <a:extLst>
              <a:ext uri="{FF2B5EF4-FFF2-40B4-BE49-F238E27FC236}">
                <a16:creationId xmlns:a16="http://schemas.microsoft.com/office/drawing/2014/main" id="{312C3179-9B0C-EE01-2EF4-A9BD91A4D149}"/>
              </a:ext>
            </a:extLst>
          </p:cNvPr>
          <p:cNvPicPr>
            <a:picLocks noChangeAspect="1"/>
          </p:cNvPicPr>
          <p:nvPr/>
        </p:nvPicPr>
        <p:blipFill>
          <a:blip r:embed="rId9" cstate="email">
            <a:extLst>
              <a:ext uri="{28A0092B-C50C-407E-A947-70E740481C1C}">
                <a14:useLocalDpi xmlns:a14="http://schemas.microsoft.com/office/drawing/2010/main"/>
              </a:ext>
            </a:extLst>
          </a:blip>
          <a:stretch>
            <a:fillRect/>
          </a:stretch>
        </p:blipFill>
        <p:spPr>
          <a:xfrm>
            <a:off x="649242" y="1278650"/>
            <a:ext cx="3733799" cy="2489199"/>
          </a:xfrm>
          <a:prstGeom prst="rect">
            <a:avLst/>
          </a:prstGeom>
        </p:spPr>
      </p:pic>
      <p:grpSp>
        <p:nvGrpSpPr>
          <p:cNvPr id="15" name="קבוצה 14">
            <a:extLst>
              <a:ext uri="{FF2B5EF4-FFF2-40B4-BE49-F238E27FC236}">
                <a16:creationId xmlns:a16="http://schemas.microsoft.com/office/drawing/2014/main" id="{2274EC93-9B33-F009-3610-F88AFF2641A5}"/>
              </a:ext>
            </a:extLst>
          </p:cNvPr>
          <p:cNvGrpSpPr/>
          <p:nvPr/>
        </p:nvGrpSpPr>
        <p:grpSpPr>
          <a:xfrm>
            <a:off x="-9409508" y="-752460"/>
            <a:ext cx="9123904" cy="3818372"/>
            <a:chOff x="-9229411" y="26138"/>
            <a:chExt cx="9123904" cy="3818372"/>
          </a:xfrm>
        </p:grpSpPr>
        <p:sp>
          <p:nvSpPr>
            <p:cNvPr id="17" name="מלבן: פינות מעוגלות 16">
              <a:extLst>
                <a:ext uri="{FF2B5EF4-FFF2-40B4-BE49-F238E27FC236}">
                  <a16:creationId xmlns:a16="http://schemas.microsoft.com/office/drawing/2014/main" id="{5C219223-A3D6-2A44-ACD4-3B6FAEC38726}"/>
                </a:ext>
              </a:extLst>
            </p:cNvPr>
            <p:cNvSpPr/>
            <p:nvPr/>
          </p:nvSpPr>
          <p:spPr>
            <a:xfrm>
              <a:off x="-9229411" y="26138"/>
              <a:ext cx="9123904" cy="3818372"/>
            </a:xfrm>
            <a:prstGeom prst="roundRect">
              <a:avLst>
                <a:gd name="adj" fmla="val 8509"/>
              </a:avLst>
            </a:prstGeom>
            <a:solidFill>
              <a:srgbClr val="00B0F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LID4096"/>
            </a:p>
          </p:txBody>
        </p:sp>
        <p:sp>
          <p:nvSpPr>
            <p:cNvPr id="27" name="תיבת טקסט 26">
              <a:extLst>
                <a:ext uri="{FF2B5EF4-FFF2-40B4-BE49-F238E27FC236}">
                  <a16:creationId xmlns:a16="http://schemas.microsoft.com/office/drawing/2014/main" id="{F394D996-697F-594C-E989-3EF7AA56195D}"/>
                </a:ext>
              </a:extLst>
            </p:cNvPr>
            <p:cNvSpPr txBox="1"/>
            <p:nvPr/>
          </p:nvSpPr>
          <p:spPr>
            <a:xfrm>
              <a:off x="-5861703" y="474122"/>
              <a:ext cx="4878145" cy="707886"/>
            </a:xfrm>
            <a:prstGeom prst="rect">
              <a:avLst/>
            </a:prstGeom>
            <a:noFill/>
          </p:spPr>
          <p:txBody>
            <a:bodyPr wrap="square" rtlCol="0">
              <a:spAutoFit/>
            </a:bodyPr>
            <a:lstStyle/>
            <a:p>
              <a:r>
                <a:rPr lang="he-IL" sz="2000">
                  <a:solidFill>
                    <a:schemeClr val="bg1"/>
                  </a:solidFill>
                  <a:latin typeface="Assistant" pitchFamily="2" charset="-79"/>
                  <a:cs typeface="Assistant" pitchFamily="2" charset="-79"/>
                </a:rPr>
                <a:t>השתמשו ביחס שמצאתם בסעיף א וחשבו את החלק היחסי של עינת ושל רועי. </a:t>
              </a:r>
              <a:endParaRPr lang="LID4096" sz="2000">
                <a:solidFill>
                  <a:schemeClr val="bg1"/>
                </a:solidFill>
                <a:latin typeface="Assistant" pitchFamily="2" charset="-79"/>
                <a:cs typeface="Assistant" pitchFamily="2" charset="-79"/>
              </a:endParaRPr>
            </a:p>
          </p:txBody>
        </p:sp>
        <p:sp>
          <p:nvSpPr>
            <p:cNvPr id="28" name="מלבן: פינות מעוגלות 27">
              <a:extLst>
                <a:ext uri="{FF2B5EF4-FFF2-40B4-BE49-F238E27FC236}">
                  <a16:creationId xmlns:a16="http://schemas.microsoft.com/office/drawing/2014/main" id="{85EBFE29-8016-BF5F-2AA0-F83B8693E2CF}"/>
                </a:ext>
              </a:extLst>
            </p:cNvPr>
            <p:cNvSpPr/>
            <p:nvPr/>
          </p:nvSpPr>
          <p:spPr>
            <a:xfrm>
              <a:off x="-5861703" y="3135618"/>
              <a:ext cx="1798983" cy="506891"/>
            </a:xfrm>
            <a:prstGeom prst="roundRect">
              <a:avLst>
                <a:gd name="adj" fmla="val 50000"/>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he-IL">
                  <a:solidFill>
                    <a:schemeClr val="tx1"/>
                  </a:solidFill>
                  <a:latin typeface="Assistant" pitchFamily="2" charset="-79"/>
                  <a:cs typeface="Assistant" pitchFamily="2" charset="-79"/>
                </a:rPr>
                <a:t>חזרה לשאלה</a:t>
              </a:r>
              <a:endParaRPr lang="LID4096">
                <a:solidFill>
                  <a:schemeClr val="tx1"/>
                </a:solidFill>
                <a:latin typeface="Assistant" pitchFamily="2" charset="-79"/>
                <a:cs typeface="Assistant" pitchFamily="2" charset="-79"/>
              </a:endParaRPr>
            </a:p>
          </p:txBody>
        </p:sp>
        <p:pic>
          <p:nvPicPr>
            <p:cNvPr id="29" name="גרפיקה 28" descr="נורת חשמל וגלגל שיניים עם מילוי מלא">
              <a:extLst>
                <a:ext uri="{FF2B5EF4-FFF2-40B4-BE49-F238E27FC236}">
                  <a16:creationId xmlns:a16="http://schemas.microsoft.com/office/drawing/2014/main" id="{0927AF16-5323-D6EB-FBB2-2874756EA96F}"/>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983558" y="489982"/>
              <a:ext cx="338083" cy="338083"/>
            </a:xfrm>
            <a:prstGeom prst="rect">
              <a:avLst/>
            </a:prstGeom>
          </p:spPr>
        </p:pic>
      </p:grpSp>
    </p:spTree>
    <p:custDataLst>
      <p:tags r:id="rId1"/>
    </p:custDataLst>
    <p:extLst>
      <p:ext uri="{BB962C8B-B14F-4D97-AF65-F5344CB8AC3E}">
        <p14:creationId xmlns:p14="http://schemas.microsoft.com/office/powerpoint/2010/main" val="164546602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6AB17E-C4E6-DE69-ED50-B10AB25DE536}"/>
            </a:ext>
          </a:extLst>
        </p:cNvPr>
        <p:cNvGrpSpPr/>
        <p:nvPr/>
      </p:nvGrpSpPr>
      <p:grpSpPr>
        <a:xfrm>
          <a:off x="0" y="0"/>
          <a:ext cx="0" cy="0"/>
          <a:chOff x="0" y="0"/>
          <a:chExt cx="0" cy="0"/>
        </a:xfrm>
      </p:grpSpPr>
      <p:cxnSp>
        <p:nvCxnSpPr>
          <p:cNvPr id="4" name="מחבר ישר 3">
            <a:extLst>
              <a:ext uri="{FF2B5EF4-FFF2-40B4-BE49-F238E27FC236}">
                <a16:creationId xmlns:a16="http://schemas.microsoft.com/office/drawing/2014/main" id="{9A0E855A-5701-EB1C-0EC2-0F861FBB8754}"/>
              </a:ext>
            </a:extLst>
          </p:cNvPr>
          <p:cNvCxnSpPr>
            <a:cxnSpLocks/>
          </p:cNvCxnSpPr>
          <p:nvPr/>
        </p:nvCxnSpPr>
        <p:spPr>
          <a:xfrm>
            <a:off x="0" y="6079252"/>
            <a:ext cx="12192000" cy="0"/>
          </a:xfrm>
          <a:prstGeom prst="line">
            <a:avLst/>
          </a:prstGeom>
          <a:ln>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5" name="מלבן: פינות מעוגלות 4">
            <a:extLst>
              <a:ext uri="{FF2B5EF4-FFF2-40B4-BE49-F238E27FC236}">
                <a16:creationId xmlns:a16="http://schemas.microsoft.com/office/drawing/2014/main" id="{98D509AE-3DDC-6981-CB02-6B28A9F2C118}"/>
              </a:ext>
            </a:extLst>
          </p:cNvPr>
          <p:cNvSpPr/>
          <p:nvPr/>
        </p:nvSpPr>
        <p:spPr>
          <a:xfrm>
            <a:off x="268356" y="6182143"/>
            <a:ext cx="1798983" cy="506891"/>
          </a:xfrm>
          <a:prstGeom prst="roundRect">
            <a:avLst>
              <a:gd name="adj" fmla="val 50000"/>
            </a:avLst>
          </a:prstGeom>
          <a:solidFill>
            <a:schemeClr val="bg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he-IL"/>
              <a:t>צדקתי?</a:t>
            </a:r>
            <a:endParaRPr lang="LID4096"/>
          </a:p>
        </p:txBody>
      </p:sp>
      <p:sp>
        <p:nvSpPr>
          <p:cNvPr id="6" name="תיבת טקסט 5">
            <a:extLst>
              <a:ext uri="{FF2B5EF4-FFF2-40B4-BE49-F238E27FC236}">
                <a16:creationId xmlns:a16="http://schemas.microsoft.com/office/drawing/2014/main" id="{C3117F4F-C2C5-F76B-1EA4-628556E0A3FD}"/>
              </a:ext>
            </a:extLst>
          </p:cNvPr>
          <p:cNvSpPr txBox="1"/>
          <p:nvPr/>
        </p:nvSpPr>
        <p:spPr>
          <a:xfrm>
            <a:off x="4224782" y="1156726"/>
            <a:ext cx="7342742" cy="1631216"/>
          </a:xfrm>
          <a:prstGeom prst="rect">
            <a:avLst/>
          </a:prstGeom>
          <a:noFill/>
        </p:spPr>
        <p:txBody>
          <a:bodyPr wrap="square" rtlCol="0">
            <a:spAutoFit/>
          </a:bodyPr>
          <a:lstStyle/>
          <a:p>
            <a:r>
              <a:rPr lang="he-IL" sz="2000">
                <a:latin typeface="Assistant" pitchFamily="2" charset="-79"/>
                <a:cs typeface="Assistant" pitchFamily="2" charset="-79"/>
              </a:rPr>
              <a:t>ג. רועי הציע חלוקה אחרת: "מכיוון שזכינו ב-120 שקלים, בואו פשוט נתחלק חצי-בחצי, וכל אחד מאיתנו יקבל 60 שקלים".</a:t>
            </a:r>
          </a:p>
          <a:p>
            <a:r>
              <a:rPr lang="he-IL" sz="2000">
                <a:latin typeface="Assistant" pitchFamily="2" charset="-79"/>
                <a:cs typeface="Assistant" pitchFamily="2" charset="-79"/>
              </a:rPr>
              <a:t>עינת אמרה שההצעה של רועי אינה הוגנת כלפיה.</a:t>
            </a:r>
          </a:p>
          <a:p>
            <a:endParaRPr lang="he-IL" sz="2000">
              <a:latin typeface="Assistant" pitchFamily="2" charset="-79"/>
              <a:cs typeface="Assistant" pitchFamily="2" charset="-79"/>
            </a:endParaRPr>
          </a:p>
          <a:p>
            <a:r>
              <a:rPr lang="he-IL" sz="2000" b="1">
                <a:solidFill>
                  <a:srgbClr val="019DE5"/>
                </a:solidFill>
                <a:latin typeface="Assistant" pitchFamily="2" charset="-79"/>
                <a:cs typeface="Assistant" pitchFamily="2" charset="-79"/>
              </a:rPr>
              <a:t>סמנו את המשפטים הנכונים מתמטית:</a:t>
            </a:r>
            <a:endParaRPr lang="en-US" sz="2000" b="1">
              <a:solidFill>
                <a:srgbClr val="019DE5"/>
              </a:solidFill>
              <a:latin typeface="Assistant" pitchFamily="2" charset="-79"/>
              <a:cs typeface="Assistant" pitchFamily="2" charset="-79"/>
            </a:endParaRPr>
          </a:p>
        </p:txBody>
      </p:sp>
      <p:sp>
        <p:nvSpPr>
          <p:cNvPr id="2" name="מלבן: פינות מעוגלות 1">
            <a:extLst>
              <a:ext uri="{FF2B5EF4-FFF2-40B4-BE49-F238E27FC236}">
                <a16:creationId xmlns:a16="http://schemas.microsoft.com/office/drawing/2014/main" id="{0384FE10-553A-1104-725D-5EC28B00F80A}"/>
              </a:ext>
            </a:extLst>
          </p:cNvPr>
          <p:cNvSpPr/>
          <p:nvPr/>
        </p:nvSpPr>
        <p:spPr>
          <a:xfrm>
            <a:off x="2179982" y="6182142"/>
            <a:ext cx="2481470" cy="506891"/>
          </a:xfrm>
          <a:prstGeom prst="roundRect">
            <a:avLst>
              <a:gd name="adj" fmla="val 50000"/>
            </a:avLst>
          </a:prstGeom>
          <a:noFill/>
          <a:ln>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he-IL">
                <a:solidFill>
                  <a:srgbClr val="00B0F0"/>
                </a:solidFill>
              </a:rPr>
              <a:t>     אפשר רמז?</a:t>
            </a:r>
            <a:endParaRPr lang="LID4096">
              <a:solidFill>
                <a:srgbClr val="00B0F0"/>
              </a:solidFill>
            </a:endParaRPr>
          </a:p>
        </p:txBody>
      </p:sp>
      <p:pic>
        <p:nvPicPr>
          <p:cNvPr id="12" name="גרפיקה 11" descr="נורת חשמל וגלגל שיניים עם מילוי מלא">
            <a:extLst>
              <a:ext uri="{FF2B5EF4-FFF2-40B4-BE49-F238E27FC236}">
                <a16:creationId xmlns:a16="http://schemas.microsoft.com/office/drawing/2014/main" id="{58724B9F-CD98-2CA3-5982-C00F07F9C772}"/>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831910" y="6266545"/>
            <a:ext cx="338083" cy="338083"/>
          </a:xfrm>
          <a:prstGeom prst="rect">
            <a:avLst/>
          </a:prstGeom>
        </p:spPr>
      </p:pic>
      <p:pic>
        <p:nvPicPr>
          <p:cNvPr id="3" name="תמונה 2">
            <a:extLst>
              <a:ext uri="{FF2B5EF4-FFF2-40B4-BE49-F238E27FC236}">
                <a16:creationId xmlns:a16="http://schemas.microsoft.com/office/drawing/2014/main" id="{D566E0AE-CE3E-6AAD-663F-0356CB22FC34}"/>
              </a:ext>
            </a:extLst>
          </p:cNvPr>
          <p:cNvPicPr>
            <a:picLocks noChangeAspect="1"/>
          </p:cNvPicPr>
          <p:nvPr/>
        </p:nvPicPr>
        <p:blipFill>
          <a:blip r:embed="rId5">
            <a:extLst>
              <a:ext uri="{28A0092B-C50C-407E-A947-70E740481C1C}">
                <a14:useLocalDpi xmlns:a14="http://schemas.microsoft.com/office/drawing/2010/main"/>
              </a:ext>
            </a:extLst>
          </a:blip>
          <a:stretch>
            <a:fillRect/>
          </a:stretch>
        </p:blipFill>
        <p:spPr>
          <a:xfrm>
            <a:off x="0" y="57121"/>
            <a:ext cx="933869" cy="721626"/>
          </a:xfrm>
          <a:prstGeom prst="rect">
            <a:avLst/>
          </a:prstGeom>
        </p:spPr>
      </p:pic>
      <p:sp>
        <p:nvSpPr>
          <p:cNvPr id="7" name="מלבן: פינות מעוגלות 6">
            <a:extLst>
              <a:ext uri="{FF2B5EF4-FFF2-40B4-BE49-F238E27FC236}">
                <a16:creationId xmlns:a16="http://schemas.microsoft.com/office/drawing/2014/main" id="{DA750B9D-0052-C905-9BC7-310F2B241839}"/>
              </a:ext>
            </a:extLst>
          </p:cNvPr>
          <p:cNvSpPr/>
          <p:nvPr/>
        </p:nvSpPr>
        <p:spPr>
          <a:xfrm>
            <a:off x="10244695" y="6193485"/>
            <a:ext cx="1798983" cy="506891"/>
          </a:xfrm>
          <a:prstGeom prst="roundRect">
            <a:avLst>
              <a:gd name="adj" fmla="val 50000"/>
            </a:avLst>
          </a:prstGeom>
          <a:noFill/>
          <a:ln>
            <a:solidFill>
              <a:srgbClr val="019DE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he-IL">
                <a:solidFill>
                  <a:srgbClr val="019DE5"/>
                </a:solidFill>
                <a:latin typeface="Assistant" pitchFamily="2" charset="-79"/>
                <a:cs typeface="Assistant" pitchFamily="2" charset="-79"/>
              </a:rPr>
              <a:t>חזרה</a:t>
            </a:r>
            <a:endParaRPr lang="LID4096">
              <a:solidFill>
                <a:srgbClr val="019DE5"/>
              </a:solidFill>
              <a:latin typeface="Assistant" pitchFamily="2" charset="-79"/>
              <a:cs typeface="Assistant" pitchFamily="2" charset="-79"/>
            </a:endParaRPr>
          </a:p>
        </p:txBody>
      </p:sp>
      <p:pic>
        <p:nvPicPr>
          <p:cNvPr id="9" name="תמונה 8">
            <a:extLst>
              <a:ext uri="{FF2B5EF4-FFF2-40B4-BE49-F238E27FC236}">
                <a16:creationId xmlns:a16="http://schemas.microsoft.com/office/drawing/2014/main" id="{08AB91A6-A09F-3881-3908-24D139462EA1}"/>
              </a:ext>
            </a:extLst>
          </p:cNvPr>
          <p:cNvPicPr>
            <a:picLocks noChangeAspect="1"/>
          </p:cNvPicPr>
          <p:nvPr/>
        </p:nvPicPr>
        <p:blipFill>
          <a:blip r:embed="rId6">
            <a:extLst>
              <a:ext uri="{28A0092B-C50C-407E-A947-70E740481C1C}">
                <a14:useLocalDpi xmlns:a14="http://schemas.microsoft.com/office/drawing/2010/main"/>
              </a:ext>
            </a:extLst>
          </a:blip>
          <a:stretch>
            <a:fillRect/>
          </a:stretch>
        </p:blipFill>
        <p:spPr>
          <a:xfrm>
            <a:off x="2803561" y="417934"/>
            <a:ext cx="7847619" cy="558730"/>
          </a:xfrm>
          <a:prstGeom prst="rect">
            <a:avLst/>
          </a:prstGeom>
        </p:spPr>
      </p:pic>
      <p:sp>
        <p:nvSpPr>
          <p:cNvPr id="10" name="מלבן: פינות מעוגלות 9">
            <a:extLst>
              <a:ext uri="{FF2B5EF4-FFF2-40B4-BE49-F238E27FC236}">
                <a16:creationId xmlns:a16="http://schemas.microsoft.com/office/drawing/2014/main" id="{0B011CC2-A37C-91C8-E4E2-A0F462044C12}"/>
              </a:ext>
            </a:extLst>
          </p:cNvPr>
          <p:cNvSpPr/>
          <p:nvPr/>
        </p:nvSpPr>
        <p:spPr>
          <a:xfrm>
            <a:off x="-6104944" y="3389063"/>
            <a:ext cx="5175012" cy="4463680"/>
          </a:xfrm>
          <a:prstGeom prst="roundRect">
            <a:avLst>
              <a:gd name="adj" fmla="val 1647"/>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he-IL" sz="2000" b="1">
                <a:solidFill>
                  <a:schemeClr val="tx1"/>
                </a:solidFill>
                <a:latin typeface="Assistant" pitchFamily="2" charset="-79"/>
                <a:cs typeface="Assistant" pitchFamily="2" charset="-79"/>
              </a:rPr>
              <a:t>כל הכבוד, צדקתם! / טעיתם. לא נורא, מטעויות לומדים</a:t>
            </a:r>
          </a:p>
          <a:p>
            <a:pPr algn="ctr"/>
            <a:endParaRPr lang="he-IL" sz="2000" b="1">
              <a:solidFill>
                <a:schemeClr val="tx1"/>
              </a:solidFill>
              <a:latin typeface="Assistant" pitchFamily="2" charset="-79"/>
              <a:cs typeface="Assistant" pitchFamily="2" charset="-79"/>
            </a:endParaRPr>
          </a:p>
          <a:p>
            <a:r>
              <a:rPr lang="he-IL" sz="2000">
                <a:solidFill>
                  <a:schemeClr val="tx1"/>
                </a:solidFill>
                <a:latin typeface="Assistant" pitchFamily="2" charset="-79"/>
                <a:cs typeface="Assistant" pitchFamily="2" charset="-79"/>
              </a:rPr>
              <a:t>חלוקה הוגנת היא חלוקה ששומרת על אותו יחס כמו היחס בין הסכומים שכל אחד שילם. במקרה זה, גם היחס בין סכומי הזכייה צריך להיות 7 : 5.</a:t>
            </a:r>
            <a:endParaRPr lang="en-US" sz="2000">
              <a:solidFill>
                <a:schemeClr val="tx1"/>
              </a:solidFill>
              <a:latin typeface="Assistant" pitchFamily="2" charset="-79"/>
              <a:cs typeface="Assistant" pitchFamily="2" charset="-79"/>
            </a:endParaRPr>
          </a:p>
        </p:txBody>
      </p:sp>
      <p:sp>
        <p:nvSpPr>
          <p:cNvPr id="11" name="מלבן 10">
            <a:extLst>
              <a:ext uri="{FF2B5EF4-FFF2-40B4-BE49-F238E27FC236}">
                <a16:creationId xmlns:a16="http://schemas.microsoft.com/office/drawing/2014/main" id="{D8CFE7E8-9DDB-206D-BBC1-2203331A17A0}"/>
              </a:ext>
            </a:extLst>
          </p:cNvPr>
          <p:cNvSpPr/>
          <p:nvPr/>
        </p:nvSpPr>
        <p:spPr>
          <a:xfrm>
            <a:off x="-115414" y="-1103086"/>
            <a:ext cx="2295396" cy="976083"/>
          </a:xfrm>
          <a:prstGeom prst="rect">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he-IL" sz="1800" b="1" i="0" u="none" strike="noStrike" kern="1200" cap="none" spc="0" normalizeH="0" baseline="0" noProof="0">
                <a:ln>
                  <a:noFill/>
                </a:ln>
                <a:solidFill>
                  <a:prstClr val="black"/>
                </a:solidFill>
                <a:effectLst/>
                <a:uLnTx/>
                <a:uFillTx/>
                <a:latin typeface="Assistant" pitchFamily="2" charset="-79"/>
                <a:ea typeface="+mn-ea"/>
                <a:cs typeface="Assistant" pitchFamily="2" charset="-79"/>
                <a:hlinkClick r:id="rId7"/>
              </a:rPr>
              <a:t>רמת חשיבה</a:t>
            </a:r>
            <a:endParaRPr kumimoji="0" lang="he-IL" sz="1800" b="1" i="0" u="none" strike="noStrike" kern="1200" cap="none" spc="0" normalizeH="0" baseline="0" noProof="0">
              <a:ln>
                <a:noFill/>
              </a:ln>
              <a:solidFill>
                <a:prstClr val="black"/>
              </a:solidFill>
              <a:effectLst/>
              <a:uLnTx/>
              <a:uFillTx/>
              <a:latin typeface="Assistant" pitchFamily="2" charset="-79"/>
              <a:ea typeface="+mn-ea"/>
              <a:cs typeface="Assistant" pitchFamily="2" charset="-79"/>
            </a:endParaRPr>
          </a:p>
          <a:p>
            <a:pPr marL="285750" marR="0" lvl="0" indent="-285750" defTabSz="91440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he-IL" sz="1800" i="0" u="none" strike="noStrike" kern="1200" cap="none" spc="0" normalizeH="0" baseline="0" noProof="0">
                <a:ln>
                  <a:noFill/>
                </a:ln>
                <a:solidFill>
                  <a:prstClr val="black"/>
                </a:solidFill>
                <a:effectLst/>
                <a:uLnTx/>
                <a:uFillTx/>
                <a:latin typeface="Assistant" pitchFamily="2" charset="-79"/>
                <a:ea typeface="+mn-ea"/>
                <a:cs typeface="Assistant" pitchFamily="2" charset="-79"/>
              </a:rPr>
              <a:t>טקסט </a:t>
            </a:r>
          </a:p>
          <a:p>
            <a:pPr marL="285750" marR="0" lvl="0" indent="-285750" defTabSz="914400" eaLnBrk="1" fontAlgn="auto" latinLnBrk="0" hangingPunct="1">
              <a:lnSpc>
                <a:spcPct val="100000"/>
              </a:lnSpc>
              <a:spcBef>
                <a:spcPts val="0"/>
              </a:spcBef>
              <a:spcAft>
                <a:spcPts val="0"/>
              </a:spcAft>
              <a:buClrTx/>
              <a:buSzTx/>
              <a:buFont typeface="Arial" panose="020B0604020202020204" pitchFamily="34" charset="0"/>
              <a:buChar char="•"/>
              <a:tabLst/>
              <a:defRPr/>
            </a:pPr>
            <a:r>
              <a:rPr lang="he-IL">
                <a:solidFill>
                  <a:prstClr val="black"/>
                </a:solidFill>
                <a:latin typeface="Assistant" pitchFamily="2" charset="-79"/>
                <a:cs typeface="Assistant" pitchFamily="2" charset="-79"/>
              </a:rPr>
              <a:t>טקסט</a:t>
            </a:r>
            <a:endParaRPr kumimoji="0" lang="he-IL" sz="1800" i="0" u="none" strike="noStrike" kern="1200" cap="none" spc="0" normalizeH="0" baseline="0" noProof="0">
              <a:ln>
                <a:noFill/>
              </a:ln>
              <a:solidFill>
                <a:prstClr val="black"/>
              </a:solidFill>
              <a:effectLst/>
              <a:uLnTx/>
              <a:uFillTx/>
              <a:latin typeface="Assistant" pitchFamily="2" charset="-79"/>
              <a:ea typeface="+mn-ea"/>
              <a:cs typeface="Assistant" pitchFamily="2" charset="-79"/>
            </a:endParaRPr>
          </a:p>
        </p:txBody>
      </p:sp>
      <p:grpSp>
        <p:nvGrpSpPr>
          <p:cNvPr id="15" name="קבוצה 14">
            <a:extLst>
              <a:ext uri="{FF2B5EF4-FFF2-40B4-BE49-F238E27FC236}">
                <a16:creationId xmlns:a16="http://schemas.microsoft.com/office/drawing/2014/main" id="{BC717D53-D7D5-29D5-185A-379589F3EFE6}"/>
              </a:ext>
            </a:extLst>
          </p:cNvPr>
          <p:cNvGrpSpPr/>
          <p:nvPr/>
        </p:nvGrpSpPr>
        <p:grpSpPr>
          <a:xfrm>
            <a:off x="-9344826" y="26138"/>
            <a:ext cx="9123904" cy="3818372"/>
            <a:chOff x="-9229411" y="26138"/>
            <a:chExt cx="9123904" cy="3818372"/>
          </a:xfrm>
        </p:grpSpPr>
        <p:sp>
          <p:nvSpPr>
            <p:cNvPr id="17" name="מלבן: פינות מעוגלות 16">
              <a:extLst>
                <a:ext uri="{FF2B5EF4-FFF2-40B4-BE49-F238E27FC236}">
                  <a16:creationId xmlns:a16="http://schemas.microsoft.com/office/drawing/2014/main" id="{BD398CC5-41A9-5785-57E9-C2F6FF7805D6}"/>
                </a:ext>
              </a:extLst>
            </p:cNvPr>
            <p:cNvSpPr/>
            <p:nvPr/>
          </p:nvSpPr>
          <p:spPr>
            <a:xfrm>
              <a:off x="-9229411" y="26138"/>
              <a:ext cx="9123904" cy="3818372"/>
            </a:xfrm>
            <a:prstGeom prst="roundRect">
              <a:avLst>
                <a:gd name="adj" fmla="val 8509"/>
              </a:avLst>
            </a:prstGeom>
            <a:solidFill>
              <a:srgbClr val="00B0F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LID4096"/>
            </a:p>
          </p:txBody>
        </p:sp>
        <p:sp>
          <p:nvSpPr>
            <p:cNvPr id="27" name="תיבת טקסט 26">
              <a:extLst>
                <a:ext uri="{FF2B5EF4-FFF2-40B4-BE49-F238E27FC236}">
                  <a16:creationId xmlns:a16="http://schemas.microsoft.com/office/drawing/2014/main" id="{FC1B2F0E-97DD-5F5B-6614-67EC0EE6814D}"/>
                </a:ext>
              </a:extLst>
            </p:cNvPr>
            <p:cNvSpPr txBox="1"/>
            <p:nvPr/>
          </p:nvSpPr>
          <p:spPr>
            <a:xfrm>
              <a:off x="-6933085" y="474122"/>
              <a:ext cx="5949527" cy="400110"/>
            </a:xfrm>
            <a:prstGeom prst="rect">
              <a:avLst/>
            </a:prstGeom>
            <a:noFill/>
          </p:spPr>
          <p:txBody>
            <a:bodyPr wrap="square" rtlCol="0">
              <a:spAutoFit/>
            </a:bodyPr>
            <a:lstStyle/>
            <a:p>
              <a:r>
                <a:rPr lang="he-IL" sz="2000">
                  <a:solidFill>
                    <a:schemeClr val="bg1"/>
                  </a:solidFill>
                  <a:latin typeface="Assistant" pitchFamily="2" charset="-79"/>
                  <a:cs typeface="Assistant" pitchFamily="2" charset="-79"/>
                </a:rPr>
                <a:t>חשבו: מהו היחס ההוגן לחלוקת הרווחים?</a:t>
              </a:r>
              <a:endParaRPr lang="LID4096" sz="2000">
                <a:solidFill>
                  <a:schemeClr val="bg1"/>
                </a:solidFill>
                <a:latin typeface="Assistant" pitchFamily="2" charset="-79"/>
                <a:cs typeface="Assistant" pitchFamily="2" charset="-79"/>
              </a:endParaRPr>
            </a:p>
          </p:txBody>
        </p:sp>
        <p:sp>
          <p:nvSpPr>
            <p:cNvPr id="28" name="מלבן: פינות מעוגלות 27">
              <a:extLst>
                <a:ext uri="{FF2B5EF4-FFF2-40B4-BE49-F238E27FC236}">
                  <a16:creationId xmlns:a16="http://schemas.microsoft.com/office/drawing/2014/main" id="{BB351AC9-FBFD-B5A9-BBB1-7E79AD89F791}"/>
                </a:ext>
              </a:extLst>
            </p:cNvPr>
            <p:cNvSpPr/>
            <p:nvPr/>
          </p:nvSpPr>
          <p:spPr>
            <a:xfrm>
              <a:off x="-5861703" y="3135618"/>
              <a:ext cx="1798983" cy="506891"/>
            </a:xfrm>
            <a:prstGeom prst="roundRect">
              <a:avLst>
                <a:gd name="adj" fmla="val 50000"/>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he-IL">
                  <a:solidFill>
                    <a:schemeClr val="tx1"/>
                  </a:solidFill>
                  <a:latin typeface="Assistant" pitchFamily="2" charset="-79"/>
                  <a:cs typeface="Assistant" pitchFamily="2" charset="-79"/>
                </a:rPr>
                <a:t>חזרה לשאלה</a:t>
              </a:r>
              <a:endParaRPr lang="LID4096">
                <a:solidFill>
                  <a:schemeClr val="tx1"/>
                </a:solidFill>
                <a:latin typeface="Assistant" pitchFamily="2" charset="-79"/>
                <a:cs typeface="Assistant" pitchFamily="2" charset="-79"/>
              </a:endParaRPr>
            </a:p>
          </p:txBody>
        </p:sp>
        <p:pic>
          <p:nvPicPr>
            <p:cNvPr id="29" name="גרפיקה 28" descr="נורת חשמל וגלגל שיניים עם מילוי מלא">
              <a:extLst>
                <a:ext uri="{FF2B5EF4-FFF2-40B4-BE49-F238E27FC236}">
                  <a16:creationId xmlns:a16="http://schemas.microsoft.com/office/drawing/2014/main" id="{3DDBD520-816C-A9ED-B14A-D488D85413ED}"/>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983558" y="489982"/>
              <a:ext cx="338083" cy="338083"/>
            </a:xfrm>
            <a:prstGeom prst="rect">
              <a:avLst/>
            </a:prstGeom>
          </p:spPr>
        </p:pic>
      </p:grpSp>
      <p:grpSp>
        <p:nvGrpSpPr>
          <p:cNvPr id="8" name="קבוצה 10">
            <a:extLst>
              <a:ext uri="{FF2B5EF4-FFF2-40B4-BE49-F238E27FC236}">
                <a16:creationId xmlns:a16="http://schemas.microsoft.com/office/drawing/2014/main" id="{F3C3E539-A433-421C-7A11-A0ECADD1B148}"/>
              </a:ext>
            </a:extLst>
          </p:cNvPr>
          <p:cNvGrpSpPr/>
          <p:nvPr/>
        </p:nvGrpSpPr>
        <p:grpSpPr>
          <a:xfrm>
            <a:off x="3831910" y="2890829"/>
            <a:ext cx="7735614" cy="734877"/>
            <a:chOff x="4024978" y="3108471"/>
            <a:chExt cx="7735614" cy="894638"/>
          </a:xfrm>
        </p:grpSpPr>
        <p:grpSp>
          <p:nvGrpSpPr>
            <p:cNvPr id="13" name="קבוצה 8">
              <a:extLst>
                <a:ext uri="{FF2B5EF4-FFF2-40B4-BE49-F238E27FC236}">
                  <a16:creationId xmlns:a16="http://schemas.microsoft.com/office/drawing/2014/main" id="{A07EA69D-DE51-4F66-BD62-048354C464E1}"/>
                </a:ext>
              </a:extLst>
            </p:cNvPr>
            <p:cNvGrpSpPr/>
            <p:nvPr/>
          </p:nvGrpSpPr>
          <p:grpSpPr>
            <a:xfrm>
              <a:off x="4024978" y="3108471"/>
              <a:ext cx="7735614" cy="894638"/>
              <a:chOff x="4024978" y="3108471"/>
              <a:chExt cx="7735614" cy="894638"/>
            </a:xfrm>
          </p:grpSpPr>
          <p:sp>
            <p:nvSpPr>
              <p:cNvPr id="16" name="מלבן: פינות מעוגלות 6">
                <a:extLst>
                  <a:ext uri="{FF2B5EF4-FFF2-40B4-BE49-F238E27FC236}">
                    <a16:creationId xmlns:a16="http://schemas.microsoft.com/office/drawing/2014/main" id="{2200AD2B-E810-0F50-1D3D-7B97ACE3263B}"/>
                  </a:ext>
                </a:extLst>
              </p:cNvPr>
              <p:cNvSpPr/>
              <p:nvPr/>
            </p:nvSpPr>
            <p:spPr>
              <a:xfrm>
                <a:off x="4024978" y="3108471"/>
                <a:ext cx="7735614" cy="894638"/>
              </a:xfrm>
              <a:prstGeom prst="roundRect">
                <a:avLst>
                  <a:gd name="adj" fmla="val 50000"/>
                </a:avLst>
              </a:prstGeom>
              <a:noFill/>
              <a:ln w="12700">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LID4096"/>
              </a:p>
            </p:txBody>
          </p:sp>
          <p:sp>
            <p:nvSpPr>
              <p:cNvPr id="18" name="תיבת טקסט 7">
                <a:extLst>
                  <a:ext uri="{FF2B5EF4-FFF2-40B4-BE49-F238E27FC236}">
                    <a16:creationId xmlns:a16="http://schemas.microsoft.com/office/drawing/2014/main" id="{12838605-61D2-13EF-54B4-535A17A4A3C2}"/>
                  </a:ext>
                </a:extLst>
              </p:cNvPr>
              <p:cNvSpPr txBox="1"/>
              <p:nvPr/>
            </p:nvSpPr>
            <p:spPr>
              <a:xfrm>
                <a:off x="4155468" y="3140597"/>
                <a:ext cx="7043951" cy="861777"/>
              </a:xfrm>
              <a:prstGeom prst="rect">
                <a:avLst/>
              </a:prstGeom>
              <a:noFill/>
            </p:spPr>
            <p:txBody>
              <a:bodyPr wrap="square" rtlCol="0">
                <a:spAutoFit/>
              </a:bodyPr>
              <a:lstStyle/>
              <a:p>
                <a:r>
                  <a:rPr lang="he-IL" sz="2000">
                    <a:latin typeface="Assistant" pitchFamily="2" charset="-79"/>
                    <a:cs typeface="Assistant" pitchFamily="2" charset="-79"/>
                  </a:rPr>
                  <a:t>ההצעה לא הוגנת כי עינת שילמה יותר כסף בקנייה, ולכן היא צריכה לקבל נתח גדול יותר מכספי הזכייה. </a:t>
                </a:r>
                <a:endParaRPr lang="LID4096" sz="2000">
                  <a:latin typeface="Assistant" pitchFamily="2" charset="-79"/>
                  <a:cs typeface="Assistant" pitchFamily="2" charset="-79"/>
                </a:endParaRPr>
              </a:p>
            </p:txBody>
          </p:sp>
        </p:grpSp>
        <p:sp>
          <p:nvSpPr>
            <p:cNvPr id="14" name="אליפסה 9">
              <a:extLst>
                <a:ext uri="{FF2B5EF4-FFF2-40B4-BE49-F238E27FC236}">
                  <a16:creationId xmlns:a16="http://schemas.microsoft.com/office/drawing/2014/main" id="{8F3A08A7-7ACA-2914-0D92-86782F57E534}"/>
                </a:ext>
              </a:extLst>
            </p:cNvPr>
            <p:cNvSpPr/>
            <p:nvPr/>
          </p:nvSpPr>
          <p:spPr>
            <a:xfrm>
              <a:off x="11280913" y="3411171"/>
              <a:ext cx="252766" cy="318364"/>
            </a:xfrm>
            <a:prstGeom prst="ellipse">
              <a:avLst/>
            </a:prstGeom>
            <a:solidFill>
              <a:srgbClr val="00B050"/>
            </a:solid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LID4096"/>
            </a:p>
          </p:txBody>
        </p:sp>
      </p:grpSp>
      <p:grpSp>
        <p:nvGrpSpPr>
          <p:cNvPr id="19" name="קבוצה 10">
            <a:extLst>
              <a:ext uri="{FF2B5EF4-FFF2-40B4-BE49-F238E27FC236}">
                <a16:creationId xmlns:a16="http://schemas.microsoft.com/office/drawing/2014/main" id="{6C54B00A-76DB-8610-31C6-768661643A3E}"/>
              </a:ext>
            </a:extLst>
          </p:cNvPr>
          <p:cNvGrpSpPr/>
          <p:nvPr/>
        </p:nvGrpSpPr>
        <p:grpSpPr>
          <a:xfrm>
            <a:off x="3831910" y="3751554"/>
            <a:ext cx="7735614" cy="734876"/>
            <a:chOff x="4024978" y="3108471"/>
            <a:chExt cx="7735614" cy="894636"/>
          </a:xfrm>
        </p:grpSpPr>
        <p:grpSp>
          <p:nvGrpSpPr>
            <p:cNvPr id="20" name="קבוצה 8">
              <a:extLst>
                <a:ext uri="{FF2B5EF4-FFF2-40B4-BE49-F238E27FC236}">
                  <a16:creationId xmlns:a16="http://schemas.microsoft.com/office/drawing/2014/main" id="{8B85BAA5-FE57-4EBD-F0A1-4B2A7F1DF5E6}"/>
                </a:ext>
              </a:extLst>
            </p:cNvPr>
            <p:cNvGrpSpPr/>
            <p:nvPr/>
          </p:nvGrpSpPr>
          <p:grpSpPr>
            <a:xfrm>
              <a:off x="4024978" y="3108471"/>
              <a:ext cx="7735614" cy="894636"/>
              <a:chOff x="4024978" y="3108471"/>
              <a:chExt cx="7735614" cy="894636"/>
            </a:xfrm>
          </p:grpSpPr>
          <p:sp>
            <p:nvSpPr>
              <p:cNvPr id="22" name="מלבן: פינות מעוגלות 6">
                <a:extLst>
                  <a:ext uri="{FF2B5EF4-FFF2-40B4-BE49-F238E27FC236}">
                    <a16:creationId xmlns:a16="http://schemas.microsoft.com/office/drawing/2014/main" id="{F86D0FA1-FDAA-5B6B-BBC1-50C305F417BE}"/>
                  </a:ext>
                </a:extLst>
              </p:cNvPr>
              <p:cNvSpPr/>
              <p:nvPr/>
            </p:nvSpPr>
            <p:spPr>
              <a:xfrm>
                <a:off x="4024978" y="3108471"/>
                <a:ext cx="7735614" cy="894636"/>
              </a:xfrm>
              <a:prstGeom prst="roundRect">
                <a:avLst>
                  <a:gd name="adj" fmla="val 50000"/>
                </a:avLst>
              </a:prstGeom>
              <a:noFill/>
              <a:ln w="1270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LID4096"/>
              </a:p>
            </p:txBody>
          </p:sp>
          <p:sp>
            <p:nvSpPr>
              <p:cNvPr id="23" name="תיבת טקסט 7">
                <a:extLst>
                  <a:ext uri="{FF2B5EF4-FFF2-40B4-BE49-F238E27FC236}">
                    <a16:creationId xmlns:a16="http://schemas.microsoft.com/office/drawing/2014/main" id="{81506BAF-14FB-421A-3DF0-10FA38D4A3FD}"/>
                  </a:ext>
                </a:extLst>
              </p:cNvPr>
              <p:cNvSpPr txBox="1"/>
              <p:nvPr/>
            </p:nvSpPr>
            <p:spPr>
              <a:xfrm>
                <a:off x="4155469" y="3122929"/>
                <a:ext cx="7043952" cy="861778"/>
              </a:xfrm>
              <a:prstGeom prst="rect">
                <a:avLst/>
              </a:prstGeom>
              <a:noFill/>
            </p:spPr>
            <p:txBody>
              <a:bodyPr wrap="square" rtlCol="0">
                <a:spAutoFit/>
              </a:bodyPr>
              <a:lstStyle/>
              <a:p>
                <a:r>
                  <a:rPr lang="he-IL" sz="2000">
                    <a:latin typeface="Assistant" pitchFamily="2" charset="-79"/>
                    <a:cs typeface="Assistant" pitchFamily="2" charset="-79"/>
                  </a:rPr>
                  <a:t>ההצעה הוגנת, מכיוון שברגע שיש זכייה משותפת, לא משנה כמה כל אחד שילם בהתחלה – הפרס תמיד שייך לשני השותפים באופן שווה לחלוטין. </a:t>
                </a:r>
                <a:endParaRPr lang="LID4096" sz="2000">
                  <a:latin typeface="Assistant" pitchFamily="2" charset="-79"/>
                  <a:cs typeface="Assistant" pitchFamily="2" charset="-79"/>
                </a:endParaRPr>
              </a:p>
            </p:txBody>
          </p:sp>
        </p:grpSp>
        <p:sp>
          <p:nvSpPr>
            <p:cNvPr id="21" name="אליפסה 9">
              <a:extLst>
                <a:ext uri="{FF2B5EF4-FFF2-40B4-BE49-F238E27FC236}">
                  <a16:creationId xmlns:a16="http://schemas.microsoft.com/office/drawing/2014/main" id="{79DE2C41-C4DC-08B3-59BE-1587B7C3461A}"/>
                </a:ext>
              </a:extLst>
            </p:cNvPr>
            <p:cNvSpPr/>
            <p:nvPr/>
          </p:nvSpPr>
          <p:spPr>
            <a:xfrm>
              <a:off x="11280913" y="3391294"/>
              <a:ext cx="252766" cy="318364"/>
            </a:xfrm>
            <a:prstGeom prst="ellipse">
              <a:avLst/>
            </a:prstGeom>
            <a:no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LID4096"/>
            </a:p>
          </p:txBody>
        </p:sp>
      </p:grpSp>
      <p:grpSp>
        <p:nvGrpSpPr>
          <p:cNvPr id="37" name="קבוצה 10">
            <a:extLst>
              <a:ext uri="{FF2B5EF4-FFF2-40B4-BE49-F238E27FC236}">
                <a16:creationId xmlns:a16="http://schemas.microsoft.com/office/drawing/2014/main" id="{0734FAA3-A7EF-4B93-61CE-42554A9B61C7}"/>
              </a:ext>
            </a:extLst>
          </p:cNvPr>
          <p:cNvGrpSpPr/>
          <p:nvPr/>
        </p:nvGrpSpPr>
        <p:grpSpPr>
          <a:xfrm>
            <a:off x="3826595" y="4612278"/>
            <a:ext cx="7735614" cy="734876"/>
            <a:chOff x="4024978" y="3108471"/>
            <a:chExt cx="7735614" cy="894636"/>
          </a:xfrm>
        </p:grpSpPr>
        <p:grpSp>
          <p:nvGrpSpPr>
            <p:cNvPr id="38" name="קבוצה 8">
              <a:extLst>
                <a:ext uri="{FF2B5EF4-FFF2-40B4-BE49-F238E27FC236}">
                  <a16:creationId xmlns:a16="http://schemas.microsoft.com/office/drawing/2014/main" id="{D9E3C7A5-6FEF-42BA-82AD-CBE613D9872F}"/>
                </a:ext>
              </a:extLst>
            </p:cNvPr>
            <p:cNvGrpSpPr/>
            <p:nvPr/>
          </p:nvGrpSpPr>
          <p:grpSpPr>
            <a:xfrm>
              <a:off x="4024978" y="3108471"/>
              <a:ext cx="7735614" cy="894636"/>
              <a:chOff x="4024978" y="3108471"/>
              <a:chExt cx="7735614" cy="894636"/>
            </a:xfrm>
          </p:grpSpPr>
          <p:sp>
            <p:nvSpPr>
              <p:cNvPr id="40" name="מלבן: פינות מעוגלות 6">
                <a:extLst>
                  <a:ext uri="{FF2B5EF4-FFF2-40B4-BE49-F238E27FC236}">
                    <a16:creationId xmlns:a16="http://schemas.microsoft.com/office/drawing/2014/main" id="{8E2FCC6F-AA38-2D99-2300-D92BCD765166}"/>
                  </a:ext>
                </a:extLst>
              </p:cNvPr>
              <p:cNvSpPr/>
              <p:nvPr/>
            </p:nvSpPr>
            <p:spPr>
              <a:xfrm>
                <a:off x="4024978" y="3108471"/>
                <a:ext cx="7735614" cy="894636"/>
              </a:xfrm>
              <a:prstGeom prst="roundRect">
                <a:avLst>
                  <a:gd name="adj" fmla="val 50000"/>
                </a:avLst>
              </a:prstGeom>
              <a:noFill/>
              <a:ln w="12700">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LID4096"/>
              </a:p>
            </p:txBody>
          </p:sp>
          <p:sp>
            <p:nvSpPr>
              <p:cNvPr id="41" name="תיבת טקסט 7">
                <a:extLst>
                  <a:ext uri="{FF2B5EF4-FFF2-40B4-BE49-F238E27FC236}">
                    <a16:creationId xmlns:a16="http://schemas.microsoft.com/office/drawing/2014/main" id="{C67C5C97-8F09-B897-5DF0-90B339A02AB9}"/>
                  </a:ext>
                </a:extLst>
              </p:cNvPr>
              <p:cNvSpPr txBox="1"/>
              <p:nvPr/>
            </p:nvSpPr>
            <p:spPr>
              <a:xfrm>
                <a:off x="4155469" y="3122929"/>
                <a:ext cx="7043952" cy="861778"/>
              </a:xfrm>
              <a:prstGeom prst="rect">
                <a:avLst/>
              </a:prstGeom>
              <a:noFill/>
            </p:spPr>
            <p:txBody>
              <a:bodyPr wrap="square" rtlCol="0">
                <a:spAutoFit/>
              </a:bodyPr>
              <a:lstStyle/>
              <a:p>
                <a:r>
                  <a:rPr lang="he-IL" sz="2000">
                    <a:latin typeface="Assistant" pitchFamily="2" charset="-79"/>
                    <a:cs typeface="Assistant" pitchFamily="2" charset="-79"/>
                  </a:rPr>
                  <a:t>ההצעה לא הוגנת, כי היחס בין הכספים שהם שילמו הוא 5:7, והסכומים</a:t>
                </a:r>
                <a:br>
                  <a:rPr lang="en-US" sz="2000">
                    <a:latin typeface="Assistant" pitchFamily="2" charset="-79"/>
                    <a:cs typeface="Assistant" pitchFamily="2" charset="-79"/>
                  </a:rPr>
                </a:br>
                <a:r>
                  <a:rPr lang="he-IL" sz="2000">
                    <a:latin typeface="Assistant" pitchFamily="2" charset="-79"/>
                    <a:cs typeface="Assistant" pitchFamily="2" charset="-79"/>
                  </a:rPr>
                  <a:t>60 ו-60 מייצגים יחס שונה של 1:1. </a:t>
                </a:r>
                <a:endParaRPr lang="LID4096" sz="2000">
                  <a:latin typeface="Assistant" pitchFamily="2" charset="-79"/>
                  <a:cs typeface="Assistant" pitchFamily="2" charset="-79"/>
                </a:endParaRPr>
              </a:p>
            </p:txBody>
          </p:sp>
        </p:grpSp>
        <p:sp>
          <p:nvSpPr>
            <p:cNvPr id="39" name="אליפסה 9">
              <a:extLst>
                <a:ext uri="{FF2B5EF4-FFF2-40B4-BE49-F238E27FC236}">
                  <a16:creationId xmlns:a16="http://schemas.microsoft.com/office/drawing/2014/main" id="{E7977AAB-676D-55B4-AF11-9A0498278123}"/>
                </a:ext>
              </a:extLst>
            </p:cNvPr>
            <p:cNvSpPr/>
            <p:nvPr/>
          </p:nvSpPr>
          <p:spPr>
            <a:xfrm>
              <a:off x="11280913" y="3391294"/>
              <a:ext cx="252766" cy="318364"/>
            </a:xfrm>
            <a:prstGeom prst="ellipse">
              <a:avLst/>
            </a:prstGeom>
            <a:solidFill>
              <a:srgbClr val="00B050"/>
            </a:solid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LID4096"/>
            </a:p>
          </p:txBody>
        </p:sp>
      </p:grpSp>
    </p:spTree>
    <p:custDataLst>
      <p:tags r:id="rId1"/>
    </p:custDataLst>
    <p:extLst>
      <p:ext uri="{BB962C8B-B14F-4D97-AF65-F5344CB8AC3E}">
        <p14:creationId xmlns:p14="http://schemas.microsoft.com/office/powerpoint/2010/main" val="2681192433"/>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91AFEA-1B38-CA16-B691-FC6EB03C38EF}"/>
            </a:ext>
          </a:extLst>
        </p:cNvPr>
        <p:cNvGrpSpPr/>
        <p:nvPr/>
      </p:nvGrpSpPr>
      <p:grpSpPr>
        <a:xfrm>
          <a:off x="0" y="0"/>
          <a:ext cx="0" cy="0"/>
          <a:chOff x="0" y="0"/>
          <a:chExt cx="0" cy="0"/>
        </a:xfrm>
      </p:grpSpPr>
      <p:pic>
        <p:nvPicPr>
          <p:cNvPr id="4" name="תמונה 3">
            <a:extLst>
              <a:ext uri="{FF2B5EF4-FFF2-40B4-BE49-F238E27FC236}">
                <a16:creationId xmlns:a16="http://schemas.microsoft.com/office/drawing/2014/main" id="{AA230E2A-5873-8B01-42B8-F1385C7B3F5A}"/>
              </a:ext>
            </a:extLst>
          </p:cNvPr>
          <p:cNvPicPr>
            <a:picLocks noChangeAspect="1"/>
          </p:cNvPicPr>
          <p:nvPr/>
        </p:nvPicPr>
        <p:blipFill>
          <a:blip r:embed="rId4">
            <a:extLst>
              <a:ext uri="{28A0092B-C50C-407E-A947-70E740481C1C}">
                <a14:useLocalDpi xmlns:a14="http://schemas.microsoft.com/office/drawing/2010/main"/>
              </a:ext>
            </a:extLst>
          </a:blip>
          <a:stretch>
            <a:fillRect/>
          </a:stretch>
        </p:blipFill>
        <p:spPr>
          <a:xfrm>
            <a:off x="192984" y="6236080"/>
            <a:ext cx="1777778" cy="495238"/>
          </a:xfrm>
          <a:prstGeom prst="rect">
            <a:avLst/>
          </a:prstGeom>
        </p:spPr>
      </p:pic>
      <p:cxnSp>
        <p:nvCxnSpPr>
          <p:cNvPr id="5" name="מחבר ישר 4">
            <a:extLst>
              <a:ext uri="{FF2B5EF4-FFF2-40B4-BE49-F238E27FC236}">
                <a16:creationId xmlns:a16="http://schemas.microsoft.com/office/drawing/2014/main" id="{05D0133D-4388-1025-DE37-C422DB3D3909}"/>
              </a:ext>
            </a:extLst>
          </p:cNvPr>
          <p:cNvCxnSpPr>
            <a:cxnSpLocks/>
          </p:cNvCxnSpPr>
          <p:nvPr/>
        </p:nvCxnSpPr>
        <p:spPr>
          <a:xfrm>
            <a:off x="0" y="6079252"/>
            <a:ext cx="12192000" cy="0"/>
          </a:xfrm>
          <a:prstGeom prst="line">
            <a:avLst/>
          </a:prstGeom>
          <a:ln>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 name="תיבת טקסט 5">
            <a:extLst>
              <a:ext uri="{FF2B5EF4-FFF2-40B4-BE49-F238E27FC236}">
                <a16:creationId xmlns:a16="http://schemas.microsoft.com/office/drawing/2014/main" id="{FE25EF8A-91F1-4F49-35FD-60F0A9D98878}"/>
              </a:ext>
            </a:extLst>
          </p:cNvPr>
          <p:cNvSpPr txBox="1"/>
          <p:nvPr/>
        </p:nvSpPr>
        <p:spPr>
          <a:xfrm>
            <a:off x="1377864" y="1112049"/>
            <a:ext cx="9970717" cy="1077218"/>
          </a:xfrm>
          <a:prstGeom prst="rect">
            <a:avLst/>
          </a:prstGeom>
          <a:noFill/>
        </p:spPr>
        <p:txBody>
          <a:bodyPr wrap="square" rtlCol="0">
            <a:spAutoFit/>
          </a:bodyPr>
          <a:lstStyle/>
          <a:p>
            <a:pPr algn="ctr"/>
            <a:r>
              <a:rPr lang="he-IL" sz="2000">
                <a:latin typeface="Assistant" pitchFamily="2" charset="-79"/>
                <a:cs typeface="Assistant" pitchFamily="2" charset="-79"/>
              </a:rPr>
              <a:t>יופי של עבודה! </a:t>
            </a:r>
          </a:p>
          <a:p>
            <a:pPr algn="ctr"/>
            <a:r>
              <a:rPr lang="he-IL" sz="4400" b="1">
                <a:latin typeface="Assistant" pitchFamily="2" charset="-79"/>
                <a:cs typeface="Assistant" pitchFamily="2" charset="-79"/>
              </a:rPr>
              <a:t>הנה עוד 2 תרגילים ברמת קושי גבוהה יותר.</a:t>
            </a:r>
          </a:p>
        </p:txBody>
      </p:sp>
      <p:pic>
        <p:nvPicPr>
          <p:cNvPr id="8" name="Picture 7">
            <a:extLst>
              <a:ext uri="{FF2B5EF4-FFF2-40B4-BE49-F238E27FC236}">
                <a16:creationId xmlns:a16="http://schemas.microsoft.com/office/drawing/2014/main" id="{8ABF6FC6-3CAE-2134-CF87-3C794AAFCA6F}"/>
              </a:ext>
            </a:extLst>
          </p:cNvPr>
          <p:cNvPicPr>
            <a:picLocks noChangeAspect="1"/>
          </p:cNvPicPr>
          <p:nvPr/>
        </p:nvPicPr>
        <p:blipFill>
          <a:blip r:embed="rId5"/>
          <a:stretch>
            <a:fillRect/>
          </a:stretch>
        </p:blipFill>
        <p:spPr>
          <a:xfrm>
            <a:off x="10371417" y="6124170"/>
            <a:ext cx="1820583" cy="622831"/>
          </a:xfrm>
          <a:prstGeom prst="rect">
            <a:avLst/>
          </a:prstGeom>
        </p:spPr>
      </p:pic>
      <p:pic>
        <p:nvPicPr>
          <p:cNvPr id="7" name="תמונה 8">
            <a:extLst>
              <a:ext uri="{FF2B5EF4-FFF2-40B4-BE49-F238E27FC236}">
                <a16:creationId xmlns:a16="http://schemas.microsoft.com/office/drawing/2014/main" id="{58C5B5A8-97C1-C3DA-65DE-39435D62A9A9}"/>
              </a:ext>
            </a:extLst>
          </p:cNvPr>
          <p:cNvPicPr>
            <a:picLocks noChangeAspect="1"/>
          </p:cNvPicPr>
          <p:nvPr/>
        </p:nvPicPr>
        <p:blipFill>
          <a:blip r:embed="rId6" cstate="email">
            <a:extLst>
              <a:ext uri="{28A0092B-C50C-407E-A947-70E740481C1C}">
                <a14:useLocalDpi xmlns:a14="http://schemas.microsoft.com/office/drawing/2010/main"/>
              </a:ext>
            </a:extLst>
          </a:blip>
          <a:srcRect/>
          <a:stretch/>
        </p:blipFill>
        <p:spPr>
          <a:xfrm>
            <a:off x="4784621" y="2427138"/>
            <a:ext cx="2622758" cy="3318813"/>
          </a:xfrm>
          <a:prstGeom prst="rect">
            <a:avLst/>
          </a:prstGeom>
        </p:spPr>
      </p:pic>
      <p:sp>
        <p:nvSpPr>
          <p:cNvPr id="3" name="בועת דיבור: מלבן 13">
            <a:extLst>
              <a:ext uri="{FF2B5EF4-FFF2-40B4-BE49-F238E27FC236}">
                <a16:creationId xmlns:a16="http://schemas.microsoft.com/office/drawing/2014/main" id="{5EE3744D-BE45-B542-0D3C-668C40973F29}"/>
              </a:ext>
            </a:extLst>
          </p:cNvPr>
          <p:cNvSpPr/>
          <p:nvPr/>
        </p:nvSpPr>
        <p:spPr>
          <a:xfrm>
            <a:off x="3224236" y="2624168"/>
            <a:ext cx="1560385" cy="609258"/>
          </a:xfrm>
          <a:prstGeom prst="wedgeRectCallout">
            <a:avLst>
              <a:gd name="adj1" fmla="val 79925"/>
              <a:gd name="adj2" fmla="val 41168"/>
            </a:avLst>
          </a:prstGeom>
          <a:noFill/>
          <a:ln w="28575">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he-IL">
                <a:solidFill>
                  <a:schemeClr val="tx1"/>
                </a:solidFill>
                <a:latin typeface="Assistant" pitchFamily="2" charset="-79"/>
                <a:cs typeface="Assistant" pitchFamily="2" charset="-79"/>
              </a:rPr>
              <a:t>קטן עליכם!</a:t>
            </a:r>
          </a:p>
        </p:txBody>
      </p:sp>
    </p:spTree>
    <p:custDataLst>
      <p:tags r:id="rId1"/>
    </p:custDataLst>
    <p:extLst>
      <p:ext uri="{BB962C8B-B14F-4D97-AF65-F5344CB8AC3E}">
        <p14:creationId xmlns:p14="http://schemas.microsoft.com/office/powerpoint/2010/main" val="1040519062"/>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3CD916-110E-EF2F-E12F-A44A4399AA32}"/>
            </a:ext>
          </a:extLst>
        </p:cNvPr>
        <p:cNvGrpSpPr/>
        <p:nvPr/>
      </p:nvGrpSpPr>
      <p:grpSpPr>
        <a:xfrm>
          <a:off x="0" y="0"/>
          <a:ext cx="0" cy="0"/>
          <a:chOff x="0" y="0"/>
          <a:chExt cx="0" cy="0"/>
        </a:xfrm>
      </p:grpSpPr>
      <p:cxnSp>
        <p:nvCxnSpPr>
          <p:cNvPr id="4" name="מחבר ישר 3">
            <a:extLst>
              <a:ext uri="{FF2B5EF4-FFF2-40B4-BE49-F238E27FC236}">
                <a16:creationId xmlns:a16="http://schemas.microsoft.com/office/drawing/2014/main" id="{AB701403-3371-C1F9-A543-D64F7244448A}"/>
              </a:ext>
            </a:extLst>
          </p:cNvPr>
          <p:cNvCxnSpPr>
            <a:cxnSpLocks/>
          </p:cNvCxnSpPr>
          <p:nvPr/>
        </p:nvCxnSpPr>
        <p:spPr>
          <a:xfrm>
            <a:off x="0" y="6079252"/>
            <a:ext cx="12192000" cy="0"/>
          </a:xfrm>
          <a:prstGeom prst="line">
            <a:avLst/>
          </a:prstGeom>
          <a:ln>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5" name="מלבן: פינות מעוגלות 4">
            <a:extLst>
              <a:ext uri="{FF2B5EF4-FFF2-40B4-BE49-F238E27FC236}">
                <a16:creationId xmlns:a16="http://schemas.microsoft.com/office/drawing/2014/main" id="{54CE0530-13CC-055E-1AA1-9026CF440452}"/>
              </a:ext>
            </a:extLst>
          </p:cNvPr>
          <p:cNvSpPr/>
          <p:nvPr/>
        </p:nvSpPr>
        <p:spPr>
          <a:xfrm>
            <a:off x="268356" y="6182143"/>
            <a:ext cx="1798983" cy="506891"/>
          </a:xfrm>
          <a:prstGeom prst="roundRect">
            <a:avLst>
              <a:gd name="adj" fmla="val 50000"/>
            </a:avLst>
          </a:prstGeom>
          <a:solidFill>
            <a:schemeClr val="bg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he-IL"/>
              <a:t>צדקתי?</a:t>
            </a:r>
            <a:endParaRPr lang="LID4096"/>
          </a:p>
        </p:txBody>
      </p:sp>
      <p:sp>
        <p:nvSpPr>
          <p:cNvPr id="2" name="מלבן: פינות מעוגלות 1">
            <a:extLst>
              <a:ext uri="{FF2B5EF4-FFF2-40B4-BE49-F238E27FC236}">
                <a16:creationId xmlns:a16="http://schemas.microsoft.com/office/drawing/2014/main" id="{AEC10B97-281B-D823-F4A5-0D862506159D}"/>
              </a:ext>
            </a:extLst>
          </p:cNvPr>
          <p:cNvSpPr/>
          <p:nvPr/>
        </p:nvSpPr>
        <p:spPr>
          <a:xfrm>
            <a:off x="2179982" y="6182142"/>
            <a:ext cx="2481470" cy="506891"/>
          </a:xfrm>
          <a:prstGeom prst="roundRect">
            <a:avLst>
              <a:gd name="adj" fmla="val 50000"/>
            </a:avLst>
          </a:prstGeom>
          <a:noFill/>
          <a:ln>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he-IL">
                <a:solidFill>
                  <a:srgbClr val="00B0F0"/>
                </a:solidFill>
              </a:rPr>
              <a:t>     אפשר רמז?</a:t>
            </a:r>
            <a:endParaRPr lang="LID4096">
              <a:solidFill>
                <a:srgbClr val="00B0F0"/>
              </a:solidFill>
            </a:endParaRPr>
          </a:p>
        </p:txBody>
      </p:sp>
      <p:pic>
        <p:nvPicPr>
          <p:cNvPr id="12" name="גרפיקה 11" descr="נורת חשמל וגלגל שיניים עם מילוי מלא">
            <a:extLst>
              <a:ext uri="{FF2B5EF4-FFF2-40B4-BE49-F238E27FC236}">
                <a16:creationId xmlns:a16="http://schemas.microsoft.com/office/drawing/2014/main" id="{920C4A40-A6CB-2EF9-2E6A-4708C65CCEF0}"/>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831910" y="6266545"/>
            <a:ext cx="338083" cy="338083"/>
          </a:xfrm>
          <a:prstGeom prst="rect">
            <a:avLst/>
          </a:prstGeom>
        </p:spPr>
      </p:pic>
      <p:pic>
        <p:nvPicPr>
          <p:cNvPr id="3" name="תמונה 2">
            <a:extLst>
              <a:ext uri="{FF2B5EF4-FFF2-40B4-BE49-F238E27FC236}">
                <a16:creationId xmlns:a16="http://schemas.microsoft.com/office/drawing/2014/main" id="{8D258944-E199-5563-16C4-517BC7F698E7}"/>
              </a:ext>
            </a:extLst>
          </p:cNvPr>
          <p:cNvPicPr>
            <a:picLocks noChangeAspect="1"/>
          </p:cNvPicPr>
          <p:nvPr/>
        </p:nvPicPr>
        <p:blipFill>
          <a:blip r:embed="rId5">
            <a:extLst>
              <a:ext uri="{28A0092B-C50C-407E-A947-70E740481C1C}">
                <a14:useLocalDpi xmlns:a14="http://schemas.microsoft.com/office/drawing/2010/main"/>
              </a:ext>
            </a:extLst>
          </a:blip>
          <a:stretch>
            <a:fillRect/>
          </a:stretch>
        </p:blipFill>
        <p:spPr>
          <a:xfrm>
            <a:off x="0" y="57121"/>
            <a:ext cx="933869" cy="721626"/>
          </a:xfrm>
          <a:prstGeom prst="rect">
            <a:avLst/>
          </a:prstGeom>
        </p:spPr>
      </p:pic>
      <p:sp>
        <p:nvSpPr>
          <p:cNvPr id="7" name="מלבן: פינות מעוגלות 6">
            <a:extLst>
              <a:ext uri="{FF2B5EF4-FFF2-40B4-BE49-F238E27FC236}">
                <a16:creationId xmlns:a16="http://schemas.microsoft.com/office/drawing/2014/main" id="{F9D8A419-2DCC-60AD-E21D-E1945E3CFD1B}"/>
              </a:ext>
            </a:extLst>
          </p:cNvPr>
          <p:cNvSpPr/>
          <p:nvPr/>
        </p:nvSpPr>
        <p:spPr>
          <a:xfrm>
            <a:off x="10244695" y="6193485"/>
            <a:ext cx="1798983" cy="506891"/>
          </a:xfrm>
          <a:prstGeom prst="roundRect">
            <a:avLst>
              <a:gd name="adj" fmla="val 50000"/>
            </a:avLst>
          </a:prstGeom>
          <a:noFill/>
          <a:ln>
            <a:solidFill>
              <a:srgbClr val="019DE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he-IL">
                <a:solidFill>
                  <a:srgbClr val="019DE5"/>
                </a:solidFill>
                <a:latin typeface="Assistant" pitchFamily="2" charset="-79"/>
                <a:cs typeface="Assistant" pitchFamily="2" charset="-79"/>
              </a:rPr>
              <a:t>חזרה</a:t>
            </a:r>
            <a:endParaRPr lang="LID4096">
              <a:solidFill>
                <a:srgbClr val="019DE5"/>
              </a:solidFill>
              <a:latin typeface="Assistant" pitchFamily="2" charset="-79"/>
              <a:cs typeface="Assistant" pitchFamily="2" charset="-79"/>
            </a:endParaRPr>
          </a:p>
        </p:txBody>
      </p:sp>
      <p:pic>
        <p:nvPicPr>
          <p:cNvPr id="9" name="תמונה 8">
            <a:extLst>
              <a:ext uri="{FF2B5EF4-FFF2-40B4-BE49-F238E27FC236}">
                <a16:creationId xmlns:a16="http://schemas.microsoft.com/office/drawing/2014/main" id="{50B8D7B4-6D9E-B759-B2C9-CE0DCA2D2C4A}"/>
              </a:ext>
            </a:extLst>
          </p:cNvPr>
          <p:cNvPicPr>
            <a:picLocks noChangeAspect="1"/>
          </p:cNvPicPr>
          <p:nvPr/>
        </p:nvPicPr>
        <p:blipFill>
          <a:blip r:embed="rId6">
            <a:extLst>
              <a:ext uri="{28A0092B-C50C-407E-A947-70E740481C1C}">
                <a14:useLocalDpi xmlns:a14="http://schemas.microsoft.com/office/drawing/2010/main"/>
              </a:ext>
            </a:extLst>
          </a:blip>
          <a:stretch>
            <a:fillRect/>
          </a:stretch>
        </p:blipFill>
        <p:spPr>
          <a:xfrm>
            <a:off x="2803561" y="417934"/>
            <a:ext cx="7847619" cy="558730"/>
          </a:xfrm>
          <a:prstGeom prst="rect">
            <a:avLst/>
          </a:prstGeom>
        </p:spPr>
      </p:pic>
      <p:sp>
        <p:nvSpPr>
          <p:cNvPr id="11" name="מלבן 10">
            <a:extLst>
              <a:ext uri="{FF2B5EF4-FFF2-40B4-BE49-F238E27FC236}">
                <a16:creationId xmlns:a16="http://schemas.microsoft.com/office/drawing/2014/main" id="{4B9DBB94-242C-3D32-19E9-3B3E9CFBAAB3}"/>
              </a:ext>
            </a:extLst>
          </p:cNvPr>
          <p:cNvSpPr/>
          <p:nvPr/>
        </p:nvSpPr>
        <p:spPr>
          <a:xfrm>
            <a:off x="-115414" y="-1103086"/>
            <a:ext cx="2295396" cy="976083"/>
          </a:xfrm>
          <a:prstGeom prst="rect">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he-IL" sz="1800" b="1" i="0" u="none" strike="noStrike" kern="1200" cap="none" spc="0" normalizeH="0" baseline="0" noProof="0">
                <a:ln>
                  <a:noFill/>
                </a:ln>
                <a:solidFill>
                  <a:prstClr val="black"/>
                </a:solidFill>
                <a:effectLst/>
                <a:uLnTx/>
                <a:uFillTx/>
                <a:latin typeface="Assistant" pitchFamily="2" charset="-79"/>
                <a:ea typeface="+mn-ea"/>
                <a:cs typeface="Assistant" pitchFamily="2" charset="-79"/>
                <a:hlinkClick r:id="rId7"/>
              </a:rPr>
              <a:t>רמת חשיבה</a:t>
            </a:r>
            <a:endParaRPr kumimoji="0" lang="he-IL" sz="1800" b="1" i="0" u="none" strike="noStrike" kern="1200" cap="none" spc="0" normalizeH="0" baseline="0" noProof="0">
              <a:ln>
                <a:noFill/>
              </a:ln>
              <a:solidFill>
                <a:prstClr val="black"/>
              </a:solidFill>
              <a:effectLst/>
              <a:uLnTx/>
              <a:uFillTx/>
              <a:latin typeface="Assistant" pitchFamily="2" charset="-79"/>
              <a:ea typeface="+mn-ea"/>
              <a:cs typeface="Assistant" pitchFamily="2" charset="-79"/>
            </a:endParaRPr>
          </a:p>
          <a:p>
            <a:pPr marL="285750" marR="0" lvl="0" indent="-285750" defTabSz="91440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he-IL" sz="1800" i="0" u="none" strike="noStrike" kern="1200" cap="none" spc="0" normalizeH="0" baseline="0" noProof="0">
                <a:ln>
                  <a:noFill/>
                </a:ln>
                <a:solidFill>
                  <a:prstClr val="black"/>
                </a:solidFill>
                <a:effectLst/>
                <a:uLnTx/>
                <a:uFillTx/>
                <a:latin typeface="Assistant" pitchFamily="2" charset="-79"/>
                <a:ea typeface="+mn-ea"/>
                <a:cs typeface="Assistant" pitchFamily="2" charset="-79"/>
              </a:rPr>
              <a:t>טקסט </a:t>
            </a:r>
          </a:p>
          <a:p>
            <a:pPr marL="285750" marR="0" lvl="0" indent="-285750" defTabSz="914400" eaLnBrk="1" fontAlgn="auto" latinLnBrk="0" hangingPunct="1">
              <a:lnSpc>
                <a:spcPct val="100000"/>
              </a:lnSpc>
              <a:spcBef>
                <a:spcPts val="0"/>
              </a:spcBef>
              <a:spcAft>
                <a:spcPts val="0"/>
              </a:spcAft>
              <a:buClrTx/>
              <a:buSzTx/>
              <a:buFont typeface="Arial" panose="020B0604020202020204" pitchFamily="34" charset="0"/>
              <a:buChar char="•"/>
              <a:tabLst/>
              <a:defRPr/>
            </a:pPr>
            <a:r>
              <a:rPr lang="he-IL">
                <a:solidFill>
                  <a:prstClr val="black"/>
                </a:solidFill>
                <a:latin typeface="Assistant" pitchFamily="2" charset="-79"/>
                <a:cs typeface="Assistant" pitchFamily="2" charset="-79"/>
              </a:rPr>
              <a:t>טקסט</a:t>
            </a:r>
            <a:endParaRPr kumimoji="0" lang="he-IL" sz="1800" i="0" u="none" strike="noStrike" kern="1200" cap="none" spc="0" normalizeH="0" baseline="0" noProof="0">
              <a:ln>
                <a:noFill/>
              </a:ln>
              <a:solidFill>
                <a:prstClr val="black"/>
              </a:solidFill>
              <a:effectLst/>
              <a:uLnTx/>
              <a:uFillTx/>
              <a:latin typeface="Assistant" pitchFamily="2" charset="-79"/>
              <a:ea typeface="+mn-ea"/>
              <a:cs typeface="Assistant" pitchFamily="2" charset="-79"/>
            </a:endParaRPr>
          </a:p>
        </p:txBody>
      </p:sp>
      <p:grpSp>
        <p:nvGrpSpPr>
          <p:cNvPr id="15" name="קבוצה 14">
            <a:extLst>
              <a:ext uri="{FF2B5EF4-FFF2-40B4-BE49-F238E27FC236}">
                <a16:creationId xmlns:a16="http://schemas.microsoft.com/office/drawing/2014/main" id="{64720C67-0028-F23D-DBE2-58B7AF34ED49}"/>
              </a:ext>
            </a:extLst>
          </p:cNvPr>
          <p:cNvGrpSpPr/>
          <p:nvPr/>
        </p:nvGrpSpPr>
        <p:grpSpPr>
          <a:xfrm>
            <a:off x="-10194895" y="417934"/>
            <a:ext cx="9123904" cy="3818372"/>
            <a:chOff x="-9229411" y="26138"/>
            <a:chExt cx="9123904" cy="3818372"/>
          </a:xfrm>
        </p:grpSpPr>
        <p:sp>
          <p:nvSpPr>
            <p:cNvPr id="17" name="מלבן: פינות מעוגלות 16">
              <a:extLst>
                <a:ext uri="{FF2B5EF4-FFF2-40B4-BE49-F238E27FC236}">
                  <a16:creationId xmlns:a16="http://schemas.microsoft.com/office/drawing/2014/main" id="{EF025686-7E4E-4EF2-57A7-C736626E7470}"/>
                </a:ext>
              </a:extLst>
            </p:cNvPr>
            <p:cNvSpPr/>
            <p:nvPr/>
          </p:nvSpPr>
          <p:spPr>
            <a:xfrm>
              <a:off x="-9229411" y="26138"/>
              <a:ext cx="9123904" cy="3818372"/>
            </a:xfrm>
            <a:prstGeom prst="roundRect">
              <a:avLst>
                <a:gd name="adj" fmla="val 8509"/>
              </a:avLst>
            </a:prstGeom>
            <a:solidFill>
              <a:srgbClr val="00B0F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LID4096"/>
            </a:p>
          </p:txBody>
        </p:sp>
        <p:sp>
          <p:nvSpPr>
            <p:cNvPr id="28" name="מלבן: פינות מעוגלות 27">
              <a:extLst>
                <a:ext uri="{FF2B5EF4-FFF2-40B4-BE49-F238E27FC236}">
                  <a16:creationId xmlns:a16="http://schemas.microsoft.com/office/drawing/2014/main" id="{BB8E440E-42B6-D2FD-7886-E7A5C2D8A2FA}"/>
                </a:ext>
              </a:extLst>
            </p:cNvPr>
            <p:cNvSpPr/>
            <p:nvPr/>
          </p:nvSpPr>
          <p:spPr>
            <a:xfrm>
              <a:off x="-5861703" y="3135618"/>
              <a:ext cx="1798983" cy="506891"/>
            </a:xfrm>
            <a:prstGeom prst="roundRect">
              <a:avLst>
                <a:gd name="adj" fmla="val 50000"/>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he-IL">
                  <a:solidFill>
                    <a:schemeClr val="tx1"/>
                  </a:solidFill>
                  <a:latin typeface="Assistant" pitchFamily="2" charset="-79"/>
                  <a:cs typeface="Assistant" pitchFamily="2" charset="-79"/>
                </a:rPr>
                <a:t>חזרה לשאלה</a:t>
              </a:r>
              <a:endParaRPr lang="LID4096">
                <a:solidFill>
                  <a:schemeClr val="tx1"/>
                </a:solidFill>
                <a:latin typeface="Assistant" pitchFamily="2" charset="-79"/>
                <a:cs typeface="Assistant" pitchFamily="2" charset="-79"/>
              </a:endParaRPr>
            </a:p>
          </p:txBody>
        </p:sp>
        <p:pic>
          <p:nvPicPr>
            <p:cNvPr id="29" name="גרפיקה 28" descr="נורת חשמל וגלגל שיניים עם מילוי מלא">
              <a:extLst>
                <a:ext uri="{FF2B5EF4-FFF2-40B4-BE49-F238E27FC236}">
                  <a16:creationId xmlns:a16="http://schemas.microsoft.com/office/drawing/2014/main" id="{9A9E989C-7A6C-4D8B-CE8B-66B423322B3E}"/>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983558" y="489982"/>
              <a:ext cx="338083" cy="338083"/>
            </a:xfrm>
            <a:prstGeom prst="rect">
              <a:avLst/>
            </a:prstGeom>
          </p:spPr>
        </p:pic>
      </p:grpSp>
      <mc:AlternateContent xmlns:mc="http://schemas.openxmlformats.org/markup-compatibility/2006" xmlns:a14="http://schemas.microsoft.com/office/drawing/2010/main">
        <mc:Choice Requires="a14">
          <p:sp>
            <p:nvSpPr>
              <p:cNvPr id="26" name="תיבת טקסט 5">
                <a:extLst>
                  <a:ext uri="{FF2B5EF4-FFF2-40B4-BE49-F238E27FC236}">
                    <a16:creationId xmlns:a16="http://schemas.microsoft.com/office/drawing/2014/main" id="{41252541-671B-A9C8-A873-7F88B6008968}"/>
                  </a:ext>
                </a:extLst>
              </p:cNvPr>
              <p:cNvSpPr txBox="1"/>
              <p:nvPr/>
            </p:nvSpPr>
            <p:spPr>
              <a:xfrm>
                <a:off x="4954380" y="1277938"/>
                <a:ext cx="6668739" cy="3234732"/>
              </a:xfrm>
              <a:prstGeom prst="rect">
                <a:avLst/>
              </a:prstGeom>
              <a:noFill/>
            </p:spPr>
            <p:txBody>
              <a:bodyPr wrap="square" rtlCol="0">
                <a:spAutoFit/>
              </a:bodyPr>
              <a:lstStyle/>
              <a:p>
                <a:r>
                  <a:rPr lang="he-IL">
                    <a:latin typeface="Assistant" pitchFamily="2" charset="-79"/>
                    <a:cs typeface="Assistant" pitchFamily="2" charset="-79"/>
                  </a:rPr>
                  <a:t>נעמי ויוני עבדו יחד בשטיפת מכוניות בשכונה.</a:t>
                </a:r>
              </a:p>
              <a:p>
                <a:pPr lvl="0"/>
                <a:r>
                  <a:rPr lang="he-IL">
                    <a:latin typeface="Assistant" pitchFamily="2" charset="-79"/>
                    <a:cs typeface="Assistant" pitchFamily="2" charset="-79"/>
                  </a:rPr>
                  <a:t>נעמי עבדה </a:t>
                </a:r>
                <a:r>
                  <a:rPr lang="he-IL" b="1">
                    <a:latin typeface="Assistant" pitchFamily="2" charset="-79"/>
                    <a:cs typeface="Assistant" pitchFamily="2" charset="-79"/>
                  </a:rPr>
                  <a:t>2 שעות </a:t>
                </a:r>
                <a:r>
                  <a:rPr lang="he-IL">
                    <a:latin typeface="Assistant" pitchFamily="2" charset="-79"/>
                    <a:cs typeface="Assistant" pitchFamily="2" charset="-79"/>
                  </a:rPr>
                  <a:t>ויוני עבד </a:t>
                </a:r>
                <a:r>
                  <a:rPr lang="he-IL" b="1">
                    <a:latin typeface="Assistant" pitchFamily="2" charset="-79"/>
                    <a:cs typeface="Assistant" pitchFamily="2" charset="-79"/>
                  </a:rPr>
                  <a:t>5 שעות.</a:t>
                </a:r>
                <a:endParaRPr lang="he-IL">
                  <a:latin typeface="Assistant" pitchFamily="2" charset="-79"/>
                  <a:cs typeface="Assistant" pitchFamily="2" charset="-79"/>
                </a:endParaRPr>
              </a:p>
              <a:p>
                <a:endParaRPr lang="he-IL">
                  <a:latin typeface="Assistant" pitchFamily="2" charset="-79"/>
                  <a:cs typeface="Assistant" pitchFamily="2" charset="-79"/>
                </a:endParaRPr>
              </a:p>
              <a:p>
                <a:r>
                  <a:rPr lang="he-IL">
                    <a:latin typeface="Assistant" pitchFamily="2" charset="-79"/>
                    <a:cs typeface="Assistant" pitchFamily="2" charset="-79"/>
                  </a:rPr>
                  <a:t>הם החליטו לחלק את הכסף שירוויחו לפי היחס </a:t>
                </a:r>
              </a:p>
              <a:p>
                <a:r>
                  <a:rPr lang="he-IL">
                    <a:latin typeface="Assistant" pitchFamily="2" charset="-79"/>
                    <a:cs typeface="Assistant" pitchFamily="2" charset="-79"/>
                  </a:rPr>
                  <a:t>בין מספר השעות שעבד כל אחד (כלומר יחס של </a:t>
                </a:r>
                <a14:m>
                  <m:oMath xmlns:m="http://schemas.openxmlformats.org/officeDocument/2006/math">
                    <m:r>
                      <a:rPr lang="he-IL">
                        <a:latin typeface="Cambria Math" panose="02040503050406030204" pitchFamily="18" charset="0"/>
                      </a:rPr>
                      <m:t>2:5</m:t>
                    </m:r>
                  </m:oMath>
                </a14:m>
                <a:r>
                  <a:rPr lang="he-IL">
                    <a:latin typeface="Assistant" pitchFamily="2" charset="-79"/>
                    <a:cs typeface="Assistant" pitchFamily="2" charset="-79"/>
                  </a:rPr>
                  <a:t>).</a:t>
                </a:r>
              </a:p>
              <a:p>
                <a:endParaRPr lang="he-IL">
                  <a:latin typeface="Assistant" pitchFamily="2" charset="-79"/>
                  <a:cs typeface="Assistant" pitchFamily="2" charset="-79"/>
                </a:endParaRPr>
              </a:p>
              <a:p>
                <a:r>
                  <a:rPr lang="he-IL" b="1">
                    <a:latin typeface="Assistant" pitchFamily="2" charset="-79"/>
                    <a:cs typeface="Assistant" pitchFamily="2" charset="-79"/>
                  </a:rPr>
                  <a:t>א. השלימו את המשפטים הבאים:</a:t>
                </a:r>
              </a:p>
              <a:p>
                <a:pPr lvl="0">
                  <a:lnSpc>
                    <a:spcPct val="150000"/>
                  </a:lnSpc>
                </a:pPr>
                <a:r>
                  <a:rPr lang="he-IL">
                    <a:latin typeface="Assistant" pitchFamily="2" charset="-79"/>
                    <a:cs typeface="Assistant" pitchFamily="2" charset="-79"/>
                  </a:rPr>
                  <a:t>אם נועה ויוני ירוויחו יחד </a:t>
                </a:r>
                <a:r>
                  <a:rPr lang="he-IL" b="1">
                    <a:latin typeface="Assistant" pitchFamily="2" charset="-79"/>
                    <a:cs typeface="Assistant" pitchFamily="2" charset="-79"/>
                  </a:rPr>
                  <a:t>210 ש"ח</a:t>
                </a:r>
                <a:r>
                  <a:rPr lang="he-IL">
                    <a:latin typeface="Assistant" pitchFamily="2" charset="-79"/>
                    <a:cs typeface="Assistant" pitchFamily="2" charset="-79"/>
                  </a:rPr>
                  <a:t>, הם יחלקו את הכסף ביניהם בצורה הבאה:</a:t>
                </a:r>
              </a:p>
              <a:p>
                <a:pPr lvl="1">
                  <a:lnSpc>
                    <a:spcPct val="150000"/>
                  </a:lnSpc>
                </a:pPr>
                <a:r>
                  <a:rPr lang="he-IL">
                    <a:latin typeface="Assistant" pitchFamily="2" charset="-79"/>
                    <a:cs typeface="Assistant" pitchFamily="2" charset="-79"/>
                  </a:rPr>
                  <a:t>נועה תקבל </a:t>
                </a:r>
                <a:r>
                  <a:rPr lang="he-IL" b="1">
                    <a:latin typeface="Assistant" pitchFamily="2" charset="-79"/>
                    <a:cs typeface="Assistant" pitchFamily="2" charset="-79"/>
                  </a:rPr>
                  <a:t>___</a:t>
                </a:r>
                <a:r>
                  <a:rPr lang="he-IL">
                    <a:latin typeface="Assistant" pitchFamily="2" charset="-79"/>
                    <a:cs typeface="Assistant" pitchFamily="2" charset="-79"/>
                  </a:rPr>
                  <a:t> ש"ח</a:t>
                </a:r>
              </a:p>
              <a:p>
                <a:pPr lvl="1">
                  <a:lnSpc>
                    <a:spcPct val="150000"/>
                  </a:lnSpc>
                </a:pPr>
                <a:r>
                  <a:rPr lang="he-IL">
                    <a:latin typeface="Assistant" pitchFamily="2" charset="-79"/>
                    <a:cs typeface="Assistant" pitchFamily="2" charset="-79"/>
                  </a:rPr>
                  <a:t>יוני יקבל </a:t>
                </a:r>
                <a:r>
                  <a:rPr lang="he-IL" b="1">
                    <a:latin typeface="Assistant" pitchFamily="2" charset="-79"/>
                    <a:cs typeface="Assistant" pitchFamily="2" charset="-79"/>
                  </a:rPr>
                  <a:t>___</a:t>
                </a:r>
                <a:r>
                  <a:rPr lang="he-IL">
                    <a:latin typeface="Assistant" pitchFamily="2" charset="-79"/>
                    <a:cs typeface="Assistant" pitchFamily="2" charset="-79"/>
                  </a:rPr>
                  <a:t> ש"ח.</a:t>
                </a:r>
              </a:p>
            </p:txBody>
          </p:sp>
        </mc:Choice>
        <mc:Fallback xmlns="">
          <p:sp>
            <p:nvSpPr>
              <p:cNvPr id="26" name="תיבת טקסט 5">
                <a:extLst>
                  <a:ext uri="{FF2B5EF4-FFF2-40B4-BE49-F238E27FC236}">
                    <a16:creationId xmlns:a16="http://schemas.microsoft.com/office/drawing/2014/main" id="{41252541-671B-A9C8-A873-7F88B6008968}"/>
                  </a:ext>
                </a:extLst>
              </p:cNvPr>
              <p:cNvSpPr txBox="1">
                <a:spLocks noRot="1" noChangeAspect="1" noMove="1" noResize="1" noEditPoints="1" noAdjustHandles="1" noChangeArrowheads="1" noChangeShapeType="1" noTextEdit="1"/>
              </p:cNvSpPr>
              <p:nvPr/>
            </p:nvSpPr>
            <p:spPr>
              <a:xfrm>
                <a:off x="4954380" y="1277938"/>
                <a:ext cx="6668739" cy="3234732"/>
              </a:xfrm>
              <a:prstGeom prst="rect">
                <a:avLst/>
              </a:prstGeom>
              <a:blipFill>
                <a:blip r:embed="rId9"/>
                <a:stretch>
                  <a:fillRect t="-1132" r="-731" b="-226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תיבת טקסט 5">
                <a:extLst>
                  <a:ext uri="{FF2B5EF4-FFF2-40B4-BE49-F238E27FC236}">
                    <a16:creationId xmlns:a16="http://schemas.microsoft.com/office/drawing/2014/main" id="{D624A5AA-20F0-934C-7599-97B35C9DD8B5}"/>
                  </a:ext>
                </a:extLst>
              </p:cNvPr>
              <p:cNvSpPr txBox="1"/>
              <p:nvPr/>
            </p:nvSpPr>
            <p:spPr>
              <a:xfrm>
                <a:off x="-5252776" y="3916585"/>
                <a:ext cx="5071861" cy="2819554"/>
              </a:xfrm>
              <a:prstGeom prst="rect">
                <a:avLst/>
              </a:prstGeom>
              <a:solidFill>
                <a:schemeClr val="accent6">
                  <a:lumMod val="20000"/>
                  <a:lumOff val="80000"/>
                </a:schemeClr>
              </a:solidFill>
            </p:spPr>
            <p:txBody>
              <a:bodyPr wrap="square" rtlCol="1">
                <a:spAutoFit/>
              </a:bodyPr>
              <a:lstStyle/>
              <a:p>
                <a:r>
                  <a:rPr lang="en-US"/>
                  <a:t> </a:t>
                </a:r>
                <a:r>
                  <a:rPr lang="he-IL">
                    <a:latin typeface="Assistant" pitchFamily="2" charset="-79"/>
                    <a:cs typeface="Assistant" pitchFamily="2" charset="-79"/>
                  </a:rPr>
                  <a:t>תשובה נכונה/ טעית, לא נורא, בואו נסביר: </a:t>
                </a:r>
              </a:p>
              <a:p>
                <a:endParaRPr lang="he-IL"/>
              </a:p>
              <a:p>
                <a:r>
                  <a:rPr lang="he-IL"/>
                  <a:t>א. </a:t>
                </a:r>
                <a:r>
                  <a:rPr lang="he-IL">
                    <a:latin typeface="Assistant" pitchFamily="2" charset="-79"/>
                    <a:cs typeface="Assistant" pitchFamily="2" charset="-79"/>
                  </a:rPr>
                  <a:t>היחס בין מספר השעות שעבדה נעמי למספר השעות שעבד יוני הוא 2:5 . </a:t>
                </a:r>
                <a:endParaRPr lang="en-US">
                  <a:latin typeface="Assistant" pitchFamily="2" charset="-79"/>
                  <a:cs typeface="Assistant" pitchFamily="2" charset="-79"/>
                </a:endParaRPr>
              </a:p>
              <a:p>
                <a:r>
                  <a:rPr lang="he-IL">
                    <a:latin typeface="Assistant" pitchFamily="2" charset="-79"/>
                    <a:cs typeface="Assistant" pitchFamily="2" charset="-79"/>
                  </a:rPr>
                  <a:t>מספר החלקים הוא 7=2+5.</a:t>
                </a:r>
              </a:p>
              <a:p>
                <a:r>
                  <a:rPr lang="he-IL">
                    <a:latin typeface="Assistant" pitchFamily="2" charset="-79"/>
                    <a:cs typeface="Assistant" pitchFamily="2" charset="-79"/>
                  </a:rPr>
                  <a:t>אם נועה ויוני הרוויחו 210 ₪ והם מתכוונים לחלק את הכסף לפי מספר השעות היחסי אז:</a:t>
                </a:r>
              </a:p>
              <a:p>
                <a:r>
                  <a:rPr lang="he-IL">
                    <a:latin typeface="Assistant" pitchFamily="2" charset="-79"/>
                    <a:cs typeface="Assistant" pitchFamily="2" charset="-79"/>
                  </a:rPr>
                  <a:t>נועה תקבל </a:t>
                </a:r>
                <a14:m>
                  <m:oMath xmlns:m="http://schemas.openxmlformats.org/officeDocument/2006/math">
                    <m:f>
                      <m:fPr>
                        <m:ctrlPr>
                          <a:rPr lang="he-IL" b="0" i="1" smtClean="0">
                            <a:latin typeface="Cambria Math" panose="02040503050406030204" pitchFamily="18" charset="0"/>
                            <a:ea typeface="Cambria Math" panose="02040503050406030204" pitchFamily="18" charset="0"/>
                          </a:rPr>
                        </m:ctrlPr>
                      </m:fPr>
                      <m:num>
                        <m:r>
                          <a:rPr lang="he-IL" b="0" i="1" smtClean="0">
                            <a:latin typeface="Cambria Math" panose="02040503050406030204" pitchFamily="18" charset="0"/>
                            <a:ea typeface="Cambria Math" panose="02040503050406030204" pitchFamily="18" charset="0"/>
                          </a:rPr>
                          <m:t>2</m:t>
                        </m:r>
                      </m:num>
                      <m:den>
                        <m:r>
                          <a:rPr lang="he-IL" b="0" i="1" smtClean="0">
                            <a:latin typeface="Cambria Math" panose="02040503050406030204" pitchFamily="18" charset="0"/>
                            <a:ea typeface="Cambria Math" panose="02040503050406030204" pitchFamily="18" charset="0"/>
                          </a:rPr>
                          <m:t>7</m:t>
                        </m:r>
                      </m:den>
                    </m:f>
                    <m:r>
                      <a:rPr lang="he-IL" i="1" smtClean="0">
                        <a:latin typeface="Cambria Math" panose="02040503050406030204" pitchFamily="18" charset="0"/>
                        <a:ea typeface="Cambria Math" panose="02040503050406030204" pitchFamily="18" charset="0"/>
                      </a:rPr>
                      <m:t>∙210</m:t>
                    </m:r>
                    <m:r>
                      <a:rPr lang="he-IL" b="0" i="1" smtClean="0">
                        <a:latin typeface="Cambria Math" panose="02040503050406030204" pitchFamily="18" charset="0"/>
                        <a:ea typeface="Cambria Math" panose="02040503050406030204" pitchFamily="18" charset="0"/>
                      </a:rPr>
                      <m:t>=ח"ש 60 </m:t>
                    </m:r>
                  </m:oMath>
                </a14:m>
                <a:endParaRPr lang="he-IL">
                  <a:latin typeface="Assistant" pitchFamily="2" charset="-79"/>
                  <a:cs typeface="Assistant" pitchFamily="2" charset="-79"/>
                </a:endParaRPr>
              </a:p>
              <a:p>
                <a:r>
                  <a:rPr lang="he-IL">
                    <a:latin typeface="Assistant" pitchFamily="2" charset="-79"/>
                    <a:cs typeface="Assistant" pitchFamily="2" charset="-79"/>
                  </a:rPr>
                  <a:t>ויוני יקבל </a:t>
                </a:r>
                <a14:m>
                  <m:oMath xmlns:m="http://schemas.openxmlformats.org/officeDocument/2006/math">
                    <m:f>
                      <m:fPr>
                        <m:ctrlPr>
                          <a:rPr lang="he-IL" b="0" i="1" smtClean="0">
                            <a:latin typeface="Cambria Math" panose="02040503050406030204" pitchFamily="18" charset="0"/>
                            <a:ea typeface="Cambria Math" panose="02040503050406030204" pitchFamily="18" charset="0"/>
                          </a:rPr>
                        </m:ctrlPr>
                      </m:fPr>
                      <m:num>
                        <m:r>
                          <a:rPr lang="he-IL" b="0" i="1" smtClean="0">
                            <a:latin typeface="Cambria Math" panose="02040503050406030204" pitchFamily="18" charset="0"/>
                            <a:ea typeface="Cambria Math" panose="02040503050406030204" pitchFamily="18" charset="0"/>
                          </a:rPr>
                          <m:t>5</m:t>
                        </m:r>
                      </m:num>
                      <m:den>
                        <m:r>
                          <a:rPr lang="he-IL" i="1">
                            <a:latin typeface="Cambria Math" panose="02040503050406030204" pitchFamily="18" charset="0"/>
                            <a:ea typeface="Cambria Math" panose="02040503050406030204" pitchFamily="18" charset="0"/>
                          </a:rPr>
                          <m:t>7</m:t>
                        </m:r>
                      </m:den>
                    </m:f>
                    <m:r>
                      <a:rPr lang="he-IL" i="1">
                        <a:latin typeface="Cambria Math" panose="02040503050406030204" pitchFamily="18" charset="0"/>
                        <a:ea typeface="Cambria Math" panose="02040503050406030204" pitchFamily="18" charset="0"/>
                      </a:rPr>
                      <m:t>∙210=ח"ש </m:t>
                    </m:r>
                    <m:r>
                      <a:rPr lang="he-IL" b="0" i="1" smtClean="0">
                        <a:latin typeface="Cambria Math" panose="02040503050406030204" pitchFamily="18" charset="0"/>
                        <a:ea typeface="Cambria Math" panose="02040503050406030204" pitchFamily="18" charset="0"/>
                      </a:rPr>
                      <m:t>150</m:t>
                    </m:r>
                    <m:r>
                      <a:rPr lang="he-IL" i="1">
                        <a:latin typeface="Cambria Math" panose="02040503050406030204" pitchFamily="18" charset="0"/>
                        <a:ea typeface="Cambria Math" panose="02040503050406030204" pitchFamily="18" charset="0"/>
                      </a:rPr>
                      <m:t> </m:t>
                    </m:r>
                  </m:oMath>
                </a14:m>
                <a:endParaRPr lang="he-IL"/>
              </a:p>
            </p:txBody>
          </p:sp>
        </mc:Choice>
        <mc:Fallback xmlns="">
          <p:sp>
            <p:nvSpPr>
              <p:cNvPr id="6" name="תיבת טקסט 5">
                <a:extLst>
                  <a:ext uri="{FF2B5EF4-FFF2-40B4-BE49-F238E27FC236}">
                    <a16:creationId xmlns:a16="http://schemas.microsoft.com/office/drawing/2014/main" id="{D624A5AA-20F0-934C-7599-97B35C9DD8B5}"/>
                  </a:ext>
                </a:extLst>
              </p:cNvPr>
              <p:cNvSpPr txBox="1">
                <a:spLocks noRot="1" noChangeAspect="1" noMove="1" noResize="1" noEditPoints="1" noAdjustHandles="1" noChangeArrowheads="1" noChangeShapeType="1" noTextEdit="1"/>
              </p:cNvSpPr>
              <p:nvPr/>
            </p:nvSpPr>
            <p:spPr>
              <a:xfrm>
                <a:off x="-5252776" y="3916585"/>
                <a:ext cx="5071861" cy="2819554"/>
              </a:xfrm>
              <a:prstGeom prst="rect">
                <a:avLst/>
              </a:prstGeom>
              <a:blipFill>
                <a:blip r:embed="rId10"/>
                <a:stretch>
                  <a:fillRect t="-1080" r="-1082" b="-432"/>
                </a:stretch>
              </a:blipFill>
            </p:spPr>
            <p:txBody>
              <a:bodyPr/>
              <a:lstStyle/>
              <a:p>
                <a:r>
                  <a:rPr lang="en-US">
                    <a:noFill/>
                  </a:rPr>
                  <a:t> </a:t>
                </a:r>
              </a:p>
            </p:txBody>
          </p:sp>
        </mc:Fallback>
      </mc:AlternateContent>
      <p:sp>
        <p:nvSpPr>
          <p:cNvPr id="8" name="תיבת טקסט 7">
            <a:extLst>
              <a:ext uri="{FF2B5EF4-FFF2-40B4-BE49-F238E27FC236}">
                <a16:creationId xmlns:a16="http://schemas.microsoft.com/office/drawing/2014/main" id="{3EB629B2-B02F-EF87-B650-1FDFE5DEEF03}"/>
              </a:ext>
            </a:extLst>
          </p:cNvPr>
          <p:cNvSpPr txBox="1"/>
          <p:nvPr/>
        </p:nvSpPr>
        <p:spPr>
          <a:xfrm>
            <a:off x="-5633156" y="1040492"/>
            <a:ext cx="3684114" cy="369332"/>
          </a:xfrm>
          <a:prstGeom prst="rect">
            <a:avLst/>
          </a:prstGeom>
          <a:noFill/>
        </p:spPr>
        <p:txBody>
          <a:bodyPr wrap="square" rtlCol="1">
            <a:spAutoFit/>
          </a:bodyPr>
          <a:lstStyle/>
          <a:p>
            <a:r>
              <a:rPr lang="he-IL">
                <a:latin typeface="Assistant" pitchFamily="2" charset="-79"/>
                <a:cs typeface="Assistant" pitchFamily="2" charset="-79"/>
              </a:rPr>
              <a:t>א. איזה חלק מהשכר תקבל נעמי</a:t>
            </a:r>
            <a:r>
              <a:rPr lang="en-US">
                <a:latin typeface="Assistant" pitchFamily="2" charset="-79"/>
                <a:cs typeface="Assistant" pitchFamily="2" charset="-79"/>
              </a:rPr>
              <a:t>?</a:t>
            </a:r>
            <a:endParaRPr lang="he-IL">
              <a:latin typeface="Assistant" pitchFamily="2" charset="-79"/>
              <a:cs typeface="Assistant" pitchFamily="2" charset="-79"/>
            </a:endParaRPr>
          </a:p>
        </p:txBody>
      </p:sp>
      <p:sp>
        <p:nvSpPr>
          <p:cNvPr id="13" name="מלבן 7">
            <a:extLst>
              <a:ext uri="{FF2B5EF4-FFF2-40B4-BE49-F238E27FC236}">
                <a16:creationId xmlns:a16="http://schemas.microsoft.com/office/drawing/2014/main" id="{641E2325-49EA-6F1C-FE91-BDC76B59D4C2}"/>
              </a:ext>
            </a:extLst>
          </p:cNvPr>
          <p:cNvSpPr/>
          <p:nvPr/>
        </p:nvSpPr>
        <p:spPr>
          <a:xfrm>
            <a:off x="11896440" y="332438"/>
            <a:ext cx="45719" cy="5474677"/>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LID4096"/>
          </a:p>
        </p:txBody>
      </p:sp>
      <p:sp>
        <p:nvSpPr>
          <p:cNvPr id="16" name="מלבן 8">
            <a:extLst>
              <a:ext uri="{FF2B5EF4-FFF2-40B4-BE49-F238E27FC236}">
                <a16:creationId xmlns:a16="http://schemas.microsoft.com/office/drawing/2014/main" id="{4C4AFC81-0389-0188-9275-E865BEF3CC1A}"/>
              </a:ext>
            </a:extLst>
          </p:cNvPr>
          <p:cNvSpPr/>
          <p:nvPr/>
        </p:nvSpPr>
        <p:spPr>
          <a:xfrm>
            <a:off x="11896440" y="332438"/>
            <a:ext cx="45719" cy="3526971"/>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LID4096"/>
          </a:p>
        </p:txBody>
      </p:sp>
      <p:pic>
        <p:nvPicPr>
          <p:cNvPr id="14" name="Picture 13">
            <a:extLst>
              <a:ext uri="{FF2B5EF4-FFF2-40B4-BE49-F238E27FC236}">
                <a16:creationId xmlns:a16="http://schemas.microsoft.com/office/drawing/2014/main" id="{C30B4130-6D19-B056-D342-0D3765D35BBD}"/>
              </a:ext>
            </a:extLst>
          </p:cNvPr>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1412266" y="1177391"/>
            <a:ext cx="3002146" cy="4503218"/>
          </a:xfrm>
          <a:prstGeom prst="rect">
            <a:avLst/>
          </a:prstGeom>
        </p:spPr>
      </p:pic>
    </p:spTree>
    <p:custDataLst>
      <p:tags r:id="rId1"/>
    </p:custDataLst>
    <p:extLst>
      <p:ext uri="{BB962C8B-B14F-4D97-AF65-F5344CB8AC3E}">
        <p14:creationId xmlns:p14="http://schemas.microsoft.com/office/powerpoint/2010/main" val="198975883"/>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2A3859-B629-B8C4-2A70-52EF8215A049}"/>
            </a:ext>
          </a:extLst>
        </p:cNvPr>
        <p:cNvGrpSpPr/>
        <p:nvPr/>
      </p:nvGrpSpPr>
      <p:grpSpPr>
        <a:xfrm>
          <a:off x="0" y="0"/>
          <a:ext cx="0" cy="0"/>
          <a:chOff x="0" y="0"/>
          <a:chExt cx="0" cy="0"/>
        </a:xfrm>
      </p:grpSpPr>
      <p:cxnSp>
        <p:nvCxnSpPr>
          <p:cNvPr id="4" name="מחבר ישר 3">
            <a:extLst>
              <a:ext uri="{FF2B5EF4-FFF2-40B4-BE49-F238E27FC236}">
                <a16:creationId xmlns:a16="http://schemas.microsoft.com/office/drawing/2014/main" id="{69D90047-94EE-B184-E86F-650DE6A8F8D2}"/>
              </a:ext>
            </a:extLst>
          </p:cNvPr>
          <p:cNvCxnSpPr>
            <a:cxnSpLocks/>
          </p:cNvCxnSpPr>
          <p:nvPr/>
        </p:nvCxnSpPr>
        <p:spPr>
          <a:xfrm>
            <a:off x="0" y="6079252"/>
            <a:ext cx="12192000" cy="0"/>
          </a:xfrm>
          <a:prstGeom prst="line">
            <a:avLst/>
          </a:prstGeom>
          <a:ln>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5" name="מלבן: פינות מעוגלות 4">
            <a:extLst>
              <a:ext uri="{FF2B5EF4-FFF2-40B4-BE49-F238E27FC236}">
                <a16:creationId xmlns:a16="http://schemas.microsoft.com/office/drawing/2014/main" id="{5EFE3227-6037-3AA7-7168-9852A14D6D22}"/>
              </a:ext>
            </a:extLst>
          </p:cNvPr>
          <p:cNvSpPr/>
          <p:nvPr/>
        </p:nvSpPr>
        <p:spPr>
          <a:xfrm>
            <a:off x="268356" y="6182143"/>
            <a:ext cx="1798983" cy="506891"/>
          </a:xfrm>
          <a:prstGeom prst="roundRect">
            <a:avLst>
              <a:gd name="adj" fmla="val 50000"/>
            </a:avLst>
          </a:prstGeom>
          <a:solidFill>
            <a:schemeClr val="bg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he-IL"/>
              <a:t>צדקתי?</a:t>
            </a:r>
            <a:endParaRPr lang="LID4096"/>
          </a:p>
        </p:txBody>
      </p:sp>
      <p:sp>
        <p:nvSpPr>
          <p:cNvPr id="2" name="מלבן: פינות מעוגלות 1">
            <a:extLst>
              <a:ext uri="{FF2B5EF4-FFF2-40B4-BE49-F238E27FC236}">
                <a16:creationId xmlns:a16="http://schemas.microsoft.com/office/drawing/2014/main" id="{632E28E2-F8E5-0339-3D57-41421A277B44}"/>
              </a:ext>
            </a:extLst>
          </p:cNvPr>
          <p:cNvSpPr/>
          <p:nvPr/>
        </p:nvSpPr>
        <p:spPr>
          <a:xfrm>
            <a:off x="2179982" y="6182142"/>
            <a:ext cx="2481470" cy="506891"/>
          </a:xfrm>
          <a:prstGeom prst="roundRect">
            <a:avLst>
              <a:gd name="adj" fmla="val 50000"/>
            </a:avLst>
          </a:prstGeom>
          <a:noFill/>
          <a:ln>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he-IL">
                <a:solidFill>
                  <a:srgbClr val="00B0F0"/>
                </a:solidFill>
              </a:rPr>
              <a:t>     אפשר רמז?</a:t>
            </a:r>
            <a:endParaRPr lang="LID4096">
              <a:solidFill>
                <a:srgbClr val="00B0F0"/>
              </a:solidFill>
            </a:endParaRPr>
          </a:p>
        </p:txBody>
      </p:sp>
      <p:pic>
        <p:nvPicPr>
          <p:cNvPr id="12" name="גרפיקה 11" descr="נורת חשמל וגלגל שיניים עם מילוי מלא">
            <a:extLst>
              <a:ext uri="{FF2B5EF4-FFF2-40B4-BE49-F238E27FC236}">
                <a16:creationId xmlns:a16="http://schemas.microsoft.com/office/drawing/2014/main" id="{1EE90327-8E18-FC95-C6E5-9A255C13CA28}"/>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980232" y="5866521"/>
            <a:ext cx="338083" cy="338083"/>
          </a:xfrm>
          <a:prstGeom prst="rect">
            <a:avLst/>
          </a:prstGeom>
        </p:spPr>
      </p:pic>
      <p:pic>
        <p:nvPicPr>
          <p:cNvPr id="3" name="תמונה 2">
            <a:extLst>
              <a:ext uri="{FF2B5EF4-FFF2-40B4-BE49-F238E27FC236}">
                <a16:creationId xmlns:a16="http://schemas.microsoft.com/office/drawing/2014/main" id="{99EEE66C-B860-DC54-642A-176BACB695F5}"/>
              </a:ext>
            </a:extLst>
          </p:cNvPr>
          <p:cNvPicPr>
            <a:picLocks noChangeAspect="1"/>
          </p:cNvPicPr>
          <p:nvPr/>
        </p:nvPicPr>
        <p:blipFill>
          <a:blip r:embed="rId5">
            <a:extLst>
              <a:ext uri="{28A0092B-C50C-407E-A947-70E740481C1C}">
                <a14:useLocalDpi xmlns:a14="http://schemas.microsoft.com/office/drawing/2010/main"/>
              </a:ext>
            </a:extLst>
          </a:blip>
          <a:stretch>
            <a:fillRect/>
          </a:stretch>
        </p:blipFill>
        <p:spPr>
          <a:xfrm>
            <a:off x="0" y="57121"/>
            <a:ext cx="933869" cy="721626"/>
          </a:xfrm>
          <a:prstGeom prst="rect">
            <a:avLst/>
          </a:prstGeom>
        </p:spPr>
      </p:pic>
      <p:sp>
        <p:nvSpPr>
          <p:cNvPr id="7" name="מלבן: פינות מעוגלות 6">
            <a:extLst>
              <a:ext uri="{FF2B5EF4-FFF2-40B4-BE49-F238E27FC236}">
                <a16:creationId xmlns:a16="http://schemas.microsoft.com/office/drawing/2014/main" id="{8268BA5A-3F28-4DE5-7A01-4362E27933B9}"/>
              </a:ext>
            </a:extLst>
          </p:cNvPr>
          <p:cNvSpPr/>
          <p:nvPr/>
        </p:nvSpPr>
        <p:spPr>
          <a:xfrm>
            <a:off x="10177155" y="6277169"/>
            <a:ext cx="1798983" cy="506891"/>
          </a:xfrm>
          <a:prstGeom prst="roundRect">
            <a:avLst>
              <a:gd name="adj" fmla="val 50000"/>
            </a:avLst>
          </a:prstGeom>
          <a:noFill/>
          <a:ln>
            <a:solidFill>
              <a:srgbClr val="019DE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he-IL">
                <a:solidFill>
                  <a:srgbClr val="019DE5"/>
                </a:solidFill>
                <a:latin typeface="Assistant" pitchFamily="2" charset="-79"/>
                <a:cs typeface="Assistant" pitchFamily="2" charset="-79"/>
              </a:rPr>
              <a:t>חזרה</a:t>
            </a:r>
            <a:endParaRPr lang="LID4096">
              <a:solidFill>
                <a:srgbClr val="019DE5"/>
              </a:solidFill>
              <a:latin typeface="Assistant" pitchFamily="2" charset="-79"/>
              <a:cs typeface="Assistant" pitchFamily="2" charset="-79"/>
            </a:endParaRPr>
          </a:p>
        </p:txBody>
      </p:sp>
      <p:pic>
        <p:nvPicPr>
          <p:cNvPr id="9" name="תמונה 8">
            <a:extLst>
              <a:ext uri="{FF2B5EF4-FFF2-40B4-BE49-F238E27FC236}">
                <a16:creationId xmlns:a16="http://schemas.microsoft.com/office/drawing/2014/main" id="{71A8957B-E576-0649-59CF-43E397A9DEE1}"/>
              </a:ext>
            </a:extLst>
          </p:cNvPr>
          <p:cNvPicPr>
            <a:picLocks noChangeAspect="1"/>
          </p:cNvPicPr>
          <p:nvPr/>
        </p:nvPicPr>
        <p:blipFill>
          <a:blip r:embed="rId6">
            <a:extLst>
              <a:ext uri="{28A0092B-C50C-407E-A947-70E740481C1C}">
                <a14:useLocalDpi xmlns:a14="http://schemas.microsoft.com/office/drawing/2010/main"/>
              </a:ext>
            </a:extLst>
          </a:blip>
          <a:stretch>
            <a:fillRect/>
          </a:stretch>
        </p:blipFill>
        <p:spPr>
          <a:xfrm>
            <a:off x="2803561" y="417934"/>
            <a:ext cx="7847619" cy="558730"/>
          </a:xfrm>
          <a:prstGeom prst="rect">
            <a:avLst/>
          </a:prstGeom>
        </p:spPr>
      </p:pic>
      <p:sp>
        <p:nvSpPr>
          <p:cNvPr id="11" name="מלבן 10">
            <a:extLst>
              <a:ext uri="{FF2B5EF4-FFF2-40B4-BE49-F238E27FC236}">
                <a16:creationId xmlns:a16="http://schemas.microsoft.com/office/drawing/2014/main" id="{57EC8925-0505-37B8-7A0E-A8855A7CD04D}"/>
              </a:ext>
            </a:extLst>
          </p:cNvPr>
          <p:cNvSpPr/>
          <p:nvPr/>
        </p:nvSpPr>
        <p:spPr>
          <a:xfrm>
            <a:off x="-115414" y="-1103086"/>
            <a:ext cx="2295396" cy="976083"/>
          </a:xfrm>
          <a:prstGeom prst="rect">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he-IL" sz="1800" b="1" i="0" u="none" strike="noStrike" kern="1200" cap="none" spc="0" normalizeH="0" baseline="0" noProof="0">
                <a:ln>
                  <a:noFill/>
                </a:ln>
                <a:solidFill>
                  <a:prstClr val="black"/>
                </a:solidFill>
                <a:effectLst/>
                <a:uLnTx/>
                <a:uFillTx/>
                <a:latin typeface="Assistant" pitchFamily="2" charset="-79"/>
                <a:ea typeface="+mn-ea"/>
                <a:cs typeface="Assistant" pitchFamily="2" charset="-79"/>
                <a:hlinkClick r:id="rId7"/>
              </a:rPr>
              <a:t>רמת חשיבה</a:t>
            </a:r>
            <a:endParaRPr kumimoji="0" lang="he-IL" sz="1800" b="1" i="0" u="none" strike="noStrike" kern="1200" cap="none" spc="0" normalizeH="0" baseline="0" noProof="0">
              <a:ln>
                <a:noFill/>
              </a:ln>
              <a:solidFill>
                <a:prstClr val="black"/>
              </a:solidFill>
              <a:effectLst/>
              <a:uLnTx/>
              <a:uFillTx/>
              <a:latin typeface="Assistant" pitchFamily="2" charset="-79"/>
              <a:ea typeface="+mn-ea"/>
              <a:cs typeface="Assistant" pitchFamily="2" charset="-79"/>
            </a:endParaRPr>
          </a:p>
          <a:p>
            <a:pPr marL="285750" marR="0" lvl="0" indent="-285750" defTabSz="91440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he-IL" sz="1800" i="0" u="none" strike="noStrike" kern="1200" cap="none" spc="0" normalizeH="0" baseline="0" noProof="0">
                <a:ln>
                  <a:noFill/>
                </a:ln>
                <a:solidFill>
                  <a:prstClr val="black"/>
                </a:solidFill>
                <a:effectLst/>
                <a:uLnTx/>
                <a:uFillTx/>
                <a:latin typeface="Assistant" pitchFamily="2" charset="-79"/>
                <a:ea typeface="+mn-ea"/>
                <a:cs typeface="Assistant" pitchFamily="2" charset="-79"/>
              </a:rPr>
              <a:t>טקסט </a:t>
            </a:r>
          </a:p>
          <a:p>
            <a:pPr marL="285750" marR="0" lvl="0" indent="-285750" defTabSz="914400" eaLnBrk="1" fontAlgn="auto" latinLnBrk="0" hangingPunct="1">
              <a:lnSpc>
                <a:spcPct val="100000"/>
              </a:lnSpc>
              <a:spcBef>
                <a:spcPts val="0"/>
              </a:spcBef>
              <a:spcAft>
                <a:spcPts val="0"/>
              </a:spcAft>
              <a:buClrTx/>
              <a:buSzTx/>
              <a:buFont typeface="Arial" panose="020B0604020202020204" pitchFamily="34" charset="0"/>
              <a:buChar char="•"/>
              <a:tabLst/>
              <a:defRPr/>
            </a:pPr>
            <a:r>
              <a:rPr lang="he-IL">
                <a:solidFill>
                  <a:prstClr val="black"/>
                </a:solidFill>
                <a:latin typeface="Assistant" pitchFamily="2" charset="-79"/>
                <a:cs typeface="Assistant" pitchFamily="2" charset="-79"/>
              </a:rPr>
              <a:t>טקסט</a:t>
            </a:r>
            <a:endParaRPr kumimoji="0" lang="he-IL" sz="1800" i="0" u="none" strike="noStrike" kern="1200" cap="none" spc="0" normalizeH="0" baseline="0" noProof="0">
              <a:ln>
                <a:noFill/>
              </a:ln>
              <a:solidFill>
                <a:prstClr val="black"/>
              </a:solidFill>
              <a:effectLst/>
              <a:uLnTx/>
              <a:uFillTx/>
              <a:latin typeface="Assistant" pitchFamily="2" charset="-79"/>
              <a:ea typeface="+mn-ea"/>
              <a:cs typeface="Assistant" pitchFamily="2" charset="-79"/>
            </a:endParaRPr>
          </a:p>
        </p:txBody>
      </p:sp>
      <p:grpSp>
        <p:nvGrpSpPr>
          <p:cNvPr id="15" name="קבוצה 14">
            <a:extLst>
              <a:ext uri="{FF2B5EF4-FFF2-40B4-BE49-F238E27FC236}">
                <a16:creationId xmlns:a16="http://schemas.microsoft.com/office/drawing/2014/main" id="{5532472D-931F-A579-2B5C-5D2BF088FE08}"/>
              </a:ext>
            </a:extLst>
          </p:cNvPr>
          <p:cNvGrpSpPr/>
          <p:nvPr/>
        </p:nvGrpSpPr>
        <p:grpSpPr>
          <a:xfrm>
            <a:off x="-10194895" y="417934"/>
            <a:ext cx="9123904" cy="3818372"/>
            <a:chOff x="-9229411" y="26138"/>
            <a:chExt cx="9123904" cy="3818372"/>
          </a:xfrm>
        </p:grpSpPr>
        <p:sp>
          <p:nvSpPr>
            <p:cNvPr id="17" name="מלבן: פינות מעוגלות 16">
              <a:extLst>
                <a:ext uri="{FF2B5EF4-FFF2-40B4-BE49-F238E27FC236}">
                  <a16:creationId xmlns:a16="http://schemas.microsoft.com/office/drawing/2014/main" id="{A58F4106-3C1E-6DB8-D755-4F1641D21DB6}"/>
                </a:ext>
              </a:extLst>
            </p:cNvPr>
            <p:cNvSpPr/>
            <p:nvPr/>
          </p:nvSpPr>
          <p:spPr>
            <a:xfrm>
              <a:off x="-9229411" y="26138"/>
              <a:ext cx="9123904" cy="3818372"/>
            </a:xfrm>
            <a:prstGeom prst="roundRect">
              <a:avLst>
                <a:gd name="adj" fmla="val 8509"/>
              </a:avLst>
            </a:prstGeom>
            <a:solidFill>
              <a:srgbClr val="00B0F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LID4096"/>
            </a:p>
          </p:txBody>
        </p:sp>
        <p:sp>
          <p:nvSpPr>
            <p:cNvPr id="28" name="מלבן: פינות מעוגלות 27">
              <a:extLst>
                <a:ext uri="{FF2B5EF4-FFF2-40B4-BE49-F238E27FC236}">
                  <a16:creationId xmlns:a16="http://schemas.microsoft.com/office/drawing/2014/main" id="{EB834C50-85A8-3EBD-8435-B29E7FBB0BF3}"/>
                </a:ext>
              </a:extLst>
            </p:cNvPr>
            <p:cNvSpPr/>
            <p:nvPr/>
          </p:nvSpPr>
          <p:spPr>
            <a:xfrm>
              <a:off x="-5861703" y="3135618"/>
              <a:ext cx="1798983" cy="506891"/>
            </a:xfrm>
            <a:prstGeom prst="roundRect">
              <a:avLst>
                <a:gd name="adj" fmla="val 50000"/>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he-IL">
                  <a:solidFill>
                    <a:schemeClr val="tx1"/>
                  </a:solidFill>
                  <a:latin typeface="Assistant" pitchFamily="2" charset="-79"/>
                  <a:cs typeface="Assistant" pitchFamily="2" charset="-79"/>
                </a:rPr>
                <a:t>חזרה לשאלה</a:t>
              </a:r>
              <a:endParaRPr lang="LID4096">
                <a:solidFill>
                  <a:schemeClr val="tx1"/>
                </a:solidFill>
                <a:latin typeface="Assistant" pitchFamily="2" charset="-79"/>
                <a:cs typeface="Assistant" pitchFamily="2" charset="-79"/>
              </a:endParaRPr>
            </a:p>
          </p:txBody>
        </p:sp>
        <p:pic>
          <p:nvPicPr>
            <p:cNvPr id="29" name="גרפיקה 28" descr="נורת חשמל וגלגל שיניים עם מילוי מלא">
              <a:extLst>
                <a:ext uri="{FF2B5EF4-FFF2-40B4-BE49-F238E27FC236}">
                  <a16:creationId xmlns:a16="http://schemas.microsoft.com/office/drawing/2014/main" id="{5F69CA61-FB2F-EFCE-CDDA-46CDB7B6AB51}"/>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983558" y="489982"/>
              <a:ext cx="338083" cy="338083"/>
            </a:xfrm>
            <a:prstGeom prst="rect">
              <a:avLst/>
            </a:prstGeom>
          </p:spPr>
        </p:pic>
      </p:grpSp>
      <p:sp>
        <p:nvSpPr>
          <p:cNvPr id="26" name="תיבת טקסט 5">
            <a:extLst>
              <a:ext uri="{FF2B5EF4-FFF2-40B4-BE49-F238E27FC236}">
                <a16:creationId xmlns:a16="http://schemas.microsoft.com/office/drawing/2014/main" id="{6913B59D-F900-41EE-CB17-C5EFD7D56C1B}"/>
              </a:ext>
            </a:extLst>
          </p:cNvPr>
          <p:cNvSpPr txBox="1"/>
          <p:nvPr/>
        </p:nvSpPr>
        <p:spPr>
          <a:xfrm>
            <a:off x="631638" y="1102686"/>
            <a:ext cx="10991482" cy="2246769"/>
          </a:xfrm>
          <a:prstGeom prst="rect">
            <a:avLst/>
          </a:prstGeom>
          <a:noFill/>
        </p:spPr>
        <p:txBody>
          <a:bodyPr wrap="square" rtlCol="0">
            <a:spAutoFit/>
          </a:bodyPr>
          <a:lstStyle/>
          <a:p>
            <a:r>
              <a:rPr lang="he-IL" sz="2000">
                <a:latin typeface="Assistant" pitchFamily="2" charset="-79"/>
                <a:cs typeface="Assistant" pitchFamily="2" charset="-79"/>
              </a:rPr>
              <a:t>בשבוע לאחר מכן שוב עבדו נעמי ויוני בשטיפת מכוניות. </a:t>
            </a:r>
          </a:p>
          <a:p>
            <a:r>
              <a:rPr lang="he-IL" sz="2000">
                <a:latin typeface="Assistant" pitchFamily="2" charset="-79"/>
                <a:cs typeface="Assistant" pitchFamily="2" charset="-79"/>
              </a:rPr>
              <a:t>היחס בין מספר שעות העבודה היה 2:5.</a:t>
            </a:r>
          </a:p>
          <a:p>
            <a:endParaRPr lang="he-IL" sz="2000">
              <a:latin typeface="Assistant" pitchFamily="2" charset="-79"/>
              <a:cs typeface="Assistant" pitchFamily="2" charset="-79"/>
            </a:endParaRPr>
          </a:p>
          <a:p>
            <a:r>
              <a:rPr lang="he-IL" sz="2000">
                <a:latin typeface="Assistant" pitchFamily="2" charset="-79"/>
                <a:cs typeface="Assistant" pitchFamily="2" charset="-79"/>
              </a:rPr>
              <a:t>הפעם הם הרוויחו סכום כסף </a:t>
            </a:r>
            <a:r>
              <a:rPr lang="he-IL" sz="2000" b="1">
                <a:latin typeface="Assistant" pitchFamily="2" charset="-79"/>
                <a:cs typeface="Assistant" pitchFamily="2" charset="-79"/>
              </a:rPr>
              <a:t>חדש</a:t>
            </a:r>
            <a:r>
              <a:rPr lang="he-IL" sz="2000">
                <a:latin typeface="Assistant" pitchFamily="2" charset="-79"/>
                <a:cs typeface="Assistant" pitchFamily="2" charset="-79"/>
              </a:rPr>
              <a:t> ולא ידוע. </a:t>
            </a:r>
          </a:p>
          <a:p>
            <a:r>
              <a:rPr lang="he-IL" sz="2000">
                <a:latin typeface="Assistant" pitchFamily="2" charset="-79"/>
                <a:cs typeface="Assistant" pitchFamily="2" charset="-79"/>
              </a:rPr>
              <a:t>יוני חישב ומצא כי חלקו ברווחים היה </a:t>
            </a:r>
            <a:r>
              <a:rPr lang="he-IL" sz="2000" b="1">
                <a:latin typeface="Assistant" pitchFamily="2" charset="-79"/>
                <a:cs typeface="Assistant" pitchFamily="2" charset="-79"/>
              </a:rPr>
              <a:t>100 ש"ח</a:t>
            </a:r>
            <a:r>
              <a:rPr lang="he-IL" sz="2000">
                <a:latin typeface="Assistant" pitchFamily="2" charset="-79"/>
                <a:cs typeface="Assistant" pitchFamily="2" charset="-79"/>
              </a:rPr>
              <a:t>.</a:t>
            </a:r>
          </a:p>
          <a:p>
            <a:endParaRPr lang="he-IL" sz="2000">
              <a:latin typeface="Assistant" pitchFamily="2" charset="-79"/>
              <a:cs typeface="Assistant" pitchFamily="2" charset="-79"/>
            </a:endParaRPr>
          </a:p>
          <a:p>
            <a:r>
              <a:rPr lang="he-IL" b="1">
                <a:latin typeface="Assistant" pitchFamily="2" charset="-79"/>
                <a:cs typeface="Assistant" pitchFamily="2" charset="-79"/>
              </a:rPr>
              <a:t>ב. איזה מהמשפטים הבאים מתאר נכונה את החלוקה ביניהם?</a:t>
            </a:r>
          </a:p>
        </p:txBody>
      </p:sp>
      <mc:AlternateContent xmlns:mc="http://schemas.openxmlformats.org/markup-compatibility/2006" xmlns:a14="http://schemas.microsoft.com/office/drawing/2010/main">
        <mc:Choice Requires="a14">
          <p:sp>
            <p:nvSpPr>
              <p:cNvPr id="6" name="תיבת טקסט 5">
                <a:extLst>
                  <a:ext uri="{FF2B5EF4-FFF2-40B4-BE49-F238E27FC236}">
                    <a16:creationId xmlns:a16="http://schemas.microsoft.com/office/drawing/2014/main" id="{A318C38C-5F63-B24A-6547-4E5604D666F8}"/>
                  </a:ext>
                </a:extLst>
              </p:cNvPr>
              <p:cNvSpPr txBox="1"/>
              <p:nvPr/>
            </p:nvSpPr>
            <p:spPr>
              <a:xfrm>
                <a:off x="-5607357" y="3086442"/>
                <a:ext cx="5071861" cy="3404009"/>
              </a:xfrm>
              <a:prstGeom prst="rect">
                <a:avLst/>
              </a:prstGeom>
              <a:solidFill>
                <a:schemeClr val="accent6">
                  <a:lumMod val="20000"/>
                  <a:lumOff val="80000"/>
                </a:schemeClr>
              </a:solidFill>
            </p:spPr>
            <p:txBody>
              <a:bodyPr wrap="square" rtlCol="1">
                <a:spAutoFit/>
              </a:bodyPr>
              <a:lstStyle/>
              <a:p>
                <a:r>
                  <a:rPr lang="he-IL" sz="2000" b="1">
                    <a:latin typeface="Assistant" pitchFamily="2" charset="-79"/>
                    <a:cs typeface="Assistant" pitchFamily="2" charset="-79"/>
                  </a:rPr>
                  <a:t>כל הכבוד! / טעית. בואו נסביר: </a:t>
                </a:r>
                <a:endParaRPr lang="en-US" sz="2000" b="1">
                  <a:latin typeface="Assistant" pitchFamily="2" charset="-79"/>
                  <a:cs typeface="Assistant" pitchFamily="2" charset="-79"/>
                </a:endParaRPr>
              </a:p>
              <a:p>
                <a:endParaRPr lang="en-US" sz="2000">
                  <a:latin typeface="Assistant" pitchFamily="2" charset="-79"/>
                  <a:cs typeface="Assistant" pitchFamily="2" charset="-79"/>
                </a:endParaRPr>
              </a:p>
              <a:p>
                <a:r>
                  <a:rPr lang="he-IL" sz="2000">
                    <a:latin typeface="Assistant" pitchFamily="2" charset="-79"/>
                    <a:cs typeface="Assistant" pitchFamily="2" charset="-79"/>
                  </a:rPr>
                  <a:t>נסמן את סכום הכסף שנועה ויוני הרוויחו ב- </a:t>
                </a:r>
                <a:r>
                  <a:rPr lang="en-US" sz="2000">
                    <a:latin typeface="Assistant" pitchFamily="2" charset="-79"/>
                    <a:cs typeface="Assistant" pitchFamily="2" charset="-79"/>
                  </a:rPr>
                  <a:t>x</a:t>
                </a:r>
                <a:r>
                  <a:rPr lang="he-IL" sz="2000">
                    <a:latin typeface="Assistant" pitchFamily="2" charset="-79"/>
                    <a:cs typeface="Assistant" pitchFamily="2" charset="-79"/>
                  </a:rPr>
                  <a:t>.</a:t>
                </a:r>
              </a:p>
              <a:p>
                <a:r>
                  <a:rPr lang="he-IL" sz="2000">
                    <a:latin typeface="Assistant" pitchFamily="2" charset="-79"/>
                    <a:cs typeface="Assistant" pitchFamily="2" charset="-79"/>
                  </a:rPr>
                  <a:t>יוני הרוויח: </a:t>
                </a:r>
                <a14:m>
                  <m:oMath xmlns:m="http://schemas.openxmlformats.org/officeDocument/2006/math">
                    <m:f>
                      <m:fPr>
                        <m:ctrlPr>
                          <a:rPr lang="he-IL" sz="2000" b="0" i="1" smtClean="0">
                            <a:latin typeface="Cambria Math" panose="02040503050406030204" pitchFamily="18" charset="0"/>
                            <a:ea typeface="Cambria Math" panose="02040503050406030204" pitchFamily="18" charset="0"/>
                          </a:rPr>
                        </m:ctrlPr>
                      </m:fPr>
                      <m:num>
                        <m:r>
                          <a:rPr lang="he-IL" sz="2000" b="0" i="1" smtClean="0">
                            <a:latin typeface="Cambria Math" panose="02040503050406030204" pitchFamily="18" charset="0"/>
                            <a:ea typeface="Cambria Math" panose="02040503050406030204" pitchFamily="18" charset="0"/>
                          </a:rPr>
                          <m:t>5</m:t>
                        </m:r>
                      </m:num>
                      <m:den>
                        <m:r>
                          <a:rPr lang="he-IL" sz="2000" i="1">
                            <a:latin typeface="Cambria Math" panose="02040503050406030204" pitchFamily="18" charset="0"/>
                            <a:ea typeface="Cambria Math" panose="02040503050406030204" pitchFamily="18" charset="0"/>
                          </a:rPr>
                          <m:t>7</m:t>
                        </m:r>
                      </m:den>
                    </m:f>
                    <m:r>
                      <a:rPr lang="he-IL" sz="2000" i="1">
                        <a:latin typeface="Cambria Math" panose="02040503050406030204" pitchFamily="18" charset="0"/>
                        <a:ea typeface="Cambria Math" panose="02040503050406030204" pitchFamily="18" charset="0"/>
                      </a:rPr>
                      <m:t>∙</m:t>
                    </m:r>
                    <m:r>
                      <a:rPr lang="en-US" sz="2000" b="0" i="1" smtClean="0">
                        <a:latin typeface="Cambria Math" panose="02040503050406030204" pitchFamily="18" charset="0"/>
                        <a:ea typeface="Cambria Math" panose="02040503050406030204" pitchFamily="18" charset="0"/>
                      </a:rPr>
                      <m:t>𝑥</m:t>
                    </m:r>
                    <m:r>
                      <a:rPr lang="he-IL" sz="2000" i="1">
                        <a:latin typeface="Cambria Math" panose="02040503050406030204" pitchFamily="18" charset="0"/>
                        <a:ea typeface="Cambria Math" panose="02040503050406030204" pitchFamily="18" charset="0"/>
                      </a:rPr>
                      <m:t>=ח"ש </m:t>
                    </m:r>
                    <m:r>
                      <a:rPr lang="he-IL" sz="2000" b="0" i="1" smtClean="0">
                        <a:latin typeface="Cambria Math" panose="02040503050406030204" pitchFamily="18" charset="0"/>
                        <a:ea typeface="Cambria Math" panose="02040503050406030204" pitchFamily="18" charset="0"/>
                      </a:rPr>
                      <m:t>100</m:t>
                    </m:r>
                    <m:r>
                      <a:rPr lang="he-IL" sz="2000" i="1">
                        <a:latin typeface="Cambria Math" panose="02040503050406030204" pitchFamily="18" charset="0"/>
                        <a:ea typeface="Cambria Math" panose="02040503050406030204" pitchFamily="18" charset="0"/>
                      </a:rPr>
                      <m:t> </m:t>
                    </m:r>
                  </m:oMath>
                </a14:m>
                <a:endParaRPr lang="he-IL" sz="2000">
                  <a:latin typeface="Assistant" pitchFamily="2" charset="-79"/>
                  <a:cs typeface="Assistant" pitchFamily="2" charset="-79"/>
                </a:endParaRPr>
              </a:p>
              <a:p>
                <a:r>
                  <a:rPr lang="he-IL" sz="2000">
                    <a:latin typeface="Assistant" pitchFamily="2" charset="-79"/>
                    <a:cs typeface="Assistant" pitchFamily="2" charset="-79"/>
                  </a:rPr>
                  <a:t>ואם נחלק ב- </a:t>
                </a:r>
                <a14:m>
                  <m:oMath xmlns:m="http://schemas.openxmlformats.org/officeDocument/2006/math">
                    <m:f>
                      <m:fPr>
                        <m:ctrlPr>
                          <a:rPr lang="he-IL" sz="2000" i="1">
                            <a:latin typeface="Cambria Math" panose="02040503050406030204" pitchFamily="18" charset="0"/>
                            <a:ea typeface="Cambria Math" panose="02040503050406030204" pitchFamily="18" charset="0"/>
                          </a:rPr>
                        </m:ctrlPr>
                      </m:fPr>
                      <m:num>
                        <m:r>
                          <a:rPr lang="he-IL" sz="2000" i="1">
                            <a:latin typeface="Cambria Math" panose="02040503050406030204" pitchFamily="18" charset="0"/>
                            <a:ea typeface="Cambria Math" panose="02040503050406030204" pitchFamily="18" charset="0"/>
                          </a:rPr>
                          <m:t>5</m:t>
                        </m:r>
                      </m:num>
                      <m:den>
                        <m:r>
                          <a:rPr lang="he-IL" sz="2000" i="1">
                            <a:latin typeface="Cambria Math" panose="02040503050406030204" pitchFamily="18" charset="0"/>
                            <a:ea typeface="Cambria Math" panose="02040503050406030204" pitchFamily="18" charset="0"/>
                          </a:rPr>
                          <m:t>7</m:t>
                        </m:r>
                      </m:den>
                    </m:f>
                  </m:oMath>
                </a14:m>
                <a:r>
                  <a:rPr lang="he-IL" sz="2000">
                    <a:latin typeface="Assistant" pitchFamily="2" charset="-79"/>
                    <a:cs typeface="Assistant" pitchFamily="2" charset="-79"/>
                  </a:rPr>
                  <a:t> נקבל </a:t>
                </a:r>
                <a:r>
                  <a:rPr lang="en-US" sz="2000">
                    <a:latin typeface="Assistant" pitchFamily="2" charset="-79"/>
                    <a:cs typeface="Assistant" pitchFamily="2" charset="-79"/>
                  </a:rPr>
                  <a:t>x = 140</a:t>
                </a:r>
                <a:r>
                  <a:rPr lang="he-IL" sz="2000">
                    <a:latin typeface="Assistant" pitchFamily="2" charset="-79"/>
                    <a:cs typeface="Assistant" pitchFamily="2" charset="-79"/>
                  </a:rPr>
                  <a:t> . </a:t>
                </a:r>
              </a:p>
              <a:p>
                <a:r>
                  <a:rPr lang="he-IL" sz="2000">
                    <a:latin typeface="Assistant" pitchFamily="2" charset="-79"/>
                    <a:cs typeface="Assistant" pitchFamily="2" charset="-79"/>
                  </a:rPr>
                  <a:t>מסקנה: נועה ויוני הרוויחו יחד 140 ₪. </a:t>
                </a:r>
              </a:p>
              <a:p>
                <a:r>
                  <a:rPr lang="he-IL" sz="2000">
                    <a:latin typeface="Assistant" pitchFamily="2" charset="-79"/>
                    <a:cs typeface="Assistant" pitchFamily="2" charset="-79"/>
                  </a:rPr>
                  <a:t>יוני הרוויח 100 ₪ לכן נועה הרוויחה 40 ₪.</a:t>
                </a:r>
              </a:p>
              <a:p>
                <a:endParaRPr lang="he-IL" sz="2000">
                  <a:latin typeface="Assistant" pitchFamily="2" charset="-79"/>
                  <a:cs typeface="Assistant" pitchFamily="2" charset="-79"/>
                </a:endParaRPr>
              </a:p>
              <a:p>
                <a:r>
                  <a:rPr lang="he-IL" sz="2000">
                    <a:latin typeface="Assistant" pitchFamily="2" charset="-79"/>
                    <a:cs typeface="Assistant" pitchFamily="2" charset="-79"/>
                  </a:rPr>
                  <a:t>תשובה א' נכונה.</a:t>
                </a:r>
              </a:p>
              <a:p>
                <a:endParaRPr lang="he-IL"/>
              </a:p>
            </p:txBody>
          </p:sp>
        </mc:Choice>
        <mc:Fallback xmlns="">
          <p:sp>
            <p:nvSpPr>
              <p:cNvPr id="6" name="תיבת טקסט 5">
                <a:extLst>
                  <a:ext uri="{FF2B5EF4-FFF2-40B4-BE49-F238E27FC236}">
                    <a16:creationId xmlns:a16="http://schemas.microsoft.com/office/drawing/2014/main" id="{A318C38C-5F63-B24A-6547-4E5604D666F8}"/>
                  </a:ext>
                </a:extLst>
              </p:cNvPr>
              <p:cNvSpPr txBox="1">
                <a:spLocks noRot="1" noChangeAspect="1" noMove="1" noResize="1" noEditPoints="1" noAdjustHandles="1" noChangeArrowheads="1" noChangeShapeType="1" noTextEdit="1"/>
              </p:cNvSpPr>
              <p:nvPr/>
            </p:nvSpPr>
            <p:spPr>
              <a:xfrm>
                <a:off x="-5607357" y="3086442"/>
                <a:ext cx="5071861" cy="3404009"/>
              </a:xfrm>
              <a:prstGeom prst="rect">
                <a:avLst/>
              </a:prstGeom>
              <a:blipFill>
                <a:blip r:embed="rId9"/>
                <a:stretch>
                  <a:fillRect t="-894" r="-1322"/>
                </a:stretch>
              </a:blipFill>
            </p:spPr>
            <p:txBody>
              <a:bodyPr/>
              <a:lstStyle/>
              <a:p>
                <a:r>
                  <a:rPr lang="en-US">
                    <a:noFill/>
                  </a:rPr>
                  <a:t> </a:t>
                </a:r>
              </a:p>
            </p:txBody>
          </p:sp>
        </mc:Fallback>
      </mc:AlternateContent>
      <p:sp>
        <p:nvSpPr>
          <p:cNvPr id="8" name="תיבת טקסט 7">
            <a:extLst>
              <a:ext uri="{FF2B5EF4-FFF2-40B4-BE49-F238E27FC236}">
                <a16:creationId xmlns:a16="http://schemas.microsoft.com/office/drawing/2014/main" id="{2CA1DA22-BF3F-0C13-C353-53B8DEDD02B5}"/>
              </a:ext>
            </a:extLst>
          </p:cNvPr>
          <p:cNvSpPr txBox="1"/>
          <p:nvPr/>
        </p:nvSpPr>
        <p:spPr>
          <a:xfrm>
            <a:off x="-7188200" y="1040492"/>
            <a:ext cx="5239158" cy="369332"/>
          </a:xfrm>
          <a:prstGeom prst="rect">
            <a:avLst/>
          </a:prstGeom>
          <a:noFill/>
        </p:spPr>
        <p:txBody>
          <a:bodyPr wrap="square" rtlCol="1">
            <a:spAutoFit/>
          </a:bodyPr>
          <a:lstStyle/>
          <a:p>
            <a:r>
              <a:rPr lang="he-IL">
                <a:solidFill>
                  <a:schemeClr val="bg1"/>
                </a:solidFill>
                <a:latin typeface="Assistant" pitchFamily="2" charset="-79"/>
                <a:cs typeface="Assistant" pitchFamily="2" charset="-79"/>
              </a:rPr>
              <a:t>ב. סמנו ב- </a:t>
            </a:r>
            <a:r>
              <a:rPr lang="en-US">
                <a:solidFill>
                  <a:schemeClr val="bg1"/>
                </a:solidFill>
                <a:latin typeface="Assistant" pitchFamily="2" charset="-79"/>
                <a:cs typeface="Assistant" pitchFamily="2" charset="-79"/>
              </a:rPr>
              <a:t>x</a:t>
            </a:r>
            <a:r>
              <a:rPr lang="he-IL">
                <a:solidFill>
                  <a:schemeClr val="bg1"/>
                </a:solidFill>
                <a:latin typeface="Assistant" pitchFamily="2" charset="-79"/>
                <a:cs typeface="Assistant" pitchFamily="2" charset="-79"/>
              </a:rPr>
              <a:t> את סכום הכסף שיוני ונעמי הרוויחו.</a:t>
            </a:r>
          </a:p>
        </p:txBody>
      </p:sp>
      <p:sp>
        <p:nvSpPr>
          <p:cNvPr id="13" name="מלבן 7">
            <a:extLst>
              <a:ext uri="{FF2B5EF4-FFF2-40B4-BE49-F238E27FC236}">
                <a16:creationId xmlns:a16="http://schemas.microsoft.com/office/drawing/2014/main" id="{6514496D-3022-1781-FFC5-00C6EB47F354}"/>
              </a:ext>
            </a:extLst>
          </p:cNvPr>
          <p:cNvSpPr/>
          <p:nvPr/>
        </p:nvSpPr>
        <p:spPr>
          <a:xfrm>
            <a:off x="11896440" y="332438"/>
            <a:ext cx="45719" cy="5474677"/>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LID4096"/>
          </a:p>
        </p:txBody>
      </p:sp>
      <p:sp>
        <p:nvSpPr>
          <p:cNvPr id="16" name="מלבן 8">
            <a:extLst>
              <a:ext uri="{FF2B5EF4-FFF2-40B4-BE49-F238E27FC236}">
                <a16:creationId xmlns:a16="http://schemas.microsoft.com/office/drawing/2014/main" id="{D18B8935-51EC-5B39-691A-420C1F2BD8F2}"/>
              </a:ext>
            </a:extLst>
          </p:cNvPr>
          <p:cNvSpPr/>
          <p:nvPr/>
        </p:nvSpPr>
        <p:spPr>
          <a:xfrm>
            <a:off x="11896439" y="2280144"/>
            <a:ext cx="45719" cy="3526971"/>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LID4096"/>
          </a:p>
        </p:txBody>
      </p:sp>
      <p:pic>
        <p:nvPicPr>
          <p:cNvPr id="19" name="Picture 18">
            <a:extLst>
              <a:ext uri="{FF2B5EF4-FFF2-40B4-BE49-F238E27FC236}">
                <a16:creationId xmlns:a16="http://schemas.microsoft.com/office/drawing/2014/main" id="{C85EF762-2F69-33C6-0F18-CD5D7473B87F}"/>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1282662" y="1219861"/>
            <a:ext cx="2984263" cy="4476395"/>
          </a:xfrm>
          <a:prstGeom prst="rect">
            <a:avLst/>
          </a:prstGeom>
        </p:spPr>
      </p:pic>
      <p:grpSp>
        <p:nvGrpSpPr>
          <p:cNvPr id="20" name="קבוצה 10">
            <a:extLst>
              <a:ext uri="{FF2B5EF4-FFF2-40B4-BE49-F238E27FC236}">
                <a16:creationId xmlns:a16="http://schemas.microsoft.com/office/drawing/2014/main" id="{9C9B1882-ABF9-D169-1C8D-2F1015D9D6A0}"/>
              </a:ext>
            </a:extLst>
          </p:cNvPr>
          <p:cNvGrpSpPr/>
          <p:nvPr/>
        </p:nvGrpSpPr>
        <p:grpSpPr>
          <a:xfrm>
            <a:off x="5258100" y="3441305"/>
            <a:ext cx="6513342" cy="526581"/>
            <a:chOff x="5247249" y="3108471"/>
            <a:chExt cx="6513342" cy="641058"/>
          </a:xfrm>
        </p:grpSpPr>
        <p:grpSp>
          <p:nvGrpSpPr>
            <p:cNvPr id="21" name="קבוצה 8">
              <a:extLst>
                <a:ext uri="{FF2B5EF4-FFF2-40B4-BE49-F238E27FC236}">
                  <a16:creationId xmlns:a16="http://schemas.microsoft.com/office/drawing/2014/main" id="{BC0467D6-17E7-3611-FD06-60A91B9B9656}"/>
                </a:ext>
              </a:extLst>
            </p:cNvPr>
            <p:cNvGrpSpPr/>
            <p:nvPr/>
          </p:nvGrpSpPr>
          <p:grpSpPr>
            <a:xfrm>
              <a:off x="5247249" y="3108471"/>
              <a:ext cx="6513342" cy="641058"/>
              <a:chOff x="5247249" y="3108471"/>
              <a:chExt cx="6513342" cy="641058"/>
            </a:xfrm>
          </p:grpSpPr>
          <p:sp>
            <p:nvSpPr>
              <p:cNvPr id="23" name="מלבן: פינות מעוגלות 6">
                <a:extLst>
                  <a:ext uri="{FF2B5EF4-FFF2-40B4-BE49-F238E27FC236}">
                    <a16:creationId xmlns:a16="http://schemas.microsoft.com/office/drawing/2014/main" id="{7FD5DC0E-18F7-9368-D1F6-5DB477BE1495}"/>
                  </a:ext>
                </a:extLst>
              </p:cNvPr>
              <p:cNvSpPr/>
              <p:nvPr/>
            </p:nvSpPr>
            <p:spPr>
              <a:xfrm>
                <a:off x="5247249" y="3108471"/>
                <a:ext cx="6513342" cy="641058"/>
              </a:xfrm>
              <a:prstGeom prst="roundRect">
                <a:avLst>
                  <a:gd name="adj" fmla="val 50000"/>
                </a:avLst>
              </a:prstGeom>
              <a:noFill/>
              <a:ln w="12700">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LID4096"/>
              </a:p>
            </p:txBody>
          </p:sp>
          <p:sp>
            <p:nvSpPr>
              <p:cNvPr id="24" name="תיבת טקסט 7">
                <a:extLst>
                  <a:ext uri="{FF2B5EF4-FFF2-40B4-BE49-F238E27FC236}">
                    <a16:creationId xmlns:a16="http://schemas.microsoft.com/office/drawing/2014/main" id="{762F8BA4-21A9-19D8-FC19-287ED35FE1C2}"/>
                  </a:ext>
                </a:extLst>
              </p:cNvPr>
              <p:cNvSpPr txBox="1"/>
              <p:nvPr/>
            </p:nvSpPr>
            <p:spPr>
              <a:xfrm>
                <a:off x="5458264" y="3228945"/>
                <a:ext cx="5741155" cy="487093"/>
              </a:xfrm>
              <a:prstGeom prst="rect">
                <a:avLst/>
              </a:prstGeom>
              <a:noFill/>
            </p:spPr>
            <p:txBody>
              <a:bodyPr wrap="square" rtlCol="0">
                <a:spAutoFit/>
              </a:bodyPr>
              <a:lstStyle/>
              <a:p>
                <a:pPr lvl="0"/>
                <a:r>
                  <a:rPr lang="he-IL" sz="2000">
                    <a:latin typeface="Assistant" pitchFamily="2" charset="-79"/>
                    <a:cs typeface="Assistant" pitchFamily="2" charset="-79"/>
                  </a:rPr>
                  <a:t>נועה ויוני הרוויחו יחד 140 ש"ח, ונועה קיבלה 40 ש"ח</a:t>
                </a:r>
              </a:p>
            </p:txBody>
          </p:sp>
        </p:grpSp>
        <p:sp>
          <p:nvSpPr>
            <p:cNvPr id="22" name="אליפסה 9">
              <a:extLst>
                <a:ext uri="{FF2B5EF4-FFF2-40B4-BE49-F238E27FC236}">
                  <a16:creationId xmlns:a16="http://schemas.microsoft.com/office/drawing/2014/main" id="{519892C8-F0EB-E3A4-4663-B629C83418A0}"/>
                </a:ext>
              </a:extLst>
            </p:cNvPr>
            <p:cNvSpPr/>
            <p:nvPr/>
          </p:nvSpPr>
          <p:spPr>
            <a:xfrm>
              <a:off x="11280913" y="3269817"/>
              <a:ext cx="252766" cy="318364"/>
            </a:xfrm>
            <a:prstGeom prst="ellipse">
              <a:avLst/>
            </a:prstGeom>
            <a:solidFill>
              <a:srgbClr val="00B050"/>
            </a:solidFill>
            <a:ln>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LID4096"/>
            </a:p>
          </p:txBody>
        </p:sp>
      </p:grpSp>
      <p:grpSp>
        <p:nvGrpSpPr>
          <p:cNvPr id="25" name="קבוצה 10">
            <a:extLst>
              <a:ext uri="{FF2B5EF4-FFF2-40B4-BE49-F238E27FC236}">
                <a16:creationId xmlns:a16="http://schemas.microsoft.com/office/drawing/2014/main" id="{38EAAEDA-B0D9-C8FB-DC00-0EDC52EDCB45}"/>
              </a:ext>
            </a:extLst>
          </p:cNvPr>
          <p:cNvGrpSpPr/>
          <p:nvPr/>
        </p:nvGrpSpPr>
        <p:grpSpPr>
          <a:xfrm>
            <a:off x="5171040" y="4054606"/>
            <a:ext cx="6610273" cy="846649"/>
            <a:chOff x="5150318" y="3108471"/>
            <a:chExt cx="6610273" cy="1030708"/>
          </a:xfrm>
        </p:grpSpPr>
        <p:grpSp>
          <p:nvGrpSpPr>
            <p:cNvPr id="27" name="קבוצה 8">
              <a:extLst>
                <a:ext uri="{FF2B5EF4-FFF2-40B4-BE49-F238E27FC236}">
                  <a16:creationId xmlns:a16="http://schemas.microsoft.com/office/drawing/2014/main" id="{6869C9DC-5D36-485B-5F9F-626E47BDA997}"/>
                </a:ext>
              </a:extLst>
            </p:cNvPr>
            <p:cNvGrpSpPr/>
            <p:nvPr/>
          </p:nvGrpSpPr>
          <p:grpSpPr>
            <a:xfrm>
              <a:off x="5150318" y="3108471"/>
              <a:ext cx="6610273" cy="1030708"/>
              <a:chOff x="5150318" y="3108471"/>
              <a:chExt cx="6610273" cy="1030708"/>
            </a:xfrm>
          </p:grpSpPr>
          <p:sp>
            <p:nvSpPr>
              <p:cNvPr id="31" name="מלבן: פינות מעוגלות 6">
                <a:extLst>
                  <a:ext uri="{FF2B5EF4-FFF2-40B4-BE49-F238E27FC236}">
                    <a16:creationId xmlns:a16="http://schemas.microsoft.com/office/drawing/2014/main" id="{14EE555E-B252-2CB4-FF90-7DFC4CC1C316}"/>
                  </a:ext>
                </a:extLst>
              </p:cNvPr>
              <p:cNvSpPr/>
              <p:nvPr/>
            </p:nvSpPr>
            <p:spPr>
              <a:xfrm>
                <a:off x="5247249" y="3108471"/>
                <a:ext cx="6513342" cy="1030708"/>
              </a:xfrm>
              <a:prstGeom prst="roundRect">
                <a:avLst>
                  <a:gd name="adj" fmla="val 50000"/>
                </a:avLst>
              </a:prstGeom>
              <a:noFill/>
              <a:ln w="12700">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LID4096"/>
              </a:p>
            </p:txBody>
          </p:sp>
          <p:sp>
            <p:nvSpPr>
              <p:cNvPr id="32" name="תיבת טקסט 7">
                <a:extLst>
                  <a:ext uri="{FF2B5EF4-FFF2-40B4-BE49-F238E27FC236}">
                    <a16:creationId xmlns:a16="http://schemas.microsoft.com/office/drawing/2014/main" id="{2A02767D-5D9E-26C3-4363-E08C6F463D86}"/>
                  </a:ext>
                </a:extLst>
              </p:cNvPr>
              <p:cNvSpPr txBox="1"/>
              <p:nvPr/>
            </p:nvSpPr>
            <p:spPr>
              <a:xfrm>
                <a:off x="5150318" y="3228945"/>
                <a:ext cx="6049102" cy="861778"/>
              </a:xfrm>
              <a:prstGeom prst="rect">
                <a:avLst/>
              </a:prstGeom>
              <a:noFill/>
            </p:spPr>
            <p:txBody>
              <a:bodyPr wrap="square" rtlCol="0">
                <a:spAutoFit/>
              </a:bodyPr>
              <a:lstStyle/>
              <a:p>
                <a:pPr lvl="0"/>
                <a:r>
                  <a:rPr lang="he-IL" sz="2000">
                    <a:latin typeface="Assistant" pitchFamily="2" charset="-79"/>
                    <a:cs typeface="Assistant" pitchFamily="2" charset="-79"/>
                  </a:rPr>
                  <a:t>נועה קיבלה 50 ש"ח, כי היא תמיד מקבלת </a:t>
                </a:r>
              </a:p>
              <a:p>
                <a:pPr lvl="0"/>
                <a:r>
                  <a:rPr lang="he-IL" sz="2000">
                    <a:latin typeface="Assistant" pitchFamily="2" charset="-79"/>
                    <a:cs typeface="Assistant" pitchFamily="2" charset="-79"/>
                  </a:rPr>
                  <a:t>מחצית מהסכום של יוני</a:t>
                </a:r>
              </a:p>
            </p:txBody>
          </p:sp>
        </p:grpSp>
        <p:sp>
          <p:nvSpPr>
            <p:cNvPr id="30" name="אליפסה 9">
              <a:extLst>
                <a:ext uri="{FF2B5EF4-FFF2-40B4-BE49-F238E27FC236}">
                  <a16:creationId xmlns:a16="http://schemas.microsoft.com/office/drawing/2014/main" id="{37D51881-D6B8-8689-05FF-1EFD6D50A350}"/>
                </a:ext>
              </a:extLst>
            </p:cNvPr>
            <p:cNvSpPr/>
            <p:nvPr/>
          </p:nvSpPr>
          <p:spPr>
            <a:xfrm>
              <a:off x="11296351" y="3469157"/>
              <a:ext cx="252766" cy="318364"/>
            </a:xfrm>
            <a:prstGeom prst="ellipse">
              <a:avLst/>
            </a:prstGeom>
            <a:noFill/>
            <a:ln>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LID4096"/>
            </a:p>
          </p:txBody>
        </p:sp>
      </p:grpSp>
      <p:grpSp>
        <p:nvGrpSpPr>
          <p:cNvPr id="33" name="קבוצה 10">
            <a:extLst>
              <a:ext uri="{FF2B5EF4-FFF2-40B4-BE49-F238E27FC236}">
                <a16:creationId xmlns:a16="http://schemas.microsoft.com/office/drawing/2014/main" id="{C50E3544-9B96-10AB-D176-782749055E33}"/>
              </a:ext>
            </a:extLst>
          </p:cNvPr>
          <p:cNvGrpSpPr/>
          <p:nvPr/>
        </p:nvGrpSpPr>
        <p:grpSpPr>
          <a:xfrm>
            <a:off x="5171040" y="5042080"/>
            <a:ext cx="6513342" cy="526581"/>
            <a:chOff x="5247249" y="3108471"/>
            <a:chExt cx="6513342" cy="641058"/>
          </a:xfrm>
        </p:grpSpPr>
        <p:grpSp>
          <p:nvGrpSpPr>
            <p:cNvPr id="34" name="קבוצה 8">
              <a:extLst>
                <a:ext uri="{FF2B5EF4-FFF2-40B4-BE49-F238E27FC236}">
                  <a16:creationId xmlns:a16="http://schemas.microsoft.com/office/drawing/2014/main" id="{DFF1F20D-8998-1C11-16CA-A9F210565329}"/>
                </a:ext>
              </a:extLst>
            </p:cNvPr>
            <p:cNvGrpSpPr/>
            <p:nvPr/>
          </p:nvGrpSpPr>
          <p:grpSpPr>
            <a:xfrm>
              <a:off x="5247249" y="3108471"/>
              <a:ext cx="6513342" cy="641058"/>
              <a:chOff x="5247249" y="3108471"/>
              <a:chExt cx="6513342" cy="641058"/>
            </a:xfrm>
          </p:grpSpPr>
          <p:sp>
            <p:nvSpPr>
              <p:cNvPr id="36" name="מלבן: פינות מעוגלות 6">
                <a:extLst>
                  <a:ext uri="{FF2B5EF4-FFF2-40B4-BE49-F238E27FC236}">
                    <a16:creationId xmlns:a16="http://schemas.microsoft.com/office/drawing/2014/main" id="{6500E594-E12B-FED2-FC47-9342F225CFD4}"/>
                  </a:ext>
                </a:extLst>
              </p:cNvPr>
              <p:cNvSpPr/>
              <p:nvPr/>
            </p:nvSpPr>
            <p:spPr>
              <a:xfrm>
                <a:off x="5247249" y="3108471"/>
                <a:ext cx="6513342" cy="641058"/>
              </a:xfrm>
              <a:prstGeom prst="roundRect">
                <a:avLst>
                  <a:gd name="adj" fmla="val 50000"/>
                </a:avLst>
              </a:prstGeom>
              <a:noFill/>
              <a:ln w="12700">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LID4096"/>
              </a:p>
            </p:txBody>
          </p:sp>
          <p:sp>
            <p:nvSpPr>
              <p:cNvPr id="37" name="תיבת טקסט 7">
                <a:extLst>
                  <a:ext uri="{FF2B5EF4-FFF2-40B4-BE49-F238E27FC236}">
                    <a16:creationId xmlns:a16="http://schemas.microsoft.com/office/drawing/2014/main" id="{BAE6A42B-CB2E-251F-F7E5-CEF041F66CD0}"/>
                  </a:ext>
                </a:extLst>
              </p:cNvPr>
              <p:cNvSpPr txBox="1"/>
              <p:nvPr/>
            </p:nvSpPr>
            <p:spPr>
              <a:xfrm>
                <a:off x="5458264" y="3228945"/>
                <a:ext cx="5741155" cy="487093"/>
              </a:xfrm>
              <a:prstGeom prst="rect">
                <a:avLst/>
              </a:prstGeom>
              <a:noFill/>
            </p:spPr>
            <p:txBody>
              <a:bodyPr wrap="square" rtlCol="0">
                <a:spAutoFit/>
              </a:bodyPr>
              <a:lstStyle/>
              <a:p>
                <a:pPr lvl="0"/>
                <a:r>
                  <a:rPr lang="he-IL" sz="2000">
                    <a:latin typeface="Assistant" pitchFamily="2" charset="-79"/>
                    <a:cs typeface="Assistant" pitchFamily="2" charset="-79"/>
                  </a:rPr>
                  <a:t>נועה ויוני הרוויחו יחד 200 ש"ח, ויוני קיבל 100 ש"ח.</a:t>
                </a:r>
              </a:p>
            </p:txBody>
          </p:sp>
        </p:grpSp>
        <p:sp>
          <p:nvSpPr>
            <p:cNvPr id="35" name="אליפסה 9">
              <a:extLst>
                <a:ext uri="{FF2B5EF4-FFF2-40B4-BE49-F238E27FC236}">
                  <a16:creationId xmlns:a16="http://schemas.microsoft.com/office/drawing/2014/main" id="{505E15A1-B7C3-6F33-1773-F13219D95140}"/>
                </a:ext>
              </a:extLst>
            </p:cNvPr>
            <p:cNvSpPr/>
            <p:nvPr/>
          </p:nvSpPr>
          <p:spPr>
            <a:xfrm>
              <a:off x="11280913" y="3269817"/>
              <a:ext cx="252766" cy="318364"/>
            </a:xfrm>
            <a:prstGeom prst="ellipse">
              <a:avLst/>
            </a:prstGeom>
            <a:noFill/>
            <a:ln>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LID4096"/>
            </a:p>
          </p:txBody>
        </p:sp>
      </p:grpSp>
      <p:grpSp>
        <p:nvGrpSpPr>
          <p:cNvPr id="38" name="קבוצה 10">
            <a:extLst>
              <a:ext uri="{FF2B5EF4-FFF2-40B4-BE49-F238E27FC236}">
                <a16:creationId xmlns:a16="http://schemas.microsoft.com/office/drawing/2014/main" id="{382A5CDC-713B-4D23-BA87-ACCC8A639509}"/>
              </a:ext>
            </a:extLst>
          </p:cNvPr>
          <p:cNvGrpSpPr/>
          <p:nvPr/>
        </p:nvGrpSpPr>
        <p:grpSpPr>
          <a:xfrm>
            <a:off x="5031273" y="5674071"/>
            <a:ext cx="6689254" cy="555482"/>
            <a:chOff x="6129249" y="2964245"/>
            <a:chExt cx="6689254" cy="676242"/>
          </a:xfrm>
        </p:grpSpPr>
        <p:grpSp>
          <p:nvGrpSpPr>
            <p:cNvPr id="39" name="קבוצה 8">
              <a:extLst>
                <a:ext uri="{FF2B5EF4-FFF2-40B4-BE49-F238E27FC236}">
                  <a16:creationId xmlns:a16="http://schemas.microsoft.com/office/drawing/2014/main" id="{BED8C1AC-3FDF-89D8-5942-EDD5F4B30142}"/>
                </a:ext>
              </a:extLst>
            </p:cNvPr>
            <p:cNvGrpSpPr/>
            <p:nvPr/>
          </p:nvGrpSpPr>
          <p:grpSpPr>
            <a:xfrm>
              <a:off x="6129249" y="2964245"/>
              <a:ext cx="6689254" cy="676242"/>
              <a:chOff x="6129249" y="2964245"/>
              <a:chExt cx="6689254" cy="676242"/>
            </a:xfrm>
          </p:grpSpPr>
          <p:sp>
            <p:nvSpPr>
              <p:cNvPr id="41" name="מלבן: פינות מעוגלות 6">
                <a:extLst>
                  <a:ext uri="{FF2B5EF4-FFF2-40B4-BE49-F238E27FC236}">
                    <a16:creationId xmlns:a16="http://schemas.microsoft.com/office/drawing/2014/main" id="{4BB511C4-142D-BD6A-105C-34073ECDD846}"/>
                  </a:ext>
                </a:extLst>
              </p:cNvPr>
              <p:cNvSpPr/>
              <p:nvPr/>
            </p:nvSpPr>
            <p:spPr>
              <a:xfrm>
                <a:off x="6305161" y="2999429"/>
                <a:ext cx="6513342" cy="641058"/>
              </a:xfrm>
              <a:prstGeom prst="roundRect">
                <a:avLst>
                  <a:gd name="adj" fmla="val 50000"/>
                </a:avLst>
              </a:prstGeom>
              <a:noFill/>
              <a:ln w="12700">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LID4096"/>
              </a:p>
            </p:txBody>
          </p:sp>
          <p:sp>
            <p:nvSpPr>
              <p:cNvPr id="42" name="תיבת טקסט 7">
                <a:extLst>
                  <a:ext uri="{FF2B5EF4-FFF2-40B4-BE49-F238E27FC236}">
                    <a16:creationId xmlns:a16="http://schemas.microsoft.com/office/drawing/2014/main" id="{B5A5B125-5210-FD92-1C21-9BADEB9344B2}"/>
                  </a:ext>
                </a:extLst>
              </p:cNvPr>
              <p:cNvSpPr txBox="1"/>
              <p:nvPr/>
            </p:nvSpPr>
            <p:spPr>
              <a:xfrm>
                <a:off x="6129249" y="2964245"/>
                <a:ext cx="6137852" cy="487093"/>
              </a:xfrm>
              <a:prstGeom prst="rect">
                <a:avLst/>
              </a:prstGeom>
              <a:noFill/>
            </p:spPr>
            <p:txBody>
              <a:bodyPr wrap="square" rtlCol="0">
                <a:spAutoFit/>
              </a:bodyPr>
              <a:lstStyle/>
              <a:p>
                <a:pPr lvl="0"/>
                <a:r>
                  <a:rPr lang="he-IL" sz="2000">
                    <a:latin typeface="Assistant" pitchFamily="2" charset="-79"/>
                    <a:cs typeface="Assistant" pitchFamily="2" charset="-79"/>
                  </a:rPr>
                  <a:t>נועה קיבלה 60 ש"ח, והסכום הכולל שהרוויחו יחד היה 210 ש"ח</a:t>
                </a:r>
                <a:endParaRPr lang="he-IL" sz="2400" b="1">
                  <a:solidFill>
                    <a:srgbClr val="00B0F0"/>
                  </a:solidFill>
                  <a:latin typeface="Assistant" pitchFamily="2" charset="-79"/>
                  <a:cs typeface="Assistant" pitchFamily="2" charset="-79"/>
                </a:endParaRPr>
              </a:p>
            </p:txBody>
          </p:sp>
        </p:grpSp>
        <p:sp>
          <p:nvSpPr>
            <p:cNvPr id="40" name="אליפסה 9">
              <a:extLst>
                <a:ext uri="{FF2B5EF4-FFF2-40B4-BE49-F238E27FC236}">
                  <a16:creationId xmlns:a16="http://schemas.microsoft.com/office/drawing/2014/main" id="{35C57854-E9CF-CC03-24C4-BB95F0DA7069}"/>
                </a:ext>
              </a:extLst>
            </p:cNvPr>
            <p:cNvSpPr/>
            <p:nvPr/>
          </p:nvSpPr>
          <p:spPr>
            <a:xfrm>
              <a:off x="12315844" y="3129009"/>
              <a:ext cx="252766" cy="318364"/>
            </a:xfrm>
            <a:prstGeom prst="ellipse">
              <a:avLst/>
            </a:prstGeom>
            <a:noFill/>
            <a:ln>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LID4096"/>
            </a:p>
          </p:txBody>
        </p:sp>
      </p:grpSp>
    </p:spTree>
    <p:custDataLst>
      <p:tags r:id="rId1"/>
    </p:custDataLst>
    <p:extLst>
      <p:ext uri="{BB962C8B-B14F-4D97-AF65-F5344CB8AC3E}">
        <p14:creationId xmlns:p14="http://schemas.microsoft.com/office/powerpoint/2010/main" val="2856235068"/>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8295CC-3C9B-499E-8D59-0E46DE792430}"/>
            </a:ext>
          </a:extLst>
        </p:cNvPr>
        <p:cNvGrpSpPr/>
        <p:nvPr/>
      </p:nvGrpSpPr>
      <p:grpSpPr>
        <a:xfrm>
          <a:off x="0" y="0"/>
          <a:ext cx="0" cy="0"/>
          <a:chOff x="0" y="0"/>
          <a:chExt cx="0" cy="0"/>
        </a:xfrm>
      </p:grpSpPr>
      <p:cxnSp>
        <p:nvCxnSpPr>
          <p:cNvPr id="4" name="מחבר ישר 3">
            <a:extLst>
              <a:ext uri="{FF2B5EF4-FFF2-40B4-BE49-F238E27FC236}">
                <a16:creationId xmlns:a16="http://schemas.microsoft.com/office/drawing/2014/main" id="{D01D64D2-F01D-897B-DC91-94485D02A2B5}"/>
              </a:ext>
            </a:extLst>
          </p:cNvPr>
          <p:cNvCxnSpPr>
            <a:cxnSpLocks/>
          </p:cNvCxnSpPr>
          <p:nvPr/>
        </p:nvCxnSpPr>
        <p:spPr>
          <a:xfrm>
            <a:off x="0" y="6079252"/>
            <a:ext cx="12192000" cy="0"/>
          </a:xfrm>
          <a:prstGeom prst="line">
            <a:avLst/>
          </a:prstGeom>
          <a:ln>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5" name="מלבן: פינות מעוגלות 4">
            <a:extLst>
              <a:ext uri="{FF2B5EF4-FFF2-40B4-BE49-F238E27FC236}">
                <a16:creationId xmlns:a16="http://schemas.microsoft.com/office/drawing/2014/main" id="{11FAA527-E3C2-1751-7A35-81A35F596A3F}"/>
              </a:ext>
            </a:extLst>
          </p:cNvPr>
          <p:cNvSpPr/>
          <p:nvPr/>
        </p:nvSpPr>
        <p:spPr>
          <a:xfrm>
            <a:off x="268356" y="6182143"/>
            <a:ext cx="1798983" cy="506891"/>
          </a:xfrm>
          <a:prstGeom prst="roundRect">
            <a:avLst>
              <a:gd name="adj" fmla="val 50000"/>
            </a:avLst>
          </a:prstGeom>
          <a:solidFill>
            <a:schemeClr val="bg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he-IL"/>
              <a:t>צדקתי?</a:t>
            </a:r>
            <a:endParaRPr lang="LID4096"/>
          </a:p>
        </p:txBody>
      </p:sp>
      <p:sp>
        <p:nvSpPr>
          <p:cNvPr id="2" name="מלבן: פינות מעוגלות 1">
            <a:extLst>
              <a:ext uri="{FF2B5EF4-FFF2-40B4-BE49-F238E27FC236}">
                <a16:creationId xmlns:a16="http://schemas.microsoft.com/office/drawing/2014/main" id="{C7B302F1-BD2E-4838-0B8E-865BD9B032AF}"/>
              </a:ext>
            </a:extLst>
          </p:cNvPr>
          <p:cNvSpPr/>
          <p:nvPr/>
        </p:nvSpPr>
        <p:spPr>
          <a:xfrm>
            <a:off x="2179982" y="6182142"/>
            <a:ext cx="2481470" cy="506891"/>
          </a:xfrm>
          <a:prstGeom prst="roundRect">
            <a:avLst>
              <a:gd name="adj" fmla="val 50000"/>
            </a:avLst>
          </a:prstGeom>
          <a:noFill/>
          <a:ln>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he-IL">
                <a:solidFill>
                  <a:srgbClr val="00B0F0"/>
                </a:solidFill>
              </a:rPr>
              <a:t>     אפשר רמז?</a:t>
            </a:r>
            <a:endParaRPr lang="LID4096">
              <a:solidFill>
                <a:srgbClr val="00B0F0"/>
              </a:solidFill>
            </a:endParaRPr>
          </a:p>
        </p:txBody>
      </p:sp>
      <p:pic>
        <p:nvPicPr>
          <p:cNvPr id="12" name="גרפיקה 11" descr="נורת חשמל וגלגל שיניים עם מילוי מלא">
            <a:extLst>
              <a:ext uri="{FF2B5EF4-FFF2-40B4-BE49-F238E27FC236}">
                <a16:creationId xmlns:a16="http://schemas.microsoft.com/office/drawing/2014/main" id="{8A57092A-6988-9744-E144-B5A3685DAF3B}"/>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831910" y="6266545"/>
            <a:ext cx="338083" cy="338083"/>
          </a:xfrm>
          <a:prstGeom prst="rect">
            <a:avLst/>
          </a:prstGeom>
        </p:spPr>
      </p:pic>
      <p:pic>
        <p:nvPicPr>
          <p:cNvPr id="3" name="תמונה 2">
            <a:extLst>
              <a:ext uri="{FF2B5EF4-FFF2-40B4-BE49-F238E27FC236}">
                <a16:creationId xmlns:a16="http://schemas.microsoft.com/office/drawing/2014/main" id="{578824AC-4357-46BF-662B-C4AE7F24248F}"/>
              </a:ext>
            </a:extLst>
          </p:cNvPr>
          <p:cNvPicPr>
            <a:picLocks noChangeAspect="1"/>
          </p:cNvPicPr>
          <p:nvPr/>
        </p:nvPicPr>
        <p:blipFill>
          <a:blip r:embed="rId5">
            <a:extLst>
              <a:ext uri="{28A0092B-C50C-407E-A947-70E740481C1C}">
                <a14:useLocalDpi xmlns:a14="http://schemas.microsoft.com/office/drawing/2010/main"/>
              </a:ext>
            </a:extLst>
          </a:blip>
          <a:stretch>
            <a:fillRect/>
          </a:stretch>
        </p:blipFill>
        <p:spPr>
          <a:xfrm>
            <a:off x="0" y="57121"/>
            <a:ext cx="933869" cy="721626"/>
          </a:xfrm>
          <a:prstGeom prst="rect">
            <a:avLst/>
          </a:prstGeom>
        </p:spPr>
      </p:pic>
      <p:sp>
        <p:nvSpPr>
          <p:cNvPr id="7" name="מלבן: פינות מעוגלות 6">
            <a:extLst>
              <a:ext uri="{FF2B5EF4-FFF2-40B4-BE49-F238E27FC236}">
                <a16:creationId xmlns:a16="http://schemas.microsoft.com/office/drawing/2014/main" id="{E5240213-F6CA-CB38-CBF2-BFC38F467DE8}"/>
              </a:ext>
            </a:extLst>
          </p:cNvPr>
          <p:cNvSpPr/>
          <p:nvPr/>
        </p:nvSpPr>
        <p:spPr>
          <a:xfrm>
            <a:off x="10244695" y="6193485"/>
            <a:ext cx="1798983" cy="506891"/>
          </a:xfrm>
          <a:prstGeom prst="roundRect">
            <a:avLst>
              <a:gd name="adj" fmla="val 50000"/>
            </a:avLst>
          </a:prstGeom>
          <a:noFill/>
          <a:ln>
            <a:solidFill>
              <a:srgbClr val="019DE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he-IL">
                <a:solidFill>
                  <a:srgbClr val="019DE5"/>
                </a:solidFill>
                <a:latin typeface="Assistant" pitchFamily="2" charset="-79"/>
                <a:cs typeface="Assistant" pitchFamily="2" charset="-79"/>
              </a:rPr>
              <a:t>חזרה</a:t>
            </a:r>
            <a:endParaRPr lang="LID4096">
              <a:solidFill>
                <a:srgbClr val="019DE5"/>
              </a:solidFill>
              <a:latin typeface="Assistant" pitchFamily="2" charset="-79"/>
              <a:cs typeface="Assistant" pitchFamily="2" charset="-79"/>
            </a:endParaRPr>
          </a:p>
        </p:txBody>
      </p:sp>
      <p:pic>
        <p:nvPicPr>
          <p:cNvPr id="9" name="תמונה 8">
            <a:extLst>
              <a:ext uri="{FF2B5EF4-FFF2-40B4-BE49-F238E27FC236}">
                <a16:creationId xmlns:a16="http://schemas.microsoft.com/office/drawing/2014/main" id="{A1FA912C-ACC2-6D32-9000-E1EC58FFE8D2}"/>
              </a:ext>
            </a:extLst>
          </p:cNvPr>
          <p:cNvPicPr>
            <a:picLocks noChangeAspect="1"/>
          </p:cNvPicPr>
          <p:nvPr/>
        </p:nvPicPr>
        <p:blipFill>
          <a:blip r:embed="rId6">
            <a:extLst>
              <a:ext uri="{28A0092B-C50C-407E-A947-70E740481C1C}">
                <a14:useLocalDpi xmlns:a14="http://schemas.microsoft.com/office/drawing/2010/main"/>
              </a:ext>
            </a:extLst>
          </a:blip>
          <a:stretch>
            <a:fillRect/>
          </a:stretch>
        </p:blipFill>
        <p:spPr>
          <a:xfrm>
            <a:off x="2803561" y="417934"/>
            <a:ext cx="7847619" cy="558730"/>
          </a:xfrm>
          <a:prstGeom prst="rect">
            <a:avLst/>
          </a:prstGeom>
        </p:spPr>
      </p:pic>
      <mc:AlternateContent xmlns:mc="http://schemas.openxmlformats.org/markup-compatibility/2006" xmlns:a14="http://schemas.microsoft.com/office/drawing/2010/main">
        <mc:Choice Requires="a14">
          <p:sp>
            <p:nvSpPr>
              <p:cNvPr id="10" name="מלבן: פינות מעוגלות 9">
                <a:extLst>
                  <a:ext uri="{FF2B5EF4-FFF2-40B4-BE49-F238E27FC236}">
                    <a16:creationId xmlns:a16="http://schemas.microsoft.com/office/drawing/2014/main" id="{A26128E4-2B69-891F-4CBC-8FEA3AAAB41B}"/>
                  </a:ext>
                </a:extLst>
              </p:cNvPr>
              <p:cNvSpPr/>
              <p:nvPr/>
            </p:nvSpPr>
            <p:spPr>
              <a:xfrm>
                <a:off x="-5379763" y="4034705"/>
                <a:ext cx="4971532" cy="4463680"/>
              </a:xfrm>
              <a:prstGeom prst="roundRect">
                <a:avLst>
                  <a:gd name="adj" fmla="val 1647"/>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he-IL" sz="2000" b="1">
                    <a:solidFill>
                      <a:schemeClr val="tx1"/>
                    </a:solidFill>
                    <a:latin typeface="Assistant" pitchFamily="2" charset="-79"/>
                    <a:cs typeface="Assistant" pitchFamily="2" charset="-79"/>
                  </a:rPr>
                  <a:t>כל הכבוד, צדקתם! / טעיתם. לא נורא, מטעויות לומדים</a:t>
                </a:r>
              </a:p>
              <a:p>
                <a:pPr algn="ctr"/>
                <a:endParaRPr lang="he-IL" sz="2000" b="1">
                  <a:solidFill>
                    <a:schemeClr val="tx1"/>
                  </a:solidFill>
                  <a:latin typeface="Assistant" pitchFamily="2" charset="-79"/>
                  <a:cs typeface="Assistant" pitchFamily="2" charset="-79"/>
                </a:endParaRPr>
              </a:p>
              <a:p>
                <a:r>
                  <a:rPr lang="he-IL" sz="2000">
                    <a:solidFill>
                      <a:schemeClr val="tx1"/>
                    </a:solidFill>
                    <a:latin typeface="Assistant" pitchFamily="2" charset="-79"/>
                    <a:cs typeface="Assistant" pitchFamily="2" charset="-79"/>
                  </a:rPr>
                  <a:t>מיה ועומר לא יוכלו לחלק את הכסף ביניהם ביחס הנתון כך שיקבלו רק שטרות.</a:t>
                </a:r>
                <a:endParaRPr lang="en-US" sz="2000">
                  <a:solidFill>
                    <a:schemeClr val="tx1"/>
                  </a:solidFill>
                  <a:latin typeface="Assistant" pitchFamily="2" charset="-79"/>
                  <a:cs typeface="Assistant" pitchFamily="2" charset="-79"/>
                </a:endParaRPr>
              </a:p>
              <a:p>
                <a:r>
                  <a:rPr lang="he-IL" sz="2000">
                    <a:solidFill>
                      <a:schemeClr val="tx1"/>
                    </a:solidFill>
                    <a:latin typeface="Assistant" pitchFamily="2" charset="-79"/>
                    <a:cs typeface="Assistant" pitchFamily="2" charset="-79"/>
                  </a:rPr>
                  <a:t>אם הם זכו ב-</a:t>
                </a:r>
                <a:r>
                  <a:rPr lang="en-US" sz="2000">
                    <a:solidFill>
                      <a:schemeClr val="tx1"/>
                    </a:solidFill>
                    <a:latin typeface="Assistant" pitchFamily="2" charset="-79"/>
                    <a:cs typeface="Assistant" pitchFamily="2" charset="-79"/>
                  </a:rPr>
                  <a:t>90</a:t>
                </a:r>
                <a:r>
                  <a:rPr lang="he-IL" sz="2000">
                    <a:solidFill>
                      <a:schemeClr val="tx1"/>
                    </a:solidFill>
                    <a:latin typeface="Assistant" pitchFamily="2" charset="-79"/>
                    <a:cs typeface="Assistant" pitchFamily="2" charset="-79"/>
                  </a:rPr>
                  <a:t> ש"ח, ויחס הזכייה הוא </a:t>
                </a:r>
                <a:r>
                  <a:rPr lang="en-US" sz="2000">
                    <a:solidFill>
                      <a:schemeClr val="tx1"/>
                    </a:solidFill>
                    <a:latin typeface="Assistant" pitchFamily="2" charset="-79"/>
                    <a:cs typeface="Assistant" pitchFamily="2" charset="-79"/>
                  </a:rPr>
                  <a:t>2:5</a:t>
                </a:r>
                <a:r>
                  <a:rPr lang="he-IL" sz="2000">
                    <a:solidFill>
                      <a:schemeClr val="tx1"/>
                    </a:solidFill>
                    <a:latin typeface="Assistant" pitchFamily="2" charset="-79"/>
                    <a:cs typeface="Assistant" pitchFamily="2" charset="-79"/>
                  </a:rPr>
                  <a:t>, אז מיה אמורה לקבל </a:t>
                </a:r>
                <a14:m>
                  <m:oMath xmlns:m="http://schemas.openxmlformats.org/officeDocument/2006/math">
                    <m:f>
                      <m:fPr>
                        <m:ctrlPr>
                          <a:rPr lang="en-US" sz="2000" i="1">
                            <a:solidFill>
                              <a:schemeClr val="tx1"/>
                            </a:solidFill>
                            <a:latin typeface="Cambria Math" panose="02040503050406030204" pitchFamily="18" charset="0"/>
                          </a:rPr>
                        </m:ctrlPr>
                      </m:fPr>
                      <m:num>
                        <m:r>
                          <a:rPr lang="en-US" sz="2000" i="1">
                            <a:solidFill>
                              <a:schemeClr val="tx1"/>
                            </a:solidFill>
                            <a:latin typeface="Cambria Math" panose="02040503050406030204" pitchFamily="18" charset="0"/>
                          </a:rPr>
                          <m:t>2</m:t>
                        </m:r>
                      </m:num>
                      <m:den>
                        <m:r>
                          <a:rPr lang="en-US" sz="2000" i="1">
                            <a:solidFill>
                              <a:schemeClr val="tx1"/>
                            </a:solidFill>
                            <a:latin typeface="Cambria Math" panose="02040503050406030204" pitchFamily="18" charset="0"/>
                          </a:rPr>
                          <m:t>7</m:t>
                        </m:r>
                      </m:den>
                    </m:f>
                    <m:r>
                      <a:rPr lang="en-US" sz="2000" i="1">
                        <a:solidFill>
                          <a:schemeClr val="tx1"/>
                        </a:solidFill>
                        <a:latin typeface="Cambria Math" panose="02040503050406030204" pitchFamily="18" charset="0"/>
                      </a:rPr>
                      <m:t>⋅90=25</m:t>
                    </m:r>
                    <m:f>
                      <m:fPr>
                        <m:ctrlPr>
                          <a:rPr lang="en-US" sz="2000" i="1">
                            <a:solidFill>
                              <a:schemeClr val="tx1"/>
                            </a:solidFill>
                            <a:latin typeface="Cambria Math" panose="02040503050406030204" pitchFamily="18" charset="0"/>
                          </a:rPr>
                        </m:ctrlPr>
                      </m:fPr>
                      <m:num>
                        <m:r>
                          <a:rPr lang="en-US" sz="2000" i="1">
                            <a:solidFill>
                              <a:schemeClr val="tx1"/>
                            </a:solidFill>
                            <a:latin typeface="Cambria Math" panose="02040503050406030204" pitchFamily="18" charset="0"/>
                          </a:rPr>
                          <m:t>5</m:t>
                        </m:r>
                      </m:num>
                      <m:den>
                        <m:r>
                          <a:rPr lang="en-US" sz="2000" i="1">
                            <a:solidFill>
                              <a:schemeClr val="tx1"/>
                            </a:solidFill>
                            <a:latin typeface="Cambria Math" panose="02040503050406030204" pitchFamily="18" charset="0"/>
                          </a:rPr>
                          <m:t>7</m:t>
                        </m:r>
                      </m:den>
                    </m:f>
                    <m:r>
                      <a:rPr lang="en-US" sz="2000" i="1">
                        <a:solidFill>
                          <a:schemeClr val="tx1"/>
                        </a:solidFill>
                        <a:latin typeface="Cambria Math" panose="02040503050406030204" pitchFamily="18" charset="0"/>
                      </a:rPr>
                      <m:t> </m:t>
                    </m:r>
                  </m:oMath>
                </a14:m>
                <a:r>
                  <a:rPr lang="he-IL" sz="2000">
                    <a:solidFill>
                      <a:schemeClr val="tx1"/>
                    </a:solidFill>
                    <a:latin typeface="Assistant" pitchFamily="2" charset="-79"/>
                    <a:cs typeface="Assistant" pitchFamily="2" charset="-79"/>
                  </a:rPr>
                  <a:t> , כלומר שטר של </a:t>
                </a:r>
                <a:r>
                  <a:rPr lang="en-US" sz="2000">
                    <a:solidFill>
                      <a:schemeClr val="tx1"/>
                    </a:solidFill>
                    <a:latin typeface="Assistant" pitchFamily="2" charset="-79"/>
                    <a:cs typeface="Assistant" pitchFamily="2" charset="-79"/>
                  </a:rPr>
                  <a:t>20</a:t>
                </a:r>
                <a:r>
                  <a:rPr lang="he-IL" sz="2000">
                    <a:solidFill>
                      <a:schemeClr val="tx1"/>
                    </a:solidFill>
                    <a:latin typeface="Assistant" pitchFamily="2" charset="-79"/>
                    <a:cs typeface="Assistant" pitchFamily="2" charset="-79"/>
                  </a:rPr>
                  <a:t>, מטבע של </a:t>
                </a:r>
                <a:r>
                  <a:rPr lang="en-US" sz="2000">
                    <a:solidFill>
                      <a:schemeClr val="tx1"/>
                    </a:solidFill>
                    <a:latin typeface="Assistant" pitchFamily="2" charset="-79"/>
                    <a:cs typeface="Assistant" pitchFamily="2" charset="-79"/>
                  </a:rPr>
                  <a:t>5</a:t>
                </a:r>
                <a:r>
                  <a:rPr lang="he-IL" sz="2000">
                    <a:solidFill>
                      <a:schemeClr val="tx1"/>
                    </a:solidFill>
                    <a:latin typeface="Assistant" pitchFamily="2" charset="-79"/>
                    <a:cs typeface="Assistant" pitchFamily="2" charset="-79"/>
                  </a:rPr>
                  <a:t> ש"ח, ועוד כמה אגורות, ועומר אמור לקבל </a:t>
                </a:r>
                <a14:m>
                  <m:oMath xmlns:m="http://schemas.openxmlformats.org/officeDocument/2006/math">
                    <m:f>
                      <m:fPr>
                        <m:ctrlPr>
                          <a:rPr lang="en-US" sz="2000" i="1">
                            <a:solidFill>
                              <a:schemeClr val="tx1"/>
                            </a:solidFill>
                            <a:latin typeface="Cambria Math" panose="02040503050406030204" pitchFamily="18" charset="0"/>
                          </a:rPr>
                        </m:ctrlPr>
                      </m:fPr>
                      <m:num>
                        <m:r>
                          <a:rPr lang="en-US" sz="2000" i="1">
                            <a:solidFill>
                              <a:schemeClr val="tx1"/>
                            </a:solidFill>
                            <a:latin typeface="Cambria Math" panose="02040503050406030204" pitchFamily="18" charset="0"/>
                          </a:rPr>
                          <m:t>5</m:t>
                        </m:r>
                      </m:num>
                      <m:den>
                        <m:r>
                          <a:rPr lang="en-US" sz="2000" i="1">
                            <a:solidFill>
                              <a:schemeClr val="tx1"/>
                            </a:solidFill>
                            <a:latin typeface="Cambria Math" panose="02040503050406030204" pitchFamily="18" charset="0"/>
                          </a:rPr>
                          <m:t>7</m:t>
                        </m:r>
                      </m:den>
                    </m:f>
                    <m:r>
                      <a:rPr lang="en-US" sz="2000" i="1">
                        <a:solidFill>
                          <a:schemeClr val="tx1"/>
                        </a:solidFill>
                        <a:latin typeface="Cambria Math" panose="02040503050406030204" pitchFamily="18" charset="0"/>
                      </a:rPr>
                      <m:t>⋅90=64</m:t>
                    </m:r>
                    <m:f>
                      <m:fPr>
                        <m:ctrlPr>
                          <a:rPr lang="en-US" sz="2000" i="1">
                            <a:solidFill>
                              <a:schemeClr val="tx1"/>
                            </a:solidFill>
                            <a:latin typeface="Cambria Math" panose="02040503050406030204" pitchFamily="18" charset="0"/>
                          </a:rPr>
                        </m:ctrlPr>
                      </m:fPr>
                      <m:num>
                        <m:r>
                          <a:rPr lang="en-US" sz="2000" i="1">
                            <a:solidFill>
                              <a:schemeClr val="tx1"/>
                            </a:solidFill>
                            <a:latin typeface="Cambria Math" panose="02040503050406030204" pitchFamily="18" charset="0"/>
                          </a:rPr>
                          <m:t>2</m:t>
                        </m:r>
                      </m:num>
                      <m:den>
                        <m:r>
                          <a:rPr lang="en-US" sz="2000" i="1">
                            <a:solidFill>
                              <a:schemeClr val="tx1"/>
                            </a:solidFill>
                            <a:latin typeface="Cambria Math" panose="02040503050406030204" pitchFamily="18" charset="0"/>
                          </a:rPr>
                          <m:t>7</m:t>
                        </m:r>
                      </m:den>
                    </m:f>
                    <m:r>
                      <a:rPr lang="en-US" sz="2000" i="1">
                        <a:solidFill>
                          <a:schemeClr val="tx1"/>
                        </a:solidFill>
                        <a:latin typeface="Cambria Math" panose="02040503050406030204" pitchFamily="18" charset="0"/>
                      </a:rPr>
                      <m:t> </m:t>
                    </m:r>
                  </m:oMath>
                </a14:m>
                <a:r>
                  <a:rPr lang="he-IL" sz="2000">
                    <a:solidFill>
                      <a:schemeClr val="tx1"/>
                    </a:solidFill>
                    <a:latin typeface="Assistant" pitchFamily="2" charset="-79"/>
                    <a:cs typeface="Assistant" pitchFamily="2" charset="-79"/>
                  </a:rPr>
                  <a:t>, כלומר שטר של </a:t>
                </a:r>
                <a:r>
                  <a:rPr lang="en-US" sz="2000">
                    <a:solidFill>
                      <a:schemeClr val="tx1"/>
                    </a:solidFill>
                    <a:latin typeface="Assistant" pitchFamily="2" charset="-79"/>
                    <a:cs typeface="Assistant" pitchFamily="2" charset="-79"/>
                  </a:rPr>
                  <a:t>50</a:t>
                </a:r>
                <a:r>
                  <a:rPr lang="he-IL" sz="2000">
                    <a:solidFill>
                      <a:schemeClr val="tx1"/>
                    </a:solidFill>
                    <a:latin typeface="Assistant" pitchFamily="2" charset="-79"/>
                    <a:cs typeface="Assistant" pitchFamily="2" charset="-79"/>
                  </a:rPr>
                  <a:t>, </a:t>
                </a:r>
                <a:r>
                  <a:rPr lang="en-US" sz="2000">
                    <a:solidFill>
                      <a:schemeClr val="tx1"/>
                    </a:solidFill>
                    <a:latin typeface="Assistant" pitchFamily="2" charset="-79"/>
                    <a:cs typeface="Assistant" pitchFamily="2" charset="-79"/>
                  </a:rPr>
                  <a:t>4</a:t>
                </a:r>
                <a:r>
                  <a:rPr lang="he-IL" sz="2000">
                    <a:solidFill>
                      <a:schemeClr val="tx1"/>
                    </a:solidFill>
                    <a:latin typeface="Assistant" pitchFamily="2" charset="-79"/>
                    <a:cs typeface="Assistant" pitchFamily="2" charset="-79"/>
                  </a:rPr>
                  <a:t> מטבעות של </a:t>
                </a:r>
                <a:r>
                  <a:rPr lang="en-US" sz="2000">
                    <a:solidFill>
                      <a:schemeClr val="tx1"/>
                    </a:solidFill>
                    <a:latin typeface="Assistant" pitchFamily="2" charset="-79"/>
                    <a:cs typeface="Assistant" pitchFamily="2" charset="-79"/>
                  </a:rPr>
                  <a:t>1</a:t>
                </a:r>
                <a:r>
                  <a:rPr lang="he-IL" sz="2000">
                    <a:solidFill>
                      <a:schemeClr val="tx1"/>
                    </a:solidFill>
                    <a:latin typeface="Assistant" pitchFamily="2" charset="-79"/>
                    <a:cs typeface="Assistant" pitchFamily="2" charset="-79"/>
                  </a:rPr>
                  <a:t> ש"ח ועוד כמה אגורות. </a:t>
                </a:r>
                <a:endParaRPr lang="en-US" sz="2000">
                  <a:solidFill>
                    <a:schemeClr val="tx1"/>
                  </a:solidFill>
                  <a:latin typeface="Assistant" pitchFamily="2" charset="-79"/>
                  <a:cs typeface="Assistant" pitchFamily="2" charset="-79"/>
                </a:endParaRPr>
              </a:p>
            </p:txBody>
          </p:sp>
        </mc:Choice>
        <mc:Fallback xmlns="">
          <p:sp>
            <p:nvSpPr>
              <p:cNvPr id="10" name="מלבן: פינות מעוגלות 9">
                <a:extLst>
                  <a:ext uri="{FF2B5EF4-FFF2-40B4-BE49-F238E27FC236}">
                    <a16:creationId xmlns:a16="http://schemas.microsoft.com/office/drawing/2014/main" id="{A26128E4-2B69-891F-4CBC-8FEA3AAAB41B}"/>
                  </a:ext>
                </a:extLst>
              </p:cNvPr>
              <p:cNvSpPr>
                <a:spLocks noRot="1" noChangeAspect="1" noMove="1" noResize="1" noEditPoints="1" noAdjustHandles="1" noChangeArrowheads="1" noChangeShapeType="1" noTextEdit="1"/>
              </p:cNvSpPr>
              <p:nvPr/>
            </p:nvSpPr>
            <p:spPr>
              <a:xfrm>
                <a:off x="-5379763" y="4034705"/>
                <a:ext cx="4971532" cy="4463680"/>
              </a:xfrm>
              <a:prstGeom prst="roundRect">
                <a:avLst>
                  <a:gd name="adj" fmla="val 1647"/>
                </a:avLst>
              </a:prstGeom>
              <a:blipFill>
                <a:blip r:embed="rId7"/>
                <a:stretch>
                  <a:fillRect r="-858"/>
                </a:stretch>
              </a:blipFill>
              <a:ln>
                <a:noFill/>
              </a:ln>
            </p:spPr>
            <p:txBody>
              <a:bodyPr/>
              <a:lstStyle/>
              <a:p>
                <a:r>
                  <a:rPr lang="en-US">
                    <a:noFill/>
                  </a:rPr>
                  <a:t> </a:t>
                </a:r>
              </a:p>
            </p:txBody>
          </p:sp>
        </mc:Fallback>
      </mc:AlternateContent>
      <p:sp>
        <p:nvSpPr>
          <p:cNvPr id="11" name="מלבן 10">
            <a:extLst>
              <a:ext uri="{FF2B5EF4-FFF2-40B4-BE49-F238E27FC236}">
                <a16:creationId xmlns:a16="http://schemas.microsoft.com/office/drawing/2014/main" id="{E722EFA3-307C-740F-396D-5E559211C734}"/>
              </a:ext>
            </a:extLst>
          </p:cNvPr>
          <p:cNvSpPr/>
          <p:nvPr/>
        </p:nvSpPr>
        <p:spPr>
          <a:xfrm>
            <a:off x="-115414" y="-1103086"/>
            <a:ext cx="2295396" cy="976083"/>
          </a:xfrm>
          <a:prstGeom prst="rect">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he-IL" sz="1800" b="1" i="0" u="none" strike="noStrike" kern="1200" cap="none" spc="0" normalizeH="0" baseline="0" noProof="0">
                <a:ln>
                  <a:noFill/>
                </a:ln>
                <a:solidFill>
                  <a:prstClr val="black"/>
                </a:solidFill>
                <a:effectLst/>
                <a:uLnTx/>
                <a:uFillTx/>
                <a:latin typeface="Assistant" pitchFamily="2" charset="-79"/>
                <a:ea typeface="+mn-ea"/>
                <a:cs typeface="Assistant" pitchFamily="2" charset="-79"/>
                <a:hlinkClick r:id="rId8"/>
              </a:rPr>
              <a:t>רמת חשיבה</a:t>
            </a:r>
            <a:endParaRPr kumimoji="0" lang="he-IL" sz="1800" b="1" i="0" u="none" strike="noStrike" kern="1200" cap="none" spc="0" normalizeH="0" baseline="0" noProof="0">
              <a:ln>
                <a:noFill/>
              </a:ln>
              <a:solidFill>
                <a:prstClr val="black"/>
              </a:solidFill>
              <a:effectLst/>
              <a:uLnTx/>
              <a:uFillTx/>
              <a:latin typeface="Assistant" pitchFamily="2" charset="-79"/>
              <a:ea typeface="+mn-ea"/>
              <a:cs typeface="Assistant" pitchFamily="2" charset="-79"/>
            </a:endParaRPr>
          </a:p>
          <a:p>
            <a:pPr marL="285750" marR="0" lvl="0" indent="-285750" defTabSz="91440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he-IL" sz="1800" i="0" u="none" strike="noStrike" kern="1200" cap="none" spc="0" normalizeH="0" baseline="0" noProof="0">
                <a:ln>
                  <a:noFill/>
                </a:ln>
                <a:solidFill>
                  <a:prstClr val="black"/>
                </a:solidFill>
                <a:effectLst/>
                <a:uLnTx/>
                <a:uFillTx/>
                <a:latin typeface="Assistant" pitchFamily="2" charset="-79"/>
                <a:ea typeface="+mn-ea"/>
                <a:cs typeface="Assistant" pitchFamily="2" charset="-79"/>
              </a:rPr>
              <a:t>טקסט </a:t>
            </a:r>
          </a:p>
          <a:p>
            <a:pPr marL="285750" marR="0" lvl="0" indent="-285750" defTabSz="914400" eaLnBrk="1" fontAlgn="auto" latinLnBrk="0" hangingPunct="1">
              <a:lnSpc>
                <a:spcPct val="100000"/>
              </a:lnSpc>
              <a:spcBef>
                <a:spcPts val="0"/>
              </a:spcBef>
              <a:spcAft>
                <a:spcPts val="0"/>
              </a:spcAft>
              <a:buClrTx/>
              <a:buSzTx/>
              <a:buFont typeface="Arial" panose="020B0604020202020204" pitchFamily="34" charset="0"/>
              <a:buChar char="•"/>
              <a:tabLst/>
              <a:defRPr/>
            </a:pPr>
            <a:r>
              <a:rPr lang="he-IL">
                <a:solidFill>
                  <a:prstClr val="black"/>
                </a:solidFill>
                <a:latin typeface="Assistant" pitchFamily="2" charset="-79"/>
                <a:cs typeface="Assistant" pitchFamily="2" charset="-79"/>
              </a:rPr>
              <a:t>טקסט</a:t>
            </a:r>
            <a:endParaRPr kumimoji="0" lang="he-IL" sz="1800" i="0" u="none" strike="noStrike" kern="1200" cap="none" spc="0" normalizeH="0" baseline="0" noProof="0">
              <a:ln>
                <a:noFill/>
              </a:ln>
              <a:solidFill>
                <a:prstClr val="black"/>
              </a:solidFill>
              <a:effectLst/>
              <a:uLnTx/>
              <a:uFillTx/>
              <a:latin typeface="Assistant" pitchFamily="2" charset="-79"/>
              <a:ea typeface="+mn-ea"/>
              <a:cs typeface="Assistant" pitchFamily="2" charset="-79"/>
            </a:endParaRPr>
          </a:p>
        </p:txBody>
      </p:sp>
      <p:grpSp>
        <p:nvGrpSpPr>
          <p:cNvPr id="15" name="קבוצה 14">
            <a:extLst>
              <a:ext uri="{FF2B5EF4-FFF2-40B4-BE49-F238E27FC236}">
                <a16:creationId xmlns:a16="http://schemas.microsoft.com/office/drawing/2014/main" id="{2AFBD75F-7749-9F7E-4EC5-36F5B170847B}"/>
              </a:ext>
            </a:extLst>
          </p:cNvPr>
          <p:cNvGrpSpPr/>
          <p:nvPr/>
        </p:nvGrpSpPr>
        <p:grpSpPr>
          <a:xfrm>
            <a:off x="-9344826" y="26138"/>
            <a:ext cx="9123904" cy="3818372"/>
            <a:chOff x="-9229411" y="26138"/>
            <a:chExt cx="9123904" cy="3818372"/>
          </a:xfrm>
        </p:grpSpPr>
        <p:sp>
          <p:nvSpPr>
            <p:cNvPr id="17" name="מלבן: פינות מעוגלות 16">
              <a:extLst>
                <a:ext uri="{FF2B5EF4-FFF2-40B4-BE49-F238E27FC236}">
                  <a16:creationId xmlns:a16="http://schemas.microsoft.com/office/drawing/2014/main" id="{CEDB8DB5-1245-D009-45AC-B43B71842C49}"/>
                </a:ext>
              </a:extLst>
            </p:cNvPr>
            <p:cNvSpPr/>
            <p:nvPr/>
          </p:nvSpPr>
          <p:spPr>
            <a:xfrm>
              <a:off x="-9229411" y="26138"/>
              <a:ext cx="9123904" cy="3818372"/>
            </a:xfrm>
            <a:prstGeom prst="roundRect">
              <a:avLst>
                <a:gd name="adj" fmla="val 8509"/>
              </a:avLst>
            </a:prstGeom>
            <a:solidFill>
              <a:srgbClr val="00B0F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LID4096"/>
            </a:p>
          </p:txBody>
        </p:sp>
        <p:sp>
          <p:nvSpPr>
            <p:cNvPr id="27" name="תיבת טקסט 26">
              <a:extLst>
                <a:ext uri="{FF2B5EF4-FFF2-40B4-BE49-F238E27FC236}">
                  <a16:creationId xmlns:a16="http://schemas.microsoft.com/office/drawing/2014/main" id="{FEC4641B-0D8F-E89B-4C3C-FE860E9FD513}"/>
                </a:ext>
              </a:extLst>
            </p:cNvPr>
            <p:cNvSpPr txBox="1"/>
            <p:nvPr/>
          </p:nvSpPr>
          <p:spPr>
            <a:xfrm>
              <a:off x="-6933085" y="474122"/>
              <a:ext cx="5949527" cy="707886"/>
            </a:xfrm>
            <a:prstGeom prst="rect">
              <a:avLst/>
            </a:prstGeom>
            <a:noFill/>
          </p:spPr>
          <p:txBody>
            <a:bodyPr wrap="square" rtlCol="0">
              <a:spAutoFit/>
            </a:bodyPr>
            <a:lstStyle/>
            <a:p>
              <a:r>
                <a:rPr lang="he-IL" sz="2000">
                  <a:solidFill>
                    <a:schemeClr val="bg1"/>
                  </a:solidFill>
                  <a:latin typeface="Assistant" pitchFamily="2" charset="-79"/>
                  <a:cs typeface="Assistant" pitchFamily="2" charset="-79"/>
                </a:rPr>
                <a:t>כדי לקבל כסף בשטרות, כל אחד מהם צריך לקבל סכום כסף שהוא מספר שלם.</a:t>
              </a:r>
              <a:endParaRPr lang="LID4096" sz="2000">
                <a:solidFill>
                  <a:schemeClr val="bg1"/>
                </a:solidFill>
                <a:latin typeface="Assistant" pitchFamily="2" charset="-79"/>
                <a:cs typeface="Assistant" pitchFamily="2" charset="-79"/>
              </a:endParaRPr>
            </a:p>
          </p:txBody>
        </p:sp>
        <p:sp>
          <p:nvSpPr>
            <p:cNvPr id="28" name="מלבן: פינות מעוגלות 27">
              <a:extLst>
                <a:ext uri="{FF2B5EF4-FFF2-40B4-BE49-F238E27FC236}">
                  <a16:creationId xmlns:a16="http://schemas.microsoft.com/office/drawing/2014/main" id="{9777AD63-DB68-C7C4-F25C-FEA832975FAF}"/>
                </a:ext>
              </a:extLst>
            </p:cNvPr>
            <p:cNvSpPr/>
            <p:nvPr/>
          </p:nvSpPr>
          <p:spPr>
            <a:xfrm>
              <a:off x="-5861703" y="3135618"/>
              <a:ext cx="1798983" cy="506891"/>
            </a:xfrm>
            <a:prstGeom prst="roundRect">
              <a:avLst>
                <a:gd name="adj" fmla="val 50000"/>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he-IL">
                  <a:solidFill>
                    <a:schemeClr val="tx1"/>
                  </a:solidFill>
                  <a:latin typeface="Assistant" pitchFamily="2" charset="-79"/>
                  <a:cs typeface="Assistant" pitchFamily="2" charset="-79"/>
                </a:rPr>
                <a:t>חזרה לשאלה</a:t>
              </a:r>
              <a:endParaRPr lang="LID4096">
                <a:solidFill>
                  <a:schemeClr val="tx1"/>
                </a:solidFill>
                <a:latin typeface="Assistant" pitchFamily="2" charset="-79"/>
                <a:cs typeface="Assistant" pitchFamily="2" charset="-79"/>
              </a:endParaRPr>
            </a:p>
          </p:txBody>
        </p:sp>
        <p:pic>
          <p:nvPicPr>
            <p:cNvPr id="29" name="גרפיקה 28" descr="נורת חשמל וגלגל שיניים עם מילוי מלא">
              <a:extLst>
                <a:ext uri="{FF2B5EF4-FFF2-40B4-BE49-F238E27FC236}">
                  <a16:creationId xmlns:a16="http://schemas.microsoft.com/office/drawing/2014/main" id="{C02F6974-8479-791F-1F08-494627DACBA5}"/>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983558" y="489982"/>
              <a:ext cx="338083" cy="338083"/>
            </a:xfrm>
            <a:prstGeom prst="rect">
              <a:avLst/>
            </a:prstGeom>
          </p:spPr>
        </p:pic>
      </p:grpSp>
      <p:sp>
        <p:nvSpPr>
          <p:cNvPr id="26" name="תיבת טקסט 5">
            <a:extLst>
              <a:ext uri="{FF2B5EF4-FFF2-40B4-BE49-F238E27FC236}">
                <a16:creationId xmlns:a16="http://schemas.microsoft.com/office/drawing/2014/main" id="{87576AC6-FF3B-0CCD-9C73-AF18A1CF0748}"/>
              </a:ext>
            </a:extLst>
          </p:cNvPr>
          <p:cNvSpPr txBox="1"/>
          <p:nvPr/>
        </p:nvSpPr>
        <p:spPr>
          <a:xfrm>
            <a:off x="5643880" y="1182008"/>
            <a:ext cx="5966867" cy="967765"/>
          </a:xfrm>
          <a:prstGeom prst="rect">
            <a:avLst/>
          </a:prstGeom>
          <a:noFill/>
        </p:spPr>
        <p:txBody>
          <a:bodyPr wrap="square" rtlCol="0">
            <a:spAutoFit/>
          </a:bodyPr>
          <a:lstStyle/>
          <a:p>
            <a:pPr>
              <a:lnSpc>
                <a:spcPct val="150000"/>
              </a:lnSpc>
            </a:pPr>
            <a:r>
              <a:rPr lang="he-IL" sz="2000">
                <a:latin typeface="Assistant" pitchFamily="2" charset="-79"/>
                <a:cs typeface="Assistant" pitchFamily="2" charset="-79"/>
              </a:rPr>
              <a:t>2. מיה ועומר זכו ב-90 ש"ח, האם הם יכולים לחלק את הכסף ביחס הנתון (5 : 2) כך שכל אחד מהם יקבל כסף בשטרות?</a:t>
            </a:r>
          </a:p>
        </p:txBody>
      </p:sp>
      <p:grpSp>
        <p:nvGrpSpPr>
          <p:cNvPr id="6" name="קבוצה 10">
            <a:extLst>
              <a:ext uri="{FF2B5EF4-FFF2-40B4-BE49-F238E27FC236}">
                <a16:creationId xmlns:a16="http://schemas.microsoft.com/office/drawing/2014/main" id="{5EA04503-A091-9E59-4FAD-6FE3010DA270}"/>
              </a:ext>
            </a:extLst>
          </p:cNvPr>
          <p:cNvGrpSpPr/>
          <p:nvPr/>
        </p:nvGrpSpPr>
        <p:grpSpPr>
          <a:xfrm>
            <a:off x="8801100" y="2800518"/>
            <a:ext cx="2499724" cy="526581"/>
            <a:chOff x="9260868" y="3108471"/>
            <a:chExt cx="2499724" cy="641058"/>
          </a:xfrm>
        </p:grpSpPr>
        <p:grpSp>
          <p:nvGrpSpPr>
            <p:cNvPr id="8" name="קבוצה 8">
              <a:extLst>
                <a:ext uri="{FF2B5EF4-FFF2-40B4-BE49-F238E27FC236}">
                  <a16:creationId xmlns:a16="http://schemas.microsoft.com/office/drawing/2014/main" id="{941866EB-7683-CEF2-9F22-E7F2EA98397B}"/>
                </a:ext>
              </a:extLst>
            </p:cNvPr>
            <p:cNvGrpSpPr/>
            <p:nvPr/>
          </p:nvGrpSpPr>
          <p:grpSpPr>
            <a:xfrm>
              <a:off x="9260868" y="3108471"/>
              <a:ext cx="2499724" cy="641058"/>
              <a:chOff x="9260868" y="3108471"/>
              <a:chExt cx="2499724" cy="641058"/>
            </a:xfrm>
          </p:grpSpPr>
          <p:sp>
            <p:nvSpPr>
              <p:cNvPr id="14" name="מלבן: פינות מעוגלות 6">
                <a:extLst>
                  <a:ext uri="{FF2B5EF4-FFF2-40B4-BE49-F238E27FC236}">
                    <a16:creationId xmlns:a16="http://schemas.microsoft.com/office/drawing/2014/main" id="{41DC0FEA-DE1A-18B6-112A-102BC20EB22E}"/>
                  </a:ext>
                </a:extLst>
              </p:cNvPr>
              <p:cNvSpPr/>
              <p:nvPr/>
            </p:nvSpPr>
            <p:spPr>
              <a:xfrm>
                <a:off x="9260868" y="3108471"/>
                <a:ext cx="2499724" cy="641058"/>
              </a:xfrm>
              <a:prstGeom prst="roundRect">
                <a:avLst>
                  <a:gd name="adj" fmla="val 50000"/>
                </a:avLst>
              </a:prstGeom>
              <a:noFill/>
              <a:ln w="1270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LID4096">
                  <a:latin typeface="Assistant" pitchFamily="2" charset="-79"/>
                  <a:cs typeface="Assistant" pitchFamily="2" charset="-79"/>
                </a:endParaRPr>
              </a:p>
            </p:txBody>
          </p:sp>
          <p:sp>
            <p:nvSpPr>
              <p:cNvPr id="18" name="תיבת טקסט 7">
                <a:extLst>
                  <a:ext uri="{FF2B5EF4-FFF2-40B4-BE49-F238E27FC236}">
                    <a16:creationId xmlns:a16="http://schemas.microsoft.com/office/drawing/2014/main" id="{901A6497-3E06-8997-2D30-A647704E6333}"/>
                  </a:ext>
                </a:extLst>
              </p:cNvPr>
              <p:cNvSpPr txBox="1"/>
              <p:nvPr/>
            </p:nvSpPr>
            <p:spPr>
              <a:xfrm>
                <a:off x="9933968" y="3213482"/>
                <a:ext cx="1265451" cy="449624"/>
              </a:xfrm>
              <a:prstGeom prst="rect">
                <a:avLst/>
              </a:prstGeom>
              <a:noFill/>
            </p:spPr>
            <p:txBody>
              <a:bodyPr wrap="square" rtlCol="0">
                <a:spAutoFit/>
              </a:bodyPr>
              <a:lstStyle/>
              <a:p>
                <a:pPr lvl="0"/>
                <a:r>
                  <a:rPr lang="he-IL">
                    <a:latin typeface="Assistant" pitchFamily="2" charset="-79"/>
                    <a:cs typeface="Assistant" pitchFamily="2" charset="-79"/>
                  </a:rPr>
                  <a:t>כן</a:t>
                </a:r>
                <a:endParaRPr lang="en-US">
                  <a:latin typeface="Assistant" pitchFamily="2" charset="-79"/>
                  <a:cs typeface="Assistant" pitchFamily="2" charset="-79"/>
                </a:endParaRPr>
              </a:p>
            </p:txBody>
          </p:sp>
        </p:grpSp>
        <p:sp>
          <p:nvSpPr>
            <p:cNvPr id="13" name="אליפסה 9">
              <a:extLst>
                <a:ext uri="{FF2B5EF4-FFF2-40B4-BE49-F238E27FC236}">
                  <a16:creationId xmlns:a16="http://schemas.microsoft.com/office/drawing/2014/main" id="{BAE51A3B-9F8B-F29B-B8E7-3432043E22A3}"/>
                </a:ext>
              </a:extLst>
            </p:cNvPr>
            <p:cNvSpPr/>
            <p:nvPr/>
          </p:nvSpPr>
          <p:spPr>
            <a:xfrm>
              <a:off x="11280913" y="3269817"/>
              <a:ext cx="252766" cy="318364"/>
            </a:xfrm>
            <a:prstGeom prst="ellipse">
              <a:avLst/>
            </a:prstGeom>
            <a:no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LID4096">
                <a:latin typeface="Assistant" pitchFamily="2" charset="-79"/>
                <a:cs typeface="Assistant" pitchFamily="2" charset="-79"/>
              </a:endParaRPr>
            </a:p>
          </p:txBody>
        </p:sp>
      </p:grpSp>
      <p:grpSp>
        <p:nvGrpSpPr>
          <p:cNvPr id="19" name="קבוצה 10">
            <a:extLst>
              <a:ext uri="{FF2B5EF4-FFF2-40B4-BE49-F238E27FC236}">
                <a16:creationId xmlns:a16="http://schemas.microsoft.com/office/drawing/2014/main" id="{E4EE3D36-B412-9955-BEDD-6C23CAD1BC99}"/>
              </a:ext>
            </a:extLst>
          </p:cNvPr>
          <p:cNvGrpSpPr/>
          <p:nvPr/>
        </p:nvGrpSpPr>
        <p:grpSpPr>
          <a:xfrm>
            <a:off x="8801100" y="3459633"/>
            <a:ext cx="2499724" cy="526581"/>
            <a:chOff x="9260868" y="3108471"/>
            <a:chExt cx="2499724" cy="641058"/>
          </a:xfrm>
        </p:grpSpPr>
        <p:grpSp>
          <p:nvGrpSpPr>
            <p:cNvPr id="21" name="קבוצה 8">
              <a:extLst>
                <a:ext uri="{FF2B5EF4-FFF2-40B4-BE49-F238E27FC236}">
                  <a16:creationId xmlns:a16="http://schemas.microsoft.com/office/drawing/2014/main" id="{4698C502-4979-6E5C-1302-A2C3DFB1776B}"/>
                </a:ext>
              </a:extLst>
            </p:cNvPr>
            <p:cNvGrpSpPr/>
            <p:nvPr/>
          </p:nvGrpSpPr>
          <p:grpSpPr>
            <a:xfrm>
              <a:off x="9260868" y="3108471"/>
              <a:ext cx="2499724" cy="641058"/>
              <a:chOff x="9260868" y="3108471"/>
              <a:chExt cx="2499724" cy="641058"/>
            </a:xfrm>
          </p:grpSpPr>
          <p:sp>
            <p:nvSpPr>
              <p:cNvPr id="25" name="מלבן: פינות מעוגלות 6">
                <a:extLst>
                  <a:ext uri="{FF2B5EF4-FFF2-40B4-BE49-F238E27FC236}">
                    <a16:creationId xmlns:a16="http://schemas.microsoft.com/office/drawing/2014/main" id="{207ECC4F-295D-5B2A-4DCD-02BC7F2D8FC3}"/>
                  </a:ext>
                </a:extLst>
              </p:cNvPr>
              <p:cNvSpPr/>
              <p:nvPr/>
            </p:nvSpPr>
            <p:spPr>
              <a:xfrm>
                <a:off x="9260868" y="3108471"/>
                <a:ext cx="2499724" cy="641058"/>
              </a:xfrm>
              <a:prstGeom prst="roundRect">
                <a:avLst>
                  <a:gd name="adj" fmla="val 50000"/>
                </a:avLst>
              </a:prstGeom>
              <a:noFill/>
              <a:ln w="12700">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LID4096"/>
              </a:p>
            </p:txBody>
          </p:sp>
          <p:sp>
            <p:nvSpPr>
              <p:cNvPr id="30" name="תיבת טקסט 7">
                <a:extLst>
                  <a:ext uri="{FF2B5EF4-FFF2-40B4-BE49-F238E27FC236}">
                    <a16:creationId xmlns:a16="http://schemas.microsoft.com/office/drawing/2014/main" id="{242C4556-F761-1827-088E-D04786CFED31}"/>
                  </a:ext>
                </a:extLst>
              </p:cNvPr>
              <p:cNvSpPr txBox="1"/>
              <p:nvPr/>
            </p:nvSpPr>
            <p:spPr>
              <a:xfrm>
                <a:off x="9933968" y="3213482"/>
                <a:ext cx="1265451" cy="449624"/>
              </a:xfrm>
              <a:prstGeom prst="rect">
                <a:avLst/>
              </a:prstGeom>
              <a:noFill/>
            </p:spPr>
            <p:txBody>
              <a:bodyPr wrap="square" rtlCol="0">
                <a:spAutoFit/>
              </a:bodyPr>
              <a:lstStyle/>
              <a:p>
                <a:pPr lvl="0"/>
                <a:r>
                  <a:rPr lang="he-IL">
                    <a:latin typeface="Assistant" pitchFamily="2" charset="-79"/>
                    <a:cs typeface="Assistant" pitchFamily="2" charset="-79"/>
                  </a:rPr>
                  <a:t>לא</a:t>
                </a:r>
                <a:endParaRPr lang="en-US">
                  <a:latin typeface="Assistant" pitchFamily="2" charset="-79"/>
                  <a:cs typeface="Assistant" pitchFamily="2" charset="-79"/>
                </a:endParaRPr>
              </a:p>
            </p:txBody>
          </p:sp>
        </p:grpSp>
        <p:sp>
          <p:nvSpPr>
            <p:cNvPr id="23" name="אליפסה 9">
              <a:extLst>
                <a:ext uri="{FF2B5EF4-FFF2-40B4-BE49-F238E27FC236}">
                  <a16:creationId xmlns:a16="http://schemas.microsoft.com/office/drawing/2014/main" id="{46059941-280D-B18D-4E3E-06BB67868855}"/>
                </a:ext>
              </a:extLst>
            </p:cNvPr>
            <p:cNvSpPr/>
            <p:nvPr/>
          </p:nvSpPr>
          <p:spPr>
            <a:xfrm>
              <a:off x="11280913" y="3269817"/>
              <a:ext cx="252766" cy="318364"/>
            </a:xfrm>
            <a:prstGeom prst="ellipse">
              <a:avLst/>
            </a:prstGeom>
            <a:solidFill>
              <a:srgbClr val="00B050"/>
            </a:solid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LID4096"/>
            </a:p>
          </p:txBody>
        </p:sp>
      </p:grpSp>
      <p:pic>
        <p:nvPicPr>
          <p:cNvPr id="20" name="Picture 19">
            <a:extLst>
              <a:ext uri="{FF2B5EF4-FFF2-40B4-BE49-F238E27FC236}">
                <a16:creationId xmlns:a16="http://schemas.microsoft.com/office/drawing/2014/main" id="{C825373E-AA4B-FBA2-BC6E-0C0EE8C2BCC2}"/>
              </a:ext>
            </a:extLst>
          </p:cNvPr>
          <p:cNvPicPr>
            <a:picLocks noChangeAspect="1"/>
          </p:cNvPicPr>
          <p:nvPr/>
        </p:nvPicPr>
        <p:blipFill>
          <a:blip r:embed="rId10" cstate="email">
            <a:extLst>
              <a:ext uri="{28A0092B-C50C-407E-A947-70E740481C1C}">
                <a14:useLocalDpi xmlns:a14="http://schemas.microsoft.com/office/drawing/2010/main"/>
              </a:ext>
            </a:extLst>
          </a:blip>
          <a:stretch>
            <a:fillRect/>
          </a:stretch>
        </p:blipFill>
        <p:spPr>
          <a:xfrm>
            <a:off x="543898" y="1317609"/>
            <a:ext cx="4448727" cy="2965818"/>
          </a:xfrm>
          <a:prstGeom prst="rect">
            <a:avLst/>
          </a:prstGeom>
        </p:spPr>
      </p:pic>
    </p:spTree>
    <p:custDataLst>
      <p:tags r:id="rId1"/>
    </p:custDataLst>
    <p:extLst>
      <p:ext uri="{BB962C8B-B14F-4D97-AF65-F5344CB8AC3E}">
        <p14:creationId xmlns:p14="http://schemas.microsoft.com/office/powerpoint/2010/main" val="2287656807"/>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DD2C5B-4395-28CF-207E-C08E4BF19132}"/>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03D0A851-CCA9-BD7B-D45A-EE2EDACF0BED}"/>
              </a:ext>
            </a:extLst>
          </p:cNvPr>
          <p:cNvSpPr txBox="1"/>
          <p:nvPr/>
        </p:nvSpPr>
        <p:spPr>
          <a:xfrm>
            <a:off x="2621280" y="3167390"/>
            <a:ext cx="5815584" cy="954107"/>
          </a:xfrm>
          <a:prstGeom prst="rect">
            <a:avLst/>
          </a:prstGeom>
          <a:noFill/>
        </p:spPr>
        <p:txBody>
          <a:bodyPr wrap="square">
            <a:spAutoFit/>
          </a:bodyPr>
          <a:lstStyle/>
          <a:p>
            <a:pPr algn="ctr"/>
            <a:r>
              <a:rPr lang="he-IL" sz="2800" b="0" i="0" kern="1200" dirty="0">
                <a:solidFill>
                  <a:schemeClr val="dk1"/>
                </a:solidFill>
                <a:effectLst/>
                <a:latin typeface="+mn-lt"/>
                <a:ea typeface="+mn-ea"/>
                <a:cs typeface="+mn-cs"/>
              </a:rPr>
              <a:t> רכיב </a:t>
            </a:r>
            <a:r>
              <a:rPr lang="en-US" sz="2800" b="0" i="0" kern="1200" dirty="0">
                <a:solidFill>
                  <a:schemeClr val="dk1"/>
                </a:solidFill>
                <a:effectLst/>
                <a:latin typeface="+mn-lt"/>
                <a:ea typeface="+mn-ea"/>
                <a:cs typeface="+mn-cs"/>
              </a:rPr>
              <a:t>4</a:t>
            </a:r>
            <a:endParaRPr lang="he-IL" sz="2800" b="0" i="0" kern="1200" dirty="0">
              <a:solidFill>
                <a:schemeClr val="dk1"/>
              </a:solidFill>
              <a:effectLst/>
              <a:latin typeface="+mn-lt"/>
              <a:ea typeface="+mn-ea"/>
              <a:cs typeface="+mn-cs"/>
            </a:endParaRPr>
          </a:p>
          <a:p>
            <a:pPr algn="ctr"/>
            <a:r>
              <a:rPr lang="en-IL" sz="2800" b="0" i="0" kern="1200" dirty="0">
                <a:solidFill>
                  <a:schemeClr val="dk1"/>
                </a:solidFill>
                <a:effectLst/>
                <a:latin typeface="+mn-lt"/>
                <a:ea typeface="+mn-ea"/>
                <a:cs typeface="+mn-cs"/>
              </a:rPr>
              <a:t>methodica-math-ratio-01</a:t>
            </a:r>
            <a:r>
              <a:rPr lang="en-US" sz="2800" b="0" i="0" kern="1200" dirty="0">
                <a:solidFill>
                  <a:schemeClr val="dk1"/>
                </a:solidFill>
                <a:effectLst/>
                <a:latin typeface="+mn-lt"/>
                <a:ea typeface="+mn-ea"/>
                <a:cs typeface="+mn-cs"/>
              </a:rPr>
              <a:t>-04</a:t>
            </a:r>
            <a:endParaRPr lang="LID4096" sz="2800" dirty="0">
              <a:latin typeface="Assistant" pitchFamily="2" charset="-79"/>
              <a:cs typeface="Assistant" pitchFamily="2" charset="-79"/>
            </a:endParaRPr>
          </a:p>
        </p:txBody>
      </p:sp>
    </p:spTree>
    <p:extLst>
      <p:ext uri="{BB962C8B-B14F-4D97-AF65-F5344CB8AC3E}">
        <p14:creationId xmlns:p14="http://schemas.microsoft.com/office/powerpoint/2010/main" val="3594917467"/>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A7AA72D-F52A-C2C7-724E-1D98F179F60E}"/>
              </a:ext>
            </a:extLst>
          </p:cNvPr>
          <p:cNvSpPr txBox="1"/>
          <p:nvPr/>
        </p:nvSpPr>
        <p:spPr>
          <a:xfrm>
            <a:off x="853440" y="1183214"/>
            <a:ext cx="10637520" cy="1969770"/>
          </a:xfrm>
          <a:prstGeom prst="rect">
            <a:avLst/>
          </a:prstGeom>
          <a:noFill/>
        </p:spPr>
        <p:txBody>
          <a:bodyPr wrap="square">
            <a:spAutoFit/>
          </a:bodyPr>
          <a:lstStyle/>
          <a:p>
            <a:pPr algn="ctr"/>
            <a:r>
              <a:rPr lang="he-IL" sz="2800">
                <a:latin typeface="Assistant" pitchFamily="2" charset="-79"/>
                <a:cs typeface="Assistant" pitchFamily="2" charset="-79"/>
              </a:rPr>
              <a:t>השלמת בהצלחה את התרגול – כל הכבוד!</a:t>
            </a:r>
            <a:endParaRPr lang="en-US" sz="2800">
              <a:latin typeface="Assistant" pitchFamily="2" charset="-79"/>
              <a:cs typeface="Assistant" pitchFamily="2" charset="-79"/>
            </a:endParaRPr>
          </a:p>
          <a:p>
            <a:pPr algn="ctr"/>
            <a:r>
              <a:rPr lang="he-IL" sz="6600" b="1">
                <a:latin typeface="Assistant ExtraBold" pitchFamily="2" charset="-79"/>
                <a:cs typeface="Assistant ExtraBold" pitchFamily="2" charset="-79"/>
              </a:rPr>
              <a:t>זמן טוב ללמוד גם בצורה אחרת</a:t>
            </a:r>
            <a:r>
              <a:rPr lang="he-IL" sz="3200" b="1">
                <a:latin typeface="Assistant ExtraBold" pitchFamily="2" charset="-79"/>
                <a:cs typeface="Assistant ExtraBold" pitchFamily="2" charset="-79"/>
              </a:rPr>
              <a:t>, </a:t>
            </a:r>
          </a:p>
          <a:p>
            <a:pPr algn="ctr"/>
            <a:r>
              <a:rPr lang="he-IL" sz="2800">
                <a:latin typeface="Assistant" pitchFamily="2" charset="-79"/>
                <a:cs typeface="Assistant" pitchFamily="2" charset="-79"/>
              </a:rPr>
              <a:t>כי למידה מתרחשת בכל מיני צורות</a:t>
            </a:r>
            <a:r>
              <a:rPr lang="he-IL" sz="1800">
                <a:latin typeface="Assistant"/>
                <a:cs typeface="Assistant"/>
              </a:rPr>
              <a:t>.</a:t>
            </a:r>
          </a:p>
        </p:txBody>
      </p:sp>
      <p:pic>
        <p:nvPicPr>
          <p:cNvPr id="6" name="תמונה 3">
            <a:extLst>
              <a:ext uri="{FF2B5EF4-FFF2-40B4-BE49-F238E27FC236}">
                <a16:creationId xmlns:a16="http://schemas.microsoft.com/office/drawing/2014/main" id="{BB8D4FD4-D80E-7D60-8A79-298D27441BA9}"/>
              </a:ext>
            </a:extLst>
          </p:cNvPr>
          <p:cNvPicPr>
            <a:picLocks noChangeAspect="1"/>
          </p:cNvPicPr>
          <p:nvPr/>
        </p:nvPicPr>
        <p:blipFill>
          <a:blip r:embed="rId3">
            <a:extLst>
              <a:ext uri="{28A0092B-C50C-407E-A947-70E740481C1C}">
                <a14:useLocalDpi xmlns:a14="http://schemas.microsoft.com/office/drawing/2010/main"/>
              </a:ext>
            </a:extLst>
          </a:blip>
          <a:stretch>
            <a:fillRect/>
          </a:stretch>
        </p:blipFill>
        <p:spPr>
          <a:xfrm>
            <a:off x="192984" y="6236080"/>
            <a:ext cx="1777778" cy="495238"/>
          </a:xfrm>
          <a:prstGeom prst="rect">
            <a:avLst/>
          </a:prstGeom>
        </p:spPr>
      </p:pic>
      <p:cxnSp>
        <p:nvCxnSpPr>
          <p:cNvPr id="7" name="מחבר ישר 4">
            <a:extLst>
              <a:ext uri="{FF2B5EF4-FFF2-40B4-BE49-F238E27FC236}">
                <a16:creationId xmlns:a16="http://schemas.microsoft.com/office/drawing/2014/main" id="{563AD96E-6ACC-E79D-7F6F-97428F318875}"/>
              </a:ext>
            </a:extLst>
          </p:cNvPr>
          <p:cNvCxnSpPr>
            <a:cxnSpLocks/>
          </p:cNvCxnSpPr>
          <p:nvPr/>
        </p:nvCxnSpPr>
        <p:spPr>
          <a:xfrm>
            <a:off x="0" y="6079252"/>
            <a:ext cx="12192000" cy="0"/>
          </a:xfrm>
          <a:prstGeom prst="line">
            <a:avLst/>
          </a:prstGeom>
          <a:ln>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pic>
        <p:nvPicPr>
          <p:cNvPr id="5" name="Picture 4">
            <a:extLst>
              <a:ext uri="{FF2B5EF4-FFF2-40B4-BE49-F238E27FC236}">
                <a16:creationId xmlns:a16="http://schemas.microsoft.com/office/drawing/2014/main" id="{DC297A40-C17A-D9A4-6B74-F057A5D4F024}"/>
              </a:ext>
            </a:extLst>
          </p:cNvPr>
          <p:cNvPicPr>
            <a:picLocks noChangeAspect="1"/>
          </p:cNvPicPr>
          <p:nvPr/>
        </p:nvPicPr>
        <p:blipFill>
          <a:blip r:embed="rId4"/>
          <a:stretch>
            <a:fillRect/>
          </a:stretch>
        </p:blipFill>
        <p:spPr>
          <a:xfrm>
            <a:off x="10371417" y="6124170"/>
            <a:ext cx="1820583" cy="622831"/>
          </a:xfrm>
          <a:prstGeom prst="rect">
            <a:avLst/>
          </a:prstGeom>
        </p:spPr>
      </p:pic>
      <p:pic>
        <p:nvPicPr>
          <p:cNvPr id="9" name="תמונה 8">
            <a:extLst>
              <a:ext uri="{FF2B5EF4-FFF2-40B4-BE49-F238E27FC236}">
                <a16:creationId xmlns:a16="http://schemas.microsoft.com/office/drawing/2014/main" id="{AAD357CF-9BD3-9A32-3605-8BBDF92074E4}"/>
              </a:ext>
            </a:extLst>
          </p:cNvPr>
          <p:cNvPicPr>
            <a:picLocks noChangeAspect="1"/>
          </p:cNvPicPr>
          <p:nvPr/>
        </p:nvPicPr>
        <p:blipFill>
          <a:blip r:embed="rId5" cstate="email">
            <a:extLst>
              <a:ext uri="{28A0092B-C50C-407E-A947-70E740481C1C}">
                <a14:useLocalDpi xmlns:a14="http://schemas.microsoft.com/office/drawing/2010/main"/>
              </a:ext>
            </a:extLst>
          </a:blip>
          <a:srcRect/>
          <a:stretch/>
        </p:blipFill>
        <p:spPr>
          <a:xfrm>
            <a:off x="5012959" y="3110561"/>
            <a:ext cx="2318481" cy="2933784"/>
          </a:xfrm>
          <a:prstGeom prst="rect">
            <a:avLst/>
          </a:prstGeom>
        </p:spPr>
      </p:pic>
      <p:sp>
        <p:nvSpPr>
          <p:cNvPr id="2" name="בועת דיבור: מלבן 13">
            <a:extLst>
              <a:ext uri="{FF2B5EF4-FFF2-40B4-BE49-F238E27FC236}">
                <a16:creationId xmlns:a16="http://schemas.microsoft.com/office/drawing/2014/main" id="{93027FC1-BF60-150B-563B-C13EAF27B41C}"/>
              </a:ext>
            </a:extLst>
          </p:cNvPr>
          <p:cNvSpPr/>
          <p:nvPr/>
        </p:nvSpPr>
        <p:spPr>
          <a:xfrm>
            <a:off x="2060246" y="3861844"/>
            <a:ext cx="2361442" cy="1152210"/>
          </a:xfrm>
          <a:prstGeom prst="wedgeRectCallout">
            <a:avLst>
              <a:gd name="adj1" fmla="val 79925"/>
              <a:gd name="adj2" fmla="val 41168"/>
            </a:avLst>
          </a:prstGeom>
          <a:noFill/>
          <a:ln w="28575">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he-IL">
                <a:solidFill>
                  <a:sysClr val="windowText" lastClr="000000"/>
                </a:solidFill>
                <a:latin typeface="Assistant" pitchFamily="2" charset="-79"/>
                <a:cs typeface="Assistant" pitchFamily="2" charset="-79"/>
              </a:rPr>
              <a:t>את המשימה הבאה נבצע בלי מחשב, במרחב הכיתה או בית הספר!</a:t>
            </a:r>
            <a:r>
              <a:rPr lang="en-US">
                <a:solidFill>
                  <a:sysClr val="windowText" lastClr="000000"/>
                </a:solidFill>
                <a:latin typeface="Assistant" pitchFamily="2" charset="-79"/>
                <a:cs typeface="Assistant" pitchFamily="2" charset="-79"/>
              </a:rPr>
              <a:t> </a:t>
            </a:r>
          </a:p>
        </p:txBody>
      </p:sp>
    </p:spTree>
    <p:extLst>
      <p:ext uri="{BB962C8B-B14F-4D97-AF65-F5344CB8AC3E}">
        <p14:creationId xmlns:p14="http://schemas.microsoft.com/office/powerpoint/2010/main" val="9294768"/>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B370B1-3AEB-2CEA-EC47-68A51CB4CB74}"/>
            </a:ext>
          </a:extLst>
        </p:cNvPr>
        <p:cNvGrpSpPr/>
        <p:nvPr/>
      </p:nvGrpSpPr>
      <p:grpSpPr>
        <a:xfrm>
          <a:off x="0" y="0"/>
          <a:ext cx="0" cy="0"/>
          <a:chOff x="0" y="0"/>
          <a:chExt cx="0" cy="0"/>
        </a:xfrm>
      </p:grpSpPr>
      <p:pic>
        <p:nvPicPr>
          <p:cNvPr id="5" name="תמונה 3">
            <a:extLst>
              <a:ext uri="{FF2B5EF4-FFF2-40B4-BE49-F238E27FC236}">
                <a16:creationId xmlns:a16="http://schemas.microsoft.com/office/drawing/2014/main" id="{49647773-D855-70F3-FBDE-AA7E79227DB2}"/>
              </a:ext>
            </a:extLst>
          </p:cNvPr>
          <p:cNvPicPr>
            <a:picLocks noChangeAspect="1"/>
          </p:cNvPicPr>
          <p:nvPr/>
        </p:nvPicPr>
        <p:blipFill>
          <a:blip r:embed="rId3">
            <a:extLst>
              <a:ext uri="{28A0092B-C50C-407E-A947-70E740481C1C}">
                <a14:useLocalDpi xmlns:a14="http://schemas.microsoft.com/office/drawing/2010/main"/>
              </a:ext>
            </a:extLst>
          </a:blip>
          <a:stretch>
            <a:fillRect/>
          </a:stretch>
        </p:blipFill>
        <p:spPr>
          <a:xfrm>
            <a:off x="192984" y="6124170"/>
            <a:ext cx="1777778" cy="607148"/>
          </a:xfrm>
          <a:prstGeom prst="rect">
            <a:avLst/>
          </a:prstGeom>
        </p:spPr>
      </p:pic>
      <p:pic>
        <p:nvPicPr>
          <p:cNvPr id="6" name="Picture 5">
            <a:extLst>
              <a:ext uri="{FF2B5EF4-FFF2-40B4-BE49-F238E27FC236}">
                <a16:creationId xmlns:a16="http://schemas.microsoft.com/office/drawing/2014/main" id="{5C0273F6-8BCE-D323-0119-8BBD4CF7AF59}"/>
              </a:ext>
            </a:extLst>
          </p:cNvPr>
          <p:cNvPicPr>
            <a:picLocks noChangeAspect="1"/>
          </p:cNvPicPr>
          <p:nvPr/>
        </p:nvPicPr>
        <p:blipFill>
          <a:blip r:embed="rId4"/>
          <a:stretch>
            <a:fillRect/>
          </a:stretch>
        </p:blipFill>
        <p:spPr>
          <a:xfrm>
            <a:off x="10371417" y="6124170"/>
            <a:ext cx="1820583" cy="622831"/>
          </a:xfrm>
          <a:prstGeom prst="rect">
            <a:avLst/>
          </a:prstGeom>
        </p:spPr>
      </p:pic>
      <p:cxnSp>
        <p:nvCxnSpPr>
          <p:cNvPr id="7" name="מחבר ישר 4">
            <a:extLst>
              <a:ext uri="{FF2B5EF4-FFF2-40B4-BE49-F238E27FC236}">
                <a16:creationId xmlns:a16="http://schemas.microsoft.com/office/drawing/2014/main" id="{8F38FB3D-66F0-4411-B9FE-B0133A78D356}"/>
              </a:ext>
            </a:extLst>
          </p:cNvPr>
          <p:cNvCxnSpPr>
            <a:cxnSpLocks/>
          </p:cNvCxnSpPr>
          <p:nvPr/>
        </p:nvCxnSpPr>
        <p:spPr>
          <a:xfrm>
            <a:off x="0" y="6079252"/>
            <a:ext cx="12192000" cy="0"/>
          </a:xfrm>
          <a:prstGeom prst="line">
            <a:avLst/>
          </a:prstGeom>
          <a:ln>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8" name="תיבת טקסט 5">
            <a:extLst>
              <a:ext uri="{FF2B5EF4-FFF2-40B4-BE49-F238E27FC236}">
                <a16:creationId xmlns:a16="http://schemas.microsoft.com/office/drawing/2014/main" id="{49A3021D-A7C3-C807-9D92-3748731C7CE4}"/>
              </a:ext>
            </a:extLst>
          </p:cNvPr>
          <p:cNvSpPr txBox="1"/>
          <p:nvPr/>
        </p:nvSpPr>
        <p:spPr>
          <a:xfrm>
            <a:off x="740900" y="424804"/>
            <a:ext cx="11176773" cy="707886"/>
          </a:xfrm>
          <a:prstGeom prst="rect">
            <a:avLst/>
          </a:prstGeom>
          <a:noFill/>
        </p:spPr>
        <p:txBody>
          <a:bodyPr wrap="square" rtlCol="0">
            <a:spAutoFit/>
          </a:bodyPr>
          <a:lstStyle/>
          <a:p>
            <a:pPr algn="ctr"/>
            <a:r>
              <a:rPr lang="he-IL" sz="4000" b="1">
                <a:latin typeface="Assistant" pitchFamily="2" charset="-79"/>
                <a:cs typeface="Assistant" pitchFamily="2" charset="-79"/>
              </a:rPr>
              <a:t>משימת כיתה</a:t>
            </a:r>
            <a:endParaRPr lang="LID4096" sz="4000" b="1">
              <a:latin typeface="Assistant" pitchFamily="2" charset="-79"/>
              <a:cs typeface="Assistant" pitchFamily="2" charset="-79"/>
            </a:endParaRPr>
          </a:p>
        </p:txBody>
      </p:sp>
      <p:sp>
        <p:nvSpPr>
          <p:cNvPr id="9" name="Rectangle: Rounded Corners 8">
            <a:extLst>
              <a:ext uri="{FF2B5EF4-FFF2-40B4-BE49-F238E27FC236}">
                <a16:creationId xmlns:a16="http://schemas.microsoft.com/office/drawing/2014/main" id="{E9EB4798-C5D4-0C23-97B8-0AAFA588C166}"/>
              </a:ext>
            </a:extLst>
          </p:cNvPr>
          <p:cNvSpPr/>
          <p:nvPr/>
        </p:nvSpPr>
        <p:spPr>
          <a:xfrm>
            <a:off x="278333" y="6150208"/>
            <a:ext cx="1607080" cy="520420"/>
          </a:xfrm>
          <a:prstGeom prst="roundRect">
            <a:avLst/>
          </a:prstGeom>
          <a:solidFill>
            <a:schemeClr val="tx2">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he-IL">
                <a:latin typeface="Assistant" pitchFamily="2" charset="-79"/>
                <a:cs typeface="Assistant" pitchFamily="2" charset="-79"/>
              </a:rPr>
              <a:t>חזרתי. </a:t>
            </a:r>
            <a:endParaRPr lang="en-US">
              <a:latin typeface="Assistant" pitchFamily="2" charset="-79"/>
              <a:cs typeface="Assistant" pitchFamily="2" charset="-79"/>
            </a:endParaRPr>
          </a:p>
          <a:p>
            <a:pPr algn="ctr"/>
            <a:r>
              <a:rPr lang="he-IL">
                <a:latin typeface="Assistant" pitchFamily="2" charset="-79"/>
                <a:cs typeface="Assistant" pitchFamily="2" charset="-79"/>
              </a:rPr>
              <a:t>אפשר להמשיך</a:t>
            </a:r>
            <a:endParaRPr lang="en-US">
              <a:latin typeface="Assistant" pitchFamily="2" charset="-79"/>
              <a:cs typeface="Assistant" pitchFamily="2" charset="-79"/>
            </a:endParaRPr>
          </a:p>
        </p:txBody>
      </p:sp>
      <p:sp>
        <p:nvSpPr>
          <p:cNvPr id="13" name="תיבת טקסט 5">
            <a:extLst>
              <a:ext uri="{FF2B5EF4-FFF2-40B4-BE49-F238E27FC236}">
                <a16:creationId xmlns:a16="http://schemas.microsoft.com/office/drawing/2014/main" id="{5EF1B4D4-191C-55B2-504B-439AC9C8B934}"/>
              </a:ext>
            </a:extLst>
          </p:cNvPr>
          <p:cNvSpPr txBox="1"/>
          <p:nvPr/>
        </p:nvSpPr>
        <p:spPr>
          <a:xfrm>
            <a:off x="2383333" y="1286354"/>
            <a:ext cx="9339330" cy="5660076"/>
          </a:xfrm>
          <a:prstGeom prst="rect">
            <a:avLst/>
          </a:prstGeom>
          <a:noFill/>
        </p:spPr>
        <p:txBody>
          <a:bodyPr wrap="square" rtlCol="0">
            <a:spAutoFit/>
          </a:bodyPr>
          <a:lstStyle/>
          <a:p>
            <a:pPr lvl="0">
              <a:lnSpc>
                <a:spcPct val="115000"/>
              </a:lnSpc>
              <a:spcAft>
                <a:spcPts val="700"/>
              </a:spcAft>
            </a:pPr>
            <a:r>
              <a:rPr lang="he-IL" sz="2000" b="1">
                <a:solidFill>
                  <a:srgbClr val="000000"/>
                </a:solidFill>
                <a:latin typeface="Assistant" panose="00000500000000000000" pitchFamily="2" charset="-79"/>
                <a:ea typeface="Rubik"/>
                <a:cs typeface="Assistant" panose="00000500000000000000" pitchFamily="2" charset="-79"/>
              </a:rPr>
              <a:t>מצאו חבר או חברה הנמצאים באותו שלב בלמידה. לא מצאתם? תוכלו לבצע את המשימה לבד.</a:t>
            </a:r>
          </a:p>
          <a:p>
            <a:pPr marL="457200" lvl="0" indent="-457200">
              <a:lnSpc>
                <a:spcPct val="115000"/>
              </a:lnSpc>
              <a:spcAft>
                <a:spcPts val="700"/>
              </a:spcAft>
              <a:buAutoNum type="arabicPeriod"/>
            </a:pPr>
            <a:r>
              <a:rPr lang="he-IL" sz="2000">
                <a:latin typeface="Assistant" pitchFamily="2" charset="-79"/>
                <a:cs typeface="Assistant" pitchFamily="2" charset="-79"/>
              </a:rPr>
              <a:t>הסתובבו במרחב הכיתה או צאו אל חצר בית הספר. </a:t>
            </a:r>
          </a:p>
          <a:p>
            <a:pPr marL="457200" lvl="0" indent="-457200">
              <a:lnSpc>
                <a:spcPct val="115000"/>
              </a:lnSpc>
              <a:spcAft>
                <a:spcPts val="700"/>
              </a:spcAft>
              <a:buAutoNum type="arabicPeriod"/>
            </a:pPr>
            <a:r>
              <a:rPr lang="he-IL" sz="2000">
                <a:latin typeface="Assistant" pitchFamily="2" charset="-79"/>
                <a:cs typeface="Assistant" pitchFamily="2" charset="-79"/>
              </a:rPr>
              <a:t>בחרו שני סוגי עצמים במרחב (למשל חלונות ועצים, ילדות וילדים, דלתות ומרצפות, תיקים ומחברות).</a:t>
            </a:r>
          </a:p>
          <a:p>
            <a:pPr marL="457200" lvl="0" indent="-457200">
              <a:lnSpc>
                <a:spcPct val="115000"/>
              </a:lnSpc>
              <a:spcAft>
                <a:spcPts val="700"/>
              </a:spcAft>
              <a:buAutoNum type="arabicPeriod"/>
            </a:pPr>
            <a:r>
              <a:rPr lang="he-IL" sz="2000">
                <a:latin typeface="Assistant" pitchFamily="2" charset="-79"/>
                <a:cs typeface="Assistant" pitchFamily="2" charset="-79"/>
              </a:rPr>
              <a:t>ספרו כמה יחידות יש מכל סוג וכתבו במחברת את היחס ביניהם. </a:t>
            </a:r>
          </a:p>
          <a:p>
            <a:pPr>
              <a:lnSpc>
                <a:spcPct val="115000"/>
              </a:lnSpc>
              <a:spcAft>
                <a:spcPts val="700"/>
              </a:spcAft>
            </a:pPr>
            <a:endParaRPr lang="he-IL" sz="2000">
              <a:latin typeface="Assistant" pitchFamily="2" charset="-79"/>
              <a:cs typeface="Assistant" pitchFamily="2" charset="-79"/>
            </a:endParaRPr>
          </a:p>
          <a:p>
            <a:pPr>
              <a:lnSpc>
                <a:spcPct val="115000"/>
              </a:lnSpc>
              <a:spcAft>
                <a:spcPts val="700"/>
              </a:spcAft>
            </a:pPr>
            <a:r>
              <a:rPr lang="en-US" sz="2000" err="1">
                <a:latin typeface="Assistant" pitchFamily="2" charset="-79"/>
                <a:cs typeface="Assistant" pitchFamily="2" charset="-79"/>
              </a:rPr>
              <a:t>דמיינו</a:t>
            </a:r>
            <a:r>
              <a:rPr lang="en-US" sz="2000">
                <a:latin typeface="Assistant" pitchFamily="2" charset="-79"/>
                <a:cs typeface="Assistant" pitchFamily="2" charset="-79"/>
              </a:rPr>
              <a:t> </a:t>
            </a:r>
            <a:r>
              <a:rPr lang="en-US" sz="2000" err="1">
                <a:latin typeface="Assistant" pitchFamily="2" charset="-79"/>
                <a:cs typeface="Assistant" pitchFamily="2" charset="-79"/>
              </a:rPr>
              <a:t>שנוספו</a:t>
            </a:r>
            <a:r>
              <a:rPr lang="en-US" sz="2000">
                <a:latin typeface="Assistant" pitchFamily="2" charset="-79"/>
                <a:cs typeface="Assistant" pitchFamily="2" charset="-79"/>
              </a:rPr>
              <a:t> </a:t>
            </a:r>
            <a:r>
              <a:rPr lang="en-US" sz="2000" err="1">
                <a:latin typeface="Assistant" pitchFamily="2" charset="-79"/>
                <a:cs typeface="Assistant" pitchFamily="2" charset="-79"/>
              </a:rPr>
              <a:t>למרחב</a:t>
            </a:r>
            <a:r>
              <a:rPr lang="en-US" sz="2000">
                <a:latin typeface="Assistant" pitchFamily="2" charset="-79"/>
                <a:cs typeface="Assistant" pitchFamily="2" charset="-79"/>
              </a:rPr>
              <a:t> </a:t>
            </a:r>
            <a:r>
              <a:rPr lang="he-IL" sz="2000">
                <a:latin typeface="Assistant" pitchFamily="2" charset="-79"/>
                <a:cs typeface="Assistant" pitchFamily="2" charset="-79"/>
              </a:rPr>
              <a:t> 3 </a:t>
            </a:r>
            <a:r>
              <a:rPr lang="en-US" sz="2000">
                <a:latin typeface="Assistant" pitchFamily="2" charset="-79"/>
                <a:cs typeface="Assistant" pitchFamily="2" charset="-79"/>
              </a:rPr>
              <a:t> </a:t>
            </a:r>
            <a:r>
              <a:rPr lang="en-US" sz="2000" err="1">
                <a:latin typeface="Assistant" pitchFamily="2" charset="-79"/>
                <a:cs typeface="Assistant" pitchFamily="2" charset="-79"/>
              </a:rPr>
              <a:t>עצמים</a:t>
            </a:r>
            <a:r>
              <a:rPr lang="en-US" sz="2000">
                <a:latin typeface="Assistant" pitchFamily="2" charset="-79"/>
                <a:cs typeface="Assistant" pitchFamily="2" charset="-79"/>
              </a:rPr>
              <a:t> </a:t>
            </a:r>
            <a:r>
              <a:rPr lang="en-US" sz="2000" err="1">
                <a:latin typeface="Assistant" pitchFamily="2" charset="-79"/>
                <a:cs typeface="Assistant" pitchFamily="2" charset="-79"/>
              </a:rPr>
              <a:t>נוספים</a:t>
            </a:r>
            <a:r>
              <a:rPr lang="en-US" sz="2000">
                <a:latin typeface="Assistant" pitchFamily="2" charset="-79"/>
                <a:cs typeface="Assistant" pitchFamily="2" charset="-79"/>
              </a:rPr>
              <a:t> </a:t>
            </a:r>
            <a:r>
              <a:rPr lang="en-US" sz="2000" err="1">
                <a:latin typeface="Assistant" pitchFamily="2" charset="-79"/>
                <a:cs typeface="Assistant" pitchFamily="2" charset="-79"/>
              </a:rPr>
              <a:t>מהסוג</a:t>
            </a:r>
            <a:r>
              <a:rPr lang="en-US" sz="2000">
                <a:latin typeface="Assistant" pitchFamily="2" charset="-79"/>
                <a:cs typeface="Assistant" pitchFamily="2" charset="-79"/>
              </a:rPr>
              <a:t> </a:t>
            </a:r>
            <a:r>
              <a:rPr lang="en-US" sz="2000" err="1">
                <a:latin typeface="Assistant" pitchFamily="2" charset="-79"/>
                <a:cs typeface="Assistant" pitchFamily="2" charset="-79"/>
              </a:rPr>
              <a:t>הראשון</a:t>
            </a:r>
            <a:r>
              <a:rPr lang="en-US" sz="2000">
                <a:latin typeface="Assistant" pitchFamily="2" charset="-79"/>
                <a:cs typeface="Assistant" pitchFamily="2" charset="-79"/>
              </a:rPr>
              <a:t> </a:t>
            </a:r>
            <a:r>
              <a:rPr lang="en-US" sz="2000" err="1">
                <a:latin typeface="Assistant" pitchFamily="2" charset="-79"/>
                <a:cs typeface="Assistant" pitchFamily="2" charset="-79"/>
              </a:rPr>
              <a:t>שספרתם</a:t>
            </a:r>
            <a:r>
              <a:rPr lang="en-US" sz="2000">
                <a:latin typeface="Assistant" pitchFamily="2" charset="-79"/>
                <a:cs typeface="Assistant" pitchFamily="2" charset="-79"/>
              </a:rPr>
              <a:t> </a:t>
            </a:r>
            <a:r>
              <a:rPr lang="he-IL" sz="2000">
                <a:latin typeface="Assistant" pitchFamily="2" charset="-79"/>
                <a:cs typeface="Assistant" pitchFamily="2" charset="-79"/>
              </a:rPr>
              <a:t>(</a:t>
            </a:r>
            <a:r>
              <a:rPr lang="en-US" sz="2000" err="1">
                <a:latin typeface="Assistant" pitchFamily="2" charset="-79"/>
                <a:cs typeface="Assistant" pitchFamily="2" charset="-79"/>
              </a:rPr>
              <a:t>למשל</a:t>
            </a:r>
            <a:r>
              <a:rPr lang="en-US" sz="2000">
                <a:latin typeface="Assistant" pitchFamily="2" charset="-79"/>
                <a:cs typeface="Assistant" pitchFamily="2" charset="-79"/>
              </a:rPr>
              <a:t> 3 </a:t>
            </a:r>
            <a:r>
              <a:rPr lang="he-IL" sz="2000">
                <a:latin typeface="Assistant" pitchFamily="2" charset="-79"/>
                <a:cs typeface="Assistant" pitchFamily="2" charset="-79"/>
              </a:rPr>
              <a:t> </a:t>
            </a:r>
            <a:r>
              <a:rPr lang="en-US" sz="2000" err="1">
                <a:latin typeface="Assistant" pitchFamily="2" charset="-79"/>
                <a:cs typeface="Assistant" pitchFamily="2" charset="-79"/>
              </a:rPr>
              <a:t>חלונות</a:t>
            </a:r>
            <a:r>
              <a:rPr lang="en-US" sz="2000">
                <a:latin typeface="Assistant" pitchFamily="2" charset="-79"/>
                <a:cs typeface="Assistant" pitchFamily="2" charset="-79"/>
              </a:rPr>
              <a:t> </a:t>
            </a:r>
            <a:r>
              <a:rPr lang="en-US" sz="2000" err="1">
                <a:latin typeface="Assistant" pitchFamily="2" charset="-79"/>
                <a:cs typeface="Assistant" pitchFamily="2" charset="-79"/>
              </a:rPr>
              <a:t>נוספים</a:t>
            </a:r>
            <a:r>
              <a:rPr lang="he-IL" sz="2000">
                <a:latin typeface="Assistant" pitchFamily="2" charset="-79"/>
                <a:cs typeface="Assistant" pitchFamily="2" charset="-79"/>
              </a:rPr>
              <a:t>). </a:t>
            </a:r>
            <a:endParaRPr lang="en-US" sz="2000">
              <a:latin typeface="Assistant" pitchFamily="2" charset="-79"/>
              <a:cs typeface="Assistant" pitchFamily="2" charset="-79"/>
            </a:endParaRPr>
          </a:p>
          <a:p>
            <a:pPr>
              <a:lnSpc>
                <a:spcPct val="115000"/>
              </a:lnSpc>
              <a:spcAft>
                <a:spcPts val="700"/>
              </a:spcAft>
            </a:pPr>
            <a:r>
              <a:rPr lang="he-IL" sz="2000">
                <a:latin typeface="Assistant" pitchFamily="2" charset="-79"/>
                <a:cs typeface="Assistant" pitchFamily="2" charset="-79"/>
              </a:rPr>
              <a:t>כתבו במחברת: </a:t>
            </a:r>
          </a:p>
          <a:p>
            <a:pPr marL="342900" indent="-342900">
              <a:lnSpc>
                <a:spcPct val="115000"/>
              </a:lnSpc>
              <a:spcAft>
                <a:spcPts val="700"/>
              </a:spcAft>
              <a:buFont typeface="Arial" panose="020B0604020202020204" pitchFamily="34" charset="0"/>
              <a:buChar char="•"/>
            </a:pPr>
            <a:r>
              <a:rPr lang="en-US" sz="2000" err="1">
                <a:latin typeface="Assistant" pitchFamily="2" charset="-79"/>
                <a:cs typeface="Assistant" pitchFamily="2" charset="-79"/>
              </a:rPr>
              <a:t>כמה</a:t>
            </a:r>
            <a:r>
              <a:rPr lang="en-US" sz="2000">
                <a:latin typeface="Assistant" pitchFamily="2" charset="-79"/>
                <a:cs typeface="Assistant" pitchFamily="2" charset="-79"/>
              </a:rPr>
              <a:t> </a:t>
            </a:r>
            <a:r>
              <a:rPr lang="en-US" sz="2000" err="1">
                <a:latin typeface="Assistant" pitchFamily="2" charset="-79"/>
                <a:cs typeface="Assistant" pitchFamily="2" charset="-79"/>
              </a:rPr>
              <a:t>יחידות</a:t>
            </a:r>
            <a:r>
              <a:rPr lang="en-US" sz="2000">
                <a:latin typeface="Assistant" pitchFamily="2" charset="-79"/>
                <a:cs typeface="Assistant" pitchFamily="2" charset="-79"/>
              </a:rPr>
              <a:t> </a:t>
            </a:r>
            <a:r>
              <a:rPr lang="en-US" sz="2000" err="1">
                <a:latin typeface="Assistant" pitchFamily="2" charset="-79"/>
                <a:cs typeface="Assistant" pitchFamily="2" charset="-79"/>
              </a:rPr>
              <a:t>יש</a:t>
            </a:r>
            <a:r>
              <a:rPr lang="en-US" sz="2000">
                <a:latin typeface="Assistant" pitchFamily="2" charset="-79"/>
                <a:cs typeface="Assistant" pitchFamily="2" charset="-79"/>
              </a:rPr>
              <a:t> </a:t>
            </a:r>
            <a:r>
              <a:rPr lang="en-US" sz="2000" err="1">
                <a:latin typeface="Assistant" pitchFamily="2" charset="-79"/>
                <a:cs typeface="Assistant" pitchFamily="2" charset="-79"/>
              </a:rPr>
              <a:t>כעת</a:t>
            </a:r>
            <a:r>
              <a:rPr lang="en-US" sz="2000">
                <a:latin typeface="Assistant" pitchFamily="2" charset="-79"/>
                <a:cs typeface="Assistant" pitchFamily="2" charset="-79"/>
              </a:rPr>
              <a:t> </a:t>
            </a:r>
            <a:r>
              <a:rPr lang="en-US" sz="2000" err="1">
                <a:latin typeface="Assistant" pitchFamily="2" charset="-79"/>
                <a:cs typeface="Assistant" pitchFamily="2" charset="-79"/>
              </a:rPr>
              <a:t>מהסוג</a:t>
            </a:r>
            <a:r>
              <a:rPr lang="en-US" sz="2000">
                <a:latin typeface="Assistant" pitchFamily="2" charset="-79"/>
                <a:cs typeface="Assistant" pitchFamily="2" charset="-79"/>
              </a:rPr>
              <a:t> </a:t>
            </a:r>
            <a:r>
              <a:rPr lang="en-US" sz="2000" err="1">
                <a:latin typeface="Assistant" pitchFamily="2" charset="-79"/>
                <a:cs typeface="Assistant" pitchFamily="2" charset="-79"/>
              </a:rPr>
              <a:t>הראשון</a:t>
            </a:r>
            <a:r>
              <a:rPr lang="en-US" sz="2000">
                <a:latin typeface="Assistant" pitchFamily="2" charset="-79"/>
                <a:cs typeface="Assistant" pitchFamily="2" charset="-79"/>
              </a:rPr>
              <a:t>?</a:t>
            </a:r>
          </a:p>
          <a:p>
            <a:pPr marL="342900" indent="-342900">
              <a:lnSpc>
                <a:spcPct val="115000"/>
              </a:lnSpc>
              <a:spcAft>
                <a:spcPts val="700"/>
              </a:spcAft>
              <a:buFont typeface="Arial" panose="020B0604020202020204" pitchFamily="34" charset="0"/>
              <a:buChar char="•"/>
            </a:pPr>
            <a:r>
              <a:rPr lang="en-US" sz="2000" err="1">
                <a:latin typeface="Assistant" pitchFamily="2" charset="-79"/>
                <a:cs typeface="Assistant" pitchFamily="2" charset="-79"/>
              </a:rPr>
              <a:t>האם</a:t>
            </a:r>
            <a:r>
              <a:rPr lang="en-US" sz="2000">
                <a:latin typeface="Assistant" pitchFamily="2" charset="-79"/>
                <a:cs typeface="Assistant" pitchFamily="2" charset="-79"/>
              </a:rPr>
              <a:t> </a:t>
            </a:r>
            <a:r>
              <a:rPr lang="en-US" sz="2000" err="1">
                <a:latin typeface="Assistant" pitchFamily="2" charset="-79"/>
                <a:cs typeface="Assistant" pitchFamily="2" charset="-79"/>
              </a:rPr>
              <a:t>היחס</a:t>
            </a:r>
            <a:r>
              <a:rPr lang="en-US" sz="2000">
                <a:latin typeface="Assistant" pitchFamily="2" charset="-79"/>
                <a:cs typeface="Assistant" pitchFamily="2" charset="-79"/>
              </a:rPr>
              <a:t> </a:t>
            </a:r>
            <a:r>
              <a:rPr lang="en-US" sz="2000" err="1">
                <a:latin typeface="Assistant" pitchFamily="2" charset="-79"/>
                <a:cs typeface="Assistant" pitchFamily="2" charset="-79"/>
              </a:rPr>
              <a:t>בין</a:t>
            </a:r>
            <a:r>
              <a:rPr lang="en-US" sz="2000">
                <a:latin typeface="Assistant" pitchFamily="2" charset="-79"/>
                <a:cs typeface="Assistant" pitchFamily="2" charset="-79"/>
              </a:rPr>
              <a:t> שני </a:t>
            </a:r>
            <a:r>
              <a:rPr lang="en-US" sz="2000" err="1">
                <a:latin typeface="Assistant" pitchFamily="2" charset="-79"/>
                <a:cs typeface="Assistant" pitchFamily="2" charset="-79"/>
              </a:rPr>
              <a:t>הסוגים</a:t>
            </a:r>
            <a:r>
              <a:rPr lang="en-US" sz="2000">
                <a:latin typeface="Assistant" pitchFamily="2" charset="-79"/>
                <a:cs typeface="Assistant" pitchFamily="2" charset="-79"/>
              </a:rPr>
              <a:t> </a:t>
            </a:r>
            <a:r>
              <a:rPr lang="en-US" sz="2000" err="1">
                <a:latin typeface="Assistant" pitchFamily="2" charset="-79"/>
                <a:cs typeface="Assistant" pitchFamily="2" charset="-79"/>
              </a:rPr>
              <a:t>נשאר</a:t>
            </a:r>
            <a:r>
              <a:rPr lang="en-US" sz="2000">
                <a:latin typeface="Assistant" pitchFamily="2" charset="-79"/>
                <a:cs typeface="Assistant" pitchFamily="2" charset="-79"/>
              </a:rPr>
              <a:t> </a:t>
            </a:r>
            <a:r>
              <a:rPr lang="en-US" sz="2000" err="1">
                <a:latin typeface="Assistant" pitchFamily="2" charset="-79"/>
                <a:cs typeface="Assistant" pitchFamily="2" charset="-79"/>
              </a:rPr>
              <a:t>אותו</a:t>
            </a:r>
            <a:r>
              <a:rPr lang="en-US" sz="2000">
                <a:latin typeface="Assistant" pitchFamily="2" charset="-79"/>
                <a:cs typeface="Assistant" pitchFamily="2" charset="-79"/>
              </a:rPr>
              <a:t> </a:t>
            </a:r>
            <a:r>
              <a:rPr lang="en-US" sz="2000" err="1">
                <a:latin typeface="Assistant" pitchFamily="2" charset="-79"/>
                <a:cs typeface="Assistant" pitchFamily="2" charset="-79"/>
              </a:rPr>
              <a:t>יחס</a:t>
            </a:r>
            <a:r>
              <a:rPr lang="en-US" sz="2000">
                <a:latin typeface="Assistant" pitchFamily="2" charset="-79"/>
                <a:cs typeface="Assistant" pitchFamily="2" charset="-79"/>
              </a:rPr>
              <a:t> </a:t>
            </a:r>
            <a:r>
              <a:rPr lang="en-US" sz="2000" err="1">
                <a:latin typeface="Assistant" pitchFamily="2" charset="-79"/>
                <a:cs typeface="Assistant" pitchFamily="2" charset="-79"/>
              </a:rPr>
              <a:t>שרשמתם</a:t>
            </a:r>
            <a:r>
              <a:rPr lang="en-US" sz="2000">
                <a:latin typeface="Assistant" pitchFamily="2" charset="-79"/>
                <a:cs typeface="Assistant" pitchFamily="2" charset="-79"/>
              </a:rPr>
              <a:t> </a:t>
            </a:r>
            <a:r>
              <a:rPr lang="en-US" sz="2000" err="1">
                <a:latin typeface="Assistant" pitchFamily="2" charset="-79"/>
                <a:cs typeface="Assistant" pitchFamily="2" charset="-79"/>
              </a:rPr>
              <a:t>קודם</a:t>
            </a:r>
            <a:r>
              <a:rPr lang="he-IL" sz="2000">
                <a:latin typeface="Assistant" pitchFamily="2" charset="-79"/>
                <a:cs typeface="Assistant" pitchFamily="2" charset="-79"/>
              </a:rPr>
              <a:t>?</a:t>
            </a:r>
            <a:r>
              <a:rPr lang="en-US" sz="2000">
                <a:latin typeface="Assistant" pitchFamily="2" charset="-79"/>
                <a:cs typeface="Assistant" pitchFamily="2" charset="-79"/>
              </a:rPr>
              <a:t> </a:t>
            </a:r>
            <a:r>
              <a:rPr lang="he-IL" sz="2000">
                <a:latin typeface="Assistant" pitchFamily="2" charset="-79"/>
                <a:cs typeface="Assistant" pitchFamily="2" charset="-79"/>
              </a:rPr>
              <a:t> </a:t>
            </a:r>
            <a:r>
              <a:rPr lang="en-US" sz="2000" err="1">
                <a:latin typeface="Assistant" pitchFamily="2" charset="-79"/>
                <a:cs typeface="Assistant" pitchFamily="2" charset="-79"/>
              </a:rPr>
              <a:t>אם</a:t>
            </a:r>
            <a:r>
              <a:rPr lang="en-US" sz="2000">
                <a:latin typeface="Assistant" pitchFamily="2" charset="-79"/>
                <a:cs typeface="Assistant" pitchFamily="2" charset="-79"/>
              </a:rPr>
              <a:t> </a:t>
            </a:r>
            <a:r>
              <a:rPr lang="en-US" sz="2000" err="1">
                <a:latin typeface="Assistant" pitchFamily="2" charset="-79"/>
                <a:cs typeface="Assistant" pitchFamily="2" charset="-79"/>
              </a:rPr>
              <a:t>לא</a:t>
            </a:r>
            <a:r>
              <a:rPr lang="he-IL" sz="2000">
                <a:latin typeface="Assistant" pitchFamily="2" charset="-79"/>
                <a:cs typeface="Assistant" pitchFamily="2" charset="-79"/>
              </a:rPr>
              <a:t> - </a:t>
            </a:r>
            <a:r>
              <a:rPr lang="en-US" sz="2000" err="1">
                <a:latin typeface="Assistant" pitchFamily="2" charset="-79"/>
                <a:cs typeface="Assistant" pitchFamily="2" charset="-79"/>
              </a:rPr>
              <a:t>כתבו</a:t>
            </a:r>
            <a:r>
              <a:rPr lang="en-US" sz="2000">
                <a:latin typeface="Assistant" pitchFamily="2" charset="-79"/>
                <a:cs typeface="Assistant" pitchFamily="2" charset="-79"/>
              </a:rPr>
              <a:t> </a:t>
            </a:r>
            <a:r>
              <a:rPr lang="en-US" sz="2000" err="1">
                <a:latin typeface="Assistant" pitchFamily="2" charset="-79"/>
                <a:cs typeface="Assistant" pitchFamily="2" charset="-79"/>
              </a:rPr>
              <a:t>את</a:t>
            </a:r>
            <a:r>
              <a:rPr lang="en-US" sz="2000">
                <a:latin typeface="Assistant" pitchFamily="2" charset="-79"/>
                <a:cs typeface="Assistant" pitchFamily="2" charset="-79"/>
              </a:rPr>
              <a:t> </a:t>
            </a:r>
            <a:r>
              <a:rPr lang="en-US" sz="2000" err="1">
                <a:latin typeface="Assistant" pitchFamily="2" charset="-79"/>
                <a:cs typeface="Assistant" pitchFamily="2" charset="-79"/>
              </a:rPr>
              <a:t>היחס</a:t>
            </a:r>
            <a:r>
              <a:rPr lang="en-US" sz="2000">
                <a:latin typeface="Assistant" pitchFamily="2" charset="-79"/>
                <a:cs typeface="Assistant" pitchFamily="2" charset="-79"/>
              </a:rPr>
              <a:t> </a:t>
            </a:r>
            <a:r>
              <a:rPr lang="en-US" sz="2000" err="1">
                <a:latin typeface="Assistant" pitchFamily="2" charset="-79"/>
                <a:cs typeface="Assistant" pitchFamily="2" charset="-79"/>
              </a:rPr>
              <a:t>החדש</a:t>
            </a:r>
            <a:r>
              <a:rPr lang="en-US" sz="2000">
                <a:latin typeface="Assistant" pitchFamily="2" charset="-79"/>
                <a:cs typeface="Assistant" pitchFamily="2" charset="-79"/>
              </a:rPr>
              <a:t>.</a:t>
            </a:r>
          </a:p>
          <a:p>
            <a:pPr marL="342900" indent="-342900">
              <a:lnSpc>
                <a:spcPct val="115000"/>
              </a:lnSpc>
              <a:spcAft>
                <a:spcPts val="700"/>
              </a:spcAft>
              <a:buFont typeface="Arial" panose="020B0604020202020204" pitchFamily="34" charset="0"/>
              <a:buChar char="•"/>
            </a:pPr>
            <a:r>
              <a:rPr lang="en-US" sz="2000" err="1">
                <a:latin typeface="Assistant" pitchFamily="2" charset="-79"/>
                <a:cs typeface="Assistant" pitchFamily="2" charset="-79"/>
              </a:rPr>
              <a:t>כמה</a:t>
            </a:r>
            <a:r>
              <a:rPr lang="en-US" sz="2000">
                <a:latin typeface="Assistant" pitchFamily="2" charset="-79"/>
                <a:cs typeface="Assistant" pitchFamily="2" charset="-79"/>
              </a:rPr>
              <a:t> </a:t>
            </a:r>
            <a:r>
              <a:rPr lang="en-US" sz="2000" err="1">
                <a:latin typeface="Assistant" pitchFamily="2" charset="-79"/>
                <a:cs typeface="Assistant" pitchFamily="2" charset="-79"/>
              </a:rPr>
              <a:t>יחידות</a:t>
            </a:r>
            <a:r>
              <a:rPr lang="en-US" sz="2000">
                <a:latin typeface="Assistant" pitchFamily="2" charset="-79"/>
                <a:cs typeface="Assistant" pitchFamily="2" charset="-79"/>
              </a:rPr>
              <a:t> </a:t>
            </a:r>
            <a:r>
              <a:rPr lang="en-US" sz="2000" err="1">
                <a:latin typeface="Assistant" pitchFamily="2" charset="-79"/>
                <a:cs typeface="Assistant" pitchFamily="2" charset="-79"/>
              </a:rPr>
              <a:t>מהסוג</a:t>
            </a:r>
            <a:r>
              <a:rPr lang="en-US" sz="2000">
                <a:latin typeface="Assistant" pitchFamily="2" charset="-79"/>
                <a:cs typeface="Assistant" pitchFamily="2" charset="-79"/>
              </a:rPr>
              <a:t> </a:t>
            </a:r>
            <a:r>
              <a:rPr lang="en-US" sz="2000" err="1">
                <a:latin typeface="Assistant" pitchFamily="2" charset="-79"/>
                <a:cs typeface="Assistant" pitchFamily="2" charset="-79"/>
              </a:rPr>
              <a:t>השני</a:t>
            </a:r>
            <a:r>
              <a:rPr lang="en-US" sz="2000">
                <a:latin typeface="Assistant" pitchFamily="2" charset="-79"/>
                <a:cs typeface="Assistant" pitchFamily="2" charset="-79"/>
              </a:rPr>
              <a:t> </a:t>
            </a:r>
            <a:r>
              <a:rPr lang="en-US" sz="2000" err="1">
                <a:latin typeface="Assistant" pitchFamily="2" charset="-79"/>
                <a:cs typeface="Assistant" pitchFamily="2" charset="-79"/>
              </a:rPr>
              <a:t>היו</a:t>
            </a:r>
            <a:r>
              <a:rPr lang="en-US" sz="2000">
                <a:latin typeface="Assistant" pitchFamily="2" charset="-79"/>
                <a:cs typeface="Assistant" pitchFamily="2" charset="-79"/>
              </a:rPr>
              <a:t> </a:t>
            </a:r>
            <a:r>
              <a:rPr lang="en-US" sz="2000" err="1">
                <a:latin typeface="Assistant" pitchFamily="2" charset="-79"/>
                <a:cs typeface="Assistant" pitchFamily="2" charset="-79"/>
              </a:rPr>
              <a:t>צריכות</a:t>
            </a:r>
            <a:r>
              <a:rPr lang="en-US" sz="2000">
                <a:latin typeface="Assistant" pitchFamily="2" charset="-79"/>
                <a:cs typeface="Assistant" pitchFamily="2" charset="-79"/>
              </a:rPr>
              <a:t> </a:t>
            </a:r>
            <a:r>
              <a:rPr lang="en-US" sz="2000" err="1">
                <a:latin typeface="Assistant" pitchFamily="2" charset="-79"/>
                <a:cs typeface="Assistant" pitchFamily="2" charset="-79"/>
              </a:rPr>
              <a:t>להתווסף</a:t>
            </a:r>
            <a:r>
              <a:rPr lang="en-US" sz="2000">
                <a:latin typeface="Assistant" pitchFamily="2" charset="-79"/>
                <a:cs typeface="Assistant" pitchFamily="2" charset="-79"/>
              </a:rPr>
              <a:t> </a:t>
            </a:r>
            <a:r>
              <a:rPr lang="en-US" sz="2000" err="1">
                <a:latin typeface="Assistant" pitchFamily="2" charset="-79"/>
                <a:cs typeface="Assistant" pitchFamily="2" charset="-79"/>
              </a:rPr>
              <a:t>כדי</a:t>
            </a:r>
            <a:r>
              <a:rPr lang="en-US" sz="2000">
                <a:latin typeface="Assistant" pitchFamily="2" charset="-79"/>
                <a:cs typeface="Assistant" pitchFamily="2" charset="-79"/>
              </a:rPr>
              <a:t> </a:t>
            </a:r>
            <a:r>
              <a:rPr lang="en-US" sz="2000" err="1">
                <a:latin typeface="Assistant" pitchFamily="2" charset="-79"/>
                <a:cs typeface="Assistant" pitchFamily="2" charset="-79"/>
              </a:rPr>
              <a:t>לשמור</a:t>
            </a:r>
            <a:r>
              <a:rPr lang="en-US" sz="2000">
                <a:latin typeface="Assistant" pitchFamily="2" charset="-79"/>
                <a:cs typeface="Assistant" pitchFamily="2" charset="-79"/>
              </a:rPr>
              <a:t> </a:t>
            </a:r>
            <a:r>
              <a:rPr lang="en-US" sz="2000" err="1">
                <a:latin typeface="Assistant" pitchFamily="2" charset="-79"/>
                <a:cs typeface="Assistant" pitchFamily="2" charset="-79"/>
              </a:rPr>
              <a:t>בדיוק</a:t>
            </a:r>
            <a:r>
              <a:rPr lang="en-US" sz="2000">
                <a:latin typeface="Assistant" pitchFamily="2" charset="-79"/>
                <a:cs typeface="Assistant" pitchFamily="2" charset="-79"/>
              </a:rPr>
              <a:t> </a:t>
            </a:r>
            <a:r>
              <a:rPr lang="en-US" sz="2000" err="1">
                <a:latin typeface="Assistant" pitchFamily="2" charset="-79"/>
                <a:cs typeface="Assistant" pitchFamily="2" charset="-79"/>
              </a:rPr>
              <a:t>על</a:t>
            </a:r>
            <a:r>
              <a:rPr lang="en-US" sz="2000">
                <a:latin typeface="Assistant" pitchFamily="2" charset="-79"/>
                <a:cs typeface="Assistant" pitchFamily="2" charset="-79"/>
              </a:rPr>
              <a:t> </a:t>
            </a:r>
            <a:r>
              <a:rPr lang="en-US" sz="2000" err="1">
                <a:latin typeface="Assistant" pitchFamily="2" charset="-79"/>
                <a:cs typeface="Assistant" pitchFamily="2" charset="-79"/>
              </a:rPr>
              <a:t>היחס</a:t>
            </a:r>
            <a:r>
              <a:rPr lang="en-US" sz="2000">
                <a:latin typeface="Assistant" pitchFamily="2" charset="-79"/>
                <a:cs typeface="Assistant" pitchFamily="2" charset="-79"/>
              </a:rPr>
              <a:t> </a:t>
            </a:r>
            <a:r>
              <a:rPr lang="en-US" sz="2000" err="1">
                <a:latin typeface="Assistant" pitchFamily="2" charset="-79"/>
                <a:cs typeface="Assistant" pitchFamily="2" charset="-79"/>
              </a:rPr>
              <a:t>המקורי</a:t>
            </a:r>
            <a:r>
              <a:rPr lang="en-US" sz="2000">
                <a:latin typeface="Assistant" pitchFamily="2" charset="-79"/>
                <a:cs typeface="Assistant" pitchFamily="2" charset="-79"/>
              </a:rPr>
              <a:t>?</a:t>
            </a:r>
          </a:p>
          <a:p>
            <a:pPr marL="457200" lvl="0" indent="-457200">
              <a:lnSpc>
                <a:spcPct val="115000"/>
              </a:lnSpc>
              <a:spcAft>
                <a:spcPts val="700"/>
              </a:spcAft>
              <a:buAutoNum type="arabicPeriod"/>
            </a:pPr>
            <a:endParaRPr lang="he-IL" sz="2000">
              <a:latin typeface="Assistant" pitchFamily="2" charset="-79"/>
              <a:cs typeface="Assistant" pitchFamily="2" charset="-79"/>
            </a:endParaRPr>
          </a:p>
          <a:p>
            <a:pPr marL="457200" lvl="0" indent="-457200">
              <a:lnSpc>
                <a:spcPct val="115000"/>
              </a:lnSpc>
              <a:spcAft>
                <a:spcPts val="700"/>
              </a:spcAft>
              <a:buAutoNum type="arabicPeriod"/>
            </a:pPr>
            <a:endParaRPr lang="he-IL" sz="2000">
              <a:latin typeface="Assistant" pitchFamily="2" charset="-79"/>
              <a:cs typeface="Assistant" pitchFamily="2" charset="-79"/>
            </a:endParaRPr>
          </a:p>
        </p:txBody>
      </p:sp>
      <p:pic>
        <p:nvPicPr>
          <p:cNvPr id="4" name="תמונה 8">
            <a:extLst>
              <a:ext uri="{FF2B5EF4-FFF2-40B4-BE49-F238E27FC236}">
                <a16:creationId xmlns:a16="http://schemas.microsoft.com/office/drawing/2014/main" id="{6193C68B-C8C0-BD22-B5FB-EDD810F6A20D}"/>
              </a:ext>
            </a:extLst>
          </p:cNvPr>
          <p:cNvPicPr>
            <a:picLocks noChangeAspect="1"/>
          </p:cNvPicPr>
          <p:nvPr/>
        </p:nvPicPr>
        <p:blipFill>
          <a:blip r:embed="rId5" cstate="email">
            <a:extLst>
              <a:ext uri="{28A0092B-C50C-407E-A947-70E740481C1C}">
                <a14:useLocalDpi xmlns:a14="http://schemas.microsoft.com/office/drawing/2010/main"/>
              </a:ext>
            </a:extLst>
          </a:blip>
          <a:srcRect/>
          <a:stretch/>
        </p:blipFill>
        <p:spPr>
          <a:xfrm>
            <a:off x="451120" y="2963413"/>
            <a:ext cx="2224674" cy="2815081"/>
          </a:xfrm>
          <a:prstGeom prst="rect">
            <a:avLst/>
          </a:prstGeom>
        </p:spPr>
      </p:pic>
      <p:sp>
        <p:nvSpPr>
          <p:cNvPr id="11" name="בועת דיבור: מלבן 13">
            <a:extLst>
              <a:ext uri="{FF2B5EF4-FFF2-40B4-BE49-F238E27FC236}">
                <a16:creationId xmlns:a16="http://schemas.microsoft.com/office/drawing/2014/main" id="{A1BA6794-A33A-E5AF-1B6A-E10B10A799F2}"/>
              </a:ext>
            </a:extLst>
          </p:cNvPr>
          <p:cNvSpPr/>
          <p:nvPr/>
        </p:nvSpPr>
        <p:spPr>
          <a:xfrm>
            <a:off x="192984" y="1879124"/>
            <a:ext cx="1692428" cy="707887"/>
          </a:xfrm>
          <a:prstGeom prst="wedgeRectCallout">
            <a:avLst>
              <a:gd name="adj1" fmla="val 24683"/>
              <a:gd name="adj2" fmla="val 101982"/>
            </a:avLst>
          </a:prstGeom>
          <a:noFill/>
          <a:ln w="28575">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he-IL">
                <a:solidFill>
                  <a:sysClr val="windowText" lastClr="000000"/>
                </a:solidFill>
                <a:latin typeface="Assistant" pitchFamily="2" charset="-79"/>
                <a:cs typeface="Assistant" pitchFamily="2" charset="-79"/>
              </a:rPr>
              <a:t>כמה חלונות יש בקומה שלנו?</a:t>
            </a:r>
            <a:endParaRPr lang="en-US">
              <a:solidFill>
                <a:sysClr val="windowText" lastClr="000000"/>
              </a:solidFill>
              <a:latin typeface="Assistant" pitchFamily="2" charset="-79"/>
              <a:cs typeface="Assistant" pitchFamily="2" charset="-79"/>
            </a:endParaRPr>
          </a:p>
        </p:txBody>
      </p:sp>
    </p:spTree>
    <p:extLst>
      <p:ext uri="{BB962C8B-B14F-4D97-AF65-F5344CB8AC3E}">
        <p14:creationId xmlns:p14="http://schemas.microsoft.com/office/powerpoint/2010/main" val="3958449781"/>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CCFBB2-FFE0-7FAC-2F44-9D58241769AC}"/>
            </a:ext>
          </a:extLst>
        </p:cNvPr>
        <p:cNvGrpSpPr/>
        <p:nvPr/>
      </p:nvGrpSpPr>
      <p:grpSpPr>
        <a:xfrm>
          <a:off x="0" y="0"/>
          <a:ext cx="0" cy="0"/>
          <a:chOff x="0" y="0"/>
          <a:chExt cx="0" cy="0"/>
        </a:xfrm>
      </p:grpSpPr>
      <p:pic>
        <p:nvPicPr>
          <p:cNvPr id="5" name="תמונה 3">
            <a:extLst>
              <a:ext uri="{FF2B5EF4-FFF2-40B4-BE49-F238E27FC236}">
                <a16:creationId xmlns:a16="http://schemas.microsoft.com/office/drawing/2014/main" id="{B2B94DF4-3DD8-AEF5-DB7C-7EA0BE57C056}"/>
              </a:ext>
            </a:extLst>
          </p:cNvPr>
          <p:cNvPicPr>
            <a:picLocks noChangeAspect="1"/>
          </p:cNvPicPr>
          <p:nvPr/>
        </p:nvPicPr>
        <p:blipFill>
          <a:blip r:embed="rId3">
            <a:extLst>
              <a:ext uri="{28A0092B-C50C-407E-A947-70E740481C1C}">
                <a14:useLocalDpi xmlns:a14="http://schemas.microsoft.com/office/drawing/2010/main"/>
              </a:ext>
            </a:extLst>
          </a:blip>
          <a:stretch>
            <a:fillRect/>
          </a:stretch>
        </p:blipFill>
        <p:spPr>
          <a:xfrm>
            <a:off x="192984" y="6124170"/>
            <a:ext cx="1777778" cy="607148"/>
          </a:xfrm>
          <a:prstGeom prst="rect">
            <a:avLst/>
          </a:prstGeom>
        </p:spPr>
      </p:pic>
      <p:pic>
        <p:nvPicPr>
          <p:cNvPr id="6" name="Picture 5">
            <a:extLst>
              <a:ext uri="{FF2B5EF4-FFF2-40B4-BE49-F238E27FC236}">
                <a16:creationId xmlns:a16="http://schemas.microsoft.com/office/drawing/2014/main" id="{66E4E058-4D06-9D1B-84E4-79F4C83A6F2A}"/>
              </a:ext>
            </a:extLst>
          </p:cNvPr>
          <p:cNvPicPr>
            <a:picLocks noChangeAspect="1"/>
          </p:cNvPicPr>
          <p:nvPr/>
        </p:nvPicPr>
        <p:blipFill>
          <a:blip r:embed="rId4"/>
          <a:stretch>
            <a:fillRect/>
          </a:stretch>
        </p:blipFill>
        <p:spPr>
          <a:xfrm>
            <a:off x="10371417" y="6124170"/>
            <a:ext cx="1820583" cy="622831"/>
          </a:xfrm>
          <a:prstGeom prst="rect">
            <a:avLst/>
          </a:prstGeom>
        </p:spPr>
      </p:pic>
      <p:cxnSp>
        <p:nvCxnSpPr>
          <p:cNvPr id="7" name="מחבר ישר 4">
            <a:extLst>
              <a:ext uri="{FF2B5EF4-FFF2-40B4-BE49-F238E27FC236}">
                <a16:creationId xmlns:a16="http://schemas.microsoft.com/office/drawing/2014/main" id="{464307E0-0A1F-4DE9-CC55-377E8DAA6B5A}"/>
              </a:ext>
            </a:extLst>
          </p:cNvPr>
          <p:cNvCxnSpPr>
            <a:cxnSpLocks/>
          </p:cNvCxnSpPr>
          <p:nvPr/>
        </p:nvCxnSpPr>
        <p:spPr>
          <a:xfrm>
            <a:off x="0" y="6079252"/>
            <a:ext cx="12192000" cy="0"/>
          </a:xfrm>
          <a:prstGeom prst="line">
            <a:avLst/>
          </a:prstGeom>
          <a:ln>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8" name="תיבת טקסט 5">
            <a:extLst>
              <a:ext uri="{FF2B5EF4-FFF2-40B4-BE49-F238E27FC236}">
                <a16:creationId xmlns:a16="http://schemas.microsoft.com/office/drawing/2014/main" id="{F1A94DC0-E733-C0FF-9009-B62CE0D51216}"/>
              </a:ext>
            </a:extLst>
          </p:cNvPr>
          <p:cNvSpPr txBox="1"/>
          <p:nvPr/>
        </p:nvSpPr>
        <p:spPr>
          <a:xfrm>
            <a:off x="740900" y="424804"/>
            <a:ext cx="11176773" cy="707886"/>
          </a:xfrm>
          <a:prstGeom prst="rect">
            <a:avLst/>
          </a:prstGeom>
          <a:noFill/>
        </p:spPr>
        <p:txBody>
          <a:bodyPr wrap="square" rtlCol="0">
            <a:spAutoFit/>
          </a:bodyPr>
          <a:lstStyle/>
          <a:p>
            <a:pPr algn="ctr"/>
            <a:r>
              <a:rPr lang="he-IL" sz="4000" b="1">
                <a:latin typeface="Assistant" pitchFamily="2" charset="-79"/>
                <a:cs typeface="Assistant" pitchFamily="2" charset="-79"/>
              </a:rPr>
              <a:t>משימת כיתה</a:t>
            </a:r>
            <a:endParaRPr lang="LID4096" sz="4000" b="1">
              <a:latin typeface="Assistant" pitchFamily="2" charset="-79"/>
              <a:cs typeface="Assistant" pitchFamily="2" charset="-79"/>
            </a:endParaRPr>
          </a:p>
        </p:txBody>
      </p:sp>
      <p:sp>
        <p:nvSpPr>
          <p:cNvPr id="13" name="תיבת טקסט 5">
            <a:extLst>
              <a:ext uri="{FF2B5EF4-FFF2-40B4-BE49-F238E27FC236}">
                <a16:creationId xmlns:a16="http://schemas.microsoft.com/office/drawing/2014/main" id="{525314C2-E00A-D6AD-F75D-969D45B2EB38}"/>
              </a:ext>
            </a:extLst>
          </p:cNvPr>
          <p:cNvSpPr txBox="1"/>
          <p:nvPr/>
        </p:nvSpPr>
        <p:spPr>
          <a:xfrm>
            <a:off x="8085221" y="1286643"/>
            <a:ext cx="3565254" cy="425309"/>
          </a:xfrm>
          <a:prstGeom prst="rect">
            <a:avLst/>
          </a:prstGeom>
          <a:noFill/>
        </p:spPr>
        <p:txBody>
          <a:bodyPr wrap="square" rtlCol="0">
            <a:spAutoFit/>
          </a:bodyPr>
          <a:lstStyle/>
          <a:p>
            <a:pPr lvl="0">
              <a:lnSpc>
                <a:spcPct val="115000"/>
              </a:lnSpc>
              <a:spcAft>
                <a:spcPts val="700"/>
              </a:spcAft>
            </a:pPr>
            <a:r>
              <a:rPr lang="he-IL" sz="2000">
                <a:latin typeface="Assistant" pitchFamily="2" charset="-79"/>
                <a:cs typeface="Assistant" pitchFamily="2" charset="-79"/>
              </a:rPr>
              <a:t>אילו עצמים או חפצים בחרת?</a:t>
            </a:r>
          </a:p>
        </p:txBody>
      </p:sp>
      <p:pic>
        <p:nvPicPr>
          <p:cNvPr id="4" name="תמונה 8">
            <a:extLst>
              <a:ext uri="{FF2B5EF4-FFF2-40B4-BE49-F238E27FC236}">
                <a16:creationId xmlns:a16="http://schemas.microsoft.com/office/drawing/2014/main" id="{E6DFBE19-0F04-0F96-9785-4821429AAF2A}"/>
              </a:ext>
            </a:extLst>
          </p:cNvPr>
          <p:cNvPicPr>
            <a:picLocks noChangeAspect="1"/>
          </p:cNvPicPr>
          <p:nvPr/>
        </p:nvPicPr>
        <p:blipFill>
          <a:blip r:embed="rId5" cstate="email">
            <a:extLst>
              <a:ext uri="{28A0092B-C50C-407E-A947-70E740481C1C}">
                <a14:useLocalDpi xmlns:a14="http://schemas.microsoft.com/office/drawing/2010/main"/>
              </a:ext>
            </a:extLst>
          </a:blip>
          <a:srcRect/>
          <a:stretch/>
        </p:blipFill>
        <p:spPr>
          <a:xfrm>
            <a:off x="451120" y="2963413"/>
            <a:ext cx="2224674" cy="2815081"/>
          </a:xfrm>
          <a:prstGeom prst="rect">
            <a:avLst/>
          </a:prstGeom>
        </p:spPr>
      </p:pic>
      <p:sp>
        <p:nvSpPr>
          <p:cNvPr id="11" name="בועת דיבור: מלבן 13">
            <a:extLst>
              <a:ext uri="{FF2B5EF4-FFF2-40B4-BE49-F238E27FC236}">
                <a16:creationId xmlns:a16="http://schemas.microsoft.com/office/drawing/2014/main" id="{AD98DC52-E4B3-3500-5227-8A0A6D218AA0}"/>
              </a:ext>
            </a:extLst>
          </p:cNvPr>
          <p:cNvSpPr/>
          <p:nvPr/>
        </p:nvSpPr>
        <p:spPr>
          <a:xfrm>
            <a:off x="1733026" y="2011312"/>
            <a:ext cx="1692428" cy="707887"/>
          </a:xfrm>
          <a:prstGeom prst="wedgeRectCallout">
            <a:avLst>
              <a:gd name="adj1" fmla="val -35033"/>
              <a:gd name="adj2" fmla="val 134275"/>
            </a:avLst>
          </a:prstGeom>
          <a:noFill/>
          <a:ln w="28575">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he-IL">
                <a:solidFill>
                  <a:sysClr val="windowText" lastClr="000000"/>
                </a:solidFill>
                <a:latin typeface="Assistant" pitchFamily="2" charset="-79"/>
                <a:cs typeface="Assistant" pitchFamily="2" charset="-79"/>
              </a:rPr>
              <a:t>הופה! אילו דברים מגניבים בחרת!</a:t>
            </a:r>
            <a:r>
              <a:rPr lang="en-US">
                <a:solidFill>
                  <a:sysClr val="windowText" lastClr="000000"/>
                </a:solidFill>
                <a:latin typeface="Assistant" pitchFamily="2" charset="-79"/>
                <a:cs typeface="Assistant" pitchFamily="2" charset="-79"/>
              </a:rPr>
              <a:t> </a:t>
            </a:r>
          </a:p>
        </p:txBody>
      </p:sp>
      <p:sp>
        <p:nvSpPr>
          <p:cNvPr id="3" name="מלבן: פינות מעוגלות 9">
            <a:extLst>
              <a:ext uri="{FF2B5EF4-FFF2-40B4-BE49-F238E27FC236}">
                <a16:creationId xmlns:a16="http://schemas.microsoft.com/office/drawing/2014/main" id="{ADFE3D48-0CED-FD86-3CC5-67C755DFEFC5}"/>
              </a:ext>
            </a:extLst>
          </p:cNvPr>
          <p:cNvSpPr/>
          <p:nvPr/>
        </p:nvSpPr>
        <p:spPr>
          <a:xfrm>
            <a:off x="6489893" y="1901575"/>
            <a:ext cx="2163739" cy="526581"/>
          </a:xfrm>
          <a:prstGeom prst="roundRect">
            <a:avLst>
              <a:gd name="adj" fmla="val 1764"/>
            </a:avLst>
          </a:prstGeom>
          <a:noFill/>
          <a:ln w="12700">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LID4096" sz="2000">
              <a:solidFill>
                <a:schemeClr val="tx1"/>
              </a:solidFill>
            </a:endParaRPr>
          </a:p>
        </p:txBody>
      </p:sp>
      <p:sp>
        <p:nvSpPr>
          <p:cNvPr id="12" name="מלבן: פינות מעוגלות 9">
            <a:extLst>
              <a:ext uri="{FF2B5EF4-FFF2-40B4-BE49-F238E27FC236}">
                <a16:creationId xmlns:a16="http://schemas.microsoft.com/office/drawing/2014/main" id="{A7D24FFA-B8AA-0F2A-B489-ECAE3B0289E5}"/>
              </a:ext>
            </a:extLst>
          </p:cNvPr>
          <p:cNvSpPr/>
          <p:nvPr/>
        </p:nvSpPr>
        <p:spPr>
          <a:xfrm>
            <a:off x="9377104" y="1901868"/>
            <a:ext cx="2163739" cy="526581"/>
          </a:xfrm>
          <a:prstGeom prst="roundRect">
            <a:avLst>
              <a:gd name="adj" fmla="val 1764"/>
            </a:avLst>
          </a:prstGeom>
          <a:noFill/>
          <a:ln w="12700">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LID4096" sz="2000">
              <a:solidFill>
                <a:schemeClr val="tx1"/>
              </a:solidFill>
            </a:endParaRPr>
          </a:p>
        </p:txBody>
      </p:sp>
      <p:sp>
        <p:nvSpPr>
          <p:cNvPr id="15" name="תיבת טקסט 5">
            <a:extLst>
              <a:ext uri="{FF2B5EF4-FFF2-40B4-BE49-F238E27FC236}">
                <a16:creationId xmlns:a16="http://schemas.microsoft.com/office/drawing/2014/main" id="{E9E3F4AB-9E77-6897-55FF-E84DA96598E2}"/>
              </a:ext>
            </a:extLst>
          </p:cNvPr>
          <p:cNvSpPr txBox="1"/>
          <p:nvPr/>
        </p:nvSpPr>
        <p:spPr>
          <a:xfrm>
            <a:off x="8085221" y="2782117"/>
            <a:ext cx="3565254" cy="425309"/>
          </a:xfrm>
          <a:prstGeom prst="rect">
            <a:avLst/>
          </a:prstGeom>
          <a:noFill/>
        </p:spPr>
        <p:txBody>
          <a:bodyPr wrap="square" rtlCol="0">
            <a:spAutoFit/>
          </a:bodyPr>
          <a:lstStyle/>
          <a:p>
            <a:pPr lvl="0">
              <a:lnSpc>
                <a:spcPct val="115000"/>
              </a:lnSpc>
              <a:spcAft>
                <a:spcPts val="700"/>
              </a:spcAft>
            </a:pPr>
            <a:r>
              <a:rPr lang="he-IL" sz="2000">
                <a:latin typeface="Assistant" pitchFamily="2" charset="-79"/>
                <a:cs typeface="Assistant" pitchFamily="2" charset="-79"/>
              </a:rPr>
              <a:t>היחס הראשון ביניהם היה: </a:t>
            </a:r>
          </a:p>
        </p:txBody>
      </p:sp>
      <p:sp>
        <p:nvSpPr>
          <p:cNvPr id="19" name="מלבן: פינות מעוגלות 9">
            <a:extLst>
              <a:ext uri="{FF2B5EF4-FFF2-40B4-BE49-F238E27FC236}">
                <a16:creationId xmlns:a16="http://schemas.microsoft.com/office/drawing/2014/main" id="{09C2D477-5CAD-4314-73FD-78C2199A3648}"/>
              </a:ext>
            </a:extLst>
          </p:cNvPr>
          <p:cNvSpPr/>
          <p:nvPr/>
        </p:nvSpPr>
        <p:spPr>
          <a:xfrm>
            <a:off x="10672011" y="3337634"/>
            <a:ext cx="868832" cy="526581"/>
          </a:xfrm>
          <a:prstGeom prst="roundRect">
            <a:avLst>
              <a:gd name="adj" fmla="val 1764"/>
            </a:avLst>
          </a:prstGeom>
          <a:noFill/>
          <a:ln w="12700">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LID4096" sz="2000">
              <a:solidFill>
                <a:schemeClr val="tx1"/>
              </a:solidFill>
            </a:endParaRPr>
          </a:p>
        </p:txBody>
      </p:sp>
      <p:sp>
        <p:nvSpPr>
          <p:cNvPr id="21" name="מלבן: פינות מעוגלות 9">
            <a:extLst>
              <a:ext uri="{FF2B5EF4-FFF2-40B4-BE49-F238E27FC236}">
                <a16:creationId xmlns:a16="http://schemas.microsoft.com/office/drawing/2014/main" id="{3EF6D78D-CE67-B71C-1B21-76A981CE128C}"/>
              </a:ext>
            </a:extLst>
          </p:cNvPr>
          <p:cNvSpPr/>
          <p:nvPr/>
        </p:nvSpPr>
        <p:spPr>
          <a:xfrm>
            <a:off x="9433432" y="3337633"/>
            <a:ext cx="868832" cy="526581"/>
          </a:xfrm>
          <a:prstGeom prst="roundRect">
            <a:avLst>
              <a:gd name="adj" fmla="val 1764"/>
            </a:avLst>
          </a:prstGeom>
          <a:noFill/>
          <a:ln w="12700">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LID4096" sz="2000">
              <a:solidFill>
                <a:schemeClr val="tx1"/>
              </a:solidFill>
            </a:endParaRPr>
          </a:p>
        </p:txBody>
      </p:sp>
      <p:sp>
        <p:nvSpPr>
          <p:cNvPr id="25" name="TextBox 24">
            <a:extLst>
              <a:ext uri="{FF2B5EF4-FFF2-40B4-BE49-F238E27FC236}">
                <a16:creationId xmlns:a16="http://schemas.microsoft.com/office/drawing/2014/main" id="{416A27D2-5C95-7348-6DD1-56B81101DF37}"/>
              </a:ext>
            </a:extLst>
          </p:cNvPr>
          <p:cNvSpPr txBox="1"/>
          <p:nvPr/>
        </p:nvSpPr>
        <p:spPr>
          <a:xfrm>
            <a:off x="10329223" y="3398770"/>
            <a:ext cx="315828" cy="400110"/>
          </a:xfrm>
          <a:prstGeom prst="rect">
            <a:avLst/>
          </a:prstGeom>
          <a:noFill/>
        </p:spPr>
        <p:txBody>
          <a:bodyPr wrap="square">
            <a:spAutoFit/>
          </a:bodyPr>
          <a:lstStyle/>
          <a:p>
            <a:r>
              <a:rPr lang="he-IL" sz="2000">
                <a:latin typeface="Assistant" pitchFamily="2" charset="-79"/>
                <a:cs typeface="Assistant" pitchFamily="2" charset="-79"/>
              </a:rPr>
              <a:t>:</a:t>
            </a:r>
            <a:endParaRPr lang="en-US"/>
          </a:p>
        </p:txBody>
      </p:sp>
      <p:sp>
        <p:nvSpPr>
          <p:cNvPr id="27" name="תיבת טקסט 5">
            <a:extLst>
              <a:ext uri="{FF2B5EF4-FFF2-40B4-BE49-F238E27FC236}">
                <a16:creationId xmlns:a16="http://schemas.microsoft.com/office/drawing/2014/main" id="{48FE0C9A-08D8-5CAB-2130-5C20360DEBF7}"/>
              </a:ext>
            </a:extLst>
          </p:cNvPr>
          <p:cNvSpPr txBox="1"/>
          <p:nvPr/>
        </p:nvSpPr>
        <p:spPr>
          <a:xfrm>
            <a:off x="5859379" y="4247812"/>
            <a:ext cx="5791096" cy="425309"/>
          </a:xfrm>
          <a:prstGeom prst="rect">
            <a:avLst/>
          </a:prstGeom>
          <a:noFill/>
        </p:spPr>
        <p:txBody>
          <a:bodyPr wrap="square" rtlCol="0">
            <a:spAutoFit/>
          </a:bodyPr>
          <a:lstStyle/>
          <a:p>
            <a:pPr lvl="0">
              <a:lnSpc>
                <a:spcPct val="115000"/>
              </a:lnSpc>
              <a:spcAft>
                <a:spcPts val="700"/>
              </a:spcAft>
            </a:pPr>
            <a:r>
              <a:rPr lang="he-IL" sz="2000">
                <a:latin typeface="Assistant" pitchFamily="2" charset="-79"/>
                <a:cs typeface="Assistant" pitchFamily="2" charset="-79"/>
              </a:rPr>
              <a:t>היחס השני ביניהם (לאחר הוספת 3 יחידות) הוא: </a:t>
            </a:r>
          </a:p>
        </p:txBody>
      </p:sp>
      <p:sp>
        <p:nvSpPr>
          <p:cNvPr id="29" name="מלבן: פינות מעוגלות 9">
            <a:extLst>
              <a:ext uri="{FF2B5EF4-FFF2-40B4-BE49-F238E27FC236}">
                <a16:creationId xmlns:a16="http://schemas.microsoft.com/office/drawing/2014/main" id="{CA3EED19-EE9E-E6A9-C047-40CA639A3A40}"/>
              </a:ext>
            </a:extLst>
          </p:cNvPr>
          <p:cNvSpPr/>
          <p:nvPr/>
        </p:nvSpPr>
        <p:spPr>
          <a:xfrm>
            <a:off x="10672011" y="4803329"/>
            <a:ext cx="868832" cy="526581"/>
          </a:xfrm>
          <a:prstGeom prst="roundRect">
            <a:avLst>
              <a:gd name="adj" fmla="val 1764"/>
            </a:avLst>
          </a:prstGeom>
          <a:noFill/>
          <a:ln w="12700">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LID4096" sz="2000">
              <a:solidFill>
                <a:schemeClr val="tx1"/>
              </a:solidFill>
            </a:endParaRPr>
          </a:p>
        </p:txBody>
      </p:sp>
      <p:sp>
        <p:nvSpPr>
          <p:cNvPr id="31" name="מלבן: פינות מעוגלות 9">
            <a:extLst>
              <a:ext uri="{FF2B5EF4-FFF2-40B4-BE49-F238E27FC236}">
                <a16:creationId xmlns:a16="http://schemas.microsoft.com/office/drawing/2014/main" id="{68483A8C-DA09-ADB4-3EEE-FEF465521598}"/>
              </a:ext>
            </a:extLst>
          </p:cNvPr>
          <p:cNvSpPr/>
          <p:nvPr/>
        </p:nvSpPr>
        <p:spPr>
          <a:xfrm>
            <a:off x="9433432" y="4803328"/>
            <a:ext cx="868832" cy="526581"/>
          </a:xfrm>
          <a:prstGeom prst="roundRect">
            <a:avLst>
              <a:gd name="adj" fmla="val 1764"/>
            </a:avLst>
          </a:prstGeom>
          <a:noFill/>
          <a:ln w="12700">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LID4096" sz="2000">
              <a:solidFill>
                <a:schemeClr val="tx1"/>
              </a:solidFill>
            </a:endParaRPr>
          </a:p>
        </p:txBody>
      </p:sp>
      <p:sp>
        <p:nvSpPr>
          <p:cNvPr id="33" name="TextBox 32">
            <a:extLst>
              <a:ext uri="{FF2B5EF4-FFF2-40B4-BE49-F238E27FC236}">
                <a16:creationId xmlns:a16="http://schemas.microsoft.com/office/drawing/2014/main" id="{FCC6FFCF-8C84-05A2-6709-7DC96A43E317}"/>
              </a:ext>
            </a:extLst>
          </p:cNvPr>
          <p:cNvSpPr txBox="1"/>
          <p:nvPr/>
        </p:nvSpPr>
        <p:spPr>
          <a:xfrm>
            <a:off x="10329223" y="4864465"/>
            <a:ext cx="315828" cy="400110"/>
          </a:xfrm>
          <a:prstGeom prst="rect">
            <a:avLst/>
          </a:prstGeom>
          <a:noFill/>
        </p:spPr>
        <p:txBody>
          <a:bodyPr wrap="square">
            <a:spAutoFit/>
          </a:bodyPr>
          <a:lstStyle/>
          <a:p>
            <a:r>
              <a:rPr lang="he-IL" sz="2000">
                <a:latin typeface="Assistant" pitchFamily="2" charset="-79"/>
                <a:cs typeface="Assistant" pitchFamily="2" charset="-79"/>
              </a:rPr>
              <a:t>:</a:t>
            </a:r>
            <a:endParaRPr lang="en-US"/>
          </a:p>
        </p:txBody>
      </p:sp>
    </p:spTree>
    <p:extLst>
      <p:ext uri="{BB962C8B-B14F-4D97-AF65-F5344CB8AC3E}">
        <p14:creationId xmlns:p14="http://schemas.microsoft.com/office/powerpoint/2010/main" val="268679786"/>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61B3F1-0154-AAB3-0F9D-8F95E4588CF7}"/>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3E142C50-6176-FF4A-5573-3CC6FAF5506C}"/>
              </a:ext>
            </a:extLst>
          </p:cNvPr>
          <p:cNvSpPr txBox="1"/>
          <p:nvPr/>
        </p:nvSpPr>
        <p:spPr>
          <a:xfrm>
            <a:off x="2621280" y="3167390"/>
            <a:ext cx="5815584" cy="954107"/>
          </a:xfrm>
          <a:prstGeom prst="rect">
            <a:avLst/>
          </a:prstGeom>
          <a:noFill/>
        </p:spPr>
        <p:txBody>
          <a:bodyPr wrap="square">
            <a:spAutoFit/>
          </a:bodyPr>
          <a:lstStyle/>
          <a:p>
            <a:pPr algn="ctr"/>
            <a:r>
              <a:rPr lang="he-IL" sz="2800" b="0" i="0" kern="1200" dirty="0">
                <a:solidFill>
                  <a:schemeClr val="dk1"/>
                </a:solidFill>
                <a:effectLst/>
                <a:latin typeface="+mn-lt"/>
                <a:ea typeface="+mn-ea"/>
                <a:cs typeface="+mn-cs"/>
              </a:rPr>
              <a:t> רכיב </a:t>
            </a:r>
            <a:r>
              <a:rPr lang="en-US" sz="2800" b="0" i="0" kern="1200" dirty="0">
                <a:solidFill>
                  <a:schemeClr val="dk1"/>
                </a:solidFill>
                <a:effectLst/>
                <a:latin typeface="+mn-lt"/>
                <a:ea typeface="+mn-ea"/>
                <a:cs typeface="+mn-cs"/>
              </a:rPr>
              <a:t>5</a:t>
            </a:r>
            <a:endParaRPr lang="he-IL" sz="2800" b="0" i="0" kern="1200" dirty="0">
              <a:solidFill>
                <a:schemeClr val="dk1"/>
              </a:solidFill>
              <a:effectLst/>
              <a:latin typeface="+mn-lt"/>
              <a:ea typeface="+mn-ea"/>
              <a:cs typeface="+mn-cs"/>
            </a:endParaRPr>
          </a:p>
          <a:p>
            <a:pPr algn="ctr"/>
            <a:r>
              <a:rPr lang="en-IL" sz="2800" b="0" i="0" kern="1200" dirty="0">
                <a:solidFill>
                  <a:schemeClr val="dk1"/>
                </a:solidFill>
                <a:effectLst/>
                <a:latin typeface="+mn-lt"/>
                <a:ea typeface="+mn-ea"/>
                <a:cs typeface="+mn-cs"/>
              </a:rPr>
              <a:t>methodica-math-ratio-01</a:t>
            </a:r>
            <a:r>
              <a:rPr lang="en-US" sz="2800" b="0" i="0" kern="1200" dirty="0">
                <a:solidFill>
                  <a:schemeClr val="dk1"/>
                </a:solidFill>
                <a:effectLst/>
                <a:latin typeface="+mn-lt"/>
                <a:ea typeface="+mn-ea"/>
                <a:cs typeface="+mn-cs"/>
              </a:rPr>
              <a:t>-05</a:t>
            </a:r>
            <a:endParaRPr lang="LID4096" sz="2800" dirty="0">
              <a:latin typeface="Assistant" pitchFamily="2" charset="-79"/>
              <a:cs typeface="Assistant" pitchFamily="2" charset="-79"/>
            </a:endParaRPr>
          </a:p>
        </p:txBody>
      </p:sp>
    </p:spTree>
    <p:extLst>
      <p:ext uri="{BB962C8B-B14F-4D97-AF65-F5344CB8AC3E}">
        <p14:creationId xmlns:p14="http://schemas.microsoft.com/office/powerpoint/2010/main" val="3573336353"/>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תמונה 3">
            <a:extLst>
              <a:ext uri="{FF2B5EF4-FFF2-40B4-BE49-F238E27FC236}">
                <a16:creationId xmlns:a16="http://schemas.microsoft.com/office/drawing/2014/main" id="{40BEB4D6-4AD0-EA99-2BDD-432D9D8773B0}"/>
              </a:ext>
            </a:extLst>
          </p:cNvPr>
          <p:cNvPicPr>
            <a:picLocks noChangeAspect="1"/>
          </p:cNvPicPr>
          <p:nvPr/>
        </p:nvPicPr>
        <p:blipFill>
          <a:blip r:embed="rId3">
            <a:extLst>
              <a:ext uri="{28A0092B-C50C-407E-A947-70E740481C1C}">
                <a14:useLocalDpi xmlns:a14="http://schemas.microsoft.com/office/drawing/2010/main"/>
              </a:ext>
            </a:extLst>
          </a:blip>
          <a:stretch>
            <a:fillRect/>
          </a:stretch>
        </p:blipFill>
        <p:spPr>
          <a:xfrm>
            <a:off x="192984" y="6236080"/>
            <a:ext cx="1777778" cy="495238"/>
          </a:xfrm>
          <a:prstGeom prst="rect">
            <a:avLst/>
          </a:prstGeom>
        </p:spPr>
      </p:pic>
      <p:cxnSp>
        <p:nvCxnSpPr>
          <p:cNvPr id="8" name="מחבר ישר 4">
            <a:extLst>
              <a:ext uri="{FF2B5EF4-FFF2-40B4-BE49-F238E27FC236}">
                <a16:creationId xmlns:a16="http://schemas.microsoft.com/office/drawing/2014/main" id="{01A755B2-A6C1-0DA1-A040-B2CB7C22CE14}"/>
              </a:ext>
            </a:extLst>
          </p:cNvPr>
          <p:cNvCxnSpPr>
            <a:cxnSpLocks/>
          </p:cNvCxnSpPr>
          <p:nvPr/>
        </p:nvCxnSpPr>
        <p:spPr>
          <a:xfrm>
            <a:off x="0" y="6079252"/>
            <a:ext cx="12192000" cy="0"/>
          </a:xfrm>
          <a:prstGeom prst="line">
            <a:avLst/>
          </a:prstGeom>
          <a:ln>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pic>
        <p:nvPicPr>
          <p:cNvPr id="4" name="Picture 3">
            <a:extLst>
              <a:ext uri="{FF2B5EF4-FFF2-40B4-BE49-F238E27FC236}">
                <a16:creationId xmlns:a16="http://schemas.microsoft.com/office/drawing/2014/main" id="{591E84CE-69B4-F0B7-319A-A6EA0586E538}"/>
              </a:ext>
            </a:extLst>
          </p:cNvPr>
          <p:cNvPicPr>
            <a:picLocks noChangeAspect="1"/>
          </p:cNvPicPr>
          <p:nvPr/>
        </p:nvPicPr>
        <p:blipFill>
          <a:blip r:embed="rId4"/>
          <a:stretch>
            <a:fillRect/>
          </a:stretch>
        </p:blipFill>
        <p:spPr>
          <a:xfrm>
            <a:off x="10371417" y="6124170"/>
            <a:ext cx="1820583" cy="622831"/>
          </a:xfrm>
          <a:prstGeom prst="rect">
            <a:avLst/>
          </a:prstGeom>
        </p:spPr>
      </p:pic>
      <p:sp>
        <p:nvSpPr>
          <p:cNvPr id="9" name="תיבת טקסט 17">
            <a:extLst>
              <a:ext uri="{FF2B5EF4-FFF2-40B4-BE49-F238E27FC236}">
                <a16:creationId xmlns:a16="http://schemas.microsoft.com/office/drawing/2014/main" id="{0ADF1BEE-C07F-D36A-07CF-CB9330FEEE0B}"/>
              </a:ext>
            </a:extLst>
          </p:cNvPr>
          <p:cNvSpPr txBox="1"/>
          <p:nvPr/>
        </p:nvSpPr>
        <p:spPr>
          <a:xfrm>
            <a:off x="1426989" y="1245341"/>
            <a:ext cx="9338021" cy="1261884"/>
          </a:xfrm>
          <a:prstGeom prst="rect">
            <a:avLst/>
          </a:prstGeom>
          <a:noFill/>
        </p:spPr>
        <p:txBody>
          <a:bodyPr wrap="square" lIns="91440" tIns="45720" rIns="91440" bIns="45720" anchor="t">
            <a:spAutoFit/>
          </a:bodyPr>
          <a:lstStyle/>
          <a:p>
            <a:pPr algn="ctr" rtl="1"/>
            <a:r>
              <a:rPr lang="he-IL" sz="4800" b="1">
                <a:latin typeface="Assistant ExtraBold" pitchFamily="2" charset="-79"/>
                <a:cs typeface="Assistant ExtraBold" pitchFamily="2" charset="-79"/>
              </a:rPr>
              <a:t>זמן ל –</a:t>
            </a:r>
            <a:r>
              <a:rPr lang="en-US" sz="4800" b="1">
                <a:latin typeface="Assistant ExtraBold" pitchFamily="2" charset="-79"/>
                <a:cs typeface="Assistant ExtraBold" pitchFamily="2" charset="-79"/>
              </a:rPr>
              <a:t>3 </a:t>
            </a:r>
            <a:r>
              <a:rPr lang="he-IL" sz="4800" b="1">
                <a:latin typeface="Assistant ExtraBold" pitchFamily="2" charset="-79"/>
                <a:cs typeface="Assistant ExtraBold" pitchFamily="2" charset="-79"/>
              </a:rPr>
              <a:t> שאלות מתקדמות </a:t>
            </a:r>
          </a:p>
          <a:p>
            <a:pPr algn="ctr" rtl="1"/>
            <a:endParaRPr lang="he-IL" sz="2800">
              <a:solidFill>
                <a:srgbClr val="0070C0"/>
              </a:solidFill>
              <a:latin typeface="Assistant"/>
              <a:cs typeface="Assistant"/>
            </a:endParaRPr>
          </a:p>
        </p:txBody>
      </p:sp>
      <p:pic>
        <p:nvPicPr>
          <p:cNvPr id="11" name="תמונה 8">
            <a:extLst>
              <a:ext uri="{FF2B5EF4-FFF2-40B4-BE49-F238E27FC236}">
                <a16:creationId xmlns:a16="http://schemas.microsoft.com/office/drawing/2014/main" id="{3DA90FD6-B69C-A7A6-CBEB-A2BFAC3A586F}"/>
              </a:ext>
            </a:extLst>
          </p:cNvPr>
          <p:cNvPicPr>
            <a:picLocks noChangeAspect="1"/>
          </p:cNvPicPr>
          <p:nvPr/>
        </p:nvPicPr>
        <p:blipFill>
          <a:blip r:embed="rId5" cstate="email">
            <a:extLst>
              <a:ext uri="{28A0092B-C50C-407E-A947-70E740481C1C}">
                <a14:useLocalDpi xmlns:a14="http://schemas.microsoft.com/office/drawing/2010/main"/>
              </a:ext>
            </a:extLst>
          </a:blip>
          <a:srcRect/>
          <a:stretch/>
        </p:blipFill>
        <p:spPr>
          <a:xfrm>
            <a:off x="4765788" y="2262094"/>
            <a:ext cx="2892649" cy="3660331"/>
          </a:xfrm>
          <a:prstGeom prst="rect">
            <a:avLst/>
          </a:prstGeom>
        </p:spPr>
      </p:pic>
      <p:sp>
        <p:nvSpPr>
          <p:cNvPr id="5" name="בועת דיבור: מלבן 13">
            <a:extLst>
              <a:ext uri="{FF2B5EF4-FFF2-40B4-BE49-F238E27FC236}">
                <a16:creationId xmlns:a16="http://schemas.microsoft.com/office/drawing/2014/main" id="{C03EEAE1-77BC-7740-0AF9-86D73D89DDFE}"/>
              </a:ext>
            </a:extLst>
          </p:cNvPr>
          <p:cNvSpPr/>
          <p:nvPr/>
        </p:nvSpPr>
        <p:spPr>
          <a:xfrm>
            <a:off x="2001153" y="2821907"/>
            <a:ext cx="2361442" cy="1152210"/>
          </a:xfrm>
          <a:prstGeom prst="wedgeRectCallout">
            <a:avLst>
              <a:gd name="adj1" fmla="val 79925"/>
              <a:gd name="adj2" fmla="val 41168"/>
            </a:avLst>
          </a:prstGeom>
          <a:noFill/>
          <a:ln w="28575">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he-IL">
                <a:solidFill>
                  <a:sysClr val="windowText" lastClr="000000"/>
                </a:solidFill>
                <a:latin typeface="Assistant" pitchFamily="2" charset="-79"/>
                <a:cs typeface="Assistant" pitchFamily="2" charset="-79"/>
              </a:rPr>
              <a:t>זה אומר שעלינו רמה!</a:t>
            </a:r>
            <a:endParaRPr lang="en-US">
              <a:solidFill>
                <a:sysClr val="windowText" lastClr="000000"/>
              </a:solidFill>
              <a:latin typeface="Assistant" pitchFamily="2" charset="-79"/>
              <a:cs typeface="Assistant" pitchFamily="2" charset="-79"/>
            </a:endParaRPr>
          </a:p>
        </p:txBody>
      </p:sp>
    </p:spTree>
    <p:extLst>
      <p:ext uri="{BB962C8B-B14F-4D97-AF65-F5344CB8AC3E}">
        <p14:creationId xmlns:p14="http://schemas.microsoft.com/office/powerpoint/2010/main" val="490763063"/>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641E8F-898C-E39A-9313-9DB5F74E9711}"/>
            </a:ext>
          </a:extLst>
        </p:cNvPr>
        <p:cNvGrpSpPr/>
        <p:nvPr/>
      </p:nvGrpSpPr>
      <p:grpSpPr>
        <a:xfrm>
          <a:off x="0" y="0"/>
          <a:ext cx="0" cy="0"/>
          <a:chOff x="0" y="0"/>
          <a:chExt cx="0" cy="0"/>
        </a:xfrm>
      </p:grpSpPr>
      <p:cxnSp>
        <p:nvCxnSpPr>
          <p:cNvPr id="4" name="מחבר ישר 3">
            <a:extLst>
              <a:ext uri="{FF2B5EF4-FFF2-40B4-BE49-F238E27FC236}">
                <a16:creationId xmlns:a16="http://schemas.microsoft.com/office/drawing/2014/main" id="{358E0479-17FE-CAFA-C5F2-BFB0E929FAD1}"/>
              </a:ext>
            </a:extLst>
          </p:cNvPr>
          <p:cNvCxnSpPr>
            <a:cxnSpLocks/>
          </p:cNvCxnSpPr>
          <p:nvPr/>
        </p:nvCxnSpPr>
        <p:spPr>
          <a:xfrm>
            <a:off x="0" y="6079252"/>
            <a:ext cx="12293600" cy="102890"/>
          </a:xfrm>
          <a:prstGeom prst="line">
            <a:avLst/>
          </a:prstGeom>
          <a:ln>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5" name="מלבן: פינות מעוגלות 4">
            <a:extLst>
              <a:ext uri="{FF2B5EF4-FFF2-40B4-BE49-F238E27FC236}">
                <a16:creationId xmlns:a16="http://schemas.microsoft.com/office/drawing/2014/main" id="{5E6A7A71-1B05-D534-53C7-952A41030BF6}"/>
              </a:ext>
            </a:extLst>
          </p:cNvPr>
          <p:cNvSpPr/>
          <p:nvPr/>
        </p:nvSpPr>
        <p:spPr>
          <a:xfrm>
            <a:off x="268356" y="6182143"/>
            <a:ext cx="1798983" cy="506891"/>
          </a:xfrm>
          <a:prstGeom prst="roundRect">
            <a:avLst>
              <a:gd name="adj" fmla="val 50000"/>
            </a:avLst>
          </a:prstGeom>
          <a:solidFill>
            <a:schemeClr val="bg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he-IL"/>
              <a:t>צדקתי?</a:t>
            </a:r>
            <a:endParaRPr lang="LID4096"/>
          </a:p>
        </p:txBody>
      </p:sp>
      <p:sp>
        <p:nvSpPr>
          <p:cNvPr id="2" name="מלבן: פינות מעוגלות 1">
            <a:extLst>
              <a:ext uri="{FF2B5EF4-FFF2-40B4-BE49-F238E27FC236}">
                <a16:creationId xmlns:a16="http://schemas.microsoft.com/office/drawing/2014/main" id="{6A39606D-76AE-8F61-7214-DFD6257A2687}"/>
              </a:ext>
            </a:extLst>
          </p:cNvPr>
          <p:cNvSpPr/>
          <p:nvPr/>
        </p:nvSpPr>
        <p:spPr>
          <a:xfrm>
            <a:off x="2179982" y="6182142"/>
            <a:ext cx="2481470" cy="506891"/>
          </a:xfrm>
          <a:prstGeom prst="roundRect">
            <a:avLst>
              <a:gd name="adj" fmla="val 50000"/>
            </a:avLst>
          </a:prstGeom>
          <a:noFill/>
          <a:ln>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he-IL">
                <a:solidFill>
                  <a:srgbClr val="00B0F0"/>
                </a:solidFill>
              </a:rPr>
              <a:t>     אפשר רמז?</a:t>
            </a:r>
            <a:endParaRPr lang="LID4096">
              <a:solidFill>
                <a:srgbClr val="00B0F0"/>
              </a:solidFill>
            </a:endParaRPr>
          </a:p>
        </p:txBody>
      </p:sp>
      <p:pic>
        <p:nvPicPr>
          <p:cNvPr id="12" name="גרפיקה 11" descr="נורת חשמל וגלגל שיניים עם מילוי מלא">
            <a:extLst>
              <a:ext uri="{FF2B5EF4-FFF2-40B4-BE49-F238E27FC236}">
                <a16:creationId xmlns:a16="http://schemas.microsoft.com/office/drawing/2014/main" id="{BDFB24D4-ECD3-23D9-8202-195F11A219D7}"/>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3831910" y="6266545"/>
            <a:ext cx="338083" cy="338083"/>
          </a:xfrm>
          <a:prstGeom prst="rect">
            <a:avLst/>
          </a:prstGeom>
        </p:spPr>
      </p:pic>
      <p:pic>
        <p:nvPicPr>
          <p:cNvPr id="3" name="תמונה 2">
            <a:extLst>
              <a:ext uri="{FF2B5EF4-FFF2-40B4-BE49-F238E27FC236}">
                <a16:creationId xmlns:a16="http://schemas.microsoft.com/office/drawing/2014/main" id="{85540CC7-A414-EC64-D95F-75BAAE217345}"/>
              </a:ext>
            </a:extLst>
          </p:cNvPr>
          <p:cNvPicPr>
            <a:picLocks noChangeAspect="1"/>
          </p:cNvPicPr>
          <p:nvPr/>
        </p:nvPicPr>
        <p:blipFill>
          <a:blip r:embed="rId6">
            <a:extLst>
              <a:ext uri="{28A0092B-C50C-407E-A947-70E740481C1C}">
                <a14:useLocalDpi xmlns:a14="http://schemas.microsoft.com/office/drawing/2010/main"/>
              </a:ext>
            </a:extLst>
          </a:blip>
          <a:stretch>
            <a:fillRect/>
          </a:stretch>
        </p:blipFill>
        <p:spPr>
          <a:xfrm>
            <a:off x="0" y="57121"/>
            <a:ext cx="933869" cy="721626"/>
          </a:xfrm>
          <a:prstGeom prst="rect">
            <a:avLst/>
          </a:prstGeom>
        </p:spPr>
      </p:pic>
      <p:sp>
        <p:nvSpPr>
          <p:cNvPr id="7" name="מלבן: פינות מעוגלות 6">
            <a:extLst>
              <a:ext uri="{FF2B5EF4-FFF2-40B4-BE49-F238E27FC236}">
                <a16:creationId xmlns:a16="http://schemas.microsoft.com/office/drawing/2014/main" id="{464FEACC-575D-362B-0CBB-F8DDF99B853E}"/>
              </a:ext>
            </a:extLst>
          </p:cNvPr>
          <p:cNvSpPr/>
          <p:nvPr/>
        </p:nvSpPr>
        <p:spPr>
          <a:xfrm>
            <a:off x="10244695" y="6193485"/>
            <a:ext cx="1798983" cy="506891"/>
          </a:xfrm>
          <a:prstGeom prst="roundRect">
            <a:avLst>
              <a:gd name="adj" fmla="val 50000"/>
            </a:avLst>
          </a:prstGeom>
          <a:noFill/>
          <a:ln>
            <a:solidFill>
              <a:srgbClr val="019DE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he-IL">
                <a:solidFill>
                  <a:srgbClr val="019DE5"/>
                </a:solidFill>
                <a:latin typeface="Assistant" pitchFamily="2" charset="-79"/>
                <a:cs typeface="Assistant" pitchFamily="2" charset="-79"/>
              </a:rPr>
              <a:t>חזרה</a:t>
            </a:r>
            <a:endParaRPr lang="LID4096">
              <a:solidFill>
                <a:srgbClr val="019DE5"/>
              </a:solidFill>
              <a:latin typeface="Assistant" pitchFamily="2" charset="-79"/>
              <a:cs typeface="Assistant" pitchFamily="2" charset="-79"/>
            </a:endParaRPr>
          </a:p>
        </p:txBody>
      </p:sp>
      <p:pic>
        <p:nvPicPr>
          <p:cNvPr id="9" name="תמונה 8">
            <a:extLst>
              <a:ext uri="{FF2B5EF4-FFF2-40B4-BE49-F238E27FC236}">
                <a16:creationId xmlns:a16="http://schemas.microsoft.com/office/drawing/2014/main" id="{18625F1B-7ED3-7856-E41F-3B840E340A34}"/>
              </a:ext>
            </a:extLst>
          </p:cNvPr>
          <p:cNvPicPr>
            <a:picLocks noChangeAspect="1"/>
          </p:cNvPicPr>
          <p:nvPr/>
        </p:nvPicPr>
        <p:blipFill>
          <a:blip r:embed="rId7">
            <a:extLst>
              <a:ext uri="{28A0092B-C50C-407E-A947-70E740481C1C}">
                <a14:useLocalDpi xmlns:a14="http://schemas.microsoft.com/office/drawing/2010/main"/>
              </a:ext>
            </a:extLst>
          </a:blip>
          <a:stretch>
            <a:fillRect/>
          </a:stretch>
        </p:blipFill>
        <p:spPr>
          <a:xfrm>
            <a:off x="2803561" y="417934"/>
            <a:ext cx="7847619" cy="558730"/>
          </a:xfrm>
          <a:prstGeom prst="rect">
            <a:avLst/>
          </a:prstGeom>
        </p:spPr>
      </p:pic>
      <mc:AlternateContent xmlns:mc="http://schemas.openxmlformats.org/markup-compatibility/2006" xmlns:a14="http://schemas.microsoft.com/office/drawing/2010/main">
        <mc:Choice Requires="a14">
          <p:sp>
            <p:nvSpPr>
              <p:cNvPr id="10" name="מלבן: פינות מעוגלות 9">
                <a:extLst>
                  <a:ext uri="{FF2B5EF4-FFF2-40B4-BE49-F238E27FC236}">
                    <a16:creationId xmlns:a16="http://schemas.microsoft.com/office/drawing/2014/main" id="{0389D4D9-552E-E830-68DD-732937F6C89E}"/>
                  </a:ext>
                </a:extLst>
              </p:cNvPr>
              <p:cNvSpPr/>
              <p:nvPr/>
            </p:nvSpPr>
            <p:spPr>
              <a:xfrm>
                <a:off x="-6154056" y="4034705"/>
                <a:ext cx="5745826" cy="2665671"/>
              </a:xfrm>
              <a:prstGeom prst="roundRect">
                <a:avLst>
                  <a:gd name="adj" fmla="val 1647"/>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he-IL" sz="2000">
                  <a:solidFill>
                    <a:schemeClr val="tx1"/>
                  </a:solidFill>
                  <a:latin typeface="Assistant" pitchFamily="2" charset="-79"/>
                  <a:cs typeface="Assistant" pitchFamily="2" charset="-79"/>
                </a:endParaRPr>
              </a:p>
              <a:p>
                <a:pPr algn="ctr"/>
                <a:r>
                  <a:rPr lang="he-IL" sz="2000" b="1">
                    <a:solidFill>
                      <a:schemeClr val="tx1"/>
                    </a:solidFill>
                    <a:latin typeface="Assistant" pitchFamily="2" charset="-79"/>
                    <a:cs typeface="Assistant" pitchFamily="2" charset="-79"/>
                  </a:rPr>
                  <a:t>כל הכבוד, צדקתם! / טעיתם. לא נורא, מטעויות לומדים</a:t>
                </a:r>
              </a:p>
              <a:p>
                <a:pPr algn="ctr"/>
                <a:endParaRPr lang="he-IL" sz="2000">
                  <a:solidFill>
                    <a:schemeClr val="tx1"/>
                  </a:solidFill>
                  <a:latin typeface="Assistant" pitchFamily="2" charset="-79"/>
                  <a:cs typeface="Assistant" pitchFamily="2" charset="-79"/>
                </a:endParaRPr>
              </a:p>
              <a:p>
                <a:r>
                  <a:rPr lang="he-IL" sz="2000">
                    <a:solidFill>
                      <a:schemeClr val="tx1"/>
                    </a:solidFill>
                    <a:latin typeface="Assistant" pitchFamily="2" charset="-79"/>
                    <a:cs typeface="Assistant" pitchFamily="2" charset="-79"/>
                  </a:rPr>
                  <a:t>א. סכום זוויות במשולש הוא </a:t>
                </a:r>
                <a14:m>
                  <m:oMath xmlns:m="http://schemas.openxmlformats.org/officeDocument/2006/math">
                    <m:r>
                      <a:rPr lang="en-US" sz="2000" b="0" i="1" smtClean="0">
                        <a:solidFill>
                          <a:schemeClr val="tx1"/>
                        </a:solidFill>
                        <a:latin typeface="Cambria Math" panose="02040503050406030204" pitchFamily="18" charset="0"/>
                      </a:rPr>
                      <m:t>180°</m:t>
                    </m:r>
                  </m:oMath>
                </a14:m>
                <a:r>
                  <a:rPr lang="he-IL" sz="2000">
                    <a:solidFill>
                      <a:schemeClr val="tx1"/>
                    </a:solidFill>
                    <a:latin typeface="Assistant" pitchFamily="2" charset="-79"/>
                    <a:cs typeface="Assistant" pitchFamily="2" charset="-79"/>
                  </a:rPr>
                  <a:t>.</a:t>
                </a:r>
                <a:endParaRPr lang="en-US" sz="2000">
                  <a:solidFill>
                    <a:schemeClr val="tx1"/>
                  </a:solidFill>
                  <a:latin typeface="Assistant" pitchFamily="2" charset="-79"/>
                  <a:cs typeface="Assistant" pitchFamily="2" charset="-79"/>
                </a:endParaRPr>
              </a:p>
              <a:p>
                <a:r>
                  <a:rPr lang="he-IL" sz="2000">
                    <a:solidFill>
                      <a:schemeClr val="tx1"/>
                    </a:solidFill>
                    <a:latin typeface="Assistant" pitchFamily="2" charset="-79"/>
                    <a:cs typeface="Assistant" pitchFamily="2" charset="-79"/>
                  </a:rPr>
                  <a:t>המשולש </a:t>
                </a:r>
                <a:r>
                  <a:rPr lang="en-US" sz="2000">
                    <a:solidFill>
                      <a:schemeClr val="tx1"/>
                    </a:solidFill>
                    <a:latin typeface="Assistant" pitchFamily="2" charset="-79"/>
                    <a:cs typeface="Assistant" pitchFamily="2" charset="-79"/>
                  </a:rPr>
                  <a:t>ABC</a:t>
                </a:r>
                <a:r>
                  <a:rPr lang="he-IL" sz="2000">
                    <a:solidFill>
                      <a:schemeClr val="tx1"/>
                    </a:solidFill>
                    <a:latin typeface="Assistant" pitchFamily="2" charset="-79"/>
                    <a:cs typeface="Assistant" pitchFamily="2" charset="-79"/>
                  </a:rPr>
                  <a:t> הוא שווה שוקיים. היחס בין זווית הראש לסכום זוויות הבסיס הוא 3 : 1.</a:t>
                </a:r>
                <a:endParaRPr lang="en-US" sz="2000">
                  <a:solidFill>
                    <a:schemeClr val="tx1"/>
                  </a:solidFill>
                  <a:latin typeface="Assistant" pitchFamily="2" charset="-79"/>
                  <a:cs typeface="Assistant" pitchFamily="2" charset="-79"/>
                </a:endParaRPr>
              </a:p>
              <a:p>
                <a:r>
                  <a:rPr lang="he-IL" sz="2000">
                    <a:solidFill>
                      <a:schemeClr val="tx1"/>
                    </a:solidFill>
                    <a:latin typeface="Assistant" pitchFamily="2" charset="-79"/>
                    <a:cs typeface="Assistant" pitchFamily="2" charset="-79"/>
                  </a:rPr>
                  <a:t>נוכל למצוא את גודלה של זווית הראש </a:t>
                </a:r>
                <a14:m>
                  <m:oMath xmlns:m="http://schemas.openxmlformats.org/officeDocument/2006/math">
                    <m:f>
                      <m:fPr>
                        <m:ctrlPr>
                          <a:rPr lang="en-US" sz="2000" b="0" i="1" smtClean="0">
                            <a:solidFill>
                              <a:schemeClr val="tx1"/>
                            </a:solidFill>
                            <a:latin typeface="Cambria Math" panose="02040503050406030204" pitchFamily="18" charset="0"/>
                          </a:rPr>
                        </m:ctrlPr>
                      </m:fPr>
                      <m:num>
                        <m:r>
                          <a:rPr lang="en-US" sz="2000" b="0" i="1" smtClean="0">
                            <a:solidFill>
                              <a:schemeClr val="tx1"/>
                            </a:solidFill>
                            <a:latin typeface="Cambria Math" panose="02040503050406030204" pitchFamily="18" charset="0"/>
                          </a:rPr>
                          <m:t>1</m:t>
                        </m:r>
                      </m:num>
                      <m:den>
                        <m:r>
                          <a:rPr lang="en-US" sz="2000" b="0" i="1" smtClean="0">
                            <a:solidFill>
                              <a:schemeClr val="tx1"/>
                            </a:solidFill>
                            <a:latin typeface="Cambria Math" panose="02040503050406030204" pitchFamily="18" charset="0"/>
                          </a:rPr>
                          <m:t>4</m:t>
                        </m:r>
                      </m:den>
                    </m:f>
                    <m:r>
                      <a:rPr lang="en-US" sz="2000" b="0" i="1" smtClean="0">
                        <a:solidFill>
                          <a:schemeClr val="tx1"/>
                        </a:solidFill>
                        <a:latin typeface="Cambria Math" panose="02040503050406030204" pitchFamily="18" charset="0"/>
                      </a:rPr>
                      <m:t>⋅180=45°</m:t>
                    </m:r>
                  </m:oMath>
                </a14:m>
                <a:endParaRPr lang="en-US" sz="2000">
                  <a:solidFill>
                    <a:schemeClr val="tx1"/>
                  </a:solidFill>
                  <a:latin typeface="Assistant" pitchFamily="2" charset="-79"/>
                  <a:cs typeface="Assistant" pitchFamily="2" charset="-79"/>
                </a:endParaRPr>
              </a:p>
              <a:p>
                <a:r>
                  <a:rPr lang="he-IL" sz="2000">
                    <a:solidFill>
                      <a:schemeClr val="tx1"/>
                    </a:solidFill>
                    <a:latin typeface="Assistant" pitchFamily="2" charset="-79"/>
                    <a:cs typeface="Assistant" pitchFamily="2" charset="-79"/>
                  </a:rPr>
                  <a:t>לכן   </a:t>
                </a:r>
                <a14:m>
                  <m:oMath xmlns:m="http://schemas.openxmlformats.org/officeDocument/2006/math">
                    <m:r>
                      <a:rPr lang="en-US" sz="2000" b="0" i="1" smtClean="0">
                        <a:solidFill>
                          <a:schemeClr val="tx1"/>
                        </a:solidFill>
                        <a:latin typeface="Cambria Math" panose="02040503050406030204" pitchFamily="18" charset="0"/>
                      </a:rPr>
                      <m:t>45°</m:t>
                    </m:r>
                  </m:oMath>
                </a14:m>
                <a:r>
                  <a:rPr lang="he-IL" sz="2000">
                    <a:solidFill>
                      <a:schemeClr val="tx1"/>
                    </a:solidFill>
                    <a:latin typeface="Assistant" pitchFamily="2" charset="-79"/>
                    <a:cs typeface="Assistant" pitchFamily="2" charset="-79"/>
                  </a:rPr>
                  <a:t> = </a:t>
                </a:r>
                <a14:m>
                  <m:oMath xmlns:m="http://schemas.openxmlformats.org/officeDocument/2006/math">
                    <m:r>
                      <a:rPr lang="en-US" sz="2000" b="0" i="1" smtClean="0">
                        <a:solidFill>
                          <a:schemeClr val="tx1"/>
                        </a:solidFill>
                        <a:latin typeface="Cambria Math" panose="02040503050406030204" pitchFamily="18" charset="0"/>
                      </a:rPr>
                      <m:t>∢</m:t>
                    </m:r>
                    <m:r>
                      <a:rPr lang="en-US" sz="2000" b="0" i="1" smtClean="0">
                        <a:solidFill>
                          <a:schemeClr val="tx1"/>
                        </a:solidFill>
                        <a:latin typeface="Cambria Math" panose="02040503050406030204" pitchFamily="18" charset="0"/>
                      </a:rPr>
                      <m:t>𝐴</m:t>
                    </m:r>
                  </m:oMath>
                </a14:m>
                <a:r>
                  <a:rPr lang="he-IL" sz="2000">
                    <a:solidFill>
                      <a:schemeClr val="tx1"/>
                    </a:solidFill>
                    <a:latin typeface="Assistant" pitchFamily="2" charset="-79"/>
                    <a:cs typeface="Assistant" pitchFamily="2" charset="-79"/>
                  </a:rPr>
                  <a:t>.</a:t>
                </a:r>
              </a:p>
            </p:txBody>
          </p:sp>
        </mc:Choice>
        <mc:Fallback xmlns="">
          <p:sp>
            <p:nvSpPr>
              <p:cNvPr id="10" name="מלבן: פינות מעוגלות 9">
                <a:extLst>
                  <a:ext uri="{FF2B5EF4-FFF2-40B4-BE49-F238E27FC236}">
                    <a16:creationId xmlns:a16="http://schemas.microsoft.com/office/drawing/2014/main" id="{0389D4D9-552E-E830-68DD-732937F6C89E}"/>
                  </a:ext>
                </a:extLst>
              </p:cNvPr>
              <p:cNvSpPr>
                <a:spLocks noRot="1" noChangeAspect="1" noMove="1" noResize="1" noEditPoints="1" noAdjustHandles="1" noChangeArrowheads="1" noChangeShapeType="1" noTextEdit="1"/>
              </p:cNvSpPr>
              <p:nvPr/>
            </p:nvSpPr>
            <p:spPr>
              <a:xfrm>
                <a:off x="-6154056" y="4034705"/>
                <a:ext cx="5745826" cy="2665671"/>
              </a:xfrm>
              <a:prstGeom prst="roundRect">
                <a:avLst>
                  <a:gd name="adj" fmla="val 1647"/>
                </a:avLst>
              </a:prstGeom>
              <a:blipFill>
                <a:blip r:embed="rId8"/>
                <a:stretch>
                  <a:fillRect t="-1144" r="-848" b="-4119"/>
                </a:stretch>
              </a:blipFill>
              <a:ln>
                <a:noFill/>
              </a:ln>
            </p:spPr>
            <p:txBody>
              <a:bodyPr/>
              <a:lstStyle/>
              <a:p>
                <a:r>
                  <a:rPr lang="en-US">
                    <a:noFill/>
                  </a:rPr>
                  <a:t> </a:t>
                </a:r>
              </a:p>
            </p:txBody>
          </p:sp>
        </mc:Fallback>
      </mc:AlternateContent>
      <p:sp>
        <p:nvSpPr>
          <p:cNvPr id="11" name="מלבן 10">
            <a:extLst>
              <a:ext uri="{FF2B5EF4-FFF2-40B4-BE49-F238E27FC236}">
                <a16:creationId xmlns:a16="http://schemas.microsoft.com/office/drawing/2014/main" id="{E756A91D-4E56-182D-7837-9B36A0F2FB11}"/>
              </a:ext>
            </a:extLst>
          </p:cNvPr>
          <p:cNvSpPr/>
          <p:nvPr/>
        </p:nvSpPr>
        <p:spPr>
          <a:xfrm>
            <a:off x="-115414" y="-1103086"/>
            <a:ext cx="2295396" cy="976083"/>
          </a:xfrm>
          <a:prstGeom prst="rect">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he-IL" sz="1800" b="1" i="0" u="none" strike="noStrike" kern="1200" cap="none" spc="0" normalizeH="0" baseline="0" noProof="0">
                <a:ln>
                  <a:noFill/>
                </a:ln>
                <a:solidFill>
                  <a:prstClr val="black"/>
                </a:solidFill>
                <a:effectLst/>
                <a:uLnTx/>
                <a:uFillTx/>
                <a:latin typeface="Assistant" pitchFamily="2" charset="-79"/>
                <a:ea typeface="+mn-ea"/>
                <a:cs typeface="Assistant" pitchFamily="2" charset="-79"/>
                <a:hlinkClick r:id="rId9"/>
              </a:rPr>
              <a:t>רמת חשיבה</a:t>
            </a:r>
            <a:endParaRPr kumimoji="0" lang="he-IL" sz="1800" b="1" i="0" u="none" strike="noStrike" kern="1200" cap="none" spc="0" normalizeH="0" baseline="0" noProof="0">
              <a:ln>
                <a:noFill/>
              </a:ln>
              <a:solidFill>
                <a:prstClr val="black"/>
              </a:solidFill>
              <a:effectLst/>
              <a:uLnTx/>
              <a:uFillTx/>
              <a:latin typeface="Assistant" pitchFamily="2" charset="-79"/>
              <a:ea typeface="+mn-ea"/>
              <a:cs typeface="Assistant" pitchFamily="2" charset="-79"/>
            </a:endParaRPr>
          </a:p>
          <a:p>
            <a:pPr marL="285750" marR="0" lvl="0" indent="-285750" defTabSz="91440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he-IL" sz="1800" i="0" u="none" strike="noStrike" kern="1200" cap="none" spc="0" normalizeH="0" baseline="0" noProof="0">
                <a:ln>
                  <a:noFill/>
                </a:ln>
                <a:solidFill>
                  <a:prstClr val="black"/>
                </a:solidFill>
                <a:effectLst/>
                <a:uLnTx/>
                <a:uFillTx/>
                <a:latin typeface="Assistant" pitchFamily="2" charset="-79"/>
                <a:ea typeface="+mn-ea"/>
                <a:cs typeface="Assistant" pitchFamily="2" charset="-79"/>
              </a:rPr>
              <a:t>טקסט </a:t>
            </a:r>
          </a:p>
          <a:p>
            <a:pPr marL="285750" marR="0" lvl="0" indent="-285750" defTabSz="914400" eaLnBrk="1" fontAlgn="auto" latinLnBrk="0" hangingPunct="1">
              <a:lnSpc>
                <a:spcPct val="100000"/>
              </a:lnSpc>
              <a:spcBef>
                <a:spcPts val="0"/>
              </a:spcBef>
              <a:spcAft>
                <a:spcPts val="0"/>
              </a:spcAft>
              <a:buClrTx/>
              <a:buSzTx/>
              <a:buFont typeface="Arial" panose="020B0604020202020204" pitchFamily="34" charset="0"/>
              <a:buChar char="•"/>
              <a:tabLst/>
              <a:defRPr/>
            </a:pPr>
            <a:r>
              <a:rPr lang="he-IL">
                <a:solidFill>
                  <a:prstClr val="black"/>
                </a:solidFill>
                <a:latin typeface="Assistant" pitchFamily="2" charset="-79"/>
                <a:cs typeface="Assistant" pitchFamily="2" charset="-79"/>
              </a:rPr>
              <a:t>טקסט</a:t>
            </a:r>
            <a:endParaRPr kumimoji="0" lang="he-IL" sz="1800" i="0" u="none" strike="noStrike" kern="1200" cap="none" spc="0" normalizeH="0" baseline="0" noProof="0">
              <a:ln>
                <a:noFill/>
              </a:ln>
              <a:solidFill>
                <a:prstClr val="black"/>
              </a:solidFill>
              <a:effectLst/>
              <a:uLnTx/>
              <a:uFillTx/>
              <a:latin typeface="Assistant" pitchFamily="2" charset="-79"/>
              <a:ea typeface="+mn-ea"/>
              <a:cs typeface="Assistant" pitchFamily="2" charset="-79"/>
            </a:endParaRPr>
          </a:p>
        </p:txBody>
      </p:sp>
      <p:grpSp>
        <p:nvGrpSpPr>
          <p:cNvPr id="15" name="קבוצה 14">
            <a:extLst>
              <a:ext uri="{FF2B5EF4-FFF2-40B4-BE49-F238E27FC236}">
                <a16:creationId xmlns:a16="http://schemas.microsoft.com/office/drawing/2014/main" id="{B0B8A285-1D76-2853-7C39-1DEEB5FE794D}"/>
              </a:ext>
            </a:extLst>
          </p:cNvPr>
          <p:cNvGrpSpPr/>
          <p:nvPr/>
        </p:nvGrpSpPr>
        <p:grpSpPr>
          <a:xfrm>
            <a:off x="-9185160" y="-8867"/>
            <a:ext cx="9123904" cy="3818372"/>
            <a:chOff x="-9229411" y="26138"/>
            <a:chExt cx="9123904" cy="3818372"/>
          </a:xfrm>
        </p:grpSpPr>
        <p:sp>
          <p:nvSpPr>
            <p:cNvPr id="17" name="מלבן: פינות מעוגלות 16">
              <a:extLst>
                <a:ext uri="{FF2B5EF4-FFF2-40B4-BE49-F238E27FC236}">
                  <a16:creationId xmlns:a16="http://schemas.microsoft.com/office/drawing/2014/main" id="{35FCBA0E-D599-1EBF-6BB5-0275D9751368}"/>
                </a:ext>
              </a:extLst>
            </p:cNvPr>
            <p:cNvSpPr/>
            <p:nvPr/>
          </p:nvSpPr>
          <p:spPr>
            <a:xfrm>
              <a:off x="-9229411" y="26138"/>
              <a:ext cx="9123904" cy="3818372"/>
            </a:xfrm>
            <a:prstGeom prst="roundRect">
              <a:avLst>
                <a:gd name="adj" fmla="val 8509"/>
              </a:avLst>
            </a:prstGeom>
            <a:solidFill>
              <a:srgbClr val="00B0F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LID4096"/>
            </a:p>
          </p:txBody>
        </p:sp>
        <p:sp>
          <p:nvSpPr>
            <p:cNvPr id="27" name="תיבת טקסט 26">
              <a:extLst>
                <a:ext uri="{FF2B5EF4-FFF2-40B4-BE49-F238E27FC236}">
                  <a16:creationId xmlns:a16="http://schemas.microsoft.com/office/drawing/2014/main" id="{9A30F204-7A16-D86E-2952-BCA698F81EBF}"/>
                </a:ext>
              </a:extLst>
            </p:cNvPr>
            <p:cNvSpPr txBox="1"/>
            <p:nvPr/>
          </p:nvSpPr>
          <p:spPr>
            <a:xfrm>
              <a:off x="-6933085" y="474122"/>
              <a:ext cx="5949527" cy="400110"/>
            </a:xfrm>
            <a:prstGeom prst="rect">
              <a:avLst/>
            </a:prstGeom>
            <a:noFill/>
          </p:spPr>
          <p:txBody>
            <a:bodyPr wrap="square" rtlCol="0">
              <a:spAutoFit/>
            </a:bodyPr>
            <a:lstStyle/>
            <a:p>
              <a:r>
                <a:rPr lang="he-IL" sz="2000">
                  <a:solidFill>
                    <a:schemeClr val="bg1"/>
                  </a:solidFill>
                  <a:latin typeface="Assistant" pitchFamily="2" charset="-79"/>
                  <a:cs typeface="Assistant" pitchFamily="2" charset="-79"/>
                </a:rPr>
                <a:t>במשולש שווה שוקיים זוויות הבסיס הן שוות. </a:t>
              </a:r>
              <a:endParaRPr lang="LID4096" sz="2400">
                <a:solidFill>
                  <a:schemeClr val="bg1"/>
                </a:solidFill>
                <a:latin typeface="Assistant" pitchFamily="2" charset="-79"/>
                <a:cs typeface="Assistant" pitchFamily="2" charset="-79"/>
              </a:endParaRPr>
            </a:p>
          </p:txBody>
        </p:sp>
        <p:sp>
          <p:nvSpPr>
            <p:cNvPr id="28" name="מלבן: פינות מעוגלות 27">
              <a:extLst>
                <a:ext uri="{FF2B5EF4-FFF2-40B4-BE49-F238E27FC236}">
                  <a16:creationId xmlns:a16="http://schemas.microsoft.com/office/drawing/2014/main" id="{078009A6-C7ED-11E0-209D-DAD83B7829F7}"/>
                </a:ext>
              </a:extLst>
            </p:cNvPr>
            <p:cNvSpPr/>
            <p:nvPr/>
          </p:nvSpPr>
          <p:spPr>
            <a:xfrm>
              <a:off x="-5861703" y="3135618"/>
              <a:ext cx="1798983" cy="506891"/>
            </a:xfrm>
            <a:prstGeom prst="roundRect">
              <a:avLst>
                <a:gd name="adj" fmla="val 50000"/>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he-IL">
                  <a:solidFill>
                    <a:schemeClr val="tx1"/>
                  </a:solidFill>
                  <a:latin typeface="Assistant" pitchFamily="2" charset="-79"/>
                  <a:cs typeface="Assistant" pitchFamily="2" charset="-79"/>
                </a:rPr>
                <a:t>חזרה לשאלה</a:t>
              </a:r>
              <a:endParaRPr lang="LID4096">
                <a:solidFill>
                  <a:schemeClr val="tx1"/>
                </a:solidFill>
                <a:latin typeface="Assistant" pitchFamily="2" charset="-79"/>
                <a:cs typeface="Assistant" pitchFamily="2" charset="-79"/>
              </a:endParaRPr>
            </a:p>
          </p:txBody>
        </p:sp>
        <p:pic>
          <p:nvPicPr>
            <p:cNvPr id="29" name="גרפיקה 28" descr="נורת חשמל וגלגל שיניים עם מילוי מלא">
              <a:extLst>
                <a:ext uri="{FF2B5EF4-FFF2-40B4-BE49-F238E27FC236}">
                  <a16:creationId xmlns:a16="http://schemas.microsoft.com/office/drawing/2014/main" id="{7DA53D37-DFEF-3B5A-C9EC-0141EFA03768}"/>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983558" y="489982"/>
              <a:ext cx="338083" cy="338083"/>
            </a:xfrm>
            <a:prstGeom prst="rect">
              <a:avLst/>
            </a:prstGeom>
          </p:spPr>
        </p:pic>
      </p:grpSp>
      <p:sp>
        <p:nvSpPr>
          <p:cNvPr id="26" name="תיבת טקסט 5">
            <a:extLst>
              <a:ext uri="{FF2B5EF4-FFF2-40B4-BE49-F238E27FC236}">
                <a16:creationId xmlns:a16="http://schemas.microsoft.com/office/drawing/2014/main" id="{0F5902FA-6BEE-BC9A-C5BE-4ABF968F6239}"/>
              </a:ext>
            </a:extLst>
          </p:cNvPr>
          <p:cNvSpPr txBox="1"/>
          <p:nvPr/>
        </p:nvSpPr>
        <p:spPr>
          <a:xfrm>
            <a:off x="3872808" y="1093271"/>
            <a:ext cx="7735615" cy="2554545"/>
          </a:xfrm>
          <a:prstGeom prst="rect">
            <a:avLst/>
          </a:prstGeom>
          <a:noFill/>
        </p:spPr>
        <p:txBody>
          <a:bodyPr wrap="square" rtlCol="0">
            <a:spAutoFit/>
          </a:bodyPr>
          <a:lstStyle/>
          <a:p>
            <a:pPr>
              <a:lnSpc>
                <a:spcPct val="150000"/>
              </a:lnSpc>
            </a:pPr>
            <a:r>
              <a:rPr lang="he-IL" sz="2000">
                <a:latin typeface="Assistant" pitchFamily="2" charset="-79"/>
                <a:cs typeface="Assistant" pitchFamily="2" charset="-79"/>
              </a:rPr>
              <a:t>1. משרד אדריכלים מתכנן אלמנט הצללה עבור מדרחוב עירוני. </a:t>
            </a:r>
          </a:p>
          <a:p>
            <a:pPr>
              <a:lnSpc>
                <a:spcPct val="150000"/>
              </a:lnSpc>
            </a:pPr>
            <a:r>
              <a:rPr lang="he-IL" sz="2000">
                <a:latin typeface="Assistant" pitchFamily="2" charset="-79"/>
                <a:cs typeface="Assistant" pitchFamily="2" charset="-79"/>
              </a:rPr>
              <a:t>חזית האלמנט מעוצבת בצורה של משולש שווה-שוקיים (</a:t>
            </a:r>
            <a:r>
              <a:rPr lang="en-US" sz="2000">
                <a:latin typeface="Assistant" pitchFamily="2" charset="-79"/>
                <a:cs typeface="Assistant" pitchFamily="2" charset="-79"/>
              </a:rPr>
              <a:t>AB = AC</a:t>
            </a:r>
            <a:r>
              <a:rPr lang="he-IL" sz="2000">
                <a:latin typeface="Assistant" pitchFamily="2" charset="-79"/>
                <a:cs typeface="Assistant" pitchFamily="2" charset="-79"/>
              </a:rPr>
              <a:t>).</a:t>
            </a:r>
            <a:endParaRPr lang="en-US" sz="2000">
              <a:latin typeface="Assistant" pitchFamily="2" charset="-79"/>
              <a:cs typeface="Assistant" pitchFamily="2" charset="-79"/>
            </a:endParaRPr>
          </a:p>
          <a:p>
            <a:pPr>
              <a:lnSpc>
                <a:spcPct val="150000"/>
              </a:lnSpc>
            </a:pPr>
            <a:r>
              <a:rPr lang="he-IL" sz="2000">
                <a:latin typeface="Assistant" pitchFamily="2" charset="-79"/>
                <a:cs typeface="Assistant" pitchFamily="2" charset="-79"/>
              </a:rPr>
              <a:t>המהנדס הראשי הגדיר תנאי גיאומטרי:</a:t>
            </a:r>
          </a:p>
          <a:p>
            <a:pPr>
              <a:lnSpc>
                <a:spcPct val="150000"/>
              </a:lnSpc>
            </a:pPr>
            <a:r>
              <a:rPr lang="he-IL" sz="2000">
                <a:latin typeface="Assistant" pitchFamily="2" charset="-79"/>
                <a:cs typeface="Assistant" pitchFamily="2" charset="-79"/>
              </a:rPr>
              <a:t>היחס בין זווית הראש לסכום שתי זוויות הבסיס הוא 3 : 1.</a:t>
            </a:r>
          </a:p>
          <a:p>
            <a:endParaRPr lang="he-IL" sz="2000">
              <a:latin typeface="Assistant" pitchFamily="2" charset="-79"/>
              <a:cs typeface="Assistant" pitchFamily="2" charset="-79"/>
            </a:endParaRPr>
          </a:p>
          <a:p>
            <a:r>
              <a:rPr lang="he-IL" sz="2000">
                <a:latin typeface="Assistant" pitchFamily="2" charset="-79"/>
                <a:cs typeface="Assistant" pitchFamily="2" charset="-79"/>
              </a:rPr>
              <a:t>א. חשבו את שלוש זוויות המשולש </a:t>
            </a:r>
            <a:r>
              <a:rPr lang="en-US" sz="2000">
                <a:latin typeface="Assistant" pitchFamily="2" charset="-79"/>
                <a:cs typeface="Assistant" pitchFamily="2" charset="-79"/>
              </a:rPr>
              <a:t>ABC</a:t>
            </a:r>
            <a:r>
              <a:rPr lang="he-IL" sz="2000">
                <a:latin typeface="Assistant" pitchFamily="2" charset="-79"/>
                <a:cs typeface="Assistant" pitchFamily="2" charset="-79"/>
              </a:rPr>
              <a:t>.</a:t>
            </a:r>
            <a:endParaRPr lang="en-US" sz="2000">
              <a:latin typeface="Assistant" pitchFamily="2" charset="-79"/>
              <a:cs typeface="Assistant" pitchFamily="2" charset="-79"/>
            </a:endParaRPr>
          </a:p>
        </p:txBody>
      </p:sp>
      <p:grpSp>
        <p:nvGrpSpPr>
          <p:cNvPr id="8" name="Group 7">
            <a:extLst>
              <a:ext uri="{FF2B5EF4-FFF2-40B4-BE49-F238E27FC236}">
                <a16:creationId xmlns:a16="http://schemas.microsoft.com/office/drawing/2014/main" id="{1311F6CE-2047-253E-B7F1-853F4B46147D}"/>
              </a:ext>
            </a:extLst>
          </p:cNvPr>
          <p:cNvGrpSpPr/>
          <p:nvPr/>
        </p:nvGrpSpPr>
        <p:grpSpPr>
          <a:xfrm>
            <a:off x="315966" y="1087283"/>
            <a:ext cx="3080068" cy="1561144"/>
            <a:chOff x="1522475" y="389700"/>
            <a:chExt cx="2576950" cy="1462350"/>
          </a:xfrm>
        </p:grpSpPr>
        <p:sp>
          <p:nvSpPr>
            <p:cNvPr id="13" name="Isosceles Triangle 12">
              <a:extLst>
                <a:ext uri="{FF2B5EF4-FFF2-40B4-BE49-F238E27FC236}">
                  <a16:creationId xmlns:a16="http://schemas.microsoft.com/office/drawing/2014/main" id="{437314D1-38C2-1E33-0AA3-B5B7094C83AD}"/>
                </a:ext>
              </a:extLst>
            </p:cNvPr>
            <p:cNvSpPr/>
            <p:nvPr/>
          </p:nvSpPr>
          <p:spPr>
            <a:xfrm>
              <a:off x="1849725" y="686250"/>
              <a:ext cx="1994100" cy="1012500"/>
            </a:xfrm>
            <a:prstGeom prst="triangle">
              <a:avLst>
                <a:gd name="adj" fmla="val 50000"/>
              </a:avLst>
            </a:prstGeom>
            <a:solidFill>
              <a:srgbClr val="CFE2F3"/>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marR="0" algn="ctr">
                <a:lnSpc>
                  <a:spcPct val="115000"/>
                </a:lnSpc>
                <a:spcAft>
                  <a:spcPts val="800"/>
                </a:spcAft>
                <a:buNone/>
              </a:pPr>
              <a:r>
                <a:rPr lang="en-US" sz="1200">
                  <a:effectLst/>
                  <a:latin typeface="Aptos" panose="020B0004020202020204" pitchFamily="34" charset="0"/>
                  <a:ea typeface="Aptos" panose="020B0004020202020204" pitchFamily="34" charset="0"/>
                  <a:cs typeface="Aptos" panose="020B0004020202020204" pitchFamily="34" charset="0"/>
                </a:rPr>
                <a:t> </a:t>
              </a:r>
            </a:p>
          </p:txBody>
        </p:sp>
        <p:sp>
          <p:nvSpPr>
            <p:cNvPr id="14" name="Text Box 1003325673">
              <a:extLst>
                <a:ext uri="{FF2B5EF4-FFF2-40B4-BE49-F238E27FC236}">
                  <a16:creationId xmlns:a16="http://schemas.microsoft.com/office/drawing/2014/main" id="{FBF356CE-CF35-B3AF-E23A-07A2A4C7AB99}"/>
                </a:ext>
              </a:extLst>
            </p:cNvPr>
            <p:cNvSpPr txBox="1"/>
            <p:nvPr/>
          </p:nvSpPr>
          <p:spPr>
            <a:xfrm>
              <a:off x="2698425" y="389700"/>
              <a:ext cx="255600" cy="255600"/>
            </a:xfrm>
            <a:prstGeom prst="rect">
              <a:avLst/>
            </a:prstGeom>
            <a:noFill/>
            <a:ln>
              <a:noFill/>
            </a:ln>
          </p:spPr>
          <p:txBody>
            <a:bodyPr spcFirstLastPara="1" wrap="square" lIns="91425" tIns="91425" rIns="91425" bIns="91425" anchor="t" anchorCtr="0">
              <a:noAutofit/>
            </a:bodyPr>
            <a:lstStyle/>
            <a:p>
              <a:pPr marL="0" marR="0">
                <a:lnSpc>
                  <a:spcPct val="115000"/>
                </a:lnSpc>
                <a:spcAft>
                  <a:spcPts val="800"/>
                </a:spcAft>
                <a:buNone/>
              </a:pPr>
              <a:r>
                <a:rPr lang="en-US" sz="1400">
                  <a:solidFill>
                    <a:srgbClr val="000000"/>
                  </a:solidFill>
                  <a:effectLst/>
                  <a:latin typeface="Arial" panose="020B0604020202020204" pitchFamily="34" charset="0"/>
                  <a:ea typeface="Arial" panose="020B0604020202020204" pitchFamily="34" charset="0"/>
                  <a:cs typeface="Aptos" panose="020B0004020202020204" pitchFamily="34" charset="0"/>
                </a:rPr>
                <a:t>A</a:t>
              </a:r>
              <a:endParaRPr lang="en-US" sz="1200">
                <a:effectLst/>
                <a:latin typeface="Aptos" panose="020B0004020202020204" pitchFamily="34" charset="0"/>
                <a:ea typeface="Aptos" panose="020B0004020202020204" pitchFamily="34" charset="0"/>
                <a:cs typeface="Aptos" panose="020B0004020202020204" pitchFamily="34" charset="0"/>
              </a:endParaRPr>
            </a:p>
          </p:txBody>
        </p:sp>
        <p:sp>
          <p:nvSpPr>
            <p:cNvPr id="16" name="Text Box 240582956">
              <a:extLst>
                <a:ext uri="{FF2B5EF4-FFF2-40B4-BE49-F238E27FC236}">
                  <a16:creationId xmlns:a16="http://schemas.microsoft.com/office/drawing/2014/main" id="{AA9E92D8-157B-DC0B-3AEE-42E6C8E1F059}"/>
                </a:ext>
              </a:extLst>
            </p:cNvPr>
            <p:cNvSpPr txBox="1"/>
            <p:nvPr/>
          </p:nvSpPr>
          <p:spPr>
            <a:xfrm>
              <a:off x="1522475" y="1524750"/>
              <a:ext cx="276000" cy="327300"/>
            </a:xfrm>
            <a:prstGeom prst="rect">
              <a:avLst/>
            </a:prstGeom>
            <a:noFill/>
            <a:ln>
              <a:noFill/>
            </a:ln>
          </p:spPr>
          <p:txBody>
            <a:bodyPr spcFirstLastPara="1" wrap="square" lIns="91425" tIns="91425" rIns="91425" bIns="91425" anchor="t" anchorCtr="0">
              <a:noAutofit/>
            </a:bodyPr>
            <a:lstStyle/>
            <a:p>
              <a:pPr marL="0" marR="0">
                <a:lnSpc>
                  <a:spcPct val="115000"/>
                </a:lnSpc>
                <a:spcAft>
                  <a:spcPts val="800"/>
                </a:spcAft>
                <a:buNone/>
              </a:pPr>
              <a:r>
                <a:rPr lang="en-US" sz="1400">
                  <a:solidFill>
                    <a:srgbClr val="000000"/>
                  </a:solidFill>
                  <a:effectLst/>
                  <a:latin typeface="Arial" panose="020B0604020202020204" pitchFamily="34" charset="0"/>
                  <a:ea typeface="Arial" panose="020B0604020202020204" pitchFamily="34" charset="0"/>
                  <a:cs typeface="Aptos" panose="020B0004020202020204" pitchFamily="34" charset="0"/>
                </a:rPr>
                <a:t>B</a:t>
              </a:r>
              <a:endParaRPr lang="en-US" sz="1200">
                <a:effectLst/>
                <a:latin typeface="Aptos" panose="020B0004020202020204" pitchFamily="34" charset="0"/>
                <a:ea typeface="Aptos" panose="020B0004020202020204" pitchFamily="34" charset="0"/>
                <a:cs typeface="Aptos" panose="020B0004020202020204" pitchFamily="34" charset="0"/>
              </a:endParaRPr>
            </a:p>
          </p:txBody>
        </p:sp>
        <p:sp>
          <p:nvSpPr>
            <p:cNvPr id="18" name="Text Box 52729484">
              <a:extLst>
                <a:ext uri="{FF2B5EF4-FFF2-40B4-BE49-F238E27FC236}">
                  <a16:creationId xmlns:a16="http://schemas.microsoft.com/office/drawing/2014/main" id="{FF9A93F4-C676-52F0-1B25-3BD863F4440D}"/>
                </a:ext>
              </a:extLst>
            </p:cNvPr>
            <p:cNvSpPr txBox="1"/>
            <p:nvPr/>
          </p:nvSpPr>
          <p:spPr>
            <a:xfrm>
              <a:off x="3843825" y="1560600"/>
              <a:ext cx="255600" cy="255600"/>
            </a:xfrm>
            <a:prstGeom prst="rect">
              <a:avLst/>
            </a:prstGeom>
            <a:noFill/>
            <a:ln>
              <a:noFill/>
            </a:ln>
          </p:spPr>
          <p:txBody>
            <a:bodyPr spcFirstLastPara="1" wrap="square" lIns="91425" tIns="91425" rIns="91425" bIns="91425" anchor="t" anchorCtr="0">
              <a:noAutofit/>
            </a:bodyPr>
            <a:lstStyle/>
            <a:p>
              <a:pPr marL="0" marR="0">
                <a:lnSpc>
                  <a:spcPct val="115000"/>
                </a:lnSpc>
                <a:spcAft>
                  <a:spcPts val="800"/>
                </a:spcAft>
                <a:buNone/>
              </a:pPr>
              <a:r>
                <a:rPr lang="en-US" sz="1400">
                  <a:solidFill>
                    <a:srgbClr val="000000"/>
                  </a:solidFill>
                  <a:effectLst/>
                  <a:latin typeface="Arial" panose="020B0604020202020204" pitchFamily="34" charset="0"/>
                  <a:ea typeface="Arial" panose="020B0604020202020204" pitchFamily="34" charset="0"/>
                  <a:cs typeface="Aptos" panose="020B0004020202020204" pitchFamily="34" charset="0"/>
                </a:rPr>
                <a:t>C</a:t>
              </a:r>
              <a:endParaRPr lang="en-US" sz="1200">
                <a:effectLst/>
                <a:latin typeface="Aptos" panose="020B0004020202020204" pitchFamily="34" charset="0"/>
                <a:ea typeface="Aptos" panose="020B0004020202020204" pitchFamily="34" charset="0"/>
                <a:cs typeface="Aptos" panose="020B0004020202020204" pitchFamily="34" charset="0"/>
              </a:endParaRPr>
            </a:p>
          </p:txBody>
        </p:sp>
        <p:cxnSp>
          <p:nvCxnSpPr>
            <p:cNvPr id="19" name="Straight Arrow Connector 18">
              <a:extLst>
                <a:ext uri="{FF2B5EF4-FFF2-40B4-BE49-F238E27FC236}">
                  <a16:creationId xmlns:a16="http://schemas.microsoft.com/office/drawing/2014/main" id="{89C71F8B-BF2D-43DE-9573-951A9D6C20B2}"/>
                </a:ext>
              </a:extLst>
            </p:cNvPr>
            <p:cNvCxnSpPr/>
            <p:nvPr/>
          </p:nvCxnSpPr>
          <p:spPr>
            <a:xfrm rot="10800000" flipH="1">
              <a:off x="3158575" y="1044275"/>
              <a:ext cx="225000" cy="173700"/>
            </a:xfrm>
            <a:prstGeom prst="straightConnector1">
              <a:avLst/>
            </a:prstGeom>
            <a:noFill/>
            <a:ln w="9525" cap="flat" cmpd="sng">
              <a:solidFill>
                <a:srgbClr val="000000"/>
              </a:solidFill>
              <a:prstDash val="solid"/>
              <a:round/>
              <a:headEnd type="none" w="med" len="med"/>
              <a:tailEnd type="none" w="med" len="med"/>
            </a:ln>
          </p:spPr>
        </p:cxnSp>
        <p:cxnSp>
          <p:nvCxnSpPr>
            <p:cNvPr id="20" name="Straight Arrow Connector 19">
              <a:extLst>
                <a:ext uri="{FF2B5EF4-FFF2-40B4-BE49-F238E27FC236}">
                  <a16:creationId xmlns:a16="http://schemas.microsoft.com/office/drawing/2014/main" id="{58042E61-A2FC-4640-E874-9359848ADC9B}"/>
                </a:ext>
              </a:extLst>
            </p:cNvPr>
            <p:cNvCxnSpPr/>
            <p:nvPr/>
          </p:nvCxnSpPr>
          <p:spPr>
            <a:xfrm>
              <a:off x="2320100" y="1044275"/>
              <a:ext cx="214800" cy="92100"/>
            </a:xfrm>
            <a:prstGeom prst="straightConnector1">
              <a:avLst/>
            </a:prstGeom>
            <a:noFill/>
            <a:ln w="9525" cap="flat" cmpd="sng">
              <a:solidFill>
                <a:srgbClr val="000000"/>
              </a:solidFill>
              <a:prstDash val="solid"/>
              <a:round/>
              <a:headEnd type="none" w="med" len="med"/>
              <a:tailEnd type="none" w="med" len="med"/>
            </a:ln>
          </p:spPr>
        </p:cxnSp>
      </p:grpSp>
      <mc:AlternateContent xmlns:mc="http://schemas.openxmlformats.org/markup-compatibility/2006" xmlns:a14="http://schemas.microsoft.com/office/drawing/2010/main">
        <mc:Choice Requires="a14">
          <p:sp>
            <p:nvSpPr>
              <p:cNvPr id="24" name="TextBox 23">
                <a:extLst>
                  <a:ext uri="{FF2B5EF4-FFF2-40B4-BE49-F238E27FC236}">
                    <a16:creationId xmlns:a16="http://schemas.microsoft.com/office/drawing/2014/main" id="{FF194506-9970-8172-C12F-BDBF3A537E6F}"/>
                  </a:ext>
                </a:extLst>
              </p:cNvPr>
              <p:cNvSpPr txBox="1"/>
              <p:nvPr/>
            </p:nvSpPr>
            <p:spPr>
              <a:xfrm>
                <a:off x="9705588" y="3967763"/>
                <a:ext cx="1195727" cy="1631216"/>
              </a:xfrm>
              <a:prstGeom prst="rect">
                <a:avLst/>
              </a:prstGeom>
              <a:noFill/>
            </p:spPr>
            <p:txBody>
              <a:bodyPr wrap="square">
                <a:spAutoFit/>
              </a:bodyPr>
              <a:lstStyle/>
              <a:p>
                <a14:m>
                  <m:oMath xmlns:m="http://schemas.openxmlformats.org/officeDocument/2006/math">
                    <m:r>
                      <a:rPr lang="en-US" sz="2000" i="1" smtClean="0">
                        <a:latin typeface="Cambria Math" panose="02040503050406030204" pitchFamily="18" charset="0"/>
                      </a:rPr>
                      <m:t>∡</m:t>
                    </m:r>
                    <m:r>
                      <a:rPr lang="en-US" sz="2000" i="1" smtClean="0">
                        <a:latin typeface="Cambria Math" panose="02040503050406030204" pitchFamily="18" charset="0"/>
                      </a:rPr>
                      <m:t>𝐴</m:t>
                    </m:r>
                  </m:oMath>
                </a14:m>
                <a:r>
                  <a:rPr lang="en-US" sz="2000"/>
                  <a:t>  </a:t>
                </a:r>
                <a:r>
                  <a:rPr lang="en-US" sz="2000">
                    <a:latin typeface="Assistant" pitchFamily="2" charset="-79"/>
                    <a:cs typeface="Assistant" pitchFamily="2" charset="-79"/>
                  </a:rPr>
                  <a:t>.1</a:t>
                </a:r>
                <a:r>
                  <a:rPr lang="he-IL" sz="2000"/>
                  <a:t> =</a:t>
                </a:r>
              </a:p>
              <a:p>
                <a:endParaRPr lang="he-IL" sz="2000"/>
              </a:p>
              <a:p>
                <a14:m>
                  <m:oMath xmlns:m="http://schemas.openxmlformats.org/officeDocument/2006/math">
                    <m:r>
                      <a:rPr lang="en-US" sz="2000" i="1">
                        <a:latin typeface="Cambria Math" panose="02040503050406030204" pitchFamily="18" charset="0"/>
                      </a:rPr>
                      <m:t>∡</m:t>
                    </m:r>
                    <m:r>
                      <a:rPr lang="en-US" sz="2000" b="0" i="1" smtClean="0">
                        <a:latin typeface="Cambria Math" panose="02040503050406030204" pitchFamily="18" charset="0"/>
                      </a:rPr>
                      <m:t>𝐵</m:t>
                    </m:r>
                  </m:oMath>
                </a14:m>
                <a:r>
                  <a:rPr lang="en-US" sz="2000"/>
                  <a:t>  </a:t>
                </a:r>
                <a:r>
                  <a:rPr lang="en-US" sz="2000">
                    <a:latin typeface="Assistant" pitchFamily="2" charset="-79"/>
                    <a:cs typeface="Assistant" pitchFamily="2" charset="-79"/>
                  </a:rPr>
                  <a:t>.2</a:t>
                </a:r>
                <a:r>
                  <a:rPr lang="he-IL" sz="2000"/>
                  <a:t> =</a:t>
                </a:r>
              </a:p>
              <a:p>
                <a:endParaRPr lang="he-IL" sz="2000"/>
              </a:p>
              <a:p>
                <a14:m>
                  <m:oMath xmlns:m="http://schemas.openxmlformats.org/officeDocument/2006/math">
                    <m:r>
                      <a:rPr lang="en-US" sz="2000" i="1">
                        <a:latin typeface="Cambria Math" panose="02040503050406030204" pitchFamily="18" charset="0"/>
                      </a:rPr>
                      <m:t>∡</m:t>
                    </m:r>
                    <m:r>
                      <a:rPr lang="en-US" sz="2000" b="0" i="1" smtClean="0">
                        <a:latin typeface="Cambria Math" panose="02040503050406030204" pitchFamily="18" charset="0"/>
                      </a:rPr>
                      <m:t>𝐶</m:t>
                    </m:r>
                  </m:oMath>
                </a14:m>
                <a:r>
                  <a:rPr lang="en-US" sz="2000"/>
                  <a:t>  </a:t>
                </a:r>
                <a:r>
                  <a:rPr lang="en-US" sz="2000">
                    <a:latin typeface="Assistant" pitchFamily="2" charset="-79"/>
                    <a:cs typeface="Assistant" pitchFamily="2" charset="-79"/>
                  </a:rPr>
                  <a:t>.3</a:t>
                </a:r>
                <a:r>
                  <a:rPr lang="he-IL" sz="2000"/>
                  <a:t> =  </a:t>
                </a:r>
              </a:p>
            </p:txBody>
          </p:sp>
        </mc:Choice>
        <mc:Fallback xmlns="">
          <p:sp>
            <p:nvSpPr>
              <p:cNvPr id="24" name="TextBox 23">
                <a:extLst>
                  <a:ext uri="{FF2B5EF4-FFF2-40B4-BE49-F238E27FC236}">
                    <a16:creationId xmlns:a16="http://schemas.microsoft.com/office/drawing/2014/main" id="{FF194506-9970-8172-C12F-BDBF3A537E6F}"/>
                  </a:ext>
                </a:extLst>
              </p:cNvPr>
              <p:cNvSpPr txBox="1">
                <a:spLocks noRot="1" noChangeAspect="1" noMove="1" noResize="1" noEditPoints="1" noAdjustHandles="1" noChangeArrowheads="1" noChangeShapeType="1" noTextEdit="1"/>
              </p:cNvSpPr>
              <p:nvPr/>
            </p:nvSpPr>
            <p:spPr>
              <a:xfrm>
                <a:off x="9705588" y="3967763"/>
                <a:ext cx="1195727" cy="1631216"/>
              </a:xfrm>
              <a:prstGeom prst="rect">
                <a:avLst/>
              </a:prstGeom>
              <a:blipFill>
                <a:blip r:embed="rId11"/>
                <a:stretch>
                  <a:fillRect l="-2551" t="-2622" r="-6122" b="-599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2" name="מלבן: פינות מעוגלות 9">
                <a:extLst>
                  <a:ext uri="{FF2B5EF4-FFF2-40B4-BE49-F238E27FC236}">
                    <a16:creationId xmlns:a16="http://schemas.microsoft.com/office/drawing/2014/main" id="{76EA20D9-978C-AE94-6491-2D210331AEA1}"/>
                  </a:ext>
                </a:extLst>
              </p:cNvPr>
              <p:cNvSpPr/>
              <p:nvPr/>
            </p:nvSpPr>
            <p:spPr>
              <a:xfrm>
                <a:off x="8563876" y="3809505"/>
                <a:ext cx="1233691" cy="526581"/>
              </a:xfrm>
              <a:prstGeom prst="roundRect">
                <a:avLst>
                  <a:gd name="adj" fmla="val 1764"/>
                </a:avLst>
              </a:prstGeom>
              <a:noFill/>
              <a:ln w="12700">
                <a:solidFill>
                  <a:srgbClr val="92D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
                      <m:r>
                        <a:rPr lang="en-US" sz="2000" i="1">
                          <a:solidFill>
                            <a:schemeClr val="tx1"/>
                          </a:solidFill>
                          <a:latin typeface="Cambria Math" panose="02040503050406030204" pitchFamily="18" charset="0"/>
                        </a:rPr>
                        <m:t>45°</m:t>
                      </m:r>
                    </m:oMath>
                  </m:oMathPara>
                </a14:m>
                <a:endParaRPr lang="LID4096" sz="2000">
                  <a:solidFill>
                    <a:schemeClr val="tx1"/>
                  </a:solidFill>
                </a:endParaRPr>
              </a:p>
            </p:txBody>
          </p:sp>
        </mc:Choice>
        <mc:Fallback xmlns="">
          <p:sp>
            <p:nvSpPr>
              <p:cNvPr id="42" name="מלבן: פינות מעוגלות 9">
                <a:extLst>
                  <a:ext uri="{FF2B5EF4-FFF2-40B4-BE49-F238E27FC236}">
                    <a16:creationId xmlns:a16="http://schemas.microsoft.com/office/drawing/2014/main" id="{76EA20D9-978C-AE94-6491-2D210331AEA1}"/>
                  </a:ext>
                </a:extLst>
              </p:cNvPr>
              <p:cNvSpPr>
                <a:spLocks noRot="1" noChangeAspect="1" noMove="1" noResize="1" noEditPoints="1" noAdjustHandles="1" noChangeArrowheads="1" noChangeShapeType="1" noTextEdit="1"/>
              </p:cNvSpPr>
              <p:nvPr/>
            </p:nvSpPr>
            <p:spPr>
              <a:xfrm>
                <a:off x="8563876" y="3809505"/>
                <a:ext cx="1233691" cy="526581"/>
              </a:xfrm>
              <a:prstGeom prst="roundRect">
                <a:avLst>
                  <a:gd name="adj" fmla="val 1764"/>
                </a:avLst>
              </a:prstGeom>
              <a:blipFill>
                <a:blip r:embed="rId12"/>
                <a:stretch>
                  <a:fillRect/>
                </a:stretch>
              </a:blipFill>
              <a:ln w="12700">
                <a:solidFill>
                  <a:srgbClr val="92D050"/>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0" name="מלבן: פינות מעוגלות 9">
                <a:extLst>
                  <a:ext uri="{FF2B5EF4-FFF2-40B4-BE49-F238E27FC236}">
                    <a16:creationId xmlns:a16="http://schemas.microsoft.com/office/drawing/2014/main" id="{4D316A63-F9C4-2FF7-20FC-0E136D889088}"/>
                  </a:ext>
                </a:extLst>
              </p:cNvPr>
              <p:cNvSpPr/>
              <p:nvPr/>
            </p:nvSpPr>
            <p:spPr>
              <a:xfrm>
                <a:off x="8546971" y="4417607"/>
                <a:ext cx="1233691" cy="526581"/>
              </a:xfrm>
              <a:prstGeom prst="roundRect">
                <a:avLst>
                  <a:gd name="adj" fmla="val 1764"/>
                </a:avLst>
              </a:prstGeom>
              <a:noFill/>
              <a:ln w="12700">
                <a:solidFill>
                  <a:srgbClr val="92D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
                      <m:r>
                        <a:rPr lang="en-US" sz="2000" b="0" i="1" smtClean="0">
                          <a:solidFill>
                            <a:schemeClr val="tx1"/>
                          </a:solidFill>
                          <a:latin typeface="Cambria Math" panose="02040503050406030204" pitchFamily="18" charset="0"/>
                        </a:rPr>
                        <m:t>67.5</m:t>
                      </m:r>
                      <m:r>
                        <a:rPr lang="en-US" sz="2000" i="1">
                          <a:solidFill>
                            <a:schemeClr val="tx1"/>
                          </a:solidFill>
                          <a:latin typeface="Cambria Math" panose="02040503050406030204" pitchFamily="18" charset="0"/>
                        </a:rPr>
                        <m:t>°</m:t>
                      </m:r>
                    </m:oMath>
                  </m:oMathPara>
                </a14:m>
                <a:endParaRPr lang="LID4096" sz="2000">
                  <a:solidFill>
                    <a:schemeClr val="tx1"/>
                  </a:solidFill>
                </a:endParaRPr>
              </a:p>
            </p:txBody>
          </p:sp>
        </mc:Choice>
        <mc:Fallback xmlns="">
          <p:sp>
            <p:nvSpPr>
              <p:cNvPr id="30" name="מלבן: פינות מעוגלות 9">
                <a:extLst>
                  <a:ext uri="{FF2B5EF4-FFF2-40B4-BE49-F238E27FC236}">
                    <a16:creationId xmlns:a16="http://schemas.microsoft.com/office/drawing/2014/main" id="{4D316A63-F9C4-2FF7-20FC-0E136D889088}"/>
                  </a:ext>
                </a:extLst>
              </p:cNvPr>
              <p:cNvSpPr>
                <a:spLocks noRot="1" noChangeAspect="1" noMove="1" noResize="1" noEditPoints="1" noAdjustHandles="1" noChangeArrowheads="1" noChangeShapeType="1" noTextEdit="1"/>
              </p:cNvSpPr>
              <p:nvPr/>
            </p:nvSpPr>
            <p:spPr>
              <a:xfrm>
                <a:off x="8546971" y="4417607"/>
                <a:ext cx="1233691" cy="526581"/>
              </a:xfrm>
              <a:prstGeom prst="roundRect">
                <a:avLst>
                  <a:gd name="adj" fmla="val 1764"/>
                </a:avLst>
              </a:prstGeom>
              <a:blipFill>
                <a:blip r:embed="rId13"/>
                <a:stretch>
                  <a:fillRect r="-1471"/>
                </a:stretch>
              </a:blipFill>
              <a:ln w="12700">
                <a:solidFill>
                  <a:srgbClr val="92D050"/>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2" name="מלבן: פינות מעוגלות 9">
                <a:extLst>
                  <a:ext uri="{FF2B5EF4-FFF2-40B4-BE49-F238E27FC236}">
                    <a16:creationId xmlns:a16="http://schemas.microsoft.com/office/drawing/2014/main" id="{A4EFDF50-8198-AFF4-23E3-4ED3C6E835E9}"/>
                  </a:ext>
                </a:extLst>
              </p:cNvPr>
              <p:cNvSpPr/>
              <p:nvPr/>
            </p:nvSpPr>
            <p:spPr>
              <a:xfrm>
                <a:off x="8546970" y="5047077"/>
                <a:ext cx="1233691" cy="526581"/>
              </a:xfrm>
              <a:prstGeom prst="roundRect">
                <a:avLst>
                  <a:gd name="adj" fmla="val 1764"/>
                </a:avLst>
              </a:prstGeom>
              <a:noFill/>
              <a:ln w="12700">
                <a:solidFill>
                  <a:srgbClr val="92D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
                      <m:r>
                        <a:rPr lang="en-US" sz="2000" i="1">
                          <a:solidFill>
                            <a:schemeClr val="tx1"/>
                          </a:solidFill>
                          <a:latin typeface="Cambria Math" panose="02040503050406030204" pitchFamily="18" charset="0"/>
                        </a:rPr>
                        <m:t>67.5°</m:t>
                      </m:r>
                    </m:oMath>
                  </m:oMathPara>
                </a14:m>
                <a:endParaRPr lang="LID4096" sz="2000">
                  <a:solidFill>
                    <a:schemeClr val="tx1"/>
                  </a:solidFill>
                </a:endParaRPr>
              </a:p>
            </p:txBody>
          </p:sp>
        </mc:Choice>
        <mc:Fallback xmlns="">
          <p:sp>
            <p:nvSpPr>
              <p:cNvPr id="32" name="מלבן: פינות מעוגלות 9">
                <a:extLst>
                  <a:ext uri="{FF2B5EF4-FFF2-40B4-BE49-F238E27FC236}">
                    <a16:creationId xmlns:a16="http://schemas.microsoft.com/office/drawing/2014/main" id="{A4EFDF50-8198-AFF4-23E3-4ED3C6E835E9}"/>
                  </a:ext>
                </a:extLst>
              </p:cNvPr>
              <p:cNvSpPr>
                <a:spLocks noRot="1" noChangeAspect="1" noMove="1" noResize="1" noEditPoints="1" noAdjustHandles="1" noChangeArrowheads="1" noChangeShapeType="1" noTextEdit="1"/>
              </p:cNvSpPr>
              <p:nvPr/>
            </p:nvSpPr>
            <p:spPr>
              <a:xfrm>
                <a:off x="8546970" y="5047077"/>
                <a:ext cx="1233691" cy="526581"/>
              </a:xfrm>
              <a:prstGeom prst="roundRect">
                <a:avLst>
                  <a:gd name="adj" fmla="val 1764"/>
                </a:avLst>
              </a:prstGeom>
              <a:blipFill>
                <a:blip r:embed="rId14"/>
                <a:stretch>
                  <a:fillRect r="-1471"/>
                </a:stretch>
              </a:blipFill>
              <a:ln w="12700">
                <a:solidFill>
                  <a:srgbClr val="92D050"/>
                </a:solidFill>
              </a:ln>
            </p:spPr>
            <p:txBody>
              <a:bodyPr/>
              <a:lstStyle/>
              <a:p>
                <a:r>
                  <a:rPr lang="en-US">
                    <a:noFill/>
                  </a:rPr>
                  <a:t> </a:t>
                </a:r>
              </a:p>
            </p:txBody>
          </p:sp>
        </mc:Fallback>
      </mc:AlternateContent>
      <p:sp>
        <p:nvSpPr>
          <p:cNvPr id="25" name="מלבן 7">
            <a:extLst>
              <a:ext uri="{FF2B5EF4-FFF2-40B4-BE49-F238E27FC236}">
                <a16:creationId xmlns:a16="http://schemas.microsoft.com/office/drawing/2014/main" id="{20585576-2D50-CCE9-FC90-861D6966AEA1}"/>
              </a:ext>
            </a:extLst>
          </p:cNvPr>
          <p:cNvSpPr/>
          <p:nvPr/>
        </p:nvSpPr>
        <p:spPr>
          <a:xfrm>
            <a:off x="11896440" y="332438"/>
            <a:ext cx="45719" cy="5474677"/>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LID4096"/>
          </a:p>
        </p:txBody>
      </p:sp>
      <p:sp>
        <p:nvSpPr>
          <p:cNvPr id="33" name="מלבן 8">
            <a:extLst>
              <a:ext uri="{FF2B5EF4-FFF2-40B4-BE49-F238E27FC236}">
                <a16:creationId xmlns:a16="http://schemas.microsoft.com/office/drawing/2014/main" id="{579D7034-C1BE-FCFB-6BAA-1A260CD79A96}"/>
              </a:ext>
            </a:extLst>
          </p:cNvPr>
          <p:cNvSpPr/>
          <p:nvPr/>
        </p:nvSpPr>
        <p:spPr>
          <a:xfrm>
            <a:off x="11896439" y="332437"/>
            <a:ext cx="45719" cy="3526971"/>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LID4096"/>
          </a:p>
        </p:txBody>
      </p:sp>
    </p:spTree>
    <p:custDataLst>
      <p:tags r:id="rId1"/>
    </p:custDataLst>
    <p:extLst>
      <p:ext uri="{BB962C8B-B14F-4D97-AF65-F5344CB8AC3E}">
        <p14:creationId xmlns:p14="http://schemas.microsoft.com/office/powerpoint/2010/main" val="1458539957"/>
      </p:ext>
    </p:extLst>
  </p:cSld>
  <p:clrMapOvr>
    <a:masterClrMapping/>
  </p:clrMapOvr>
  <p:extLst>
    <p:ext uri="{6950BFC3-D8DA-4A85-94F7-54DA5524770B}">
      <p188:commentRel xmlns:p188="http://schemas.microsoft.com/office/powerpoint/2018/8/main" r:id="rId4"/>
    </p:ext>
  </p:extLst>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A1B5C5-5866-EE07-7EA9-43BDA194C4C3}"/>
            </a:ext>
          </a:extLst>
        </p:cNvPr>
        <p:cNvGrpSpPr/>
        <p:nvPr/>
      </p:nvGrpSpPr>
      <p:grpSpPr>
        <a:xfrm>
          <a:off x="0" y="0"/>
          <a:ext cx="0" cy="0"/>
          <a:chOff x="0" y="0"/>
          <a:chExt cx="0" cy="0"/>
        </a:xfrm>
      </p:grpSpPr>
      <p:cxnSp>
        <p:nvCxnSpPr>
          <p:cNvPr id="4" name="מחבר ישר 3">
            <a:extLst>
              <a:ext uri="{FF2B5EF4-FFF2-40B4-BE49-F238E27FC236}">
                <a16:creationId xmlns:a16="http://schemas.microsoft.com/office/drawing/2014/main" id="{958A751A-79B4-2C59-B8EE-F9D92002C5CE}"/>
              </a:ext>
            </a:extLst>
          </p:cNvPr>
          <p:cNvCxnSpPr>
            <a:cxnSpLocks/>
          </p:cNvCxnSpPr>
          <p:nvPr/>
        </p:nvCxnSpPr>
        <p:spPr>
          <a:xfrm>
            <a:off x="0" y="6079252"/>
            <a:ext cx="12293600" cy="102890"/>
          </a:xfrm>
          <a:prstGeom prst="line">
            <a:avLst/>
          </a:prstGeom>
          <a:ln>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5" name="מלבן: פינות מעוגלות 4">
            <a:extLst>
              <a:ext uri="{FF2B5EF4-FFF2-40B4-BE49-F238E27FC236}">
                <a16:creationId xmlns:a16="http://schemas.microsoft.com/office/drawing/2014/main" id="{8C509DA1-D499-A572-8142-E50253AD68BF}"/>
              </a:ext>
            </a:extLst>
          </p:cNvPr>
          <p:cNvSpPr/>
          <p:nvPr/>
        </p:nvSpPr>
        <p:spPr>
          <a:xfrm>
            <a:off x="268356" y="6182143"/>
            <a:ext cx="1798983" cy="506891"/>
          </a:xfrm>
          <a:prstGeom prst="roundRect">
            <a:avLst>
              <a:gd name="adj" fmla="val 50000"/>
            </a:avLst>
          </a:prstGeom>
          <a:solidFill>
            <a:schemeClr val="bg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he-IL"/>
              <a:t>צדקתי?</a:t>
            </a:r>
            <a:endParaRPr lang="LID4096"/>
          </a:p>
        </p:txBody>
      </p:sp>
      <p:sp>
        <p:nvSpPr>
          <p:cNvPr id="2" name="מלבן: פינות מעוגלות 1">
            <a:extLst>
              <a:ext uri="{FF2B5EF4-FFF2-40B4-BE49-F238E27FC236}">
                <a16:creationId xmlns:a16="http://schemas.microsoft.com/office/drawing/2014/main" id="{93BC3371-34E8-47BF-FCFC-31DBDFF64AD4}"/>
              </a:ext>
            </a:extLst>
          </p:cNvPr>
          <p:cNvSpPr/>
          <p:nvPr/>
        </p:nvSpPr>
        <p:spPr>
          <a:xfrm>
            <a:off x="2179982" y="6182142"/>
            <a:ext cx="2481470" cy="506891"/>
          </a:xfrm>
          <a:prstGeom prst="roundRect">
            <a:avLst>
              <a:gd name="adj" fmla="val 50000"/>
            </a:avLst>
          </a:prstGeom>
          <a:noFill/>
          <a:ln>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he-IL">
                <a:solidFill>
                  <a:srgbClr val="00B0F0"/>
                </a:solidFill>
              </a:rPr>
              <a:t>     אפשר רמז?</a:t>
            </a:r>
            <a:endParaRPr lang="LID4096">
              <a:solidFill>
                <a:srgbClr val="00B0F0"/>
              </a:solidFill>
            </a:endParaRPr>
          </a:p>
        </p:txBody>
      </p:sp>
      <p:pic>
        <p:nvPicPr>
          <p:cNvPr id="12" name="גרפיקה 11" descr="נורת חשמל וגלגל שיניים עם מילוי מלא">
            <a:extLst>
              <a:ext uri="{FF2B5EF4-FFF2-40B4-BE49-F238E27FC236}">
                <a16:creationId xmlns:a16="http://schemas.microsoft.com/office/drawing/2014/main" id="{9AA184E7-BB5A-0216-3A38-1BC25C5557AC}"/>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3831910" y="6266545"/>
            <a:ext cx="338083" cy="338083"/>
          </a:xfrm>
          <a:prstGeom prst="rect">
            <a:avLst/>
          </a:prstGeom>
        </p:spPr>
      </p:pic>
      <p:pic>
        <p:nvPicPr>
          <p:cNvPr id="3" name="תמונה 2">
            <a:extLst>
              <a:ext uri="{FF2B5EF4-FFF2-40B4-BE49-F238E27FC236}">
                <a16:creationId xmlns:a16="http://schemas.microsoft.com/office/drawing/2014/main" id="{EB7E3CCD-56B0-C354-E7E3-46ACF1E9017B}"/>
              </a:ext>
            </a:extLst>
          </p:cNvPr>
          <p:cNvPicPr>
            <a:picLocks noChangeAspect="1"/>
          </p:cNvPicPr>
          <p:nvPr/>
        </p:nvPicPr>
        <p:blipFill>
          <a:blip r:embed="rId6">
            <a:extLst>
              <a:ext uri="{28A0092B-C50C-407E-A947-70E740481C1C}">
                <a14:useLocalDpi xmlns:a14="http://schemas.microsoft.com/office/drawing/2010/main"/>
              </a:ext>
            </a:extLst>
          </a:blip>
          <a:stretch>
            <a:fillRect/>
          </a:stretch>
        </p:blipFill>
        <p:spPr>
          <a:xfrm>
            <a:off x="0" y="57121"/>
            <a:ext cx="933869" cy="721626"/>
          </a:xfrm>
          <a:prstGeom prst="rect">
            <a:avLst/>
          </a:prstGeom>
        </p:spPr>
      </p:pic>
      <p:sp>
        <p:nvSpPr>
          <p:cNvPr id="7" name="מלבן: פינות מעוגלות 6">
            <a:extLst>
              <a:ext uri="{FF2B5EF4-FFF2-40B4-BE49-F238E27FC236}">
                <a16:creationId xmlns:a16="http://schemas.microsoft.com/office/drawing/2014/main" id="{B6D29934-C446-401C-8560-8B6B9FD4FAF6}"/>
              </a:ext>
            </a:extLst>
          </p:cNvPr>
          <p:cNvSpPr/>
          <p:nvPr/>
        </p:nvSpPr>
        <p:spPr>
          <a:xfrm>
            <a:off x="10244695" y="6193485"/>
            <a:ext cx="1798983" cy="506891"/>
          </a:xfrm>
          <a:prstGeom prst="roundRect">
            <a:avLst>
              <a:gd name="adj" fmla="val 50000"/>
            </a:avLst>
          </a:prstGeom>
          <a:noFill/>
          <a:ln>
            <a:solidFill>
              <a:srgbClr val="019DE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he-IL">
                <a:solidFill>
                  <a:srgbClr val="019DE5"/>
                </a:solidFill>
                <a:latin typeface="Assistant" pitchFamily="2" charset="-79"/>
                <a:cs typeface="Assistant" pitchFamily="2" charset="-79"/>
              </a:rPr>
              <a:t>חזרה</a:t>
            </a:r>
            <a:endParaRPr lang="LID4096">
              <a:solidFill>
                <a:srgbClr val="019DE5"/>
              </a:solidFill>
              <a:latin typeface="Assistant" pitchFamily="2" charset="-79"/>
              <a:cs typeface="Assistant" pitchFamily="2" charset="-79"/>
            </a:endParaRPr>
          </a:p>
        </p:txBody>
      </p:sp>
      <p:pic>
        <p:nvPicPr>
          <p:cNvPr id="9" name="תמונה 8">
            <a:extLst>
              <a:ext uri="{FF2B5EF4-FFF2-40B4-BE49-F238E27FC236}">
                <a16:creationId xmlns:a16="http://schemas.microsoft.com/office/drawing/2014/main" id="{E9DDC9E3-845A-AC99-5405-9DEEF7722945}"/>
              </a:ext>
            </a:extLst>
          </p:cNvPr>
          <p:cNvPicPr>
            <a:picLocks noChangeAspect="1"/>
          </p:cNvPicPr>
          <p:nvPr/>
        </p:nvPicPr>
        <p:blipFill>
          <a:blip r:embed="rId7">
            <a:extLst>
              <a:ext uri="{28A0092B-C50C-407E-A947-70E740481C1C}">
                <a14:useLocalDpi xmlns:a14="http://schemas.microsoft.com/office/drawing/2010/main"/>
              </a:ext>
            </a:extLst>
          </a:blip>
          <a:stretch>
            <a:fillRect/>
          </a:stretch>
        </p:blipFill>
        <p:spPr>
          <a:xfrm>
            <a:off x="2803561" y="417934"/>
            <a:ext cx="7847619" cy="558730"/>
          </a:xfrm>
          <a:prstGeom prst="rect">
            <a:avLst/>
          </a:prstGeom>
        </p:spPr>
      </p:pic>
      <mc:AlternateContent xmlns:mc="http://schemas.openxmlformats.org/markup-compatibility/2006" xmlns:a14="http://schemas.microsoft.com/office/drawing/2010/main">
        <mc:Choice Requires="a14">
          <p:sp>
            <p:nvSpPr>
              <p:cNvPr id="10" name="מלבן: פינות מעוגלות 9">
                <a:extLst>
                  <a:ext uri="{FF2B5EF4-FFF2-40B4-BE49-F238E27FC236}">
                    <a16:creationId xmlns:a16="http://schemas.microsoft.com/office/drawing/2014/main" id="{6FBC6FF3-A850-381B-8CC4-E2CD921DD287}"/>
                  </a:ext>
                </a:extLst>
              </p:cNvPr>
              <p:cNvSpPr/>
              <p:nvPr/>
            </p:nvSpPr>
            <p:spPr>
              <a:xfrm>
                <a:off x="-6154056" y="4034705"/>
                <a:ext cx="5745826" cy="5185496"/>
              </a:xfrm>
              <a:prstGeom prst="roundRect">
                <a:avLst>
                  <a:gd name="adj" fmla="val 1647"/>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he-IL" sz="2000">
                  <a:solidFill>
                    <a:schemeClr val="tx1"/>
                  </a:solidFill>
                  <a:latin typeface="Assistant" pitchFamily="2" charset="-79"/>
                  <a:cs typeface="Assistant" pitchFamily="2" charset="-79"/>
                </a:endParaRPr>
              </a:p>
              <a:p>
                <a:pPr algn="ctr"/>
                <a:r>
                  <a:rPr lang="he-IL" sz="2000" b="1">
                    <a:solidFill>
                      <a:schemeClr val="tx1"/>
                    </a:solidFill>
                    <a:latin typeface="Assistant" pitchFamily="2" charset="-79"/>
                    <a:cs typeface="Assistant" pitchFamily="2" charset="-79"/>
                  </a:rPr>
                  <a:t>כל הכבוד, צדקתם! / טעית. לא נורא, מטעויות לומדים</a:t>
                </a:r>
              </a:p>
              <a:p>
                <a:pPr algn="ctr"/>
                <a:endParaRPr lang="he-IL" sz="2000">
                  <a:solidFill>
                    <a:schemeClr val="tx1"/>
                  </a:solidFill>
                  <a:latin typeface="Assistant" pitchFamily="2" charset="-79"/>
                  <a:cs typeface="Assistant" pitchFamily="2" charset="-79"/>
                </a:endParaRPr>
              </a:p>
              <a:p>
                <a:r>
                  <a:rPr lang="he-IL" sz="2000">
                    <a:solidFill>
                      <a:schemeClr val="tx1"/>
                    </a:solidFill>
                    <a:latin typeface="Assistant" pitchFamily="2" charset="-79"/>
                    <a:cs typeface="Assistant" pitchFamily="2" charset="-79"/>
                  </a:rPr>
                  <a:t>ב. נמצא את סכום שתי זוויות הבסיס </a:t>
                </a:r>
                <a14:m>
                  <m:oMath xmlns:m="http://schemas.openxmlformats.org/officeDocument/2006/math">
                    <m:f>
                      <m:fPr>
                        <m:ctrlPr>
                          <a:rPr lang="en-US" sz="2000" b="0" i="1" smtClean="0">
                            <a:solidFill>
                              <a:schemeClr val="tx1"/>
                            </a:solidFill>
                            <a:latin typeface="Cambria Math" panose="02040503050406030204" pitchFamily="18" charset="0"/>
                          </a:rPr>
                        </m:ctrlPr>
                      </m:fPr>
                      <m:num>
                        <m:r>
                          <a:rPr lang="en-US" sz="2000" b="0" i="1" smtClean="0">
                            <a:solidFill>
                              <a:schemeClr val="tx1"/>
                            </a:solidFill>
                            <a:latin typeface="Cambria Math" panose="02040503050406030204" pitchFamily="18" charset="0"/>
                          </a:rPr>
                          <m:t>3</m:t>
                        </m:r>
                      </m:num>
                      <m:den>
                        <m:r>
                          <a:rPr lang="en-US" sz="2000" b="0" i="1" smtClean="0">
                            <a:solidFill>
                              <a:schemeClr val="tx1"/>
                            </a:solidFill>
                            <a:latin typeface="Cambria Math" panose="02040503050406030204" pitchFamily="18" charset="0"/>
                          </a:rPr>
                          <m:t>4</m:t>
                        </m:r>
                      </m:den>
                    </m:f>
                    <m:r>
                      <a:rPr lang="en-US" sz="2000" b="0" i="1" smtClean="0">
                        <a:solidFill>
                          <a:schemeClr val="tx1"/>
                        </a:solidFill>
                        <a:latin typeface="Cambria Math" panose="02040503050406030204" pitchFamily="18" charset="0"/>
                      </a:rPr>
                      <m:t>⋅180=135°</m:t>
                    </m:r>
                  </m:oMath>
                </a14:m>
                <a:endParaRPr lang="en-US" sz="2000">
                  <a:solidFill>
                    <a:schemeClr val="tx1"/>
                  </a:solidFill>
                  <a:latin typeface="Assistant" pitchFamily="2" charset="-79"/>
                  <a:cs typeface="Assistant" pitchFamily="2" charset="-79"/>
                </a:endParaRPr>
              </a:p>
              <a:p>
                <a:r>
                  <a:rPr lang="he-IL" sz="2000">
                    <a:solidFill>
                      <a:schemeClr val="tx1"/>
                    </a:solidFill>
                    <a:latin typeface="Assistant" pitchFamily="2" charset="-79"/>
                    <a:cs typeface="Assistant" pitchFamily="2" charset="-79"/>
                  </a:rPr>
                  <a:t>מכיוון שהן שוות, גודלה של כל זווית הוא </a:t>
                </a:r>
                <a14:m>
                  <m:oMath xmlns:m="http://schemas.openxmlformats.org/officeDocument/2006/math">
                    <m:r>
                      <a:rPr lang="en-US" sz="2000" b="0" i="1" smtClean="0">
                        <a:solidFill>
                          <a:schemeClr val="tx1"/>
                        </a:solidFill>
                        <a:latin typeface="Cambria Math" panose="02040503050406030204" pitchFamily="18" charset="0"/>
                      </a:rPr>
                      <m:t>135÷2=67.5°</m:t>
                    </m:r>
                  </m:oMath>
                </a14:m>
                <a:r>
                  <a:rPr lang="he-IL" sz="2000">
                    <a:solidFill>
                      <a:schemeClr val="tx1"/>
                    </a:solidFill>
                    <a:latin typeface="Assistant" pitchFamily="2" charset="-79"/>
                    <a:cs typeface="Assistant" pitchFamily="2" charset="-79"/>
                  </a:rPr>
                  <a:t>, לכן </a:t>
                </a:r>
                <a14:m>
                  <m:oMath xmlns:m="http://schemas.openxmlformats.org/officeDocument/2006/math">
                    <m:r>
                      <a:rPr lang="en-US" sz="2000" b="0" i="1" smtClean="0">
                        <a:solidFill>
                          <a:schemeClr val="tx1"/>
                        </a:solidFill>
                        <a:latin typeface="Cambria Math" panose="02040503050406030204" pitchFamily="18" charset="0"/>
                      </a:rPr>
                      <m:t>67.5°</m:t>
                    </m:r>
                  </m:oMath>
                </a14:m>
                <a:r>
                  <a:rPr lang="en-US" sz="2000">
                    <a:solidFill>
                      <a:schemeClr val="tx1"/>
                    </a:solidFill>
                    <a:latin typeface="Assistant" pitchFamily="2" charset="-79"/>
                    <a:cs typeface="Assistant" pitchFamily="2" charset="-79"/>
                  </a:rPr>
                  <a:t> </a:t>
                </a:r>
                <a14:m>
                  <m:oMath xmlns:m="http://schemas.openxmlformats.org/officeDocument/2006/math">
                    <m:r>
                      <a:rPr lang="en-US" sz="2000" b="0" i="1" smtClean="0">
                        <a:solidFill>
                          <a:schemeClr val="tx1"/>
                        </a:solidFill>
                        <a:latin typeface="Cambria Math" panose="02040503050406030204" pitchFamily="18" charset="0"/>
                      </a:rPr>
                      <m:t>∢</m:t>
                    </m:r>
                    <m:r>
                      <a:rPr lang="en-US" sz="2000" b="0" i="1" smtClean="0">
                        <a:solidFill>
                          <a:schemeClr val="tx1"/>
                        </a:solidFill>
                        <a:latin typeface="Cambria Math" panose="02040503050406030204" pitchFamily="18" charset="0"/>
                      </a:rPr>
                      <m:t>𝐵</m:t>
                    </m:r>
                    <m:r>
                      <a:rPr lang="en-US" sz="2000" b="0" i="1" smtClean="0">
                        <a:solidFill>
                          <a:schemeClr val="tx1"/>
                        </a:solidFill>
                        <a:latin typeface="Cambria Math" panose="02040503050406030204" pitchFamily="18" charset="0"/>
                      </a:rPr>
                      <m:t>=</m:t>
                    </m:r>
                  </m:oMath>
                </a14:m>
                <a:r>
                  <a:rPr lang="he-IL" sz="2000">
                    <a:solidFill>
                      <a:schemeClr val="tx1"/>
                    </a:solidFill>
                    <a:latin typeface="Assistant" pitchFamily="2" charset="-79"/>
                    <a:cs typeface="Assistant" pitchFamily="2" charset="-79"/>
                  </a:rPr>
                  <a:t>.</a:t>
                </a:r>
              </a:p>
              <a:p>
                <a:r>
                  <a:rPr lang="he-IL" sz="2000">
                    <a:solidFill>
                      <a:schemeClr val="tx1"/>
                    </a:solidFill>
                    <a:latin typeface="Assistant" pitchFamily="2" charset="-79"/>
                    <a:cs typeface="Assistant" pitchFamily="2" charset="-79"/>
                  </a:rPr>
                  <a:t>האדריכל הצעיר אינו צודק. </a:t>
                </a:r>
                <a:endParaRPr lang="en-US" sz="2000">
                  <a:solidFill>
                    <a:schemeClr val="tx1"/>
                  </a:solidFill>
                  <a:latin typeface="Assistant" pitchFamily="2" charset="-79"/>
                  <a:cs typeface="Assistant" pitchFamily="2" charset="-79"/>
                </a:endParaRPr>
              </a:p>
              <a:p>
                <a:endParaRPr lang="en-US" sz="2000">
                  <a:solidFill>
                    <a:schemeClr val="tx1"/>
                  </a:solidFill>
                  <a:latin typeface="Assistant" pitchFamily="2" charset="-79"/>
                  <a:cs typeface="Assistant" pitchFamily="2" charset="-79"/>
                </a:endParaRPr>
              </a:p>
              <a:p>
                <a:pPr>
                  <a:spcAft>
                    <a:spcPts val="600"/>
                  </a:spcAft>
                </a:pPr>
                <a:endParaRPr lang="he-IL" sz="2000">
                  <a:solidFill>
                    <a:schemeClr val="tx1"/>
                  </a:solidFill>
                  <a:latin typeface="Assistant" pitchFamily="2" charset="-79"/>
                  <a:cs typeface="Assistant" pitchFamily="2" charset="-79"/>
                </a:endParaRPr>
              </a:p>
            </p:txBody>
          </p:sp>
        </mc:Choice>
        <mc:Fallback xmlns="">
          <p:sp>
            <p:nvSpPr>
              <p:cNvPr id="10" name="מלבן: פינות מעוגלות 9">
                <a:extLst>
                  <a:ext uri="{FF2B5EF4-FFF2-40B4-BE49-F238E27FC236}">
                    <a16:creationId xmlns:a16="http://schemas.microsoft.com/office/drawing/2014/main" id="{6FBC6FF3-A850-381B-8CC4-E2CD921DD287}"/>
                  </a:ext>
                </a:extLst>
              </p:cNvPr>
              <p:cNvSpPr>
                <a:spLocks noRot="1" noChangeAspect="1" noMove="1" noResize="1" noEditPoints="1" noAdjustHandles="1" noChangeArrowheads="1" noChangeShapeType="1" noTextEdit="1"/>
              </p:cNvSpPr>
              <p:nvPr/>
            </p:nvSpPr>
            <p:spPr>
              <a:xfrm>
                <a:off x="-6154056" y="4034705"/>
                <a:ext cx="5745826" cy="5185496"/>
              </a:xfrm>
              <a:prstGeom prst="roundRect">
                <a:avLst>
                  <a:gd name="adj" fmla="val 1647"/>
                </a:avLst>
              </a:prstGeom>
              <a:blipFill>
                <a:blip r:embed="rId8"/>
                <a:stretch>
                  <a:fillRect r="-636"/>
                </a:stretch>
              </a:blipFill>
              <a:ln>
                <a:noFill/>
              </a:ln>
            </p:spPr>
            <p:txBody>
              <a:bodyPr/>
              <a:lstStyle/>
              <a:p>
                <a:r>
                  <a:rPr lang="en-US">
                    <a:noFill/>
                  </a:rPr>
                  <a:t> </a:t>
                </a:r>
              </a:p>
            </p:txBody>
          </p:sp>
        </mc:Fallback>
      </mc:AlternateContent>
      <p:sp>
        <p:nvSpPr>
          <p:cNvPr id="11" name="מלבן 10">
            <a:extLst>
              <a:ext uri="{FF2B5EF4-FFF2-40B4-BE49-F238E27FC236}">
                <a16:creationId xmlns:a16="http://schemas.microsoft.com/office/drawing/2014/main" id="{1DD378DE-B765-D3B2-A95A-156CAE64687A}"/>
              </a:ext>
            </a:extLst>
          </p:cNvPr>
          <p:cNvSpPr/>
          <p:nvPr/>
        </p:nvSpPr>
        <p:spPr>
          <a:xfrm>
            <a:off x="-115414" y="-1103086"/>
            <a:ext cx="2295396" cy="976083"/>
          </a:xfrm>
          <a:prstGeom prst="rect">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he-IL" sz="1800" b="1" i="0" u="none" strike="noStrike" kern="1200" cap="none" spc="0" normalizeH="0" baseline="0" noProof="0">
                <a:ln>
                  <a:noFill/>
                </a:ln>
                <a:solidFill>
                  <a:prstClr val="black"/>
                </a:solidFill>
                <a:effectLst/>
                <a:uLnTx/>
                <a:uFillTx/>
                <a:latin typeface="Assistant" pitchFamily="2" charset="-79"/>
                <a:ea typeface="+mn-ea"/>
                <a:cs typeface="Assistant" pitchFamily="2" charset="-79"/>
                <a:hlinkClick r:id="rId9"/>
              </a:rPr>
              <a:t>רמת חשיבה</a:t>
            </a:r>
            <a:endParaRPr kumimoji="0" lang="he-IL" sz="1800" b="1" i="0" u="none" strike="noStrike" kern="1200" cap="none" spc="0" normalizeH="0" baseline="0" noProof="0">
              <a:ln>
                <a:noFill/>
              </a:ln>
              <a:solidFill>
                <a:prstClr val="black"/>
              </a:solidFill>
              <a:effectLst/>
              <a:uLnTx/>
              <a:uFillTx/>
              <a:latin typeface="Assistant" pitchFamily="2" charset="-79"/>
              <a:ea typeface="+mn-ea"/>
              <a:cs typeface="Assistant" pitchFamily="2" charset="-79"/>
            </a:endParaRPr>
          </a:p>
          <a:p>
            <a:pPr marL="285750" marR="0" lvl="0" indent="-285750" defTabSz="91440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he-IL" sz="1800" i="0" u="none" strike="noStrike" kern="1200" cap="none" spc="0" normalizeH="0" baseline="0" noProof="0">
                <a:ln>
                  <a:noFill/>
                </a:ln>
                <a:solidFill>
                  <a:prstClr val="black"/>
                </a:solidFill>
                <a:effectLst/>
                <a:uLnTx/>
                <a:uFillTx/>
                <a:latin typeface="Assistant" pitchFamily="2" charset="-79"/>
                <a:ea typeface="+mn-ea"/>
                <a:cs typeface="Assistant" pitchFamily="2" charset="-79"/>
              </a:rPr>
              <a:t>טקסט </a:t>
            </a:r>
          </a:p>
          <a:p>
            <a:pPr marL="285750" marR="0" lvl="0" indent="-285750" defTabSz="914400" eaLnBrk="1" fontAlgn="auto" latinLnBrk="0" hangingPunct="1">
              <a:lnSpc>
                <a:spcPct val="100000"/>
              </a:lnSpc>
              <a:spcBef>
                <a:spcPts val="0"/>
              </a:spcBef>
              <a:spcAft>
                <a:spcPts val="0"/>
              </a:spcAft>
              <a:buClrTx/>
              <a:buSzTx/>
              <a:buFont typeface="Arial" panose="020B0604020202020204" pitchFamily="34" charset="0"/>
              <a:buChar char="•"/>
              <a:tabLst/>
              <a:defRPr/>
            </a:pPr>
            <a:r>
              <a:rPr lang="he-IL">
                <a:solidFill>
                  <a:prstClr val="black"/>
                </a:solidFill>
                <a:latin typeface="Assistant" pitchFamily="2" charset="-79"/>
                <a:cs typeface="Assistant" pitchFamily="2" charset="-79"/>
              </a:rPr>
              <a:t>טקסט</a:t>
            </a:r>
            <a:endParaRPr kumimoji="0" lang="he-IL" sz="1800" i="0" u="none" strike="noStrike" kern="1200" cap="none" spc="0" normalizeH="0" baseline="0" noProof="0">
              <a:ln>
                <a:noFill/>
              </a:ln>
              <a:solidFill>
                <a:prstClr val="black"/>
              </a:solidFill>
              <a:effectLst/>
              <a:uLnTx/>
              <a:uFillTx/>
              <a:latin typeface="Assistant" pitchFamily="2" charset="-79"/>
              <a:ea typeface="+mn-ea"/>
              <a:cs typeface="Assistant" pitchFamily="2" charset="-79"/>
            </a:endParaRPr>
          </a:p>
        </p:txBody>
      </p:sp>
      <p:grpSp>
        <p:nvGrpSpPr>
          <p:cNvPr id="15" name="קבוצה 14">
            <a:extLst>
              <a:ext uri="{FF2B5EF4-FFF2-40B4-BE49-F238E27FC236}">
                <a16:creationId xmlns:a16="http://schemas.microsoft.com/office/drawing/2014/main" id="{25E22DE4-C5AF-0BB8-2761-0A8A71B23FC0}"/>
              </a:ext>
            </a:extLst>
          </p:cNvPr>
          <p:cNvGrpSpPr/>
          <p:nvPr/>
        </p:nvGrpSpPr>
        <p:grpSpPr>
          <a:xfrm>
            <a:off x="-9185160" y="-8867"/>
            <a:ext cx="9123904" cy="3818372"/>
            <a:chOff x="-9229411" y="26138"/>
            <a:chExt cx="9123904" cy="3818372"/>
          </a:xfrm>
        </p:grpSpPr>
        <p:sp>
          <p:nvSpPr>
            <p:cNvPr id="17" name="מלבן: פינות מעוגלות 16">
              <a:extLst>
                <a:ext uri="{FF2B5EF4-FFF2-40B4-BE49-F238E27FC236}">
                  <a16:creationId xmlns:a16="http://schemas.microsoft.com/office/drawing/2014/main" id="{9C60648C-E719-5A2F-BE72-1020BDA7C4B9}"/>
                </a:ext>
              </a:extLst>
            </p:cNvPr>
            <p:cNvSpPr/>
            <p:nvPr/>
          </p:nvSpPr>
          <p:spPr>
            <a:xfrm>
              <a:off x="-9229411" y="26138"/>
              <a:ext cx="9123904" cy="3818372"/>
            </a:xfrm>
            <a:prstGeom prst="roundRect">
              <a:avLst>
                <a:gd name="adj" fmla="val 8509"/>
              </a:avLst>
            </a:prstGeom>
            <a:solidFill>
              <a:srgbClr val="00B0F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LID4096"/>
            </a:p>
          </p:txBody>
        </p:sp>
        <p:sp>
          <p:nvSpPr>
            <p:cNvPr id="27" name="תיבת טקסט 26">
              <a:extLst>
                <a:ext uri="{FF2B5EF4-FFF2-40B4-BE49-F238E27FC236}">
                  <a16:creationId xmlns:a16="http://schemas.microsoft.com/office/drawing/2014/main" id="{FBCF59FF-EFE1-14FA-6D06-32914450359D}"/>
                </a:ext>
              </a:extLst>
            </p:cNvPr>
            <p:cNvSpPr txBox="1"/>
            <p:nvPr/>
          </p:nvSpPr>
          <p:spPr>
            <a:xfrm>
              <a:off x="-6933085" y="474122"/>
              <a:ext cx="5949527" cy="400110"/>
            </a:xfrm>
            <a:prstGeom prst="rect">
              <a:avLst/>
            </a:prstGeom>
            <a:noFill/>
          </p:spPr>
          <p:txBody>
            <a:bodyPr wrap="square" rtlCol="0">
              <a:spAutoFit/>
            </a:bodyPr>
            <a:lstStyle/>
            <a:p>
              <a:r>
                <a:rPr lang="he-IL" sz="2000">
                  <a:solidFill>
                    <a:schemeClr val="bg1"/>
                  </a:solidFill>
                  <a:latin typeface="Assistant" pitchFamily="2" charset="-79"/>
                  <a:cs typeface="Assistant" pitchFamily="2" charset="-79"/>
                </a:rPr>
                <a:t>במשולש שווה שוקיים זוויות הבסיס הן שוות. </a:t>
              </a:r>
              <a:endParaRPr lang="LID4096" sz="2400">
                <a:solidFill>
                  <a:schemeClr val="bg1"/>
                </a:solidFill>
                <a:latin typeface="Assistant" pitchFamily="2" charset="-79"/>
                <a:cs typeface="Assistant" pitchFamily="2" charset="-79"/>
              </a:endParaRPr>
            </a:p>
          </p:txBody>
        </p:sp>
        <p:sp>
          <p:nvSpPr>
            <p:cNvPr id="28" name="מלבן: פינות מעוגלות 27">
              <a:extLst>
                <a:ext uri="{FF2B5EF4-FFF2-40B4-BE49-F238E27FC236}">
                  <a16:creationId xmlns:a16="http://schemas.microsoft.com/office/drawing/2014/main" id="{B2DCE337-5333-BA4D-A5CD-E6D751A6D260}"/>
                </a:ext>
              </a:extLst>
            </p:cNvPr>
            <p:cNvSpPr/>
            <p:nvPr/>
          </p:nvSpPr>
          <p:spPr>
            <a:xfrm>
              <a:off x="-5861703" y="3135618"/>
              <a:ext cx="1798983" cy="506891"/>
            </a:xfrm>
            <a:prstGeom prst="roundRect">
              <a:avLst>
                <a:gd name="adj" fmla="val 50000"/>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he-IL">
                  <a:solidFill>
                    <a:schemeClr val="tx1"/>
                  </a:solidFill>
                  <a:latin typeface="Assistant" pitchFamily="2" charset="-79"/>
                  <a:cs typeface="Assistant" pitchFamily="2" charset="-79"/>
                </a:rPr>
                <a:t>חזרה לשאלה</a:t>
              </a:r>
              <a:endParaRPr lang="LID4096">
                <a:solidFill>
                  <a:schemeClr val="tx1"/>
                </a:solidFill>
                <a:latin typeface="Assistant" pitchFamily="2" charset="-79"/>
                <a:cs typeface="Assistant" pitchFamily="2" charset="-79"/>
              </a:endParaRPr>
            </a:p>
          </p:txBody>
        </p:sp>
        <p:pic>
          <p:nvPicPr>
            <p:cNvPr id="29" name="גרפיקה 28" descr="נורת חשמל וגלגל שיניים עם מילוי מלא">
              <a:extLst>
                <a:ext uri="{FF2B5EF4-FFF2-40B4-BE49-F238E27FC236}">
                  <a16:creationId xmlns:a16="http://schemas.microsoft.com/office/drawing/2014/main" id="{DE58109B-C52C-F1F4-8548-D8D7C5CE3F2B}"/>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983558" y="489982"/>
              <a:ext cx="338083" cy="338083"/>
            </a:xfrm>
            <a:prstGeom prst="rect">
              <a:avLst/>
            </a:prstGeom>
          </p:spPr>
        </p:pic>
      </p:grpSp>
      <p:sp>
        <p:nvSpPr>
          <p:cNvPr id="26" name="תיבת טקסט 5">
            <a:extLst>
              <a:ext uri="{FF2B5EF4-FFF2-40B4-BE49-F238E27FC236}">
                <a16:creationId xmlns:a16="http://schemas.microsoft.com/office/drawing/2014/main" id="{B14522A7-0CBC-9D08-D192-8D89C19D113D}"/>
              </a:ext>
            </a:extLst>
          </p:cNvPr>
          <p:cNvSpPr txBox="1"/>
          <p:nvPr/>
        </p:nvSpPr>
        <p:spPr>
          <a:xfrm>
            <a:off x="3872808" y="1730590"/>
            <a:ext cx="7735615" cy="1323439"/>
          </a:xfrm>
          <a:prstGeom prst="rect">
            <a:avLst/>
          </a:prstGeom>
          <a:noFill/>
        </p:spPr>
        <p:txBody>
          <a:bodyPr wrap="square" rtlCol="0">
            <a:spAutoFit/>
          </a:bodyPr>
          <a:lstStyle/>
          <a:p>
            <a:pPr>
              <a:lnSpc>
                <a:spcPct val="150000"/>
              </a:lnSpc>
            </a:pPr>
            <a:r>
              <a:rPr lang="he-IL" sz="2000">
                <a:latin typeface="Assistant" pitchFamily="2" charset="-79"/>
                <a:cs typeface="Assistant" pitchFamily="2" charset="-79"/>
              </a:rPr>
              <a:t>אדריכל צעיר טען כי </a:t>
            </a:r>
            <a:r>
              <a:rPr lang="he-IL" sz="2000" b="1">
                <a:latin typeface="Assistant" pitchFamily="2" charset="-79"/>
                <a:cs typeface="Assistant" pitchFamily="2" charset="-79"/>
              </a:rPr>
              <a:t>לא ניתן לייצר משולש כזה, מכיוון שזוויות הבסיס יצאו קהות (גדולות מ-90 מעלות), דבר שיגרום לכך שלא תיווצר צורת משולש.</a:t>
            </a:r>
          </a:p>
          <a:p>
            <a:endParaRPr lang="he-IL" sz="2000">
              <a:latin typeface="Assistant" pitchFamily="2" charset="-79"/>
              <a:cs typeface="Assistant" pitchFamily="2" charset="-79"/>
            </a:endParaRPr>
          </a:p>
        </p:txBody>
      </p:sp>
      <p:grpSp>
        <p:nvGrpSpPr>
          <p:cNvPr id="8" name="Group 7">
            <a:extLst>
              <a:ext uri="{FF2B5EF4-FFF2-40B4-BE49-F238E27FC236}">
                <a16:creationId xmlns:a16="http://schemas.microsoft.com/office/drawing/2014/main" id="{0C950696-C37D-0C7A-8E7E-5D69ED979D4D}"/>
              </a:ext>
            </a:extLst>
          </p:cNvPr>
          <p:cNvGrpSpPr/>
          <p:nvPr/>
        </p:nvGrpSpPr>
        <p:grpSpPr>
          <a:xfrm>
            <a:off x="315966" y="1087283"/>
            <a:ext cx="3080068" cy="1561144"/>
            <a:chOff x="1522475" y="389700"/>
            <a:chExt cx="2576950" cy="1462350"/>
          </a:xfrm>
        </p:grpSpPr>
        <p:sp>
          <p:nvSpPr>
            <p:cNvPr id="13" name="Isosceles Triangle 12">
              <a:extLst>
                <a:ext uri="{FF2B5EF4-FFF2-40B4-BE49-F238E27FC236}">
                  <a16:creationId xmlns:a16="http://schemas.microsoft.com/office/drawing/2014/main" id="{F06A5FAC-A252-F6DC-87C1-96BB0D620464}"/>
                </a:ext>
              </a:extLst>
            </p:cNvPr>
            <p:cNvSpPr/>
            <p:nvPr/>
          </p:nvSpPr>
          <p:spPr>
            <a:xfrm>
              <a:off x="1849725" y="686250"/>
              <a:ext cx="1994100" cy="1012500"/>
            </a:xfrm>
            <a:prstGeom prst="triangle">
              <a:avLst>
                <a:gd name="adj" fmla="val 50000"/>
              </a:avLst>
            </a:prstGeom>
            <a:solidFill>
              <a:srgbClr val="CFE2F3"/>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marR="0" algn="ctr">
                <a:lnSpc>
                  <a:spcPct val="115000"/>
                </a:lnSpc>
                <a:spcAft>
                  <a:spcPts val="800"/>
                </a:spcAft>
                <a:buNone/>
              </a:pPr>
              <a:r>
                <a:rPr lang="en-US" sz="1200">
                  <a:effectLst/>
                  <a:latin typeface="Aptos" panose="020B0004020202020204" pitchFamily="34" charset="0"/>
                  <a:ea typeface="Aptos" panose="020B0004020202020204" pitchFamily="34" charset="0"/>
                  <a:cs typeface="Aptos" panose="020B0004020202020204" pitchFamily="34" charset="0"/>
                </a:rPr>
                <a:t> </a:t>
              </a:r>
            </a:p>
          </p:txBody>
        </p:sp>
        <p:sp>
          <p:nvSpPr>
            <p:cNvPr id="14" name="Text Box 1003325673">
              <a:extLst>
                <a:ext uri="{FF2B5EF4-FFF2-40B4-BE49-F238E27FC236}">
                  <a16:creationId xmlns:a16="http://schemas.microsoft.com/office/drawing/2014/main" id="{9E49C8A9-C7B1-B2B9-C4E2-8EFD4EB9D69A}"/>
                </a:ext>
              </a:extLst>
            </p:cNvPr>
            <p:cNvSpPr txBox="1"/>
            <p:nvPr/>
          </p:nvSpPr>
          <p:spPr>
            <a:xfrm>
              <a:off x="2698425" y="389700"/>
              <a:ext cx="255600" cy="255600"/>
            </a:xfrm>
            <a:prstGeom prst="rect">
              <a:avLst/>
            </a:prstGeom>
            <a:noFill/>
            <a:ln>
              <a:noFill/>
            </a:ln>
          </p:spPr>
          <p:txBody>
            <a:bodyPr spcFirstLastPara="1" wrap="square" lIns="91425" tIns="91425" rIns="91425" bIns="91425" anchor="t" anchorCtr="0">
              <a:noAutofit/>
            </a:bodyPr>
            <a:lstStyle/>
            <a:p>
              <a:pPr marL="0" marR="0">
                <a:lnSpc>
                  <a:spcPct val="115000"/>
                </a:lnSpc>
                <a:spcAft>
                  <a:spcPts val="800"/>
                </a:spcAft>
                <a:buNone/>
              </a:pPr>
              <a:r>
                <a:rPr lang="en-US" sz="1400">
                  <a:solidFill>
                    <a:srgbClr val="000000"/>
                  </a:solidFill>
                  <a:effectLst/>
                  <a:latin typeface="Arial" panose="020B0604020202020204" pitchFamily="34" charset="0"/>
                  <a:ea typeface="Arial" panose="020B0604020202020204" pitchFamily="34" charset="0"/>
                  <a:cs typeface="Aptos" panose="020B0004020202020204" pitchFamily="34" charset="0"/>
                </a:rPr>
                <a:t>A</a:t>
              </a:r>
              <a:endParaRPr lang="en-US" sz="1200">
                <a:effectLst/>
                <a:latin typeface="Aptos" panose="020B0004020202020204" pitchFamily="34" charset="0"/>
                <a:ea typeface="Aptos" panose="020B0004020202020204" pitchFamily="34" charset="0"/>
                <a:cs typeface="Aptos" panose="020B0004020202020204" pitchFamily="34" charset="0"/>
              </a:endParaRPr>
            </a:p>
          </p:txBody>
        </p:sp>
        <p:sp>
          <p:nvSpPr>
            <p:cNvPr id="16" name="Text Box 240582956">
              <a:extLst>
                <a:ext uri="{FF2B5EF4-FFF2-40B4-BE49-F238E27FC236}">
                  <a16:creationId xmlns:a16="http://schemas.microsoft.com/office/drawing/2014/main" id="{15983126-6282-E804-DE41-67EE858CC87D}"/>
                </a:ext>
              </a:extLst>
            </p:cNvPr>
            <p:cNvSpPr txBox="1"/>
            <p:nvPr/>
          </p:nvSpPr>
          <p:spPr>
            <a:xfrm>
              <a:off x="1522475" y="1524750"/>
              <a:ext cx="276000" cy="327300"/>
            </a:xfrm>
            <a:prstGeom prst="rect">
              <a:avLst/>
            </a:prstGeom>
            <a:noFill/>
            <a:ln>
              <a:noFill/>
            </a:ln>
          </p:spPr>
          <p:txBody>
            <a:bodyPr spcFirstLastPara="1" wrap="square" lIns="91425" tIns="91425" rIns="91425" bIns="91425" anchor="t" anchorCtr="0">
              <a:noAutofit/>
            </a:bodyPr>
            <a:lstStyle/>
            <a:p>
              <a:pPr marL="0" marR="0">
                <a:lnSpc>
                  <a:spcPct val="115000"/>
                </a:lnSpc>
                <a:spcAft>
                  <a:spcPts val="800"/>
                </a:spcAft>
                <a:buNone/>
              </a:pPr>
              <a:r>
                <a:rPr lang="en-US" sz="1400">
                  <a:solidFill>
                    <a:srgbClr val="000000"/>
                  </a:solidFill>
                  <a:effectLst/>
                  <a:latin typeface="Arial" panose="020B0604020202020204" pitchFamily="34" charset="0"/>
                  <a:ea typeface="Arial" panose="020B0604020202020204" pitchFamily="34" charset="0"/>
                  <a:cs typeface="Aptos" panose="020B0004020202020204" pitchFamily="34" charset="0"/>
                </a:rPr>
                <a:t>B</a:t>
              </a:r>
              <a:endParaRPr lang="en-US" sz="1200">
                <a:effectLst/>
                <a:latin typeface="Aptos" panose="020B0004020202020204" pitchFamily="34" charset="0"/>
                <a:ea typeface="Aptos" panose="020B0004020202020204" pitchFamily="34" charset="0"/>
                <a:cs typeface="Aptos" panose="020B0004020202020204" pitchFamily="34" charset="0"/>
              </a:endParaRPr>
            </a:p>
          </p:txBody>
        </p:sp>
        <p:sp>
          <p:nvSpPr>
            <p:cNvPr id="18" name="Text Box 52729484">
              <a:extLst>
                <a:ext uri="{FF2B5EF4-FFF2-40B4-BE49-F238E27FC236}">
                  <a16:creationId xmlns:a16="http://schemas.microsoft.com/office/drawing/2014/main" id="{C7F21DC8-D7F7-371B-4A1D-A682978F7920}"/>
                </a:ext>
              </a:extLst>
            </p:cNvPr>
            <p:cNvSpPr txBox="1"/>
            <p:nvPr/>
          </p:nvSpPr>
          <p:spPr>
            <a:xfrm>
              <a:off x="3843825" y="1560600"/>
              <a:ext cx="255600" cy="255600"/>
            </a:xfrm>
            <a:prstGeom prst="rect">
              <a:avLst/>
            </a:prstGeom>
            <a:noFill/>
            <a:ln>
              <a:noFill/>
            </a:ln>
          </p:spPr>
          <p:txBody>
            <a:bodyPr spcFirstLastPara="1" wrap="square" lIns="91425" tIns="91425" rIns="91425" bIns="91425" anchor="t" anchorCtr="0">
              <a:noAutofit/>
            </a:bodyPr>
            <a:lstStyle/>
            <a:p>
              <a:pPr marL="0" marR="0">
                <a:lnSpc>
                  <a:spcPct val="115000"/>
                </a:lnSpc>
                <a:spcAft>
                  <a:spcPts val="800"/>
                </a:spcAft>
                <a:buNone/>
              </a:pPr>
              <a:r>
                <a:rPr lang="en-US" sz="1400">
                  <a:solidFill>
                    <a:srgbClr val="000000"/>
                  </a:solidFill>
                  <a:effectLst/>
                  <a:latin typeface="Arial" panose="020B0604020202020204" pitchFamily="34" charset="0"/>
                  <a:ea typeface="Arial" panose="020B0604020202020204" pitchFamily="34" charset="0"/>
                  <a:cs typeface="Aptos" panose="020B0004020202020204" pitchFamily="34" charset="0"/>
                </a:rPr>
                <a:t>C</a:t>
              </a:r>
              <a:endParaRPr lang="en-US" sz="1200">
                <a:effectLst/>
                <a:latin typeface="Aptos" panose="020B0004020202020204" pitchFamily="34" charset="0"/>
                <a:ea typeface="Aptos" panose="020B0004020202020204" pitchFamily="34" charset="0"/>
                <a:cs typeface="Aptos" panose="020B0004020202020204" pitchFamily="34" charset="0"/>
              </a:endParaRPr>
            </a:p>
          </p:txBody>
        </p:sp>
        <p:cxnSp>
          <p:nvCxnSpPr>
            <p:cNvPr id="19" name="Straight Arrow Connector 18">
              <a:extLst>
                <a:ext uri="{FF2B5EF4-FFF2-40B4-BE49-F238E27FC236}">
                  <a16:creationId xmlns:a16="http://schemas.microsoft.com/office/drawing/2014/main" id="{51476CE2-8BEE-EAAA-0EFE-2343CCCC667D}"/>
                </a:ext>
              </a:extLst>
            </p:cNvPr>
            <p:cNvCxnSpPr/>
            <p:nvPr/>
          </p:nvCxnSpPr>
          <p:spPr>
            <a:xfrm rot="10800000" flipH="1">
              <a:off x="3158575" y="1044275"/>
              <a:ext cx="225000" cy="173700"/>
            </a:xfrm>
            <a:prstGeom prst="straightConnector1">
              <a:avLst/>
            </a:prstGeom>
            <a:noFill/>
            <a:ln w="9525" cap="flat" cmpd="sng">
              <a:solidFill>
                <a:srgbClr val="000000"/>
              </a:solidFill>
              <a:prstDash val="solid"/>
              <a:round/>
              <a:headEnd type="none" w="med" len="med"/>
              <a:tailEnd type="none" w="med" len="med"/>
            </a:ln>
          </p:spPr>
        </p:cxnSp>
        <p:cxnSp>
          <p:nvCxnSpPr>
            <p:cNvPr id="20" name="Straight Arrow Connector 19">
              <a:extLst>
                <a:ext uri="{FF2B5EF4-FFF2-40B4-BE49-F238E27FC236}">
                  <a16:creationId xmlns:a16="http://schemas.microsoft.com/office/drawing/2014/main" id="{06C2C1A8-4E60-335A-EC3D-4C97FFB6DC53}"/>
                </a:ext>
              </a:extLst>
            </p:cNvPr>
            <p:cNvCxnSpPr/>
            <p:nvPr/>
          </p:nvCxnSpPr>
          <p:spPr>
            <a:xfrm>
              <a:off x="2320100" y="1044275"/>
              <a:ext cx="214800" cy="92100"/>
            </a:xfrm>
            <a:prstGeom prst="straightConnector1">
              <a:avLst/>
            </a:prstGeom>
            <a:noFill/>
            <a:ln w="9525" cap="flat" cmpd="sng">
              <a:solidFill>
                <a:srgbClr val="000000"/>
              </a:solidFill>
              <a:prstDash val="solid"/>
              <a:round/>
              <a:headEnd type="none" w="med" len="med"/>
              <a:tailEnd type="none" w="med" len="med"/>
            </a:ln>
          </p:spPr>
        </p:cxnSp>
      </p:grpSp>
      <p:sp>
        <p:nvSpPr>
          <p:cNvPr id="6" name="תיבת טקסט 5">
            <a:extLst>
              <a:ext uri="{FF2B5EF4-FFF2-40B4-BE49-F238E27FC236}">
                <a16:creationId xmlns:a16="http://schemas.microsoft.com/office/drawing/2014/main" id="{0C45F573-624A-641B-412B-35DD82B29618}"/>
              </a:ext>
            </a:extLst>
          </p:cNvPr>
          <p:cNvSpPr txBox="1"/>
          <p:nvPr/>
        </p:nvSpPr>
        <p:spPr>
          <a:xfrm>
            <a:off x="6854036" y="3100613"/>
            <a:ext cx="4710245" cy="707886"/>
          </a:xfrm>
          <a:prstGeom prst="rect">
            <a:avLst/>
          </a:prstGeom>
          <a:noFill/>
        </p:spPr>
        <p:txBody>
          <a:bodyPr wrap="square" rtlCol="1">
            <a:spAutoFit/>
          </a:bodyPr>
          <a:lstStyle/>
          <a:p>
            <a:r>
              <a:rPr lang="he-IL" sz="2000">
                <a:latin typeface="Assistant" pitchFamily="2" charset="-79"/>
                <a:cs typeface="Assistant" pitchFamily="2" charset="-79"/>
              </a:rPr>
              <a:t>ב</a:t>
            </a:r>
            <a:r>
              <a:rPr lang="he-IL">
                <a:latin typeface="Assistant" pitchFamily="2" charset="-79"/>
                <a:cs typeface="Assistant" pitchFamily="2" charset="-79"/>
              </a:rPr>
              <a:t>. </a:t>
            </a:r>
            <a:r>
              <a:rPr lang="he-IL" sz="2000" b="1">
                <a:latin typeface="Assistant" pitchFamily="2" charset="-79"/>
                <a:cs typeface="Assistant" pitchFamily="2" charset="-79"/>
              </a:rPr>
              <a:t>האם טענת האדריכל הצעיר נכונה? </a:t>
            </a:r>
          </a:p>
          <a:p>
            <a:endParaRPr lang="he-IL" sz="2000">
              <a:latin typeface="Assistant" pitchFamily="2" charset="-79"/>
              <a:cs typeface="Assistant" pitchFamily="2" charset="-79"/>
            </a:endParaRPr>
          </a:p>
        </p:txBody>
      </p:sp>
      <p:sp>
        <p:nvSpPr>
          <p:cNvPr id="25" name="מלבן 7">
            <a:extLst>
              <a:ext uri="{FF2B5EF4-FFF2-40B4-BE49-F238E27FC236}">
                <a16:creationId xmlns:a16="http://schemas.microsoft.com/office/drawing/2014/main" id="{359CC639-85E2-BE11-1871-C17828C09A65}"/>
              </a:ext>
            </a:extLst>
          </p:cNvPr>
          <p:cNvSpPr/>
          <p:nvPr/>
        </p:nvSpPr>
        <p:spPr>
          <a:xfrm>
            <a:off x="11896440" y="332438"/>
            <a:ext cx="45719" cy="5474677"/>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LID4096"/>
          </a:p>
        </p:txBody>
      </p:sp>
      <p:sp>
        <p:nvSpPr>
          <p:cNvPr id="33" name="מלבן 8">
            <a:extLst>
              <a:ext uri="{FF2B5EF4-FFF2-40B4-BE49-F238E27FC236}">
                <a16:creationId xmlns:a16="http://schemas.microsoft.com/office/drawing/2014/main" id="{B3DE54D8-E71B-C664-8ECB-324B9E7B2BF1}"/>
              </a:ext>
            </a:extLst>
          </p:cNvPr>
          <p:cNvSpPr/>
          <p:nvPr/>
        </p:nvSpPr>
        <p:spPr>
          <a:xfrm>
            <a:off x="11896439" y="2280144"/>
            <a:ext cx="45719" cy="3526971"/>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LID4096"/>
          </a:p>
        </p:txBody>
      </p:sp>
      <p:grpSp>
        <p:nvGrpSpPr>
          <p:cNvPr id="35" name="קבוצה 8">
            <a:extLst>
              <a:ext uri="{FF2B5EF4-FFF2-40B4-BE49-F238E27FC236}">
                <a16:creationId xmlns:a16="http://schemas.microsoft.com/office/drawing/2014/main" id="{E5DD2F30-6411-6D23-308F-14B599FDACD4}"/>
              </a:ext>
            </a:extLst>
          </p:cNvPr>
          <p:cNvGrpSpPr/>
          <p:nvPr/>
        </p:nvGrpSpPr>
        <p:grpSpPr>
          <a:xfrm>
            <a:off x="8843729" y="3607504"/>
            <a:ext cx="2481111" cy="526581"/>
            <a:chOff x="10533819" y="3108470"/>
            <a:chExt cx="1516665" cy="641058"/>
          </a:xfrm>
        </p:grpSpPr>
        <p:sp>
          <p:nvSpPr>
            <p:cNvPr id="37" name="מלבן: פינות מעוגלות 6">
              <a:extLst>
                <a:ext uri="{FF2B5EF4-FFF2-40B4-BE49-F238E27FC236}">
                  <a16:creationId xmlns:a16="http://schemas.microsoft.com/office/drawing/2014/main" id="{CA694913-00A5-6594-386A-24E237ECCA1B}"/>
                </a:ext>
              </a:extLst>
            </p:cNvPr>
            <p:cNvSpPr/>
            <p:nvPr/>
          </p:nvSpPr>
          <p:spPr>
            <a:xfrm>
              <a:off x="10533819" y="3108470"/>
              <a:ext cx="1516665" cy="641058"/>
            </a:xfrm>
            <a:prstGeom prst="roundRect">
              <a:avLst>
                <a:gd name="adj" fmla="val 50000"/>
              </a:avLst>
            </a:prstGeom>
            <a:noFill/>
            <a:ln w="12700">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LID4096"/>
            </a:p>
          </p:txBody>
        </p:sp>
        <p:sp>
          <p:nvSpPr>
            <p:cNvPr id="38" name="תיבת טקסט 7">
              <a:extLst>
                <a:ext uri="{FF2B5EF4-FFF2-40B4-BE49-F238E27FC236}">
                  <a16:creationId xmlns:a16="http://schemas.microsoft.com/office/drawing/2014/main" id="{E94CF177-C96F-984B-00E0-C75648D77684}"/>
                </a:ext>
              </a:extLst>
            </p:cNvPr>
            <p:cNvSpPr txBox="1"/>
            <p:nvPr/>
          </p:nvSpPr>
          <p:spPr>
            <a:xfrm>
              <a:off x="11039350" y="3185452"/>
              <a:ext cx="486218" cy="487093"/>
            </a:xfrm>
            <a:prstGeom prst="rect">
              <a:avLst/>
            </a:prstGeom>
            <a:noFill/>
          </p:spPr>
          <p:txBody>
            <a:bodyPr wrap="square" rtlCol="0">
              <a:spAutoFit/>
            </a:bodyPr>
            <a:lstStyle/>
            <a:p>
              <a:pPr lvl="0"/>
              <a:r>
                <a:rPr lang="he-IL" sz="2000">
                  <a:latin typeface="Assistant" pitchFamily="2" charset="-79"/>
                  <a:cs typeface="Assistant" pitchFamily="2" charset="-79"/>
                </a:rPr>
                <a:t>כן</a:t>
              </a:r>
            </a:p>
          </p:txBody>
        </p:sp>
      </p:grpSp>
      <p:grpSp>
        <p:nvGrpSpPr>
          <p:cNvPr id="40" name="קבוצה 8">
            <a:extLst>
              <a:ext uri="{FF2B5EF4-FFF2-40B4-BE49-F238E27FC236}">
                <a16:creationId xmlns:a16="http://schemas.microsoft.com/office/drawing/2014/main" id="{90274EF9-49E3-2437-F88A-0A1C82B9D0C0}"/>
              </a:ext>
            </a:extLst>
          </p:cNvPr>
          <p:cNvGrpSpPr/>
          <p:nvPr/>
        </p:nvGrpSpPr>
        <p:grpSpPr>
          <a:xfrm>
            <a:off x="8843729" y="4303350"/>
            <a:ext cx="2481111" cy="526581"/>
            <a:chOff x="10533819" y="3108470"/>
            <a:chExt cx="1516665" cy="641058"/>
          </a:xfrm>
        </p:grpSpPr>
        <p:sp>
          <p:nvSpPr>
            <p:cNvPr id="43" name="מלבן: פינות מעוגלות 6">
              <a:extLst>
                <a:ext uri="{FF2B5EF4-FFF2-40B4-BE49-F238E27FC236}">
                  <a16:creationId xmlns:a16="http://schemas.microsoft.com/office/drawing/2014/main" id="{18ECBB8A-8DDA-1806-16E5-34CDF205D383}"/>
                </a:ext>
              </a:extLst>
            </p:cNvPr>
            <p:cNvSpPr/>
            <p:nvPr/>
          </p:nvSpPr>
          <p:spPr>
            <a:xfrm>
              <a:off x="10533819" y="3108470"/>
              <a:ext cx="1516665" cy="641058"/>
            </a:xfrm>
            <a:prstGeom prst="roundRect">
              <a:avLst>
                <a:gd name="adj" fmla="val 50000"/>
              </a:avLst>
            </a:prstGeom>
            <a:noFill/>
            <a:ln w="12700">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LID4096"/>
            </a:p>
          </p:txBody>
        </p:sp>
        <p:sp>
          <p:nvSpPr>
            <p:cNvPr id="44" name="תיבת טקסט 7">
              <a:extLst>
                <a:ext uri="{FF2B5EF4-FFF2-40B4-BE49-F238E27FC236}">
                  <a16:creationId xmlns:a16="http://schemas.microsoft.com/office/drawing/2014/main" id="{D03AF65B-7D3E-272A-46CD-E7A81B19BA59}"/>
                </a:ext>
              </a:extLst>
            </p:cNvPr>
            <p:cNvSpPr txBox="1"/>
            <p:nvPr/>
          </p:nvSpPr>
          <p:spPr>
            <a:xfrm>
              <a:off x="11039350" y="3185452"/>
              <a:ext cx="486218" cy="487093"/>
            </a:xfrm>
            <a:prstGeom prst="rect">
              <a:avLst/>
            </a:prstGeom>
            <a:noFill/>
          </p:spPr>
          <p:txBody>
            <a:bodyPr wrap="square" rtlCol="0">
              <a:spAutoFit/>
            </a:bodyPr>
            <a:lstStyle/>
            <a:p>
              <a:pPr lvl="0"/>
              <a:r>
                <a:rPr lang="he-IL" sz="2000">
                  <a:latin typeface="Assistant" pitchFamily="2" charset="-79"/>
                  <a:cs typeface="Assistant" pitchFamily="2" charset="-79"/>
                </a:rPr>
                <a:t>לא</a:t>
              </a:r>
            </a:p>
          </p:txBody>
        </p:sp>
      </p:grpSp>
      <p:grpSp>
        <p:nvGrpSpPr>
          <p:cNvPr id="45" name="קבוצה 10">
            <a:extLst>
              <a:ext uri="{FF2B5EF4-FFF2-40B4-BE49-F238E27FC236}">
                <a16:creationId xmlns:a16="http://schemas.microsoft.com/office/drawing/2014/main" id="{65EAE48E-D69C-4F02-E1A3-99E45A32CD09}"/>
              </a:ext>
            </a:extLst>
          </p:cNvPr>
          <p:cNvGrpSpPr/>
          <p:nvPr/>
        </p:nvGrpSpPr>
        <p:grpSpPr>
          <a:xfrm>
            <a:off x="8843731" y="5013451"/>
            <a:ext cx="2481110" cy="526581"/>
            <a:chOff x="9569375" y="3108470"/>
            <a:chExt cx="2481110" cy="641058"/>
          </a:xfrm>
        </p:grpSpPr>
        <p:grpSp>
          <p:nvGrpSpPr>
            <p:cNvPr id="46" name="קבוצה 8">
              <a:extLst>
                <a:ext uri="{FF2B5EF4-FFF2-40B4-BE49-F238E27FC236}">
                  <a16:creationId xmlns:a16="http://schemas.microsoft.com/office/drawing/2014/main" id="{B6EC0191-6CDA-4463-79F0-AC2A274A0C27}"/>
                </a:ext>
              </a:extLst>
            </p:cNvPr>
            <p:cNvGrpSpPr/>
            <p:nvPr/>
          </p:nvGrpSpPr>
          <p:grpSpPr>
            <a:xfrm>
              <a:off x="9569375" y="3108470"/>
              <a:ext cx="2481110" cy="641058"/>
              <a:chOff x="9569375" y="3108470"/>
              <a:chExt cx="2481110" cy="641058"/>
            </a:xfrm>
          </p:grpSpPr>
          <p:sp>
            <p:nvSpPr>
              <p:cNvPr id="48" name="מלבן: פינות מעוגלות 6">
                <a:extLst>
                  <a:ext uri="{FF2B5EF4-FFF2-40B4-BE49-F238E27FC236}">
                    <a16:creationId xmlns:a16="http://schemas.microsoft.com/office/drawing/2014/main" id="{377E8A7E-31D8-3524-A101-56641214A0A3}"/>
                  </a:ext>
                </a:extLst>
              </p:cNvPr>
              <p:cNvSpPr/>
              <p:nvPr/>
            </p:nvSpPr>
            <p:spPr>
              <a:xfrm>
                <a:off x="9569375" y="3108470"/>
                <a:ext cx="2481110" cy="641058"/>
              </a:xfrm>
              <a:prstGeom prst="roundRect">
                <a:avLst>
                  <a:gd name="adj" fmla="val 50000"/>
                </a:avLst>
              </a:prstGeom>
              <a:noFill/>
              <a:ln w="12700">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LID4096"/>
              </a:p>
            </p:txBody>
          </p:sp>
          <p:sp>
            <p:nvSpPr>
              <p:cNvPr id="49" name="תיבת טקסט 7">
                <a:extLst>
                  <a:ext uri="{FF2B5EF4-FFF2-40B4-BE49-F238E27FC236}">
                    <a16:creationId xmlns:a16="http://schemas.microsoft.com/office/drawing/2014/main" id="{A8629E60-CCDA-B89C-F5EC-9985920B9898}"/>
                  </a:ext>
                </a:extLst>
              </p:cNvPr>
              <p:cNvSpPr txBox="1"/>
              <p:nvPr/>
            </p:nvSpPr>
            <p:spPr>
              <a:xfrm>
                <a:off x="9772304" y="3185452"/>
                <a:ext cx="1753264" cy="487093"/>
              </a:xfrm>
              <a:prstGeom prst="rect">
                <a:avLst/>
              </a:prstGeom>
              <a:noFill/>
            </p:spPr>
            <p:txBody>
              <a:bodyPr wrap="square" rtlCol="0">
                <a:spAutoFit/>
              </a:bodyPr>
              <a:lstStyle/>
              <a:p>
                <a:pPr lvl="0"/>
                <a:r>
                  <a:rPr lang="he-IL" sz="2000">
                    <a:latin typeface="Assistant" pitchFamily="2" charset="-79"/>
                    <a:cs typeface="Assistant" pitchFamily="2" charset="-79"/>
                  </a:rPr>
                  <a:t>לא ניתן לדעת</a:t>
                </a:r>
              </a:p>
            </p:txBody>
          </p:sp>
        </p:grpSp>
        <p:sp>
          <p:nvSpPr>
            <p:cNvPr id="47" name="אליפסה 9">
              <a:extLst>
                <a:ext uri="{FF2B5EF4-FFF2-40B4-BE49-F238E27FC236}">
                  <a16:creationId xmlns:a16="http://schemas.microsoft.com/office/drawing/2014/main" id="{E65C9ECC-741F-C291-0051-E393B711EDFC}"/>
                </a:ext>
              </a:extLst>
            </p:cNvPr>
            <p:cNvSpPr/>
            <p:nvPr/>
          </p:nvSpPr>
          <p:spPr>
            <a:xfrm>
              <a:off x="11590253" y="3269816"/>
              <a:ext cx="252766" cy="318364"/>
            </a:xfrm>
            <a:prstGeom prst="ellipse">
              <a:avLst/>
            </a:prstGeom>
            <a:noFill/>
            <a:ln>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LID4096"/>
            </a:p>
          </p:txBody>
        </p:sp>
      </p:grpSp>
      <p:sp>
        <p:nvSpPr>
          <p:cNvPr id="51" name="אליפסה 9">
            <a:extLst>
              <a:ext uri="{FF2B5EF4-FFF2-40B4-BE49-F238E27FC236}">
                <a16:creationId xmlns:a16="http://schemas.microsoft.com/office/drawing/2014/main" id="{FD00FAE3-9E76-ED2F-201B-FED69B49CFC6}"/>
              </a:ext>
            </a:extLst>
          </p:cNvPr>
          <p:cNvSpPr/>
          <p:nvPr/>
        </p:nvSpPr>
        <p:spPr>
          <a:xfrm>
            <a:off x="10891420" y="3730507"/>
            <a:ext cx="252766" cy="261512"/>
          </a:xfrm>
          <a:prstGeom prst="ellipse">
            <a:avLst/>
          </a:prstGeom>
          <a:noFill/>
          <a:ln>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LID4096"/>
          </a:p>
        </p:txBody>
      </p:sp>
      <p:sp>
        <p:nvSpPr>
          <p:cNvPr id="53" name="אליפסה 9">
            <a:extLst>
              <a:ext uri="{FF2B5EF4-FFF2-40B4-BE49-F238E27FC236}">
                <a16:creationId xmlns:a16="http://schemas.microsoft.com/office/drawing/2014/main" id="{20B0F88B-9889-14ED-72AC-0B36A5CED504}"/>
              </a:ext>
            </a:extLst>
          </p:cNvPr>
          <p:cNvSpPr/>
          <p:nvPr/>
        </p:nvSpPr>
        <p:spPr>
          <a:xfrm>
            <a:off x="10864609" y="4443012"/>
            <a:ext cx="252766" cy="261512"/>
          </a:xfrm>
          <a:prstGeom prst="ellipse">
            <a:avLst/>
          </a:prstGeom>
          <a:solidFill>
            <a:srgbClr val="00B050"/>
          </a:solidFill>
          <a:ln>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LID4096"/>
          </a:p>
        </p:txBody>
      </p:sp>
    </p:spTree>
    <p:custDataLst>
      <p:tags r:id="rId1"/>
    </p:custDataLst>
    <p:extLst>
      <p:ext uri="{BB962C8B-B14F-4D97-AF65-F5344CB8AC3E}">
        <p14:creationId xmlns:p14="http://schemas.microsoft.com/office/powerpoint/2010/main" val="1412247094"/>
      </p:ext>
    </p:extLst>
  </p:cSld>
  <p:clrMapOvr>
    <a:masterClrMapping/>
  </p:clrMapOvr>
  <p:extLst>
    <p:ext uri="{6950BFC3-D8DA-4A85-94F7-54DA5524770B}">
      <p188:commentRel xmlns:p188="http://schemas.microsoft.com/office/powerpoint/2018/8/main" r:id="rId4"/>
    </p:ext>
  </p:extLst>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FE0C3B-4E48-B5B7-5257-06C880117625}"/>
            </a:ext>
          </a:extLst>
        </p:cNvPr>
        <p:cNvGrpSpPr/>
        <p:nvPr/>
      </p:nvGrpSpPr>
      <p:grpSpPr>
        <a:xfrm>
          <a:off x="0" y="0"/>
          <a:ext cx="0" cy="0"/>
          <a:chOff x="0" y="0"/>
          <a:chExt cx="0" cy="0"/>
        </a:xfrm>
      </p:grpSpPr>
      <p:cxnSp>
        <p:nvCxnSpPr>
          <p:cNvPr id="4" name="מחבר ישר 3">
            <a:extLst>
              <a:ext uri="{FF2B5EF4-FFF2-40B4-BE49-F238E27FC236}">
                <a16:creationId xmlns:a16="http://schemas.microsoft.com/office/drawing/2014/main" id="{9CADCDEE-CF90-F377-00FC-A5D60F60E1D0}"/>
              </a:ext>
            </a:extLst>
          </p:cNvPr>
          <p:cNvCxnSpPr>
            <a:cxnSpLocks/>
          </p:cNvCxnSpPr>
          <p:nvPr/>
        </p:nvCxnSpPr>
        <p:spPr>
          <a:xfrm>
            <a:off x="0" y="6079252"/>
            <a:ext cx="12192000" cy="0"/>
          </a:xfrm>
          <a:prstGeom prst="line">
            <a:avLst/>
          </a:prstGeom>
          <a:ln>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5" name="מלבן: פינות מעוגלות 4">
            <a:extLst>
              <a:ext uri="{FF2B5EF4-FFF2-40B4-BE49-F238E27FC236}">
                <a16:creationId xmlns:a16="http://schemas.microsoft.com/office/drawing/2014/main" id="{82DEDFC1-344B-A7FD-C4D1-FF1007A5256D}"/>
              </a:ext>
            </a:extLst>
          </p:cNvPr>
          <p:cNvSpPr/>
          <p:nvPr/>
        </p:nvSpPr>
        <p:spPr>
          <a:xfrm>
            <a:off x="268356" y="6182143"/>
            <a:ext cx="1798983" cy="506891"/>
          </a:xfrm>
          <a:prstGeom prst="roundRect">
            <a:avLst>
              <a:gd name="adj" fmla="val 50000"/>
            </a:avLst>
          </a:prstGeom>
          <a:solidFill>
            <a:schemeClr val="bg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he-IL"/>
              <a:t>צדקתי?</a:t>
            </a:r>
            <a:endParaRPr lang="LID4096"/>
          </a:p>
        </p:txBody>
      </p:sp>
      <p:sp>
        <p:nvSpPr>
          <p:cNvPr id="2" name="מלבן: פינות מעוגלות 1">
            <a:extLst>
              <a:ext uri="{FF2B5EF4-FFF2-40B4-BE49-F238E27FC236}">
                <a16:creationId xmlns:a16="http://schemas.microsoft.com/office/drawing/2014/main" id="{01B0AB7E-02F8-A248-EF9E-A95100039EDF}"/>
              </a:ext>
            </a:extLst>
          </p:cNvPr>
          <p:cNvSpPr/>
          <p:nvPr/>
        </p:nvSpPr>
        <p:spPr>
          <a:xfrm>
            <a:off x="2179982" y="6182142"/>
            <a:ext cx="2481470" cy="506891"/>
          </a:xfrm>
          <a:prstGeom prst="roundRect">
            <a:avLst>
              <a:gd name="adj" fmla="val 50000"/>
            </a:avLst>
          </a:prstGeom>
          <a:noFill/>
          <a:ln>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he-IL">
                <a:solidFill>
                  <a:srgbClr val="00B0F0"/>
                </a:solidFill>
              </a:rPr>
              <a:t>     אפשר רמז?</a:t>
            </a:r>
            <a:endParaRPr lang="LID4096">
              <a:solidFill>
                <a:srgbClr val="00B0F0"/>
              </a:solidFill>
            </a:endParaRPr>
          </a:p>
        </p:txBody>
      </p:sp>
      <p:pic>
        <p:nvPicPr>
          <p:cNvPr id="12" name="גרפיקה 11" descr="נורת חשמל וגלגל שיניים עם מילוי מלא">
            <a:extLst>
              <a:ext uri="{FF2B5EF4-FFF2-40B4-BE49-F238E27FC236}">
                <a16:creationId xmlns:a16="http://schemas.microsoft.com/office/drawing/2014/main" id="{DDE791A9-CA3B-9F25-ED89-83BFDCA84A08}"/>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3831910" y="6266545"/>
            <a:ext cx="338083" cy="338083"/>
          </a:xfrm>
          <a:prstGeom prst="rect">
            <a:avLst/>
          </a:prstGeom>
        </p:spPr>
      </p:pic>
      <p:pic>
        <p:nvPicPr>
          <p:cNvPr id="3" name="תמונה 2">
            <a:extLst>
              <a:ext uri="{FF2B5EF4-FFF2-40B4-BE49-F238E27FC236}">
                <a16:creationId xmlns:a16="http://schemas.microsoft.com/office/drawing/2014/main" id="{551AA83D-5BE4-089C-2107-D627034732F4}"/>
              </a:ext>
            </a:extLst>
          </p:cNvPr>
          <p:cNvPicPr>
            <a:picLocks noChangeAspect="1"/>
          </p:cNvPicPr>
          <p:nvPr/>
        </p:nvPicPr>
        <p:blipFill>
          <a:blip r:embed="rId6">
            <a:extLst>
              <a:ext uri="{28A0092B-C50C-407E-A947-70E740481C1C}">
                <a14:useLocalDpi xmlns:a14="http://schemas.microsoft.com/office/drawing/2010/main"/>
              </a:ext>
            </a:extLst>
          </a:blip>
          <a:stretch>
            <a:fillRect/>
          </a:stretch>
        </p:blipFill>
        <p:spPr>
          <a:xfrm>
            <a:off x="0" y="57121"/>
            <a:ext cx="933869" cy="721626"/>
          </a:xfrm>
          <a:prstGeom prst="rect">
            <a:avLst/>
          </a:prstGeom>
        </p:spPr>
      </p:pic>
      <p:sp>
        <p:nvSpPr>
          <p:cNvPr id="7" name="מלבן: פינות מעוגלות 6">
            <a:extLst>
              <a:ext uri="{FF2B5EF4-FFF2-40B4-BE49-F238E27FC236}">
                <a16:creationId xmlns:a16="http://schemas.microsoft.com/office/drawing/2014/main" id="{76ADA071-C131-99D4-9D64-226A336430FF}"/>
              </a:ext>
            </a:extLst>
          </p:cNvPr>
          <p:cNvSpPr/>
          <p:nvPr/>
        </p:nvSpPr>
        <p:spPr>
          <a:xfrm>
            <a:off x="10244695" y="6193485"/>
            <a:ext cx="1798983" cy="506891"/>
          </a:xfrm>
          <a:prstGeom prst="roundRect">
            <a:avLst>
              <a:gd name="adj" fmla="val 50000"/>
            </a:avLst>
          </a:prstGeom>
          <a:noFill/>
          <a:ln>
            <a:solidFill>
              <a:srgbClr val="019DE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he-IL">
                <a:solidFill>
                  <a:srgbClr val="019DE5"/>
                </a:solidFill>
                <a:latin typeface="Assistant" pitchFamily="2" charset="-79"/>
                <a:cs typeface="Assistant" pitchFamily="2" charset="-79"/>
              </a:rPr>
              <a:t>חזרה</a:t>
            </a:r>
            <a:endParaRPr lang="LID4096">
              <a:solidFill>
                <a:srgbClr val="019DE5"/>
              </a:solidFill>
              <a:latin typeface="Assistant" pitchFamily="2" charset="-79"/>
              <a:cs typeface="Assistant" pitchFamily="2" charset="-79"/>
            </a:endParaRPr>
          </a:p>
        </p:txBody>
      </p:sp>
      <p:pic>
        <p:nvPicPr>
          <p:cNvPr id="9" name="תמונה 8">
            <a:extLst>
              <a:ext uri="{FF2B5EF4-FFF2-40B4-BE49-F238E27FC236}">
                <a16:creationId xmlns:a16="http://schemas.microsoft.com/office/drawing/2014/main" id="{5E597548-B253-882E-E8F4-61CC32685139}"/>
              </a:ext>
            </a:extLst>
          </p:cNvPr>
          <p:cNvPicPr>
            <a:picLocks noChangeAspect="1"/>
          </p:cNvPicPr>
          <p:nvPr/>
        </p:nvPicPr>
        <p:blipFill>
          <a:blip r:embed="rId7">
            <a:extLst>
              <a:ext uri="{28A0092B-C50C-407E-A947-70E740481C1C}">
                <a14:useLocalDpi xmlns:a14="http://schemas.microsoft.com/office/drawing/2010/main"/>
              </a:ext>
            </a:extLst>
          </a:blip>
          <a:stretch>
            <a:fillRect/>
          </a:stretch>
        </p:blipFill>
        <p:spPr>
          <a:xfrm>
            <a:off x="2803561" y="417934"/>
            <a:ext cx="7847619" cy="558730"/>
          </a:xfrm>
          <a:prstGeom prst="rect">
            <a:avLst/>
          </a:prstGeom>
        </p:spPr>
      </p:pic>
      <p:sp>
        <p:nvSpPr>
          <p:cNvPr id="11" name="מלבן 10">
            <a:extLst>
              <a:ext uri="{FF2B5EF4-FFF2-40B4-BE49-F238E27FC236}">
                <a16:creationId xmlns:a16="http://schemas.microsoft.com/office/drawing/2014/main" id="{8E301842-0B23-CC51-884B-509B614ECBAB}"/>
              </a:ext>
            </a:extLst>
          </p:cNvPr>
          <p:cNvSpPr/>
          <p:nvPr/>
        </p:nvSpPr>
        <p:spPr>
          <a:xfrm>
            <a:off x="-115414" y="-1103086"/>
            <a:ext cx="2295396" cy="976083"/>
          </a:xfrm>
          <a:prstGeom prst="rect">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he-IL" sz="1800" b="1" i="0" u="none" strike="noStrike" kern="1200" cap="none" spc="0" normalizeH="0" baseline="0" noProof="0">
                <a:ln>
                  <a:noFill/>
                </a:ln>
                <a:solidFill>
                  <a:prstClr val="black"/>
                </a:solidFill>
                <a:effectLst/>
                <a:uLnTx/>
                <a:uFillTx/>
                <a:latin typeface="Assistant" pitchFamily="2" charset="-79"/>
                <a:ea typeface="+mn-ea"/>
                <a:cs typeface="Assistant" pitchFamily="2" charset="-79"/>
                <a:hlinkClick r:id="rId8"/>
              </a:rPr>
              <a:t>רמת חשיבה</a:t>
            </a:r>
            <a:endParaRPr kumimoji="0" lang="he-IL" sz="1800" b="1" i="0" u="none" strike="noStrike" kern="1200" cap="none" spc="0" normalizeH="0" baseline="0" noProof="0">
              <a:ln>
                <a:noFill/>
              </a:ln>
              <a:solidFill>
                <a:prstClr val="black"/>
              </a:solidFill>
              <a:effectLst/>
              <a:uLnTx/>
              <a:uFillTx/>
              <a:latin typeface="Assistant" pitchFamily="2" charset="-79"/>
              <a:ea typeface="+mn-ea"/>
              <a:cs typeface="Assistant" pitchFamily="2" charset="-79"/>
            </a:endParaRPr>
          </a:p>
          <a:p>
            <a:pPr marL="285750" marR="0" lvl="0" indent="-285750" defTabSz="91440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he-IL" sz="1800" i="0" u="none" strike="noStrike" kern="1200" cap="none" spc="0" normalizeH="0" baseline="0" noProof="0">
                <a:ln>
                  <a:noFill/>
                </a:ln>
                <a:solidFill>
                  <a:prstClr val="black"/>
                </a:solidFill>
                <a:effectLst/>
                <a:uLnTx/>
                <a:uFillTx/>
                <a:latin typeface="Assistant" pitchFamily="2" charset="-79"/>
                <a:ea typeface="+mn-ea"/>
                <a:cs typeface="Assistant" pitchFamily="2" charset="-79"/>
              </a:rPr>
              <a:t>טקסט </a:t>
            </a:r>
          </a:p>
          <a:p>
            <a:pPr marL="285750" marR="0" lvl="0" indent="-285750" defTabSz="914400" eaLnBrk="1" fontAlgn="auto" latinLnBrk="0" hangingPunct="1">
              <a:lnSpc>
                <a:spcPct val="100000"/>
              </a:lnSpc>
              <a:spcBef>
                <a:spcPts val="0"/>
              </a:spcBef>
              <a:spcAft>
                <a:spcPts val="0"/>
              </a:spcAft>
              <a:buClrTx/>
              <a:buSzTx/>
              <a:buFont typeface="Arial" panose="020B0604020202020204" pitchFamily="34" charset="0"/>
              <a:buChar char="•"/>
              <a:tabLst/>
              <a:defRPr/>
            </a:pPr>
            <a:r>
              <a:rPr lang="he-IL">
                <a:solidFill>
                  <a:prstClr val="black"/>
                </a:solidFill>
                <a:latin typeface="Assistant" pitchFamily="2" charset="-79"/>
                <a:cs typeface="Assistant" pitchFamily="2" charset="-79"/>
              </a:rPr>
              <a:t>טקסט</a:t>
            </a:r>
            <a:endParaRPr kumimoji="0" lang="he-IL" sz="1800" i="0" u="none" strike="noStrike" kern="1200" cap="none" spc="0" normalizeH="0" baseline="0" noProof="0">
              <a:ln>
                <a:noFill/>
              </a:ln>
              <a:solidFill>
                <a:prstClr val="black"/>
              </a:solidFill>
              <a:effectLst/>
              <a:uLnTx/>
              <a:uFillTx/>
              <a:latin typeface="Assistant" pitchFamily="2" charset="-79"/>
              <a:ea typeface="+mn-ea"/>
              <a:cs typeface="Assistant" pitchFamily="2" charset="-79"/>
            </a:endParaRPr>
          </a:p>
        </p:txBody>
      </p:sp>
      <p:grpSp>
        <p:nvGrpSpPr>
          <p:cNvPr id="15" name="קבוצה 14">
            <a:extLst>
              <a:ext uri="{FF2B5EF4-FFF2-40B4-BE49-F238E27FC236}">
                <a16:creationId xmlns:a16="http://schemas.microsoft.com/office/drawing/2014/main" id="{BA5AFE22-AA80-F4CB-B640-96DF99B2C79A}"/>
              </a:ext>
            </a:extLst>
          </p:cNvPr>
          <p:cNvGrpSpPr/>
          <p:nvPr/>
        </p:nvGrpSpPr>
        <p:grpSpPr>
          <a:xfrm>
            <a:off x="-9123904" y="57121"/>
            <a:ext cx="9123904" cy="3818372"/>
            <a:chOff x="-9229411" y="26138"/>
            <a:chExt cx="9123904" cy="3818372"/>
          </a:xfrm>
        </p:grpSpPr>
        <p:sp>
          <p:nvSpPr>
            <p:cNvPr id="17" name="מלבן: פינות מעוגלות 16">
              <a:extLst>
                <a:ext uri="{FF2B5EF4-FFF2-40B4-BE49-F238E27FC236}">
                  <a16:creationId xmlns:a16="http://schemas.microsoft.com/office/drawing/2014/main" id="{DB072550-BCA8-207A-C0D1-ED879D826CAA}"/>
                </a:ext>
              </a:extLst>
            </p:cNvPr>
            <p:cNvSpPr/>
            <p:nvPr/>
          </p:nvSpPr>
          <p:spPr>
            <a:xfrm>
              <a:off x="-9229411" y="26138"/>
              <a:ext cx="9123904" cy="3818372"/>
            </a:xfrm>
            <a:prstGeom prst="roundRect">
              <a:avLst>
                <a:gd name="adj" fmla="val 8509"/>
              </a:avLst>
            </a:prstGeom>
            <a:solidFill>
              <a:srgbClr val="00B0F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LID4096"/>
            </a:p>
          </p:txBody>
        </p:sp>
        <p:sp>
          <p:nvSpPr>
            <p:cNvPr id="28" name="מלבן: פינות מעוגלות 27">
              <a:extLst>
                <a:ext uri="{FF2B5EF4-FFF2-40B4-BE49-F238E27FC236}">
                  <a16:creationId xmlns:a16="http://schemas.microsoft.com/office/drawing/2014/main" id="{4DC2D287-7892-65A4-20A1-B79EB4439FF0}"/>
                </a:ext>
              </a:extLst>
            </p:cNvPr>
            <p:cNvSpPr/>
            <p:nvPr/>
          </p:nvSpPr>
          <p:spPr>
            <a:xfrm>
              <a:off x="-5861703" y="3135618"/>
              <a:ext cx="1798983" cy="506891"/>
            </a:xfrm>
            <a:prstGeom prst="roundRect">
              <a:avLst>
                <a:gd name="adj" fmla="val 50000"/>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he-IL">
                  <a:solidFill>
                    <a:schemeClr val="tx1"/>
                  </a:solidFill>
                  <a:latin typeface="Assistant" pitchFamily="2" charset="-79"/>
                  <a:cs typeface="Assistant" pitchFamily="2" charset="-79"/>
                </a:rPr>
                <a:t>חזרה לשאלה</a:t>
              </a:r>
              <a:endParaRPr lang="LID4096">
                <a:solidFill>
                  <a:schemeClr val="tx1"/>
                </a:solidFill>
                <a:latin typeface="Assistant" pitchFamily="2" charset="-79"/>
                <a:cs typeface="Assistant" pitchFamily="2" charset="-79"/>
              </a:endParaRPr>
            </a:p>
          </p:txBody>
        </p:sp>
        <p:pic>
          <p:nvPicPr>
            <p:cNvPr id="29" name="גרפיקה 28" descr="נורת חשמל וגלגל שיניים עם מילוי מלא">
              <a:extLst>
                <a:ext uri="{FF2B5EF4-FFF2-40B4-BE49-F238E27FC236}">
                  <a16:creationId xmlns:a16="http://schemas.microsoft.com/office/drawing/2014/main" id="{E3BB4983-1DD6-63D6-BA29-08BB90516EE8}"/>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983558" y="489982"/>
              <a:ext cx="338083" cy="338083"/>
            </a:xfrm>
            <a:prstGeom prst="rect">
              <a:avLst/>
            </a:prstGeom>
          </p:spPr>
        </p:pic>
      </p:grpSp>
      <p:sp>
        <p:nvSpPr>
          <p:cNvPr id="26" name="תיבת טקסט 5">
            <a:extLst>
              <a:ext uri="{FF2B5EF4-FFF2-40B4-BE49-F238E27FC236}">
                <a16:creationId xmlns:a16="http://schemas.microsoft.com/office/drawing/2014/main" id="{836137A0-DF45-62BB-9F4B-A46A66C6FDB9}"/>
              </a:ext>
            </a:extLst>
          </p:cNvPr>
          <p:cNvSpPr txBox="1"/>
          <p:nvPr/>
        </p:nvSpPr>
        <p:spPr>
          <a:xfrm>
            <a:off x="5128211" y="1281188"/>
            <a:ext cx="6547554" cy="3631763"/>
          </a:xfrm>
          <a:prstGeom prst="rect">
            <a:avLst/>
          </a:prstGeom>
          <a:noFill/>
        </p:spPr>
        <p:txBody>
          <a:bodyPr wrap="square" rtlCol="0">
            <a:spAutoFit/>
          </a:bodyPr>
          <a:lstStyle/>
          <a:p>
            <a:pPr>
              <a:lnSpc>
                <a:spcPct val="150000"/>
              </a:lnSpc>
            </a:pPr>
            <a:r>
              <a:rPr lang="en-US" sz="2000">
                <a:latin typeface="Assistant" pitchFamily="2" charset="-79"/>
                <a:cs typeface="Assistant" pitchFamily="2" charset="-79"/>
              </a:rPr>
              <a:t>2</a:t>
            </a:r>
            <a:r>
              <a:rPr lang="he-IL" sz="2000">
                <a:latin typeface="Assistant" pitchFamily="2" charset="-79"/>
                <a:cs typeface="Assistant" pitchFamily="2" charset="-79"/>
              </a:rPr>
              <a:t>. הנקודה </a:t>
            </a:r>
            <a:r>
              <a:rPr lang="en-US" sz="2000">
                <a:latin typeface="Assistant" pitchFamily="2" charset="-79"/>
                <a:cs typeface="Assistant" pitchFamily="2" charset="-79"/>
              </a:rPr>
              <a:t>D</a:t>
            </a:r>
            <a:r>
              <a:rPr lang="he-IL" sz="2000">
                <a:latin typeface="Assistant" pitchFamily="2" charset="-79"/>
                <a:cs typeface="Assistant" pitchFamily="2" charset="-79"/>
              </a:rPr>
              <a:t> נמצאת על צלע </a:t>
            </a:r>
            <a:r>
              <a:rPr lang="en-US" sz="2000">
                <a:latin typeface="Assistant" pitchFamily="2" charset="-79"/>
                <a:cs typeface="Assistant" pitchFamily="2" charset="-79"/>
              </a:rPr>
              <a:t> CB </a:t>
            </a:r>
            <a:r>
              <a:rPr lang="he-IL" sz="2000">
                <a:latin typeface="Assistant" pitchFamily="2" charset="-79"/>
                <a:cs typeface="Assistant" pitchFamily="2" charset="-79"/>
              </a:rPr>
              <a:t>במשולש </a:t>
            </a:r>
            <a:r>
              <a:rPr lang="en-US" sz="2000">
                <a:latin typeface="Assistant" pitchFamily="2" charset="-79"/>
                <a:cs typeface="Assistant" pitchFamily="2" charset="-79"/>
              </a:rPr>
              <a:t>ABC</a:t>
            </a:r>
            <a:r>
              <a:rPr lang="he-IL" sz="2000">
                <a:latin typeface="Assistant" pitchFamily="2" charset="-79"/>
                <a:cs typeface="Assistant" pitchFamily="2" charset="-79"/>
              </a:rPr>
              <a:t>.</a:t>
            </a:r>
            <a:endParaRPr lang="en-US" sz="2000">
              <a:latin typeface="Assistant" pitchFamily="2" charset="-79"/>
              <a:cs typeface="Assistant" pitchFamily="2" charset="-79"/>
            </a:endParaRPr>
          </a:p>
          <a:p>
            <a:pPr>
              <a:lnSpc>
                <a:spcPct val="150000"/>
              </a:lnSpc>
            </a:pPr>
            <a:r>
              <a:rPr lang="he-IL" sz="2000">
                <a:latin typeface="Assistant" pitchFamily="2" charset="-79"/>
                <a:cs typeface="Assistant" pitchFamily="2" charset="-79"/>
              </a:rPr>
              <a:t>נתון: היחס בין שטח משולש </a:t>
            </a:r>
            <a:r>
              <a:rPr lang="en-US" sz="2000">
                <a:latin typeface="Assistant" pitchFamily="2" charset="-79"/>
                <a:cs typeface="Assistant" pitchFamily="2" charset="-79"/>
              </a:rPr>
              <a:t>ACD</a:t>
            </a:r>
            <a:r>
              <a:rPr lang="he-IL" sz="2000">
                <a:latin typeface="Assistant" pitchFamily="2" charset="-79"/>
                <a:cs typeface="Assistant" pitchFamily="2" charset="-79"/>
              </a:rPr>
              <a:t> לשטח משולש </a:t>
            </a:r>
            <a:r>
              <a:rPr lang="en-US" sz="2000">
                <a:latin typeface="Assistant" pitchFamily="2" charset="-79"/>
                <a:cs typeface="Assistant" pitchFamily="2" charset="-79"/>
              </a:rPr>
              <a:t>ADB</a:t>
            </a:r>
            <a:r>
              <a:rPr lang="he-IL" sz="2000">
                <a:latin typeface="Assistant" pitchFamily="2" charset="-79"/>
                <a:cs typeface="Assistant" pitchFamily="2" charset="-79"/>
              </a:rPr>
              <a:t> הוא 3:1.</a:t>
            </a:r>
            <a:endParaRPr lang="en-US" sz="2000">
              <a:latin typeface="Assistant" pitchFamily="2" charset="-79"/>
              <a:cs typeface="Assistant" pitchFamily="2" charset="-79"/>
            </a:endParaRPr>
          </a:p>
          <a:p>
            <a:pPr>
              <a:lnSpc>
                <a:spcPct val="150000"/>
              </a:lnSpc>
            </a:pPr>
            <a:r>
              <a:rPr lang="he-IL" sz="2000">
                <a:latin typeface="Assistant" pitchFamily="2" charset="-79"/>
                <a:cs typeface="Assistant" pitchFamily="2" charset="-79"/>
              </a:rPr>
              <a:t>שטח משולש</a:t>
            </a:r>
            <a:r>
              <a:rPr lang="en-US" sz="2000">
                <a:latin typeface="Assistant" pitchFamily="2" charset="-79"/>
                <a:cs typeface="Assistant" pitchFamily="2" charset="-79"/>
              </a:rPr>
              <a:t>ABC </a:t>
            </a:r>
            <a:r>
              <a:rPr lang="he-IL" sz="2000">
                <a:latin typeface="Assistant" pitchFamily="2" charset="-79"/>
                <a:cs typeface="Assistant" pitchFamily="2" charset="-79"/>
              </a:rPr>
              <a:t> הוא 64 סמ"ר. </a:t>
            </a:r>
          </a:p>
          <a:p>
            <a:pPr>
              <a:lnSpc>
                <a:spcPct val="150000"/>
              </a:lnSpc>
            </a:pPr>
            <a:r>
              <a:rPr lang="he-IL" sz="2000">
                <a:latin typeface="Assistant" pitchFamily="2" charset="-79"/>
                <a:cs typeface="Assistant" pitchFamily="2" charset="-79"/>
              </a:rPr>
              <a:t>ס"מ </a:t>
            </a:r>
            <a:r>
              <a:rPr lang="en-US" sz="2000">
                <a:latin typeface="Assistant" pitchFamily="2" charset="-79"/>
                <a:cs typeface="Assistant" pitchFamily="2" charset="-79"/>
              </a:rPr>
              <a:t>AE = 8</a:t>
            </a:r>
            <a:r>
              <a:rPr lang="he-IL" sz="2000">
                <a:latin typeface="Assistant" pitchFamily="2" charset="-79"/>
                <a:cs typeface="Assistant" pitchFamily="2" charset="-79"/>
              </a:rPr>
              <a:t> (גובה המשולש ).</a:t>
            </a:r>
          </a:p>
          <a:p>
            <a:pPr>
              <a:lnSpc>
                <a:spcPct val="150000"/>
              </a:lnSpc>
            </a:pPr>
            <a:r>
              <a:rPr lang="he-IL" sz="2000">
                <a:latin typeface="Assistant" pitchFamily="2" charset="-79"/>
                <a:cs typeface="Assistant" pitchFamily="2" charset="-79"/>
              </a:rPr>
              <a:t>השלימו:</a:t>
            </a:r>
          </a:p>
          <a:p>
            <a:pPr>
              <a:lnSpc>
                <a:spcPct val="150000"/>
              </a:lnSpc>
            </a:pPr>
            <a:r>
              <a:rPr lang="he-IL" sz="2000">
                <a:latin typeface="Assistant" pitchFamily="2" charset="-79"/>
                <a:cs typeface="Assistant" pitchFamily="2" charset="-79"/>
              </a:rPr>
              <a:t>אורך צלע </a:t>
            </a:r>
            <a:r>
              <a:rPr lang="en-US" sz="2000">
                <a:latin typeface="Assistant" pitchFamily="2" charset="-79"/>
                <a:cs typeface="Assistant" pitchFamily="2" charset="-79"/>
              </a:rPr>
              <a:t>CD</a:t>
            </a:r>
            <a:r>
              <a:rPr lang="he-IL" sz="2000">
                <a:latin typeface="Assistant" pitchFamily="2" charset="-79"/>
                <a:cs typeface="Assistant" pitchFamily="2" charset="-79"/>
              </a:rPr>
              <a:t> הוא: _____</a:t>
            </a:r>
          </a:p>
          <a:p>
            <a:pPr>
              <a:lnSpc>
                <a:spcPct val="150000"/>
              </a:lnSpc>
            </a:pPr>
            <a:r>
              <a:rPr lang="he-IL" sz="2000">
                <a:latin typeface="Assistant" pitchFamily="2" charset="-79"/>
                <a:cs typeface="Assistant" pitchFamily="2" charset="-79"/>
              </a:rPr>
              <a:t>אורך צלע </a:t>
            </a:r>
            <a:r>
              <a:rPr lang="en-US" sz="2000">
                <a:latin typeface="Assistant" pitchFamily="2" charset="-79"/>
                <a:cs typeface="Assistant" pitchFamily="2" charset="-79"/>
              </a:rPr>
              <a:t>DB</a:t>
            </a:r>
            <a:r>
              <a:rPr lang="he-IL" sz="2000">
                <a:latin typeface="Assistant" pitchFamily="2" charset="-79"/>
                <a:cs typeface="Assistant" pitchFamily="2" charset="-79"/>
              </a:rPr>
              <a:t> הוא: _____</a:t>
            </a:r>
          </a:p>
          <a:p>
            <a:endParaRPr lang="en-US" sz="2000">
              <a:latin typeface="Assistant" pitchFamily="2" charset="-79"/>
              <a:cs typeface="Assistant" pitchFamily="2" charset="-79"/>
            </a:endParaRPr>
          </a:p>
        </p:txBody>
      </p:sp>
      <p:sp>
        <p:nvSpPr>
          <p:cNvPr id="47" name="תיבת טקסט 26">
            <a:extLst>
              <a:ext uri="{FF2B5EF4-FFF2-40B4-BE49-F238E27FC236}">
                <a16:creationId xmlns:a16="http://schemas.microsoft.com/office/drawing/2014/main" id="{55644160-DD09-29B9-1FC7-C62ED5BEF98C}"/>
              </a:ext>
            </a:extLst>
          </p:cNvPr>
          <p:cNvSpPr txBox="1"/>
          <p:nvPr/>
        </p:nvSpPr>
        <p:spPr>
          <a:xfrm>
            <a:off x="-7278073" y="520965"/>
            <a:ext cx="6343227" cy="369332"/>
          </a:xfrm>
          <a:prstGeom prst="rect">
            <a:avLst/>
          </a:prstGeom>
          <a:noFill/>
        </p:spPr>
        <p:txBody>
          <a:bodyPr wrap="square" rtlCol="0">
            <a:spAutoFit/>
          </a:bodyPr>
          <a:lstStyle/>
          <a:p>
            <a:r>
              <a:rPr lang="he-IL">
                <a:solidFill>
                  <a:schemeClr val="bg1"/>
                </a:solidFill>
                <a:latin typeface="Assistant" pitchFamily="2" charset="-79"/>
                <a:cs typeface="Assistant" pitchFamily="2" charset="-79"/>
              </a:rPr>
              <a:t>מה תוכלו לומר על הקשר בין שטח משולש </a:t>
            </a:r>
            <a:r>
              <a:rPr lang="en-US">
                <a:solidFill>
                  <a:schemeClr val="bg1"/>
                </a:solidFill>
                <a:latin typeface="Assistant" pitchFamily="2" charset="-79"/>
                <a:cs typeface="Assistant" pitchFamily="2" charset="-79"/>
              </a:rPr>
              <a:t>ACD</a:t>
            </a:r>
            <a:r>
              <a:rPr lang="he-IL">
                <a:solidFill>
                  <a:schemeClr val="bg1"/>
                </a:solidFill>
                <a:latin typeface="Assistant" pitchFamily="2" charset="-79"/>
                <a:cs typeface="Assistant" pitchFamily="2" charset="-79"/>
              </a:rPr>
              <a:t> לבין שטח משולש </a:t>
            </a:r>
            <a:r>
              <a:rPr lang="en-US">
                <a:solidFill>
                  <a:schemeClr val="bg1"/>
                </a:solidFill>
                <a:latin typeface="Assistant" pitchFamily="2" charset="-79"/>
                <a:cs typeface="Assistant" pitchFamily="2" charset="-79"/>
              </a:rPr>
              <a:t>ABD</a:t>
            </a:r>
            <a:r>
              <a:rPr lang="he-IL">
                <a:solidFill>
                  <a:schemeClr val="bg1"/>
                </a:solidFill>
                <a:latin typeface="Assistant" pitchFamily="2" charset="-79"/>
                <a:cs typeface="Assistant" pitchFamily="2" charset="-79"/>
              </a:rPr>
              <a:t>?</a:t>
            </a:r>
            <a:endParaRPr lang="LID4096" sz="2000">
              <a:solidFill>
                <a:schemeClr val="bg1"/>
              </a:solidFill>
              <a:latin typeface="Assistant" pitchFamily="2" charset="-79"/>
              <a:cs typeface="Assistant" pitchFamily="2" charset="-79"/>
            </a:endParaRPr>
          </a:p>
        </p:txBody>
      </p:sp>
      <p:pic>
        <p:nvPicPr>
          <p:cNvPr id="16" name="Picture 15">
            <a:extLst>
              <a:ext uri="{FF2B5EF4-FFF2-40B4-BE49-F238E27FC236}">
                <a16:creationId xmlns:a16="http://schemas.microsoft.com/office/drawing/2014/main" id="{86E0D072-41A8-23F1-A022-8B95F1D4C274}"/>
              </a:ext>
            </a:extLst>
          </p:cNvPr>
          <p:cNvPicPr>
            <a:picLocks noChangeAspect="1"/>
          </p:cNvPicPr>
          <p:nvPr/>
        </p:nvPicPr>
        <p:blipFill>
          <a:blip r:embed="rId10" cstate="email">
            <a:extLst>
              <a:ext uri="{28A0092B-C50C-407E-A947-70E740481C1C}">
                <a14:useLocalDpi xmlns:a14="http://schemas.microsoft.com/office/drawing/2010/main"/>
              </a:ext>
            </a:extLst>
          </a:blip>
          <a:srcRect/>
          <a:stretch>
            <a:fillRect/>
          </a:stretch>
        </p:blipFill>
        <p:spPr>
          <a:xfrm>
            <a:off x="3146787" y="2898975"/>
            <a:ext cx="5361032" cy="2657830"/>
          </a:xfrm>
          <a:prstGeom prst="rect">
            <a:avLst/>
          </a:prstGeom>
        </p:spPr>
      </p:pic>
      <p:sp>
        <p:nvSpPr>
          <p:cNvPr id="38" name="מלבן: פינות מעוגלות 6">
            <a:extLst>
              <a:ext uri="{FF2B5EF4-FFF2-40B4-BE49-F238E27FC236}">
                <a16:creationId xmlns:a16="http://schemas.microsoft.com/office/drawing/2014/main" id="{88F2EEB1-94A0-D3A1-701F-AFCAD445FA56}"/>
              </a:ext>
            </a:extLst>
          </p:cNvPr>
          <p:cNvSpPr/>
          <p:nvPr/>
        </p:nvSpPr>
        <p:spPr>
          <a:xfrm>
            <a:off x="7209780" y="5070020"/>
            <a:ext cx="795430" cy="381855"/>
          </a:xfrm>
          <a:prstGeom prst="roundRect">
            <a:avLst>
              <a:gd name="adj" fmla="val 1764"/>
            </a:avLst>
          </a:prstGeom>
          <a:solidFill>
            <a:schemeClr val="bg1"/>
          </a:solidFill>
          <a:ln w="12700">
            <a:solidFill>
              <a:srgbClr val="92D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he-IL" sz="1600">
                <a:solidFill>
                  <a:schemeClr val="tx1"/>
                </a:solidFill>
              </a:rPr>
              <a:t>4</a:t>
            </a:r>
            <a:endParaRPr lang="LID4096" sz="1600">
              <a:solidFill>
                <a:schemeClr val="tx1"/>
              </a:solidFill>
            </a:endParaRPr>
          </a:p>
        </p:txBody>
      </p:sp>
      <p:sp>
        <p:nvSpPr>
          <p:cNvPr id="19" name="מלבן: פינות מעוגלות 6">
            <a:extLst>
              <a:ext uri="{FF2B5EF4-FFF2-40B4-BE49-F238E27FC236}">
                <a16:creationId xmlns:a16="http://schemas.microsoft.com/office/drawing/2014/main" id="{9ABB8E33-B726-2227-127E-8D7E1866A692}"/>
              </a:ext>
            </a:extLst>
          </p:cNvPr>
          <p:cNvSpPr/>
          <p:nvPr/>
        </p:nvSpPr>
        <p:spPr>
          <a:xfrm>
            <a:off x="4730496" y="5070019"/>
            <a:ext cx="795430" cy="381855"/>
          </a:xfrm>
          <a:prstGeom prst="roundRect">
            <a:avLst>
              <a:gd name="adj" fmla="val 1764"/>
            </a:avLst>
          </a:prstGeom>
          <a:solidFill>
            <a:schemeClr val="bg1"/>
          </a:solidFill>
          <a:ln w="12700">
            <a:solidFill>
              <a:srgbClr val="92D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he-IL" sz="1600">
                <a:solidFill>
                  <a:schemeClr val="tx1"/>
                </a:solidFill>
              </a:rPr>
              <a:t>12</a:t>
            </a:r>
            <a:endParaRPr lang="LID4096" sz="1600">
              <a:solidFill>
                <a:schemeClr val="tx1"/>
              </a:solidFill>
            </a:endParaRPr>
          </a:p>
        </p:txBody>
      </p:sp>
      <mc:AlternateContent xmlns:mc="http://schemas.openxmlformats.org/markup-compatibility/2006" xmlns:a14="http://schemas.microsoft.com/office/drawing/2010/main">
        <mc:Choice Requires="a14">
          <p:sp>
            <p:nvSpPr>
              <p:cNvPr id="24" name="מלבן: פינות מעוגלות 9">
                <a:extLst>
                  <a:ext uri="{FF2B5EF4-FFF2-40B4-BE49-F238E27FC236}">
                    <a16:creationId xmlns:a16="http://schemas.microsoft.com/office/drawing/2014/main" id="{483576E2-338F-891C-6344-56D343B6D0AF}"/>
                  </a:ext>
                </a:extLst>
              </p:cNvPr>
              <p:cNvSpPr/>
              <p:nvPr/>
            </p:nvSpPr>
            <p:spPr>
              <a:xfrm>
                <a:off x="-5962104" y="2271219"/>
                <a:ext cx="5175012" cy="4586781"/>
              </a:xfrm>
              <a:prstGeom prst="roundRect">
                <a:avLst>
                  <a:gd name="adj" fmla="val 1647"/>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he-IL" sz="2000" b="1">
                  <a:solidFill>
                    <a:schemeClr val="tx1"/>
                  </a:solidFill>
                  <a:latin typeface="Assistant" pitchFamily="2" charset="-79"/>
                  <a:cs typeface="Assistant" pitchFamily="2" charset="-79"/>
                </a:endParaRPr>
              </a:p>
              <a:p>
                <a:pPr algn="ctr"/>
                <a:r>
                  <a:rPr lang="he-IL" sz="2000" b="1">
                    <a:solidFill>
                      <a:schemeClr val="tx1"/>
                    </a:solidFill>
                    <a:latin typeface="Assistant" pitchFamily="2" charset="-79"/>
                    <a:cs typeface="Assistant" pitchFamily="2" charset="-79"/>
                  </a:rPr>
                  <a:t>כל הכבוד, צדקתם! / טעיתם. לא נורא, מטעויות לומדים</a:t>
                </a:r>
              </a:p>
              <a:p>
                <a:pPr algn="ctr"/>
                <a:endParaRPr lang="he-IL" sz="2000" b="1">
                  <a:solidFill>
                    <a:schemeClr val="tx1"/>
                  </a:solidFill>
                  <a:latin typeface="Assistant" pitchFamily="2" charset="-79"/>
                  <a:cs typeface="Assistant" pitchFamily="2" charset="-79"/>
                </a:endParaRPr>
              </a:p>
              <a:p>
                <a:r>
                  <a:rPr lang="he-IL" sz="2000">
                    <a:solidFill>
                      <a:schemeClr val="tx1"/>
                    </a:solidFill>
                    <a:latin typeface="Assistant" pitchFamily="2" charset="-79"/>
                    <a:cs typeface="Assistant" pitchFamily="2" charset="-79"/>
                  </a:rPr>
                  <a:t>היחס בין שטח משולש</a:t>
                </a:r>
                <a:r>
                  <a:rPr lang="en-US" sz="2000">
                    <a:solidFill>
                      <a:schemeClr val="tx1"/>
                    </a:solidFill>
                    <a:latin typeface="Assistant" pitchFamily="2" charset="-79"/>
                    <a:cs typeface="Assistant" pitchFamily="2" charset="-79"/>
                  </a:rPr>
                  <a:t>ABD </a:t>
                </a:r>
                <a:r>
                  <a:rPr lang="he-IL" sz="2000">
                    <a:solidFill>
                      <a:schemeClr val="tx1"/>
                    </a:solidFill>
                    <a:latin typeface="Assistant" pitchFamily="2" charset="-79"/>
                    <a:cs typeface="Assistant" pitchFamily="2" charset="-79"/>
                  </a:rPr>
                  <a:t> לשטח משולש </a:t>
                </a:r>
                <a:r>
                  <a:rPr lang="en-US" sz="2000">
                    <a:solidFill>
                      <a:schemeClr val="tx1"/>
                    </a:solidFill>
                    <a:latin typeface="Assistant" pitchFamily="2" charset="-79"/>
                    <a:cs typeface="Assistant" pitchFamily="2" charset="-79"/>
                  </a:rPr>
                  <a:t>ACD </a:t>
                </a:r>
                <a:r>
                  <a:rPr lang="he-IL" sz="2000">
                    <a:solidFill>
                      <a:schemeClr val="tx1"/>
                    </a:solidFill>
                    <a:latin typeface="Assistant" pitchFamily="2" charset="-79"/>
                    <a:cs typeface="Assistant" pitchFamily="2" charset="-79"/>
                  </a:rPr>
                  <a:t> הוא </a:t>
                </a:r>
                <a:br>
                  <a:rPr lang="en-US" sz="2000">
                    <a:solidFill>
                      <a:schemeClr val="tx1"/>
                    </a:solidFill>
                    <a:latin typeface="Assistant" pitchFamily="2" charset="-79"/>
                    <a:cs typeface="Assistant" pitchFamily="2" charset="-79"/>
                  </a:rPr>
                </a:br>
                <a:r>
                  <a:rPr lang="he-IL" sz="2000">
                    <a:solidFill>
                      <a:schemeClr val="tx1"/>
                    </a:solidFill>
                    <a:latin typeface="Assistant" pitchFamily="2" charset="-79"/>
                    <a:cs typeface="Assistant" pitchFamily="2" charset="-79"/>
                  </a:rPr>
                  <a:t>3 : 1. שטח </a:t>
                </a:r>
                <a:r>
                  <a:rPr lang="en-US" sz="2000">
                    <a:solidFill>
                      <a:schemeClr val="tx1"/>
                    </a:solidFill>
                    <a:latin typeface="Assistant" pitchFamily="2" charset="-79"/>
                    <a:cs typeface="Assistant" pitchFamily="2" charset="-79"/>
                  </a:rPr>
                  <a:t>ABC</a:t>
                </a:r>
                <a:r>
                  <a:rPr lang="he-IL" sz="2000">
                    <a:solidFill>
                      <a:schemeClr val="tx1"/>
                    </a:solidFill>
                    <a:latin typeface="Assistant" pitchFamily="2" charset="-79"/>
                    <a:cs typeface="Assistant" pitchFamily="2" charset="-79"/>
                  </a:rPr>
                  <a:t> = 64 סמ"ר.</a:t>
                </a:r>
              </a:p>
              <a:p>
                <a:r>
                  <a:rPr lang="he-IL" sz="2000">
                    <a:solidFill>
                      <a:schemeClr val="tx1"/>
                    </a:solidFill>
                    <a:latin typeface="Assistant" pitchFamily="2" charset="-79"/>
                    <a:cs typeface="Assistant" pitchFamily="2" charset="-79"/>
                  </a:rPr>
                  <a:t>נחשב את שטחי המשולשים:</a:t>
                </a:r>
              </a:p>
              <a:p>
                <a:r>
                  <a:rPr lang="he-IL" sz="2000">
                    <a:solidFill>
                      <a:schemeClr val="tx1"/>
                    </a:solidFill>
                    <a:latin typeface="Assistant" pitchFamily="2" charset="-79"/>
                    <a:cs typeface="Assistant" pitchFamily="2" charset="-79"/>
                  </a:rPr>
                  <a:t>שטח </a:t>
                </a:r>
                <a:r>
                  <a:rPr lang="en-US" sz="2000">
                    <a:solidFill>
                      <a:schemeClr val="tx1"/>
                    </a:solidFill>
                    <a:latin typeface="Assistant" pitchFamily="2" charset="-79"/>
                    <a:cs typeface="Assistant" pitchFamily="2" charset="-79"/>
                  </a:rPr>
                  <a:t>ACD</a:t>
                </a:r>
                <a:r>
                  <a:rPr lang="he-IL" sz="2000">
                    <a:solidFill>
                      <a:schemeClr val="tx1"/>
                    </a:solidFill>
                    <a:latin typeface="Assistant" pitchFamily="2" charset="-79"/>
                    <a:cs typeface="Assistant" pitchFamily="2" charset="-79"/>
                  </a:rPr>
                  <a:t> הוא </a:t>
                </a:r>
                <a14:m>
                  <m:oMath xmlns:m="http://schemas.openxmlformats.org/officeDocument/2006/math">
                    <m:f>
                      <m:fPr>
                        <m:ctrlPr>
                          <a:rPr lang="en-US" sz="2000" i="1">
                            <a:solidFill>
                              <a:schemeClr val="tx1"/>
                            </a:solidFill>
                            <a:latin typeface="Cambria Math" panose="02040503050406030204" pitchFamily="18" charset="0"/>
                          </a:rPr>
                        </m:ctrlPr>
                      </m:fPr>
                      <m:num>
                        <m:r>
                          <a:rPr lang="en-US" sz="2000" i="1">
                            <a:solidFill>
                              <a:schemeClr val="tx1"/>
                            </a:solidFill>
                            <a:latin typeface="Cambria Math" panose="02040503050406030204" pitchFamily="18" charset="0"/>
                          </a:rPr>
                          <m:t>3</m:t>
                        </m:r>
                      </m:num>
                      <m:den>
                        <m:r>
                          <a:rPr lang="en-US" sz="2000" i="1">
                            <a:solidFill>
                              <a:schemeClr val="tx1"/>
                            </a:solidFill>
                            <a:latin typeface="Cambria Math" panose="02040503050406030204" pitchFamily="18" charset="0"/>
                          </a:rPr>
                          <m:t>4</m:t>
                        </m:r>
                      </m:den>
                    </m:f>
                    <m:r>
                      <a:rPr lang="en-US" sz="2000" i="1">
                        <a:solidFill>
                          <a:schemeClr val="tx1"/>
                        </a:solidFill>
                        <a:latin typeface="Cambria Math" panose="02040503050406030204" pitchFamily="18" charset="0"/>
                      </a:rPr>
                      <m:t>⋅64=48</m:t>
                    </m:r>
                  </m:oMath>
                </a14:m>
                <a:endParaRPr lang="en-US" sz="2000">
                  <a:solidFill>
                    <a:schemeClr val="tx1"/>
                  </a:solidFill>
                  <a:latin typeface="Assistant" pitchFamily="2" charset="-79"/>
                  <a:cs typeface="Assistant" pitchFamily="2" charset="-79"/>
                </a:endParaRPr>
              </a:p>
              <a:p>
                <a:r>
                  <a:rPr lang="he-IL" sz="2000">
                    <a:solidFill>
                      <a:schemeClr val="tx1"/>
                    </a:solidFill>
                    <a:latin typeface="Assistant" pitchFamily="2" charset="-79"/>
                    <a:cs typeface="Assistant" pitchFamily="2" charset="-79"/>
                  </a:rPr>
                  <a:t>ושטח </a:t>
                </a:r>
                <a:r>
                  <a:rPr lang="en-US" sz="2000">
                    <a:solidFill>
                      <a:schemeClr val="tx1"/>
                    </a:solidFill>
                    <a:latin typeface="Assistant" pitchFamily="2" charset="-79"/>
                    <a:cs typeface="Assistant" pitchFamily="2" charset="-79"/>
                  </a:rPr>
                  <a:t>ABD</a:t>
                </a:r>
                <a:r>
                  <a:rPr lang="he-IL" sz="2000">
                    <a:solidFill>
                      <a:schemeClr val="tx1"/>
                    </a:solidFill>
                    <a:latin typeface="Assistant" pitchFamily="2" charset="-79"/>
                    <a:cs typeface="Assistant" pitchFamily="2" charset="-79"/>
                  </a:rPr>
                  <a:t> הוא </a:t>
                </a:r>
                <a14:m>
                  <m:oMath xmlns:m="http://schemas.openxmlformats.org/officeDocument/2006/math">
                    <m:f>
                      <m:fPr>
                        <m:ctrlPr>
                          <a:rPr lang="en-US" sz="2000" i="1">
                            <a:solidFill>
                              <a:schemeClr val="tx1"/>
                            </a:solidFill>
                            <a:latin typeface="Cambria Math" panose="02040503050406030204" pitchFamily="18" charset="0"/>
                          </a:rPr>
                        </m:ctrlPr>
                      </m:fPr>
                      <m:num>
                        <m:r>
                          <a:rPr lang="en-US" sz="2000" i="1">
                            <a:solidFill>
                              <a:schemeClr val="tx1"/>
                            </a:solidFill>
                            <a:latin typeface="Cambria Math" panose="02040503050406030204" pitchFamily="18" charset="0"/>
                          </a:rPr>
                          <m:t>1</m:t>
                        </m:r>
                      </m:num>
                      <m:den>
                        <m:r>
                          <a:rPr lang="en-US" sz="2000" i="1">
                            <a:solidFill>
                              <a:schemeClr val="tx1"/>
                            </a:solidFill>
                            <a:latin typeface="Cambria Math" panose="02040503050406030204" pitchFamily="18" charset="0"/>
                          </a:rPr>
                          <m:t>4</m:t>
                        </m:r>
                      </m:den>
                    </m:f>
                    <m:r>
                      <a:rPr lang="en-US" sz="2000" i="1">
                        <a:solidFill>
                          <a:schemeClr val="tx1"/>
                        </a:solidFill>
                        <a:latin typeface="Cambria Math" panose="02040503050406030204" pitchFamily="18" charset="0"/>
                      </a:rPr>
                      <m:t>⋅64=16</m:t>
                    </m:r>
                  </m:oMath>
                </a14:m>
                <a:r>
                  <a:rPr lang="he-IL" sz="2000">
                    <a:solidFill>
                      <a:schemeClr val="tx1"/>
                    </a:solidFill>
                    <a:latin typeface="Assistant" pitchFamily="2" charset="-79"/>
                    <a:cs typeface="Assistant" pitchFamily="2" charset="-79"/>
                  </a:rPr>
                  <a:t>.</a:t>
                </a:r>
              </a:p>
              <a:p>
                <a:r>
                  <a:rPr lang="en-US" sz="2000">
                    <a:solidFill>
                      <a:schemeClr val="tx1"/>
                    </a:solidFill>
                    <a:latin typeface="Assistant" pitchFamily="2" charset="-79"/>
                    <a:cs typeface="Assistant" pitchFamily="2" charset="-79"/>
                  </a:rPr>
                  <a:t>AE </a:t>
                </a:r>
                <a:r>
                  <a:rPr lang="he-IL" sz="2000">
                    <a:solidFill>
                      <a:schemeClr val="tx1"/>
                    </a:solidFill>
                    <a:latin typeface="Assistant" pitchFamily="2" charset="-79"/>
                    <a:cs typeface="Assistant" pitchFamily="2" charset="-79"/>
                  </a:rPr>
                  <a:t> שווה 8 ס"מ, והוא גובה במשולש </a:t>
                </a:r>
                <a:r>
                  <a:rPr lang="en-US" sz="2000">
                    <a:solidFill>
                      <a:schemeClr val="tx1"/>
                    </a:solidFill>
                    <a:latin typeface="Assistant" pitchFamily="2" charset="-79"/>
                    <a:cs typeface="Assistant" pitchFamily="2" charset="-79"/>
                  </a:rPr>
                  <a:t>ACD</a:t>
                </a:r>
                <a:r>
                  <a:rPr lang="he-IL" sz="2000">
                    <a:solidFill>
                      <a:schemeClr val="tx1"/>
                    </a:solidFill>
                    <a:latin typeface="Assistant" pitchFamily="2" charset="-79"/>
                    <a:cs typeface="Assistant" pitchFamily="2" charset="-79"/>
                  </a:rPr>
                  <a:t>, לכן:</a:t>
                </a:r>
              </a:p>
              <a:p>
                <a14:m>
                  <m:oMath xmlns:m="http://schemas.openxmlformats.org/officeDocument/2006/math">
                    <m:f>
                      <m:fPr>
                        <m:ctrlPr>
                          <a:rPr lang="en-US" sz="2000" i="1">
                            <a:solidFill>
                              <a:schemeClr val="tx1"/>
                            </a:solidFill>
                            <a:latin typeface="Cambria Math" panose="02040503050406030204" pitchFamily="18" charset="0"/>
                          </a:rPr>
                        </m:ctrlPr>
                      </m:fPr>
                      <m:num>
                        <m:r>
                          <a:rPr lang="en-US" sz="2000" i="1">
                            <a:solidFill>
                              <a:schemeClr val="tx1"/>
                            </a:solidFill>
                            <a:latin typeface="Cambria Math" panose="02040503050406030204" pitchFamily="18" charset="0"/>
                          </a:rPr>
                          <m:t>8⋅</m:t>
                        </m:r>
                        <m:r>
                          <a:rPr lang="en-US" sz="2000" i="1">
                            <a:solidFill>
                              <a:schemeClr val="tx1"/>
                            </a:solidFill>
                            <a:latin typeface="Cambria Math" panose="02040503050406030204" pitchFamily="18" charset="0"/>
                          </a:rPr>
                          <m:t>𝐶𝐷</m:t>
                        </m:r>
                      </m:num>
                      <m:den>
                        <m:r>
                          <a:rPr lang="en-US" sz="2000" i="1">
                            <a:solidFill>
                              <a:schemeClr val="tx1"/>
                            </a:solidFill>
                            <a:latin typeface="Cambria Math" panose="02040503050406030204" pitchFamily="18" charset="0"/>
                          </a:rPr>
                          <m:t>2</m:t>
                        </m:r>
                      </m:den>
                    </m:f>
                    <m:r>
                      <a:rPr lang="en-US" sz="2000" i="1">
                        <a:solidFill>
                          <a:schemeClr val="tx1"/>
                        </a:solidFill>
                        <a:latin typeface="Cambria Math" panose="02040503050406030204" pitchFamily="18" charset="0"/>
                      </a:rPr>
                      <m:t>=48</m:t>
                    </m:r>
                  </m:oMath>
                </a14:m>
                <a:r>
                  <a:rPr lang="he-IL" sz="2000">
                    <a:solidFill>
                      <a:schemeClr val="tx1"/>
                    </a:solidFill>
                    <a:latin typeface="Assistant" pitchFamily="2" charset="-79"/>
                    <a:cs typeface="Assistant" pitchFamily="2" charset="-79"/>
                  </a:rPr>
                  <a:t>, </a:t>
                </a:r>
                <a:r>
                  <a:rPr lang="en-US" sz="2000">
                    <a:solidFill>
                      <a:schemeClr val="tx1"/>
                    </a:solidFill>
                    <a:latin typeface="Assistant" pitchFamily="2" charset="-79"/>
                    <a:cs typeface="Assistant" pitchFamily="2" charset="-79"/>
                  </a:rPr>
                  <a:t>4CD</a:t>
                </a:r>
                <a:r>
                  <a:rPr lang="he-IL" sz="2000">
                    <a:solidFill>
                      <a:schemeClr val="tx1"/>
                    </a:solidFill>
                    <a:latin typeface="Assistant" pitchFamily="2" charset="-79"/>
                    <a:cs typeface="Assistant" pitchFamily="2" charset="-79"/>
                  </a:rPr>
                  <a:t> = 48, לכן </a:t>
                </a:r>
                <a:r>
                  <a:rPr lang="en-US" sz="2000">
                    <a:solidFill>
                      <a:schemeClr val="tx1"/>
                    </a:solidFill>
                    <a:latin typeface="Assistant" pitchFamily="2" charset="-79"/>
                    <a:cs typeface="Assistant" pitchFamily="2" charset="-79"/>
                  </a:rPr>
                  <a:t>CD</a:t>
                </a:r>
                <a:r>
                  <a:rPr lang="he-IL" sz="2000">
                    <a:solidFill>
                      <a:schemeClr val="tx1"/>
                    </a:solidFill>
                    <a:latin typeface="Assistant" pitchFamily="2" charset="-79"/>
                    <a:cs typeface="Assistant" pitchFamily="2" charset="-79"/>
                  </a:rPr>
                  <a:t> = 12 ס"מ.</a:t>
                </a:r>
              </a:p>
              <a:p>
                <a:r>
                  <a:rPr lang="he-IL" sz="2000">
                    <a:solidFill>
                      <a:schemeClr val="tx1"/>
                    </a:solidFill>
                    <a:latin typeface="Assistant" pitchFamily="2" charset="-79"/>
                    <a:cs typeface="Assistant" pitchFamily="2" charset="-79"/>
                  </a:rPr>
                  <a:t>לשני המשולשים (</a:t>
                </a:r>
                <a:r>
                  <a:rPr lang="en-US" sz="2000">
                    <a:solidFill>
                      <a:schemeClr val="tx1"/>
                    </a:solidFill>
                    <a:latin typeface="Assistant" pitchFamily="2" charset="-79"/>
                    <a:cs typeface="Assistant" pitchFamily="2" charset="-79"/>
                  </a:rPr>
                  <a:t>ACD</a:t>
                </a:r>
                <a:r>
                  <a:rPr lang="he-IL" sz="2000">
                    <a:solidFill>
                      <a:schemeClr val="tx1"/>
                    </a:solidFill>
                    <a:latin typeface="Assistant" pitchFamily="2" charset="-79"/>
                    <a:cs typeface="Assistant" pitchFamily="2" charset="-79"/>
                  </a:rPr>
                  <a:t> ו-</a:t>
                </a:r>
                <a:r>
                  <a:rPr lang="en-US" sz="2000">
                    <a:solidFill>
                      <a:schemeClr val="tx1"/>
                    </a:solidFill>
                    <a:latin typeface="Assistant" pitchFamily="2" charset="-79"/>
                    <a:cs typeface="Assistant" pitchFamily="2" charset="-79"/>
                  </a:rPr>
                  <a:t>ABD</a:t>
                </a:r>
                <a:r>
                  <a:rPr lang="he-IL" sz="2000">
                    <a:solidFill>
                      <a:schemeClr val="tx1"/>
                    </a:solidFill>
                    <a:latin typeface="Assistant" pitchFamily="2" charset="-79"/>
                    <a:cs typeface="Assistant" pitchFamily="2" charset="-79"/>
                  </a:rPr>
                  <a:t>) יש אותו גובה.</a:t>
                </a:r>
              </a:p>
              <a:p>
                <a:r>
                  <a:rPr lang="he-IL" sz="2000">
                    <a:solidFill>
                      <a:schemeClr val="tx1"/>
                    </a:solidFill>
                    <a:latin typeface="Assistant" pitchFamily="2" charset="-79"/>
                    <a:cs typeface="Assistant" pitchFamily="2" charset="-79"/>
                  </a:rPr>
                  <a:t>יחס הצלעות הנפגשות עם הגובה יהיה כמו יחס השטחים (3 : 1). לכן – </a:t>
                </a:r>
                <a:r>
                  <a:rPr lang="en-US" sz="2000">
                    <a:solidFill>
                      <a:schemeClr val="tx1"/>
                    </a:solidFill>
                    <a:latin typeface="Assistant" pitchFamily="2" charset="-79"/>
                    <a:cs typeface="Assistant" pitchFamily="2" charset="-79"/>
                  </a:rPr>
                  <a:t>BD</a:t>
                </a:r>
                <a:r>
                  <a:rPr lang="he-IL" sz="2000">
                    <a:solidFill>
                      <a:schemeClr val="tx1"/>
                    </a:solidFill>
                    <a:latin typeface="Assistant" pitchFamily="2" charset="-79"/>
                    <a:cs typeface="Assistant" pitchFamily="2" charset="-79"/>
                  </a:rPr>
                  <a:t> = 4 = 3 : 12.</a:t>
                </a:r>
                <a:endParaRPr lang="en-US" sz="2000">
                  <a:solidFill>
                    <a:schemeClr val="tx1"/>
                  </a:solidFill>
                  <a:latin typeface="Assistant" pitchFamily="2" charset="-79"/>
                  <a:cs typeface="Assistant" pitchFamily="2" charset="-79"/>
                </a:endParaRPr>
              </a:p>
              <a:p>
                <a:pPr algn="ctr"/>
                <a:endParaRPr lang="he-IL" sz="2000">
                  <a:solidFill>
                    <a:schemeClr val="tx1"/>
                  </a:solidFill>
                  <a:latin typeface="Assistant" pitchFamily="2" charset="-79"/>
                  <a:cs typeface="Assistant" pitchFamily="2" charset="-79"/>
                </a:endParaRPr>
              </a:p>
            </p:txBody>
          </p:sp>
        </mc:Choice>
        <mc:Fallback xmlns="">
          <p:sp>
            <p:nvSpPr>
              <p:cNvPr id="24" name="מלבן: פינות מעוגלות 9">
                <a:extLst>
                  <a:ext uri="{FF2B5EF4-FFF2-40B4-BE49-F238E27FC236}">
                    <a16:creationId xmlns:a16="http://schemas.microsoft.com/office/drawing/2014/main" id="{483576E2-338F-891C-6344-56D343B6D0AF}"/>
                  </a:ext>
                </a:extLst>
              </p:cNvPr>
              <p:cNvSpPr>
                <a:spLocks noRot="1" noChangeAspect="1" noMove="1" noResize="1" noEditPoints="1" noAdjustHandles="1" noChangeArrowheads="1" noChangeShapeType="1" noTextEdit="1"/>
              </p:cNvSpPr>
              <p:nvPr/>
            </p:nvSpPr>
            <p:spPr>
              <a:xfrm>
                <a:off x="-5962104" y="2271219"/>
                <a:ext cx="5175012" cy="4586781"/>
              </a:xfrm>
              <a:prstGeom prst="roundRect">
                <a:avLst>
                  <a:gd name="adj" fmla="val 1647"/>
                </a:avLst>
              </a:prstGeom>
              <a:blipFill>
                <a:blip r:embed="rId11"/>
                <a:stretch>
                  <a:fillRect t="-5718" r="-824" b="-7314"/>
                </a:stretch>
              </a:blipFill>
              <a:ln>
                <a:noFill/>
              </a:ln>
            </p:spPr>
            <p:txBody>
              <a:bodyPr/>
              <a:lstStyle/>
              <a:p>
                <a:r>
                  <a:rPr lang="en-US">
                    <a:noFill/>
                  </a:rPr>
                  <a:t> </a:t>
                </a:r>
              </a:p>
            </p:txBody>
          </p:sp>
        </mc:Fallback>
      </mc:AlternateContent>
    </p:spTree>
    <p:custDataLst>
      <p:tags r:id="rId1"/>
    </p:custDataLst>
    <p:extLst>
      <p:ext uri="{BB962C8B-B14F-4D97-AF65-F5344CB8AC3E}">
        <p14:creationId xmlns:p14="http://schemas.microsoft.com/office/powerpoint/2010/main" val="3005444369"/>
      </p:ext>
    </p:extLst>
  </p:cSld>
  <p:clrMapOvr>
    <a:masterClrMapping/>
  </p:clrMapOvr>
  <p:extLst>
    <p:ext uri="{6950BFC3-D8DA-4A85-94F7-54DA5524770B}">
      <p188:commentRel xmlns:p188="http://schemas.microsoft.com/office/powerpoint/2018/8/main" r:id="rId4"/>
    </p:ext>
  </p:extLst>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מציין מיקום תוכן 2">
                <a:extLst>
                  <a:ext uri="{FF2B5EF4-FFF2-40B4-BE49-F238E27FC236}">
                    <a16:creationId xmlns:a16="http://schemas.microsoft.com/office/drawing/2014/main" id="{EB7E5EAC-844D-B6F0-FC08-4BE3075E1FAE}"/>
                  </a:ext>
                </a:extLst>
              </p:cNvPr>
              <p:cNvSpPr>
                <a:spLocks noGrp="1"/>
              </p:cNvSpPr>
              <p:nvPr>
                <p:ph idx="1"/>
              </p:nvPr>
            </p:nvSpPr>
            <p:spPr>
              <a:xfrm>
                <a:off x="3638642" y="495740"/>
                <a:ext cx="7996292" cy="6237515"/>
              </a:xfrm>
            </p:spPr>
            <p:txBody>
              <a:bodyPr>
                <a:normAutofit/>
              </a:bodyPr>
              <a:lstStyle/>
              <a:p>
                <a:pPr marL="0" indent="0">
                  <a:lnSpc>
                    <a:spcPct val="120000"/>
                  </a:lnSpc>
                  <a:buNone/>
                </a:pPr>
                <a:r>
                  <a:rPr lang="en-US" sz="2000">
                    <a:latin typeface="Assistant" pitchFamily="2" charset="-79"/>
                    <a:cs typeface="Assistant" pitchFamily="2" charset="-79"/>
                  </a:rPr>
                  <a:t>3</a:t>
                </a:r>
                <a:r>
                  <a:rPr lang="he-IL">
                    <a:latin typeface="Assistant" pitchFamily="2" charset="-79"/>
                    <a:cs typeface="Assistant" pitchFamily="2" charset="-79"/>
                  </a:rPr>
                  <a:t>. </a:t>
                </a:r>
                <a:r>
                  <a:rPr lang="he-IL" sz="2000">
                    <a:latin typeface="Assistant" pitchFamily="2" charset="-79"/>
                    <a:cs typeface="Assistant" pitchFamily="2" charset="-79"/>
                  </a:rPr>
                  <a:t>משה וניסים עובדים במפעל לצבעים. </a:t>
                </a:r>
              </a:p>
              <a:p>
                <a:pPr marL="0" indent="0">
                  <a:lnSpc>
                    <a:spcPct val="120000"/>
                  </a:lnSpc>
                  <a:buNone/>
                </a:pPr>
                <a:r>
                  <a:rPr lang="he-IL" sz="2000">
                    <a:latin typeface="Assistant" pitchFamily="2" charset="-79"/>
                    <a:cs typeface="Assistant" pitchFamily="2" charset="-79"/>
                  </a:rPr>
                  <a:t>כדי ליצור גוון מיוחד של "ירוק-זית", הם מערבבים שלושה צבעים: </a:t>
                </a:r>
                <a:endParaRPr lang="en-US" sz="2000">
                  <a:latin typeface="Assistant" pitchFamily="2" charset="-79"/>
                  <a:cs typeface="Assistant" pitchFamily="2" charset="-79"/>
                </a:endParaRPr>
              </a:p>
              <a:p>
                <a:pPr marL="0" indent="0">
                  <a:lnSpc>
                    <a:spcPct val="120000"/>
                  </a:lnSpc>
                  <a:buNone/>
                </a:pPr>
                <a:r>
                  <a:rPr lang="he-IL" sz="2000" b="1">
                    <a:latin typeface="Assistant" pitchFamily="2" charset="-79"/>
                    <a:cs typeface="Assistant" pitchFamily="2" charset="-79"/>
                  </a:rPr>
                  <a:t>צהוב, כחול ושחור</a:t>
                </a:r>
                <a:r>
                  <a:rPr lang="he-IL" sz="2000">
                    <a:latin typeface="Assistant" pitchFamily="2" charset="-79"/>
                    <a:cs typeface="Assistant" pitchFamily="2" charset="-79"/>
                  </a:rPr>
                  <a:t> ביחס של </a:t>
                </a:r>
                <a14:m>
                  <m:oMath xmlns:m="http://schemas.openxmlformats.org/officeDocument/2006/math">
                    <m:r>
                      <a:rPr lang="he-IL" sz="2000" b="0" i="0" smtClean="0">
                        <a:latin typeface="Cambria Math" panose="02040503050406030204" pitchFamily="18" charset="0"/>
                      </a:rPr>
                      <m:t> </m:t>
                    </m:r>
                    <m:r>
                      <a:rPr lang="he-IL" sz="2000">
                        <a:latin typeface="Cambria Math" panose="02040503050406030204" pitchFamily="18" charset="0"/>
                      </a:rPr>
                      <m:t>5:3:2</m:t>
                    </m:r>
                  </m:oMath>
                </a14:m>
                <a:r>
                  <a:rPr lang="he-IL" sz="2000">
                    <a:latin typeface="Assistant" pitchFamily="2" charset="-79"/>
                    <a:cs typeface="Assistant" pitchFamily="2" charset="-79"/>
                  </a:rPr>
                  <a:t>(בהתאמה).</a:t>
                </a:r>
              </a:p>
              <a:p>
                <a:pPr marL="0" indent="0">
                  <a:lnSpc>
                    <a:spcPct val="120000"/>
                  </a:lnSpc>
                  <a:buNone/>
                </a:pPr>
                <a:r>
                  <a:rPr lang="he-IL" sz="2000">
                    <a:latin typeface="Assistant" pitchFamily="2" charset="-79"/>
                    <a:cs typeface="Assistant" pitchFamily="2" charset="-79"/>
                  </a:rPr>
                  <a:t>ביום ראשון, הם הכינו כמות גדולה של צבע והשתמשו ב-</a:t>
                </a:r>
                <a:r>
                  <a:rPr lang="he-IL" sz="2000" b="1">
                    <a:latin typeface="Assistant" pitchFamily="2" charset="-79"/>
                    <a:cs typeface="Assistant" pitchFamily="2" charset="-79"/>
                  </a:rPr>
                  <a:t>12 ליטרים של צבע שחור</a:t>
                </a:r>
                <a:r>
                  <a:rPr lang="he-IL" sz="2000">
                    <a:latin typeface="Assistant" pitchFamily="2" charset="-79"/>
                    <a:cs typeface="Assistant" pitchFamily="2" charset="-79"/>
                  </a:rPr>
                  <a:t>.</a:t>
                </a:r>
                <a:endParaRPr lang="en-US" sz="2000">
                  <a:latin typeface="Assistant" pitchFamily="2" charset="-79"/>
                  <a:cs typeface="Assistant" pitchFamily="2" charset="-79"/>
                </a:endParaRPr>
              </a:p>
              <a:p>
                <a:pPr marL="0" indent="0">
                  <a:lnSpc>
                    <a:spcPct val="120000"/>
                  </a:lnSpc>
                  <a:buNone/>
                </a:pPr>
                <a:endParaRPr lang="he-IL" sz="2000">
                  <a:latin typeface="Assistant" pitchFamily="2" charset="-79"/>
                  <a:cs typeface="Assistant" pitchFamily="2" charset="-79"/>
                </a:endParaRPr>
              </a:p>
              <a:p>
                <a:pPr marL="0" indent="0">
                  <a:lnSpc>
                    <a:spcPct val="120000"/>
                  </a:lnSpc>
                  <a:buNone/>
                </a:pPr>
                <a:r>
                  <a:rPr lang="he-IL" sz="2000" b="1">
                    <a:latin typeface="Assistant" pitchFamily="2" charset="-79"/>
                    <a:cs typeface="Assistant" pitchFamily="2" charset="-79"/>
                  </a:rPr>
                  <a:t>א. השלימו את הכמויות:</a:t>
                </a:r>
              </a:p>
              <a:p>
                <a:pPr marL="0" indent="0">
                  <a:lnSpc>
                    <a:spcPct val="120000"/>
                  </a:lnSpc>
                  <a:buNone/>
                </a:pPr>
                <a:r>
                  <a:rPr lang="he-IL" sz="2000">
                    <a:latin typeface="Assistant" pitchFamily="2" charset="-79"/>
                    <a:cs typeface="Assistant" pitchFamily="2" charset="-79"/>
                  </a:rPr>
                  <a:t>מהו </a:t>
                </a:r>
                <a:r>
                  <a:rPr lang="he-IL" sz="2000" b="1">
                    <a:latin typeface="Assistant" pitchFamily="2" charset="-79"/>
                    <a:cs typeface="Assistant" pitchFamily="2" charset="-79"/>
                  </a:rPr>
                  <a:t>סך כל</a:t>
                </a:r>
                <a:r>
                  <a:rPr lang="he-IL" sz="2000">
                    <a:latin typeface="Assistant" pitchFamily="2" charset="-79"/>
                    <a:cs typeface="Assistant" pitchFamily="2" charset="-79"/>
                  </a:rPr>
                  <a:t> הליטרים של צבע ה"ירוק-זית" שהתקבלו? </a:t>
                </a:r>
              </a:p>
              <a:p>
                <a:pPr marL="0" lvl="0" indent="0">
                  <a:lnSpc>
                    <a:spcPct val="120000"/>
                  </a:lnSpc>
                  <a:buNone/>
                </a:pPr>
                <a:endParaRPr lang="en-US" sz="2000">
                  <a:latin typeface="Assistant" pitchFamily="2" charset="-79"/>
                  <a:cs typeface="Assistant" pitchFamily="2" charset="-79"/>
                </a:endParaRPr>
              </a:p>
              <a:p>
                <a:pPr marL="0" lvl="0" indent="0">
                  <a:lnSpc>
                    <a:spcPct val="120000"/>
                  </a:lnSpc>
                  <a:buNone/>
                </a:pPr>
                <a:r>
                  <a:rPr lang="he-IL" sz="2000">
                    <a:latin typeface="Assistant" pitchFamily="2" charset="-79"/>
                    <a:cs typeface="Assistant" pitchFamily="2" charset="-79"/>
                  </a:rPr>
                  <a:t>כמה ליטרים של צבע </a:t>
                </a:r>
                <a:r>
                  <a:rPr lang="he-IL" sz="2000" b="1">
                    <a:latin typeface="Assistant" pitchFamily="2" charset="-79"/>
                    <a:cs typeface="Assistant" pitchFamily="2" charset="-79"/>
                  </a:rPr>
                  <a:t>צהוב</a:t>
                </a:r>
                <a:r>
                  <a:rPr lang="he-IL" sz="2000">
                    <a:latin typeface="Assistant" pitchFamily="2" charset="-79"/>
                    <a:cs typeface="Assistant" pitchFamily="2" charset="-79"/>
                  </a:rPr>
                  <a:t> הם שמו בתערובת? </a:t>
                </a:r>
              </a:p>
              <a:p>
                <a:pPr marL="0" lvl="0" indent="0">
                  <a:lnSpc>
                    <a:spcPct val="120000"/>
                  </a:lnSpc>
                  <a:buNone/>
                </a:pPr>
                <a:endParaRPr lang="en-US" sz="2000">
                  <a:latin typeface="Assistant" pitchFamily="2" charset="-79"/>
                  <a:cs typeface="Assistant" pitchFamily="2" charset="-79"/>
                </a:endParaRPr>
              </a:p>
              <a:p>
                <a:pPr marL="0" lvl="0" indent="0">
                  <a:lnSpc>
                    <a:spcPct val="120000"/>
                  </a:lnSpc>
                  <a:buNone/>
                </a:pPr>
                <a:r>
                  <a:rPr lang="he-IL" sz="2000">
                    <a:latin typeface="Assistant" pitchFamily="2" charset="-79"/>
                    <a:cs typeface="Assistant" pitchFamily="2" charset="-79"/>
                  </a:rPr>
                  <a:t>כמה ליטרים של צבע </a:t>
                </a:r>
                <a:r>
                  <a:rPr lang="he-IL" sz="2000" b="1">
                    <a:latin typeface="Assistant" pitchFamily="2" charset="-79"/>
                    <a:cs typeface="Assistant" pitchFamily="2" charset="-79"/>
                  </a:rPr>
                  <a:t>כחול</a:t>
                </a:r>
                <a:r>
                  <a:rPr lang="he-IL" sz="2000">
                    <a:latin typeface="Assistant" pitchFamily="2" charset="-79"/>
                    <a:cs typeface="Assistant" pitchFamily="2" charset="-79"/>
                  </a:rPr>
                  <a:t> הם שמו בתערובת? </a:t>
                </a:r>
              </a:p>
              <a:p>
                <a:endParaRPr lang="he-IL"/>
              </a:p>
            </p:txBody>
          </p:sp>
        </mc:Choice>
        <mc:Fallback xmlns="">
          <p:sp>
            <p:nvSpPr>
              <p:cNvPr id="3" name="מציין מיקום תוכן 2">
                <a:extLst>
                  <a:ext uri="{FF2B5EF4-FFF2-40B4-BE49-F238E27FC236}">
                    <a16:creationId xmlns:a16="http://schemas.microsoft.com/office/drawing/2014/main" id="{EB7E5EAC-844D-B6F0-FC08-4BE3075E1FAE}"/>
                  </a:ext>
                </a:extLst>
              </p:cNvPr>
              <p:cNvSpPr>
                <a:spLocks noGrp="1" noRot="1" noChangeAspect="1" noMove="1" noResize="1" noEditPoints="1" noAdjustHandles="1" noChangeArrowheads="1" noChangeShapeType="1" noTextEdit="1"/>
              </p:cNvSpPr>
              <p:nvPr>
                <p:ph idx="1"/>
              </p:nvPr>
            </p:nvSpPr>
            <p:spPr>
              <a:xfrm>
                <a:off x="3638642" y="495740"/>
                <a:ext cx="7996292" cy="6237515"/>
              </a:xfrm>
              <a:blipFill>
                <a:blip r:embed="rId4"/>
                <a:stretch>
                  <a:fillRect t="-195" r="-83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 name="תיבת טקסט 3">
                <a:extLst>
                  <a:ext uri="{FF2B5EF4-FFF2-40B4-BE49-F238E27FC236}">
                    <a16:creationId xmlns:a16="http://schemas.microsoft.com/office/drawing/2014/main" id="{B9E22331-7D1B-06EF-6231-44674C4F7EF7}"/>
                  </a:ext>
                </a:extLst>
              </p:cNvPr>
              <p:cNvSpPr txBox="1"/>
              <p:nvPr/>
            </p:nvSpPr>
            <p:spPr>
              <a:xfrm>
                <a:off x="-5733534" y="3237362"/>
                <a:ext cx="6509465" cy="3735125"/>
              </a:xfrm>
              <a:prstGeom prst="rect">
                <a:avLst/>
              </a:prstGeom>
              <a:solidFill>
                <a:schemeClr val="accent6">
                  <a:lumMod val="20000"/>
                  <a:lumOff val="80000"/>
                </a:schemeClr>
              </a:solidFill>
            </p:spPr>
            <p:txBody>
              <a:bodyPr wrap="square" rtlCol="1">
                <a:spAutoFit/>
              </a:bodyPr>
              <a:lstStyle/>
              <a:p>
                <a:r>
                  <a:rPr lang="he-IL" sz="2400" b="1">
                    <a:latin typeface="Assistant" pitchFamily="2" charset="-79"/>
                    <a:cs typeface="Assistant" pitchFamily="2" charset="-79"/>
                  </a:rPr>
                  <a:t>נכון / לא נכון</a:t>
                </a:r>
              </a:p>
              <a:p>
                <a:r>
                  <a:rPr lang="he-IL">
                    <a:latin typeface="Assistant" pitchFamily="2" charset="-79"/>
                    <a:cs typeface="Assistant" pitchFamily="2" charset="-79"/>
                  </a:rPr>
                  <a:t>א. נסמן ב- </a:t>
                </a:r>
                <a:r>
                  <a:rPr lang="en-US">
                    <a:latin typeface="Assistant" pitchFamily="2" charset="-79"/>
                    <a:cs typeface="Assistant" pitchFamily="2" charset="-79"/>
                  </a:rPr>
                  <a:t>x</a:t>
                </a:r>
                <a:r>
                  <a:rPr lang="he-IL">
                    <a:latin typeface="Assistant" pitchFamily="2" charset="-79"/>
                    <a:cs typeface="Assistant" pitchFamily="2" charset="-79"/>
                  </a:rPr>
                  <a:t> את סך הליטרים של הצבע "ירוק זית" שהתקבל. </a:t>
                </a:r>
              </a:p>
              <a:p>
                <a:r>
                  <a:rPr lang="he-IL">
                    <a:latin typeface="Assistant" pitchFamily="2" charset="-79"/>
                    <a:cs typeface="Assistant" pitchFamily="2" charset="-79"/>
                  </a:rPr>
                  <a:t>סכום חלקי היחס הוא: </a:t>
                </a:r>
                <a14:m>
                  <m:oMath xmlns:m="http://schemas.openxmlformats.org/officeDocument/2006/math">
                    <m:r>
                      <a:rPr lang="he-IL" b="0" i="1" smtClean="0">
                        <a:latin typeface="Cambria Math" panose="02040503050406030204" pitchFamily="18" charset="0"/>
                      </a:rPr>
                      <m:t>5+3+2=10</m:t>
                    </m:r>
                  </m:oMath>
                </a14:m>
                <a:endParaRPr lang="he-IL">
                  <a:latin typeface="Assistant" pitchFamily="2" charset="-79"/>
                  <a:cs typeface="Assistant" pitchFamily="2" charset="-79"/>
                </a:endParaRPr>
              </a:p>
              <a:p>
                <a:r>
                  <a:rPr lang="he-IL">
                    <a:latin typeface="Assistant" pitchFamily="2" charset="-79"/>
                    <a:cs typeface="Assistant" pitchFamily="2" charset="-79"/>
                  </a:rPr>
                  <a:t>לכן הצבע השחור מהווה </a:t>
                </a:r>
                <a14:m>
                  <m:oMath xmlns:m="http://schemas.openxmlformats.org/officeDocument/2006/math">
                    <m:f>
                      <m:fPr>
                        <m:ctrlPr>
                          <a:rPr lang="he-IL" b="0" i="1" smtClean="0">
                            <a:latin typeface="Cambria Math" panose="02040503050406030204" pitchFamily="18" charset="0"/>
                          </a:rPr>
                        </m:ctrlPr>
                      </m:fPr>
                      <m:num>
                        <m:r>
                          <a:rPr lang="he-IL" b="0" i="1" smtClean="0">
                            <a:latin typeface="Cambria Math" panose="02040503050406030204" pitchFamily="18" charset="0"/>
                          </a:rPr>
                          <m:t>2</m:t>
                        </m:r>
                      </m:num>
                      <m:den>
                        <m:r>
                          <a:rPr lang="he-IL" b="0" i="1" smtClean="0">
                            <a:latin typeface="Cambria Math" panose="02040503050406030204" pitchFamily="18" charset="0"/>
                          </a:rPr>
                          <m:t>10</m:t>
                        </m:r>
                      </m:den>
                    </m:f>
                  </m:oMath>
                </a14:m>
                <a:r>
                  <a:rPr lang="he-IL">
                    <a:latin typeface="Assistant" pitchFamily="2" charset="-79"/>
                    <a:cs typeface="Assistant" pitchFamily="2" charset="-79"/>
                  </a:rPr>
                  <a:t>  מהתערובת.</a:t>
                </a:r>
              </a:p>
              <a:p>
                <a:r>
                  <a:rPr lang="he-IL">
                    <a:latin typeface="Assistant" pitchFamily="2" charset="-79"/>
                    <a:cs typeface="Assistant" pitchFamily="2" charset="-79"/>
                  </a:rPr>
                  <a:t>נסמן ב- </a:t>
                </a:r>
                <a:r>
                  <a:rPr lang="en-US">
                    <a:latin typeface="Assistant" pitchFamily="2" charset="-79"/>
                    <a:cs typeface="Assistant" pitchFamily="2" charset="-79"/>
                  </a:rPr>
                  <a:t>x</a:t>
                </a:r>
                <a:r>
                  <a:rPr lang="he-IL">
                    <a:latin typeface="Assistant" pitchFamily="2" charset="-79"/>
                    <a:cs typeface="Assistant" pitchFamily="2" charset="-79"/>
                  </a:rPr>
                  <a:t> את כמות הליטרים של התערובת ונבנה משוואה:</a:t>
                </a:r>
                <a:r>
                  <a:rPr lang="en-US">
                    <a:latin typeface="Assistant" pitchFamily="2" charset="-79"/>
                    <a:cs typeface="Assistant" pitchFamily="2" charset="-79"/>
                  </a:rPr>
                  <a:t> </a:t>
                </a:r>
                <a14:m>
                  <m:oMath xmlns:m="http://schemas.openxmlformats.org/officeDocument/2006/math">
                    <m:f>
                      <m:fPr>
                        <m:ctrlPr>
                          <a:rPr lang="en-US" b="0" i="1" smtClean="0">
                            <a:latin typeface="Cambria Math" panose="02040503050406030204" pitchFamily="18" charset="0"/>
                          </a:rPr>
                        </m:ctrlPr>
                      </m:fPr>
                      <m:num>
                        <m:r>
                          <a:rPr lang="en-US" b="0" i="1" smtClean="0">
                            <a:latin typeface="Cambria Math" panose="02040503050406030204" pitchFamily="18" charset="0"/>
                          </a:rPr>
                          <m:t>2</m:t>
                        </m:r>
                      </m:num>
                      <m:den>
                        <m:r>
                          <a:rPr lang="en-US" b="0" i="1" smtClean="0">
                            <a:latin typeface="Cambria Math" panose="02040503050406030204" pitchFamily="18" charset="0"/>
                          </a:rPr>
                          <m:t>10</m:t>
                        </m:r>
                      </m:den>
                    </m:f>
                    <m:r>
                      <a:rPr lang="en-US" i="1">
                        <a:latin typeface="Cambria Math" panose="02040503050406030204" pitchFamily="18" charset="0"/>
                      </a:rPr>
                      <m:t>⋅</m:t>
                    </m:r>
                    <m:r>
                      <a:rPr lang="en-US" b="0" i="1" smtClean="0">
                        <a:latin typeface="Cambria Math" panose="02040503050406030204" pitchFamily="18" charset="0"/>
                      </a:rPr>
                      <m:t>𝑥</m:t>
                    </m:r>
                    <m:r>
                      <a:rPr lang="en-US" i="1">
                        <a:latin typeface="Cambria Math" panose="02040503050406030204" pitchFamily="18" charset="0"/>
                      </a:rPr>
                      <m:t>=</m:t>
                    </m:r>
                    <m:r>
                      <a:rPr lang="en-US" b="0" i="1" smtClean="0">
                        <a:latin typeface="Cambria Math" panose="02040503050406030204" pitchFamily="18" charset="0"/>
                      </a:rPr>
                      <m:t>12  </m:t>
                    </m:r>
                  </m:oMath>
                </a14:m>
                <a:r>
                  <a:rPr lang="he-IL">
                    <a:latin typeface="Assistant" pitchFamily="2" charset="-79"/>
                    <a:cs typeface="Assistant" pitchFamily="2" charset="-79"/>
                  </a:rPr>
                  <a:t> </a:t>
                </a:r>
              </a:p>
              <a:p>
                <a:r>
                  <a:rPr lang="he-IL" b="0">
                    <a:latin typeface="Assistant" pitchFamily="2" charset="-79"/>
                    <a:cs typeface="Assistant" pitchFamily="2" charset="-79"/>
                  </a:rPr>
                  <a:t>נחלק ב-</a:t>
                </a:r>
                <a14:m>
                  <m:oMath xmlns:m="http://schemas.openxmlformats.org/officeDocument/2006/math">
                    <m:f>
                      <m:fPr>
                        <m:ctrlPr>
                          <a:rPr lang="en-US" i="1">
                            <a:latin typeface="Cambria Math" panose="02040503050406030204" pitchFamily="18" charset="0"/>
                          </a:rPr>
                        </m:ctrlPr>
                      </m:fPr>
                      <m:num>
                        <m:r>
                          <a:rPr lang="en-US" i="1">
                            <a:latin typeface="Cambria Math" panose="02040503050406030204" pitchFamily="18" charset="0"/>
                          </a:rPr>
                          <m:t>2</m:t>
                        </m:r>
                      </m:num>
                      <m:den>
                        <m:r>
                          <a:rPr lang="en-US" i="1">
                            <a:latin typeface="Cambria Math" panose="02040503050406030204" pitchFamily="18" charset="0"/>
                          </a:rPr>
                          <m:t>10</m:t>
                        </m:r>
                      </m:den>
                    </m:f>
                  </m:oMath>
                </a14:m>
                <a:r>
                  <a:rPr lang="he-IL">
                    <a:latin typeface="Assistant" pitchFamily="2" charset="-79"/>
                    <a:cs typeface="Assistant" pitchFamily="2" charset="-79"/>
                  </a:rPr>
                  <a:t> ונקבל: :</a:t>
                </a:r>
                <a:r>
                  <a:rPr lang="en-US">
                    <a:latin typeface="Assistant" pitchFamily="2" charset="-79"/>
                    <a:cs typeface="Assistant" pitchFamily="2" charset="-79"/>
                  </a:rPr>
                  <a:t> </a:t>
                </a:r>
                <a14:m>
                  <m:oMath xmlns:m="http://schemas.openxmlformats.org/officeDocument/2006/math">
                    <m:r>
                      <a:rPr lang="en-US" i="1">
                        <a:latin typeface="Cambria Math" panose="02040503050406030204" pitchFamily="18" charset="0"/>
                      </a:rPr>
                      <m:t>𝑥</m:t>
                    </m:r>
                    <m:r>
                      <a:rPr lang="en-US" i="1">
                        <a:latin typeface="Cambria Math" panose="02040503050406030204" pitchFamily="18" charset="0"/>
                      </a:rPr>
                      <m:t>=60 </m:t>
                    </m:r>
                  </m:oMath>
                </a14:m>
                <a:r>
                  <a:rPr lang="he-IL">
                    <a:latin typeface="Assistant" pitchFamily="2" charset="-79"/>
                    <a:cs typeface="Assistant" pitchFamily="2" charset="-79"/>
                  </a:rPr>
                  <a:t>.</a:t>
                </a:r>
              </a:p>
              <a:p>
                <a:r>
                  <a:rPr lang="he-IL">
                    <a:latin typeface="Assistant" pitchFamily="2" charset="-79"/>
                    <a:cs typeface="Assistant" pitchFamily="2" charset="-79"/>
                  </a:rPr>
                  <a:t>לכן, יש 60 ליטרים של צבע ירוק זית.</a:t>
                </a:r>
              </a:p>
              <a:p>
                <a:r>
                  <a:rPr lang="he-IL">
                    <a:latin typeface="Assistant" pitchFamily="2" charset="-79"/>
                    <a:cs typeface="Assistant" pitchFamily="2" charset="-79"/>
                  </a:rPr>
                  <a:t>הצבע הצהוב מהווה </a:t>
                </a:r>
                <a14:m>
                  <m:oMath xmlns:m="http://schemas.openxmlformats.org/officeDocument/2006/math">
                    <m:f>
                      <m:fPr>
                        <m:ctrlPr>
                          <a:rPr lang="en-US" b="0" i="1" smtClean="0">
                            <a:latin typeface="Cambria Math" panose="02040503050406030204" pitchFamily="18" charset="0"/>
                          </a:rPr>
                        </m:ctrlPr>
                      </m:fPr>
                      <m:num>
                        <m:r>
                          <a:rPr lang="en-US" b="0" i="1" smtClean="0">
                            <a:latin typeface="Cambria Math" panose="02040503050406030204" pitchFamily="18" charset="0"/>
                          </a:rPr>
                          <m:t>5</m:t>
                        </m:r>
                      </m:num>
                      <m:den>
                        <m:r>
                          <a:rPr lang="en-US" i="1">
                            <a:latin typeface="Cambria Math" panose="02040503050406030204" pitchFamily="18" charset="0"/>
                          </a:rPr>
                          <m:t>10</m:t>
                        </m:r>
                      </m:den>
                    </m:f>
                  </m:oMath>
                </a14:m>
                <a:r>
                  <a:rPr lang="he-IL">
                    <a:latin typeface="Assistant" pitchFamily="2" charset="-79"/>
                    <a:cs typeface="Assistant" pitchFamily="2" charset="-79"/>
                  </a:rPr>
                  <a:t> מהתערובת. מדובר במחצית מהתערובת לכן יש 30 ליטרים של צבע צהוב בתערובת.</a:t>
                </a:r>
              </a:p>
              <a:p>
                <a:r>
                  <a:rPr lang="he-IL">
                    <a:latin typeface="Assistant" pitchFamily="2" charset="-79"/>
                    <a:cs typeface="Assistant" pitchFamily="2" charset="-79"/>
                  </a:rPr>
                  <a:t>מסקנה: יש  </a:t>
                </a:r>
                <a14:m>
                  <m:oMath xmlns:m="http://schemas.openxmlformats.org/officeDocument/2006/math">
                    <m:r>
                      <a:rPr lang="he-IL">
                        <a:latin typeface="Cambria Math" panose="02040503050406030204" pitchFamily="18" charset="0"/>
                        <a:cs typeface="Assistant" pitchFamily="2" charset="-79"/>
                      </a:rPr>
                      <m:t>60−12−30=ליטרים18</m:t>
                    </m:r>
                  </m:oMath>
                </a14:m>
                <a:endParaRPr lang="he-IL">
                  <a:latin typeface="Assistant" pitchFamily="2" charset="-79"/>
                  <a:cs typeface="Assistant" pitchFamily="2" charset="-79"/>
                </a:endParaRPr>
              </a:p>
              <a:p>
                <a:r>
                  <a:rPr lang="he-IL">
                    <a:latin typeface="Assistant" pitchFamily="2" charset="-79"/>
                    <a:cs typeface="Assistant" pitchFamily="2" charset="-79"/>
                  </a:rPr>
                  <a:t>של צבע כחול בתערובת.</a:t>
                </a:r>
              </a:p>
            </p:txBody>
          </p:sp>
        </mc:Choice>
        <mc:Fallback xmlns="">
          <p:sp>
            <p:nvSpPr>
              <p:cNvPr id="4" name="תיבת טקסט 3">
                <a:extLst>
                  <a:ext uri="{FF2B5EF4-FFF2-40B4-BE49-F238E27FC236}">
                    <a16:creationId xmlns:a16="http://schemas.microsoft.com/office/drawing/2014/main" id="{B9E22331-7D1B-06EF-6231-44674C4F7EF7}"/>
                  </a:ext>
                </a:extLst>
              </p:cNvPr>
              <p:cNvSpPr txBox="1">
                <a:spLocks noRot="1" noChangeAspect="1" noMove="1" noResize="1" noEditPoints="1" noAdjustHandles="1" noChangeArrowheads="1" noChangeShapeType="1" noTextEdit="1"/>
              </p:cNvSpPr>
              <p:nvPr/>
            </p:nvSpPr>
            <p:spPr>
              <a:xfrm>
                <a:off x="-5733534" y="3237362"/>
                <a:ext cx="6509465" cy="3735125"/>
              </a:xfrm>
              <a:prstGeom prst="rect">
                <a:avLst/>
              </a:prstGeom>
              <a:blipFill>
                <a:blip r:embed="rId5"/>
                <a:stretch>
                  <a:fillRect t="-1305" r="-1498" b="-1631"/>
                </a:stretch>
              </a:blipFill>
            </p:spPr>
            <p:txBody>
              <a:bodyPr/>
              <a:lstStyle/>
              <a:p>
                <a:r>
                  <a:rPr lang="en-US">
                    <a:noFill/>
                  </a:rPr>
                  <a:t> </a:t>
                </a:r>
              </a:p>
            </p:txBody>
          </p:sp>
        </mc:Fallback>
      </mc:AlternateContent>
      <p:grpSp>
        <p:nvGrpSpPr>
          <p:cNvPr id="5" name="קבוצה 4">
            <a:extLst>
              <a:ext uri="{FF2B5EF4-FFF2-40B4-BE49-F238E27FC236}">
                <a16:creationId xmlns:a16="http://schemas.microsoft.com/office/drawing/2014/main" id="{D81CDBC2-18BA-8728-EE8E-4DB68FEC3C05}"/>
              </a:ext>
            </a:extLst>
          </p:cNvPr>
          <p:cNvGrpSpPr/>
          <p:nvPr/>
        </p:nvGrpSpPr>
        <p:grpSpPr>
          <a:xfrm>
            <a:off x="-8347973" y="-716934"/>
            <a:ext cx="9123904" cy="3818372"/>
            <a:chOff x="-9229411" y="26138"/>
            <a:chExt cx="9123904" cy="3818372"/>
          </a:xfrm>
        </p:grpSpPr>
        <p:sp>
          <p:nvSpPr>
            <p:cNvPr id="6" name="מלבן: פינות מעוגלות 5">
              <a:extLst>
                <a:ext uri="{FF2B5EF4-FFF2-40B4-BE49-F238E27FC236}">
                  <a16:creationId xmlns:a16="http://schemas.microsoft.com/office/drawing/2014/main" id="{92E0E386-A39A-1EF8-EDF5-72CFF4937D6C}"/>
                </a:ext>
              </a:extLst>
            </p:cNvPr>
            <p:cNvSpPr/>
            <p:nvPr/>
          </p:nvSpPr>
          <p:spPr>
            <a:xfrm>
              <a:off x="-9229411" y="26138"/>
              <a:ext cx="9123904" cy="3818372"/>
            </a:xfrm>
            <a:prstGeom prst="roundRect">
              <a:avLst>
                <a:gd name="adj" fmla="val 8509"/>
              </a:avLst>
            </a:prstGeom>
            <a:solidFill>
              <a:srgbClr val="00B0F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LID4096"/>
            </a:p>
          </p:txBody>
        </p:sp>
        <p:sp>
          <p:nvSpPr>
            <p:cNvPr id="7" name="מלבן: פינות מעוגלות 6">
              <a:extLst>
                <a:ext uri="{FF2B5EF4-FFF2-40B4-BE49-F238E27FC236}">
                  <a16:creationId xmlns:a16="http://schemas.microsoft.com/office/drawing/2014/main" id="{D677B34B-7285-98B8-A869-C04D1BD65D6D}"/>
                </a:ext>
              </a:extLst>
            </p:cNvPr>
            <p:cNvSpPr/>
            <p:nvPr/>
          </p:nvSpPr>
          <p:spPr>
            <a:xfrm>
              <a:off x="-5861703" y="3135618"/>
              <a:ext cx="1798983" cy="506891"/>
            </a:xfrm>
            <a:prstGeom prst="roundRect">
              <a:avLst>
                <a:gd name="adj" fmla="val 50000"/>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he-IL">
                  <a:solidFill>
                    <a:schemeClr val="tx1"/>
                  </a:solidFill>
                  <a:latin typeface="Assistant" pitchFamily="2" charset="-79"/>
                  <a:cs typeface="Assistant" pitchFamily="2" charset="-79"/>
                </a:rPr>
                <a:t>חזרה לשאלה</a:t>
              </a:r>
              <a:endParaRPr lang="LID4096">
                <a:solidFill>
                  <a:schemeClr val="tx1"/>
                </a:solidFill>
                <a:latin typeface="Assistant" pitchFamily="2" charset="-79"/>
                <a:cs typeface="Assistant" pitchFamily="2" charset="-79"/>
              </a:endParaRPr>
            </a:p>
          </p:txBody>
        </p:sp>
        <p:pic>
          <p:nvPicPr>
            <p:cNvPr id="8" name="גרפיקה 7" descr="נורת חשמל וגלגל שיניים עם מילוי מלא">
              <a:extLst>
                <a:ext uri="{FF2B5EF4-FFF2-40B4-BE49-F238E27FC236}">
                  <a16:creationId xmlns:a16="http://schemas.microsoft.com/office/drawing/2014/main" id="{FAB59058-4B96-0718-FD8F-C9B1C0DB7EC9}"/>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983558" y="489982"/>
              <a:ext cx="338083" cy="338083"/>
            </a:xfrm>
            <a:prstGeom prst="rect">
              <a:avLst/>
            </a:prstGeom>
          </p:spPr>
        </p:pic>
      </p:grpSp>
      <p:sp>
        <p:nvSpPr>
          <p:cNvPr id="9" name="תיבת טקסט 8">
            <a:extLst>
              <a:ext uri="{FF2B5EF4-FFF2-40B4-BE49-F238E27FC236}">
                <a16:creationId xmlns:a16="http://schemas.microsoft.com/office/drawing/2014/main" id="{72C14577-D5C8-9614-8210-9C3B18166B7F}"/>
              </a:ext>
            </a:extLst>
          </p:cNvPr>
          <p:cNvSpPr txBox="1"/>
          <p:nvPr/>
        </p:nvSpPr>
        <p:spPr>
          <a:xfrm>
            <a:off x="-5554132" y="220917"/>
            <a:ext cx="5825066" cy="646331"/>
          </a:xfrm>
          <a:prstGeom prst="rect">
            <a:avLst/>
          </a:prstGeom>
          <a:noFill/>
        </p:spPr>
        <p:txBody>
          <a:bodyPr wrap="square" rtlCol="1">
            <a:spAutoFit/>
          </a:bodyPr>
          <a:lstStyle/>
          <a:p>
            <a:r>
              <a:rPr lang="he-IL">
                <a:solidFill>
                  <a:schemeClr val="bg1"/>
                </a:solidFill>
                <a:latin typeface="Assistant" pitchFamily="2" charset="-79"/>
                <a:cs typeface="Assistant" pitchFamily="2" charset="-79"/>
              </a:rPr>
              <a:t>א. שימו לב, הצהוב מהווה 2 חלקים מהיחס, </a:t>
            </a:r>
          </a:p>
          <a:p>
            <a:r>
              <a:rPr lang="he-IL">
                <a:solidFill>
                  <a:schemeClr val="bg1"/>
                </a:solidFill>
                <a:latin typeface="Assistant" pitchFamily="2" charset="-79"/>
                <a:cs typeface="Assistant" pitchFamily="2" charset="-79"/>
              </a:rPr>
              <a:t>הכחול מהווה 3 חלקים והשחור מהווה 5 חלקים. </a:t>
            </a:r>
          </a:p>
        </p:txBody>
      </p:sp>
      <mc:AlternateContent xmlns:mc="http://schemas.openxmlformats.org/markup-compatibility/2006" xmlns:a14="http://schemas.microsoft.com/office/drawing/2010/main">
        <mc:Choice Requires="a14">
          <p:sp>
            <p:nvSpPr>
              <p:cNvPr id="10" name="מלבן: פינות מעוגלות 9">
                <a:extLst>
                  <a:ext uri="{FF2B5EF4-FFF2-40B4-BE49-F238E27FC236}">
                    <a16:creationId xmlns:a16="http://schemas.microsoft.com/office/drawing/2014/main" id="{4E48901C-F019-4EFB-F880-00D5F1C0FEF8}"/>
                  </a:ext>
                </a:extLst>
              </p:cNvPr>
              <p:cNvSpPr/>
              <p:nvPr/>
            </p:nvSpPr>
            <p:spPr>
              <a:xfrm>
                <a:off x="5116341" y="3617856"/>
                <a:ext cx="1233691" cy="526581"/>
              </a:xfrm>
              <a:prstGeom prst="roundRect">
                <a:avLst>
                  <a:gd name="adj" fmla="val 1764"/>
                </a:avLst>
              </a:prstGeom>
              <a:noFill/>
              <a:ln w="12700">
                <a:solidFill>
                  <a:srgbClr val="92D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
                      <m:r>
                        <a:rPr lang="en-US" sz="2000" b="0" i="1" smtClean="0">
                          <a:solidFill>
                            <a:schemeClr val="tx1"/>
                          </a:solidFill>
                          <a:latin typeface="Cambria Math" panose="02040503050406030204" pitchFamily="18" charset="0"/>
                        </a:rPr>
                        <m:t>60</m:t>
                      </m:r>
                    </m:oMath>
                  </m:oMathPara>
                </a14:m>
                <a:endParaRPr lang="LID4096" sz="2000">
                  <a:solidFill>
                    <a:schemeClr val="tx1"/>
                  </a:solidFill>
                </a:endParaRPr>
              </a:p>
            </p:txBody>
          </p:sp>
        </mc:Choice>
        <mc:Fallback xmlns="">
          <p:sp>
            <p:nvSpPr>
              <p:cNvPr id="10" name="מלבן: פינות מעוגלות 9">
                <a:extLst>
                  <a:ext uri="{FF2B5EF4-FFF2-40B4-BE49-F238E27FC236}">
                    <a16:creationId xmlns:a16="http://schemas.microsoft.com/office/drawing/2014/main" id="{4E48901C-F019-4EFB-F880-00D5F1C0FEF8}"/>
                  </a:ext>
                </a:extLst>
              </p:cNvPr>
              <p:cNvSpPr>
                <a:spLocks noRot="1" noChangeAspect="1" noMove="1" noResize="1" noEditPoints="1" noAdjustHandles="1" noChangeArrowheads="1" noChangeShapeType="1" noTextEdit="1"/>
              </p:cNvSpPr>
              <p:nvPr/>
            </p:nvSpPr>
            <p:spPr>
              <a:xfrm>
                <a:off x="5116341" y="3617856"/>
                <a:ext cx="1233691" cy="526581"/>
              </a:xfrm>
              <a:prstGeom prst="roundRect">
                <a:avLst>
                  <a:gd name="adj" fmla="val 1764"/>
                </a:avLst>
              </a:prstGeom>
              <a:blipFill>
                <a:blip r:embed="rId7"/>
                <a:stretch>
                  <a:fillRect/>
                </a:stretch>
              </a:blipFill>
              <a:ln w="12700">
                <a:solidFill>
                  <a:srgbClr val="92D050"/>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 name="מלבן: פינות מעוגלות 9">
                <a:extLst>
                  <a:ext uri="{FF2B5EF4-FFF2-40B4-BE49-F238E27FC236}">
                    <a16:creationId xmlns:a16="http://schemas.microsoft.com/office/drawing/2014/main" id="{47D80F20-87AC-4323-BE8F-8A3C61618520}"/>
                  </a:ext>
                </a:extLst>
              </p:cNvPr>
              <p:cNvSpPr/>
              <p:nvPr/>
            </p:nvSpPr>
            <p:spPr>
              <a:xfrm>
                <a:off x="5116341" y="4648740"/>
                <a:ext cx="1233691" cy="526581"/>
              </a:xfrm>
              <a:prstGeom prst="roundRect">
                <a:avLst>
                  <a:gd name="adj" fmla="val 1764"/>
                </a:avLst>
              </a:prstGeom>
              <a:noFill/>
              <a:ln w="12700">
                <a:solidFill>
                  <a:srgbClr val="92D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
                      <m:r>
                        <a:rPr lang="en-US" sz="2000" b="0" i="1" smtClean="0">
                          <a:solidFill>
                            <a:schemeClr val="tx1"/>
                          </a:solidFill>
                          <a:latin typeface="Cambria Math" panose="02040503050406030204" pitchFamily="18" charset="0"/>
                        </a:rPr>
                        <m:t>30</m:t>
                      </m:r>
                    </m:oMath>
                  </m:oMathPara>
                </a14:m>
                <a:endParaRPr lang="LID4096" sz="2000">
                  <a:solidFill>
                    <a:schemeClr val="tx1"/>
                  </a:solidFill>
                </a:endParaRPr>
              </a:p>
            </p:txBody>
          </p:sp>
        </mc:Choice>
        <mc:Fallback xmlns="">
          <p:sp>
            <p:nvSpPr>
              <p:cNvPr id="12" name="מלבן: פינות מעוגלות 9">
                <a:extLst>
                  <a:ext uri="{FF2B5EF4-FFF2-40B4-BE49-F238E27FC236}">
                    <a16:creationId xmlns:a16="http://schemas.microsoft.com/office/drawing/2014/main" id="{47D80F20-87AC-4323-BE8F-8A3C61618520}"/>
                  </a:ext>
                </a:extLst>
              </p:cNvPr>
              <p:cNvSpPr>
                <a:spLocks noRot="1" noChangeAspect="1" noMove="1" noResize="1" noEditPoints="1" noAdjustHandles="1" noChangeArrowheads="1" noChangeShapeType="1" noTextEdit="1"/>
              </p:cNvSpPr>
              <p:nvPr/>
            </p:nvSpPr>
            <p:spPr>
              <a:xfrm>
                <a:off x="5116341" y="4648740"/>
                <a:ext cx="1233691" cy="526581"/>
              </a:xfrm>
              <a:prstGeom prst="roundRect">
                <a:avLst>
                  <a:gd name="adj" fmla="val 1764"/>
                </a:avLst>
              </a:prstGeom>
              <a:blipFill>
                <a:blip r:embed="rId8"/>
                <a:stretch>
                  <a:fillRect/>
                </a:stretch>
              </a:blipFill>
              <a:ln w="12700">
                <a:solidFill>
                  <a:srgbClr val="92D050"/>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4" name="מלבן: פינות מעוגלות 9">
                <a:extLst>
                  <a:ext uri="{FF2B5EF4-FFF2-40B4-BE49-F238E27FC236}">
                    <a16:creationId xmlns:a16="http://schemas.microsoft.com/office/drawing/2014/main" id="{4F81D7A6-B3AA-CFBE-1609-AA7E786D92C1}"/>
                  </a:ext>
                </a:extLst>
              </p:cNvPr>
              <p:cNvSpPr/>
              <p:nvPr/>
            </p:nvSpPr>
            <p:spPr>
              <a:xfrm>
                <a:off x="5116341" y="5591973"/>
                <a:ext cx="1233691" cy="526581"/>
              </a:xfrm>
              <a:prstGeom prst="roundRect">
                <a:avLst>
                  <a:gd name="adj" fmla="val 1764"/>
                </a:avLst>
              </a:prstGeom>
              <a:noFill/>
              <a:ln w="12700">
                <a:solidFill>
                  <a:srgbClr val="92D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
                      <m:r>
                        <a:rPr lang="en-US" sz="2000" b="0" i="1" smtClean="0">
                          <a:solidFill>
                            <a:schemeClr val="tx1"/>
                          </a:solidFill>
                          <a:latin typeface="Cambria Math" panose="02040503050406030204" pitchFamily="18" charset="0"/>
                        </a:rPr>
                        <m:t>18</m:t>
                      </m:r>
                    </m:oMath>
                  </m:oMathPara>
                </a14:m>
                <a:endParaRPr lang="LID4096" sz="2000">
                  <a:solidFill>
                    <a:schemeClr val="tx1"/>
                  </a:solidFill>
                </a:endParaRPr>
              </a:p>
            </p:txBody>
          </p:sp>
        </mc:Choice>
        <mc:Fallback xmlns="">
          <p:sp>
            <p:nvSpPr>
              <p:cNvPr id="14" name="מלבן: פינות מעוגלות 9">
                <a:extLst>
                  <a:ext uri="{FF2B5EF4-FFF2-40B4-BE49-F238E27FC236}">
                    <a16:creationId xmlns:a16="http://schemas.microsoft.com/office/drawing/2014/main" id="{4F81D7A6-B3AA-CFBE-1609-AA7E786D92C1}"/>
                  </a:ext>
                </a:extLst>
              </p:cNvPr>
              <p:cNvSpPr>
                <a:spLocks noRot="1" noChangeAspect="1" noMove="1" noResize="1" noEditPoints="1" noAdjustHandles="1" noChangeArrowheads="1" noChangeShapeType="1" noTextEdit="1"/>
              </p:cNvSpPr>
              <p:nvPr/>
            </p:nvSpPr>
            <p:spPr>
              <a:xfrm>
                <a:off x="5116341" y="5591973"/>
                <a:ext cx="1233691" cy="526581"/>
              </a:xfrm>
              <a:prstGeom prst="roundRect">
                <a:avLst>
                  <a:gd name="adj" fmla="val 1764"/>
                </a:avLst>
              </a:prstGeom>
              <a:blipFill>
                <a:blip r:embed="rId9"/>
                <a:stretch>
                  <a:fillRect/>
                </a:stretch>
              </a:blipFill>
              <a:ln w="12700">
                <a:solidFill>
                  <a:srgbClr val="92D050"/>
                </a:solidFill>
              </a:ln>
            </p:spPr>
            <p:txBody>
              <a:bodyPr/>
              <a:lstStyle/>
              <a:p>
                <a:r>
                  <a:rPr lang="en-US">
                    <a:noFill/>
                  </a:rPr>
                  <a:t> </a:t>
                </a:r>
              </a:p>
            </p:txBody>
          </p:sp>
        </mc:Fallback>
      </mc:AlternateContent>
      <p:pic>
        <p:nvPicPr>
          <p:cNvPr id="16" name="Picture 15">
            <a:extLst>
              <a:ext uri="{FF2B5EF4-FFF2-40B4-BE49-F238E27FC236}">
                <a16:creationId xmlns:a16="http://schemas.microsoft.com/office/drawing/2014/main" id="{577604C9-FFF5-F59D-1833-081945BBF0E8}"/>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951866" y="624660"/>
            <a:ext cx="3101150" cy="5534117"/>
          </a:xfrm>
          <a:prstGeom prst="rect">
            <a:avLst/>
          </a:prstGeom>
        </p:spPr>
      </p:pic>
      <p:sp>
        <p:nvSpPr>
          <p:cNvPr id="18" name="מלבן 7">
            <a:extLst>
              <a:ext uri="{FF2B5EF4-FFF2-40B4-BE49-F238E27FC236}">
                <a16:creationId xmlns:a16="http://schemas.microsoft.com/office/drawing/2014/main" id="{92957FBC-A3FC-93DB-803D-10A21594C26C}"/>
              </a:ext>
            </a:extLst>
          </p:cNvPr>
          <p:cNvSpPr/>
          <p:nvPr/>
        </p:nvSpPr>
        <p:spPr>
          <a:xfrm>
            <a:off x="11896440" y="332438"/>
            <a:ext cx="45719" cy="5474677"/>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LID4096"/>
          </a:p>
        </p:txBody>
      </p:sp>
      <p:sp>
        <p:nvSpPr>
          <p:cNvPr id="20" name="מלבן 8">
            <a:extLst>
              <a:ext uri="{FF2B5EF4-FFF2-40B4-BE49-F238E27FC236}">
                <a16:creationId xmlns:a16="http://schemas.microsoft.com/office/drawing/2014/main" id="{7D49DA0E-43CF-B44C-AB6A-8394BA039D3C}"/>
              </a:ext>
            </a:extLst>
          </p:cNvPr>
          <p:cNvSpPr/>
          <p:nvPr/>
        </p:nvSpPr>
        <p:spPr>
          <a:xfrm>
            <a:off x="11896439" y="332437"/>
            <a:ext cx="45719" cy="3526971"/>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LID4096"/>
          </a:p>
        </p:txBody>
      </p:sp>
    </p:spTree>
    <p:extLst>
      <p:ext uri="{BB962C8B-B14F-4D97-AF65-F5344CB8AC3E}">
        <p14:creationId xmlns:p14="http://schemas.microsoft.com/office/powerpoint/2010/main" val="1524469226"/>
      </p:ext>
    </p:extLst>
  </p:cSld>
  <p:clrMapOvr>
    <a:masterClrMapping/>
  </p:clrMapOvr>
  <p:extLst>
    <p:ext uri="{6950BFC3-D8DA-4A85-94F7-54DA5524770B}">
      <p188:commentRel xmlns:p188="http://schemas.microsoft.com/office/powerpoint/2018/8/main" r:id="rId3"/>
    </p:ext>
  </p:extLst>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41F43F-66EC-8E9F-71C7-4A490E1CCC02}"/>
            </a:ext>
          </a:extLst>
        </p:cNvPr>
        <p:cNvGrpSpPr/>
        <p:nvPr/>
      </p:nvGrpSpPr>
      <p:grpSpPr>
        <a:xfrm>
          <a:off x="0" y="0"/>
          <a:ext cx="0" cy="0"/>
          <a:chOff x="0" y="0"/>
          <a:chExt cx="0" cy="0"/>
        </a:xfrm>
      </p:grpSpPr>
      <p:sp>
        <p:nvSpPr>
          <p:cNvPr id="3" name="מציין מיקום תוכן 2">
            <a:extLst>
              <a:ext uri="{FF2B5EF4-FFF2-40B4-BE49-F238E27FC236}">
                <a16:creationId xmlns:a16="http://schemas.microsoft.com/office/drawing/2014/main" id="{8B60EA01-3238-B2C9-D3AF-68DC25FA7792}"/>
              </a:ext>
            </a:extLst>
          </p:cNvPr>
          <p:cNvSpPr>
            <a:spLocks noGrp="1"/>
          </p:cNvSpPr>
          <p:nvPr>
            <p:ph idx="1"/>
          </p:nvPr>
        </p:nvSpPr>
        <p:spPr>
          <a:xfrm>
            <a:off x="2752408" y="446313"/>
            <a:ext cx="9123905" cy="6237515"/>
          </a:xfrm>
        </p:spPr>
        <p:txBody>
          <a:bodyPr>
            <a:normAutofit/>
          </a:bodyPr>
          <a:lstStyle/>
          <a:p>
            <a:pPr marL="0" indent="0">
              <a:lnSpc>
                <a:spcPct val="120000"/>
              </a:lnSpc>
              <a:buNone/>
            </a:pPr>
            <a:r>
              <a:rPr lang="he-IL" sz="2000">
                <a:latin typeface="Assistant" pitchFamily="2" charset="-79"/>
                <a:cs typeface="Assistant" pitchFamily="2" charset="-79"/>
              </a:rPr>
              <a:t>רותי, עובדת נוספת במפעל, רצתה ליצור גוון </a:t>
            </a:r>
            <a:r>
              <a:rPr lang="he-IL" sz="2000" b="1">
                <a:latin typeface="Assistant" pitchFamily="2" charset="-79"/>
                <a:cs typeface="Assistant" pitchFamily="2" charset="-79"/>
              </a:rPr>
              <a:t>כהה יותר</a:t>
            </a:r>
            <a:r>
              <a:rPr lang="he-IL" sz="2000">
                <a:latin typeface="Assistant" pitchFamily="2" charset="-79"/>
                <a:cs typeface="Assistant" pitchFamily="2" charset="-79"/>
              </a:rPr>
              <a:t> של אותו הצבע. </a:t>
            </a:r>
          </a:p>
          <a:p>
            <a:pPr marL="0" indent="0">
              <a:lnSpc>
                <a:spcPct val="120000"/>
              </a:lnSpc>
              <a:buNone/>
            </a:pPr>
            <a:r>
              <a:rPr lang="he-IL" sz="2000">
                <a:latin typeface="Assistant" pitchFamily="2" charset="-79"/>
                <a:cs typeface="Assistant" pitchFamily="2" charset="-79"/>
              </a:rPr>
              <a:t>כדי להגיע לגוון הרצוי, היא החליטה להכפיל פי 2 את כמות הצבע </a:t>
            </a:r>
            <a:r>
              <a:rPr lang="he-IL" sz="2000" b="1">
                <a:latin typeface="Assistant" pitchFamily="2" charset="-79"/>
                <a:cs typeface="Assistant" pitchFamily="2" charset="-79"/>
              </a:rPr>
              <a:t>השחור</a:t>
            </a:r>
            <a:r>
              <a:rPr lang="he-IL" sz="2000">
                <a:latin typeface="Assistant" pitchFamily="2" charset="-79"/>
                <a:cs typeface="Assistant" pitchFamily="2" charset="-79"/>
              </a:rPr>
              <a:t> בלבד, </a:t>
            </a:r>
          </a:p>
          <a:p>
            <a:pPr marL="0" indent="0">
              <a:lnSpc>
                <a:spcPct val="120000"/>
              </a:lnSpc>
              <a:buNone/>
            </a:pPr>
            <a:r>
              <a:rPr lang="he-IL" sz="2000">
                <a:latin typeface="Assistant" pitchFamily="2" charset="-79"/>
                <a:cs typeface="Assistant" pitchFamily="2" charset="-79"/>
              </a:rPr>
              <a:t>בעוד שכמויות הצהוב והכחול נשארו כפי שהיו ביום ראשון.</a:t>
            </a:r>
          </a:p>
          <a:p>
            <a:pPr marL="0" indent="0">
              <a:lnSpc>
                <a:spcPct val="120000"/>
              </a:lnSpc>
              <a:buNone/>
            </a:pPr>
            <a:endParaRPr lang="he-IL" sz="2000" b="1">
              <a:latin typeface="Assistant" pitchFamily="2" charset="-79"/>
              <a:cs typeface="Assistant" pitchFamily="2" charset="-79"/>
            </a:endParaRPr>
          </a:p>
          <a:p>
            <a:pPr marL="0" indent="0">
              <a:lnSpc>
                <a:spcPct val="120000"/>
              </a:lnSpc>
              <a:buNone/>
            </a:pPr>
            <a:r>
              <a:rPr lang="he-IL" sz="2000" b="1">
                <a:latin typeface="Assistant" pitchFamily="2" charset="-79"/>
                <a:cs typeface="Assistant" pitchFamily="2" charset="-79"/>
              </a:rPr>
              <a:t>ב. איזה מהמשפטים הבאים מתאר נכונה את היחס החדש בין המרכיבים (צהוב, כחול, שחור)?</a:t>
            </a:r>
            <a:endParaRPr lang="he-IL" sz="2000">
              <a:latin typeface="Assistant" pitchFamily="2" charset="-79"/>
              <a:cs typeface="Assistant" pitchFamily="2" charset="-79"/>
            </a:endParaRPr>
          </a:p>
          <a:p>
            <a:pPr marL="0" lvl="0" indent="0">
              <a:lnSpc>
                <a:spcPct val="120000"/>
              </a:lnSpc>
              <a:buNone/>
            </a:pPr>
            <a:endParaRPr lang="he-IL" sz="2000">
              <a:highlight>
                <a:srgbClr val="00FF00"/>
              </a:highlight>
              <a:latin typeface="Assistant" pitchFamily="2" charset="-79"/>
              <a:cs typeface="Assistant" pitchFamily="2" charset="-79"/>
            </a:endParaRPr>
          </a:p>
          <a:p>
            <a:pPr marL="0" lvl="0" indent="0">
              <a:lnSpc>
                <a:spcPct val="120000"/>
              </a:lnSpc>
              <a:buNone/>
            </a:pPr>
            <a:endParaRPr lang="he-IL" sz="2000">
              <a:highlight>
                <a:srgbClr val="00FF00"/>
              </a:highlight>
              <a:latin typeface="Assistant" pitchFamily="2" charset="-79"/>
              <a:cs typeface="Assistant" pitchFamily="2" charset="-79"/>
            </a:endParaRPr>
          </a:p>
          <a:p>
            <a:pPr marL="0" lvl="0" indent="0">
              <a:lnSpc>
                <a:spcPct val="120000"/>
              </a:lnSpc>
              <a:buNone/>
            </a:pPr>
            <a:endParaRPr lang="he-IL" sz="2000">
              <a:highlight>
                <a:srgbClr val="00FF00"/>
              </a:highlight>
              <a:latin typeface="Assistant" pitchFamily="2" charset="-79"/>
              <a:cs typeface="Assistant" pitchFamily="2" charset="-79"/>
            </a:endParaRPr>
          </a:p>
          <a:p>
            <a:pPr marL="0" lvl="0" indent="0">
              <a:lnSpc>
                <a:spcPct val="120000"/>
              </a:lnSpc>
              <a:buNone/>
            </a:pPr>
            <a:endParaRPr lang="he-IL" sz="2000">
              <a:highlight>
                <a:srgbClr val="00FF00"/>
              </a:highlight>
              <a:latin typeface="Assistant" pitchFamily="2" charset="-79"/>
              <a:cs typeface="Assistant" pitchFamily="2" charset="-79"/>
            </a:endParaRPr>
          </a:p>
          <a:p>
            <a:pPr marL="0" lvl="0" indent="0">
              <a:lnSpc>
                <a:spcPct val="120000"/>
              </a:lnSpc>
              <a:buNone/>
            </a:pPr>
            <a:endParaRPr lang="he-IL" sz="2000">
              <a:highlight>
                <a:srgbClr val="00FF00"/>
              </a:highlight>
              <a:latin typeface="Assistant" pitchFamily="2" charset="-79"/>
              <a:cs typeface="Assistant" pitchFamily="2" charset="-79"/>
            </a:endParaRPr>
          </a:p>
          <a:p>
            <a:pPr marL="0" lvl="0" indent="0">
              <a:lnSpc>
                <a:spcPct val="120000"/>
              </a:lnSpc>
              <a:buNone/>
            </a:pPr>
            <a:endParaRPr lang="he-IL" sz="2000">
              <a:highlight>
                <a:srgbClr val="00FF00"/>
              </a:highlight>
              <a:latin typeface="Assistant" pitchFamily="2" charset="-79"/>
              <a:cs typeface="Assistant" pitchFamily="2" charset="-79"/>
            </a:endParaRPr>
          </a:p>
          <a:p>
            <a:pPr marL="0" indent="0">
              <a:buNone/>
            </a:pPr>
            <a:endParaRPr lang="he-IL"/>
          </a:p>
        </p:txBody>
      </p:sp>
      <p:sp>
        <p:nvSpPr>
          <p:cNvPr id="4" name="תיבת טקסט 3">
            <a:extLst>
              <a:ext uri="{FF2B5EF4-FFF2-40B4-BE49-F238E27FC236}">
                <a16:creationId xmlns:a16="http://schemas.microsoft.com/office/drawing/2014/main" id="{F6901B06-0D3C-BB37-BAA9-256EB7EC3DC2}"/>
              </a:ext>
            </a:extLst>
          </p:cNvPr>
          <p:cNvSpPr txBox="1"/>
          <p:nvPr/>
        </p:nvSpPr>
        <p:spPr>
          <a:xfrm>
            <a:off x="-4726562" y="3429000"/>
            <a:ext cx="5249076" cy="1015663"/>
          </a:xfrm>
          <a:prstGeom prst="rect">
            <a:avLst/>
          </a:prstGeom>
          <a:solidFill>
            <a:schemeClr val="accent6">
              <a:lumMod val="20000"/>
              <a:lumOff val="80000"/>
            </a:schemeClr>
          </a:solidFill>
        </p:spPr>
        <p:txBody>
          <a:bodyPr wrap="square" rtlCol="1">
            <a:spAutoFit/>
          </a:bodyPr>
          <a:lstStyle/>
          <a:p>
            <a:r>
              <a:rPr lang="he-IL" sz="2000" b="1">
                <a:latin typeface="Assistant" pitchFamily="2" charset="-79"/>
                <a:cs typeface="Assistant" pitchFamily="2" charset="-79"/>
              </a:rPr>
              <a:t>התשובה נכונה/ זו טעות, לא נורא, בואו נסביר: </a:t>
            </a:r>
            <a:endParaRPr lang="en-US" sz="2000" b="1">
              <a:latin typeface="Assistant" pitchFamily="2" charset="-79"/>
              <a:cs typeface="Assistant" pitchFamily="2" charset="-79"/>
            </a:endParaRPr>
          </a:p>
          <a:p>
            <a:endParaRPr lang="he-IL" sz="2000" b="1">
              <a:latin typeface="Assistant" pitchFamily="2" charset="-79"/>
              <a:cs typeface="Assistant" pitchFamily="2" charset="-79"/>
            </a:endParaRPr>
          </a:p>
          <a:p>
            <a:r>
              <a:rPr lang="he-IL" sz="2000">
                <a:latin typeface="Assistant" pitchFamily="2" charset="-79"/>
                <a:cs typeface="Assistant" pitchFamily="2" charset="-79"/>
              </a:rPr>
              <a:t>ב. תשובה ב' נכונה כי רק חלקו של הצבע השחור גדל.</a:t>
            </a:r>
          </a:p>
        </p:txBody>
      </p:sp>
      <p:grpSp>
        <p:nvGrpSpPr>
          <p:cNvPr id="5" name="קבוצה 4">
            <a:extLst>
              <a:ext uri="{FF2B5EF4-FFF2-40B4-BE49-F238E27FC236}">
                <a16:creationId xmlns:a16="http://schemas.microsoft.com/office/drawing/2014/main" id="{2FC7BFF7-9C8F-1B82-08BB-AA944DFA2F67}"/>
              </a:ext>
            </a:extLst>
          </p:cNvPr>
          <p:cNvGrpSpPr/>
          <p:nvPr/>
        </p:nvGrpSpPr>
        <p:grpSpPr>
          <a:xfrm>
            <a:off x="-8601390" y="-581010"/>
            <a:ext cx="9123904" cy="3818372"/>
            <a:chOff x="-9229411" y="26138"/>
            <a:chExt cx="9123904" cy="3818372"/>
          </a:xfrm>
        </p:grpSpPr>
        <p:sp>
          <p:nvSpPr>
            <p:cNvPr id="6" name="מלבן: פינות מעוגלות 5">
              <a:extLst>
                <a:ext uri="{FF2B5EF4-FFF2-40B4-BE49-F238E27FC236}">
                  <a16:creationId xmlns:a16="http://schemas.microsoft.com/office/drawing/2014/main" id="{C1580C3B-8DE6-9F47-B098-E6B9BE6B9AD6}"/>
                </a:ext>
              </a:extLst>
            </p:cNvPr>
            <p:cNvSpPr/>
            <p:nvPr/>
          </p:nvSpPr>
          <p:spPr>
            <a:xfrm>
              <a:off x="-9229411" y="26138"/>
              <a:ext cx="9123904" cy="3818372"/>
            </a:xfrm>
            <a:prstGeom prst="roundRect">
              <a:avLst>
                <a:gd name="adj" fmla="val 8509"/>
              </a:avLst>
            </a:prstGeom>
            <a:solidFill>
              <a:srgbClr val="00B0F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LID4096"/>
            </a:p>
          </p:txBody>
        </p:sp>
        <p:sp>
          <p:nvSpPr>
            <p:cNvPr id="7" name="מלבן: פינות מעוגלות 6">
              <a:extLst>
                <a:ext uri="{FF2B5EF4-FFF2-40B4-BE49-F238E27FC236}">
                  <a16:creationId xmlns:a16="http://schemas.microsoft.com/office/drawing/2014/main" id="{1132A2DA-4062-5B76-4299-E30D109CC6A3}"/>
                </a:ext>
              </a:extLst>
            </p:cNvPr>
            <p:cNvSpPr/>
            <p:nvPr/>
          </p:nvSpPr>
          <p:spPr>
            <a:xfrm>
              <a:off x="-5861703" y="3135618"/>
              <a:ext cx="1798983" cy="506891"/>
            </a:xfrm>
            <a:prstGeom prst="roundRect">
              <a:avLst>
                <a:gd name="adj" fmla="val 50000"/>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he-IL">
                  <a:solidFill>
                    <a:schemeClr val="tx1"/>
                  </a:solidFill>
                  <a:latin typeface="Assistant" pitchFamily="2" charset="-79"/>
                  <a:cs typeface="Assistant" pitchFamily="2" charset="-79"/>
                </a:rPr>
                <a:t>חזרה לשאלה</a:t>
              </a:r>
              <a:endParaRPr lang="LID4096">
                <a:solidFill>
                  <a:schemeClr val="tx1"/>
                </a:solidFill>
                <a:latin typeface="Assistant" pitchFamily="2" charset="-79"/>
                <a:cs typeface="Assistant" pitchFamily="2" charset="-79"/>
              </a:endParaRPr>
            </a:p>
          </p:txBody>
        </p:sp>
        <p:pic>
          <p:nvPicPr>
            <p:cNvPr id="8" name="גרפיקה 7" descr="נורת חשמל וגלגל שיניים עם מילוי מלא">
              <a:extLst>
                <a:ext uri="{FF2B5EF4-FFF2-40B4-BE49-F238E27FC236}">
                  <a16:creationId xmlns:a16="http://schemas.microsoft.com/office/drawing/2014/main" id="{DAEA24BE-6485-747A-835D-F13565F72AA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83558" y="489982"/>
              <a:ext cx="338083" cy="338083"/>
            </a:xfrm>
            <a:prstGeom prst="rect">
              <a:avLst/>
            </a:prstGeom>
          </p:spPr>
        </p:pic>
      </p:grpSp>
      <p:sp>
        <p:nvSpPr>
          <p:cNvPr id="9" name="תיבת טקסט 8">
            <a:extLst>
              <a:ext uri="{FF2B5EF4-FFF2-40B4-BE49-F238E27FC236}">
                <a16:creationId xmlns:a16="http://schemas.microsoft.com/office/drawing/2014/main" id="{A14B2186-B58B-1A68-0679-680D4516C29B}"/>
              </a:ext>
            </a:extLst>
          </p:cNvPr>
          <p:cNvSpPr txBox="1"/>
          <p:nvPr/>
        </p:nvSpPr>
        <p:spPr>
          <a:xfrm>
            <a:off x="-5554132" y="220917"/>
            <a:ext cx="5825066" cy="400110"/>
          </a:xfrm>
          <a:prstGeom prst="rect">
            <a:avLst/>
          </a:prstGeom>
          <a:noFill/>
        </p:spPr>
        <p:txBody>
          <a:bodyPr wrap="square" rtlCol="1">
            <a:spAutoFit/>
          </a:bodyPr>
          <a:lstStyle/>
          <a:p>
            <a:r>
              <a:rPr lang="he-IL" sz="2000">
                <a:solidFill>
                  <a:schemeClr val="bg1"/>
                </a:solidFill>
                <a:latin typeface="Assistant" pitchFamily="2" charset="-79"/>
                <a:cs typeface="Assistant" pitchFamily="2" charset="-79"/>
              </a:rPr>
              <a:t>ב. האם ניתן לדעת את היחס החדש?</a:t>
            </a:r>
          </a:p>
        </p:txBody>
      </p:sp>
      <p:sp>
        <p:nvSpPr>
          <p:cNvPr id="10" name="מלבן 7">
            <a:extLst>
              <a:ext uri="{FF2B5EF4-FFF2-40B4-BE49-F238E27FC236}">
                <a16:creationId xmlns:a16="http://schemas.microsoft.com/office/drawing/2014/main" id="{DE5F3532-39F9-CA36-42EA-880E17DAA91E}"/>
              </a:ext>
            </a:extLst>
          </p:cNvPr>
          <p:cNvSpPr/>
          <p:nvPr/>
        </p:nvSpPr>
        <p:spPr>
          <a:xfrm>
            <a:off x="11896440" y="332438"/>
            <a:ext cx="45719" cy="5474677"/>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LID4096"/>
          </a:p>
        </p:txBody>
      </p:sp>
      <p:sp>
        <p:nvSpPr>
          <p:cNvPr id="12" name="מלבן 8">
            <a:extLst>
              <a:ext uri="{FF2B5EF4-FFF2-40B4-BE49-F238E27FC236}">
                <a16:creationId xmlns:a16="http://schemas.microsoft.com/office/drawing/2014/main" id="{AB5DD6F1-15DC-1715-5CA8-804BFECA8E22}"/>
              </a:ext>
            </a:extLst>
          </p:cNvPr>
          <p:cNvSpPr/>
          <p:nvPr/>
        </p:nvSpPr>
        <p:spPr>
          <a:xfrm>
            <a:off x="11901091" y="2280144"/>
            <a:ext cx="45719" cy="3526971"/>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LID4096"/>
          </a:p>
        </p:txBody>
      </p:sp>
      <p:grpSp>
        <p:nvGrpSpPr>
          <p:cNvPr id="13" name="קבוצה 10">
            <a:extLst>
              <a:ext uri="{FF2B5EF4-FFF2-40B4-BE49-F238E27FC236}">
                <a16:creationId xmlns:a16="http://schemas.microsoft.com/office/drawing/2014/main" id="{9EB63B91-64CF-06AE-4724-BE43A11F4B60}"/>
              </a:ext>
            </a:extLst>
          </p:cNvPr>
          <p:cNvGrpSpPr/>
          <p:nvPr/>
        </p:nvGrpSpPr>
        <p:grpSpPr>
          <a:xfrm>
            <a:off x="4003590" y="3029964"/>
            <a:ext cx="7718425" cy="535106"/>
            <a:chOff x="4042166" y="3108471"/>
            <a:chExt cx="7718425" cy="651436"/>
          </a:xfrm>
        </p:grpSpPr>
        <p:grpSp>
          <p:nvGrpSpPr>
            <p:cNvPr id="14" name="קבוצה 8">
              <a:extLst>
                <a:ext uri="{FF2B5EF4-FFF2-40B4-BE49-F238E27FC236}">
                  <a16:creationId xmlns:a16="http://schemas.microsoft.com/office/drawing/2014/main" id="{352041FD-C399-E6F0-DA23-9AE51698462E}"/>
                </a:ext>
              </a:extLst>
            </p:cNvPr>
            <p:cNvGrpSpPr/>
            <p:nvPr/>
          </p:nvGrpSpPr>
          <p:grpSpPr>
            <a:xfrm>
              <a:off x="4042166" y="3108471"/>
              <a:ext cx="7718425" cy="651436"/>
              <a:chOff x="4042166" y="3108471"/>
              <a:chExt cx="7718425" cy="651436"/>
            </a:xfrm>
          </p:grpSpPr>
          <p:sp>
            <p:nvSpPr>
              <p:cNvPr id="16" name="מלבן: פינות מעוגלות 6">
                <a:extLst>
                  <a:ext uri="{FF2B5EF4-FFF2-40B4-BE49-F238E27FC236}">
                    <a16:creationId xmlns:a16="http://schemas.microsoft.com/office/drawing/2014/main" id="{4C4C09AF-1390-1FE5-1440-BC4262D849CA}"/>
                  </a:ext>
                </a:extLst>
              </p:cNvPr>
              <p:cNvSpPr/>
              <p:nvPr/>
            </p:nvSpPr>
            <p:spPr>
              <a:xfrm>
                <a:off x="4042166" y="3108471"/>
                <a:ext cx="7718425" cy="641058"/>
              </a:xfrm>
              <a:prstGeom prst="roundRect">
                <a:avLst>
                  <a:gd name="adj" fmla="val 50000"/>
                </a:avLst>
              </a:prstGeom>
              <a:noFill/>
              <a:ln w="12700">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LID4096"/>
              </a:p>
            </p:txBody>
          </p:sp>
          <mc:AlternateContent xmlns:mc="http://schemas.openxmlformats.org/markup-compatibility/2006" xmlns:a14="http://schemas.microsoft.com/office/drawing/2010/main">
            <mc:Choice Requires="a14">
              <p:sp>
                <p:nvSpPr>
                  <p:cNvPr id="17" name="תיבת טקסט 7">
                    <a:extLst>
                      <a:ext uri="{FF2B5EF4-FFF2-40B4-BE49-F238E27FC236}">
                        <a16:creationId xmlns:a16="http://schemas.microsoft.com/office/drawing/2014/main" id="{F9EA8074-F106-DB86-9A42-124B550D8FBE}"/>
                      </a:ext>
                    </a:extLst>
                  </p:cNvPr>
                  <p:cNvSpPr txBox="1"/>
                  <p:nvPr/>
                </p:nvSpPr>
                <p:spPr>
                  <a:xfrm>
                    <a:off x="5458264" y="3228945"/>
                    <a:ext cx="5741155" cy="530962"/>
                  </a:xfrm>
                  <a:prstGeom prst="rect">
                    <a:avLst/>
                  </a:prstGeom>
                  <a:noFill/>
                </p:spPr>
                <p:txBody>
                  <a:bodyPr wrap="square" rtlCol="0">
                    <a:spAutoFit/>
                  </a:bodyPr>
                  <a:lstStyle/>
                  <a:p>
                    <a:pPr lvl="0">
                      <a:lnSpc>
                        <a:spcPct val="120000"/>
                      </a:lnSpc>
                    </a:pPr>
                    <a:r>
                      <a:rPr lang="he-IL" sz="2000">
                        <a:latin typeface="Assistant" pitchFamily="2" charset="-79"/>
                        <a:cs typeface="Assistant" pitchFamily="2" charset="-79"/>
                      </a:rPr>
                      <a:t>היחס החדש הוא </a:t>
                    </a:r>
                    <a14:m>
                      <m:oMath xmlns:m="http://schemas.openxmlformats.org/officeDocument/2006/math">
                        <m:r>
                          <a:rPr lang="he-IL" sz="2000">
                            <a:latin typeface="Cambria Math" panose="02040503050406030204" pitchFamily="18" charset="0"/>
                          </a:rPr>
                          <m:t>10:6:4</m:t>
                        </m:r>
                      </m:oMath>
                    </a14:m>
                    <a:r>
                      <a:rPr lang="he-IL" sz="2000">
                        <a:latin typeface="Assistant" pitchFamily="2" charset="-79"/>
                        <a:cs typeface="Assistant" pitchFamily="2" charset="-79"/>
                      </a:rPr>
                      <a:t>, ולכן הגוון נשאר בדיוק אותו הדבר</a:t>
                    </a:r>
                  </a:p>
                </p:txBody>
              </p:sp>
            </mc:Choice>
            <mc:Fallback xmlns="">
              <p:sp>
                <p:nvSpPr>
                  <p:cNvPr id="17" name="תיבת טקסט 7">
                    <a:extLst>
                      <a:ext uri="{FF2B5EF4-FFF2-40B4-BE49-F238E27FC236}">
                        <a16:creationId xmlns:a16="http://schemas.microsoft.com/office/drawing/2014/main" id="{F9EA8074-F106-DB86-9A42-124B550D8FBE}"/>
                      </a:ext>
                    </a:extLst>
                  </p:cNvPr>
                  <p:cNvSpPr txBox="1">
                    <a:spLocks noRot="1" noChangeAspect="1" noMove="1" noResize="1" noEditPoints="1" noAdjustHandles="1" noChangeArrowheads="1" noChangeShapeType="1" noTextEdit="1"/>
                  </p:cNvSpPr>
                  <p:nvPr/>
                </p:nvSpPr>
                <p:spPr>
                  <a:xfrm>
                    <a:off x="5458264" y="3228945"/>
                    <a:ext cx="5741155" cy="530962"/>
                  </a:xfrm>
                  <a:prstGeom prst="rect">
                    <a:avLst/>
                  </a:prstGeom>
                  <a:blipFill>
                    <a:blip r:embed="rId4"/>
                    <a:stretch>
                      <a:fillRect r="-1168" b="-23611"/>
                    </a:stretch>
                  </a:blipFill>
                </p:spPr>
                <p:txBody>
                  <a:bodyPr/>
                  <a:lstStyle/>
                  <a:p>
                    <a:r>
                      <a:rPr lang="en-US">
                        <a:noFill/>
                      </a:rPr>
                      <a:t> </a:t>
                    </a:r>
                  </a:p>
                </p:txBody>
              </p:sp>
            </mc:Fallback>
          </mc:AlternateContent>
        </p:grpSp>
        <p:sp>
          <p:nvSpPr>
            <p:cNvPr id="15" name="אליפסה 9">
              <a:extLst>
                <a:ext uri="{FF2B5EF4-FFF2-40B4-BE49-F238E27FC236}">
                  <a16:creationId xmlns:a16="http://schemas.microsoft.com/office/drawing/2014/main" id="{EDD7D63D-DFBC-145A-164D-62E959DE1CAD}"/>
                </a:ext>
              </a:extLst>
            </p:cNvPr>
            <p:cNvSpPr/>
            <p:nvPr/>
          </p:nvSpPr>
          <p:spPr>
            <a:xfrm>
              <a:off x="11280913" y="3269817"/>
              <a:ext cx="252766" cy="318364"/>
            </a:xfrm>
            <a:prstGeom prst="ellipse">
              <a:avLst/>
            </a:prstGeom>
            <a:noFill/>
            <a:ln>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LID4096"/>
            </a:p>
          </p:txBody>
        </p:sp>
      </p:grpSp>
      <p:grpSp>
        <p:nvGrpSpPr>
          <p:cNvPr id="18" name="קבוצה 10">
            <a:extLst>
              <a:ext uri="{FF2B5EF4-FFF2-40B4-BE49-F238E27FC236}">
                <a16:creationId xmlns:a16="http://schemas.microsoft.com/office/drawing/2014/main" id="{78FCEE11-9A73-F58F-C20C-4A1E0ACD1325}"/>
              </a:ext>
            </a:extLst>
          </p:cNvPr>
          <p:cNvGrpSpPr/>
          <p:nvPr/>
        </p:nvGrpSpPr>
        <p:grpSpPr>
          <a:xfrm>
            <a:off x="4003590" y="3776075"/>
            <a:ext cx="7718425" cy="535105"/>
            <a:chOff x="4042166" y="3108471"/>
            <a:chExt cx="7718425" cy="651435"/>
          </a:xfrm>
        </p:grpSpPr>
        <p:grpSp>
          <p:nvGrpSpPr>
            <p:cNvPr id="19" name="קבוצה 8">
              <a:extLst>
                <a:ext uri="{FF2B5EF4-FFF2-40B4-BE49-F238E27FC236}">
                  <a16:creationId xmlns:a16="http://schemas.microsoft.com/office/drawing/2014/main" id="{BEAA9C0E-894C-A089-BA39-019F7D4FB8B1}"/>
                </a:ext>
              </a:extLst>
            </p:cNvPr>
            <p:cNvGrpSpPr/>
            <p:nvPr/>
          </p:nvGrpSpPr>
          <p:grpSpPr>
            <a:xfrm>
              <a:off x="4042166" y="3108471"/>
              <a:ext cx="7718425" cy="651435"/>
              <a:chOff x="4042166" y="3108471"/>
              <a:chExt cx="7718425" cy="651435"/>
            </a:xfrm>
          </p:grpSpPr>
          <p:sp>
            <p:nvSpPr>
              <p:cNvPr id="21" name="מלבן: פינות מעוגלות 6">
                <a:extLst>
                  <a:ext uri="{FF2B5EF4-FFF2-40B4-BE49-F238E27FC236}">
                    <a16:creationId xmlns:a16="http://schemas.microsoft.com/office/drawing/2014/main" id="{A45821EC-E227-8234-D0A3-C364AFF56D6B}"/>
                  </a:ext>
                </a:extLst>
              </p:cNvPr>
              <p:cNvSpPr/>
              <p:nvPr/>
            </p:nvSpPr>
            <p:spPr>
              <a:xfrm>
                <a:off x="4042166" y="3108471"/>
                <a:ext cx="7718425" cy="641058"/>
              </a:xfrm>
              <a:prstGeom prst="roundRect">
                <a:avLst>
                  <a:gd name="adj" fmla="val 50000"/>
                </a:avLst>
              </a:prstGeom>
              <a:noFill/>
              <a:ln w="12700">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LID4096"/>
              </a:p>
            </p:txBody>
          </p:sp>
          <mc:AlternateContent xmlns:mc="http://schemas.openxmlformats.org/markup-compatibility/2006" xmlns:a14="http://schemas.microsoft.com/office/drawing/2010/main">
            <mc:Choice Requires="a14">
              <p:sp>
                <p:nvSpPr>
                  <p:cNvPr id="22" name="תיבת טקסט 7">
                    <a:extLst>
                      <a:ext uri="{FF2B5EF4-FFF2-40B4-BE49-F238E27FC236}">
                        <a16:creationId xmlns:a16="http://schemas.microsoft.com/office/drawing/2014/main" id="{C96DB53E-22DA-80AE-0E08-02536764EA37}"/>
                      </a:ext>
                    </a:extLst>
                  </p:cNvPr>
                  <p:cNvSpPr txBox="1"/>
                  <p:nvPr/>
                </p:nvSpPr>
                <p:spPr>
                  <a:xfrm>
                    <a:off x="4686078" y="3228945"/>
                    <a:ext cx="6513341" cy="530961"/>
                  </a:xfrm>
                  <a:prstGeom prst="rect">
                    <a:avLst/>
                  </a:prstGeom>
                  <a:noFill/>
                </p:spPr>
                <p:txBody>
                  <a:bodyPr wrap="square" rtlCol="0">
                    <a:spAutoFit/>
                  </a:bodyPr>
                  <a:lstStyle/>
                  <a:p>
                    <a:pPr lvl="0">
                      <a:lnSpc>
                        <a:spcPct val="120000"/>
                      </a:lnSpc>
                    </a:pPr>
                    <a:r>
                      <a:rPr lang="he-IL" sz="2000">
                        <a:highlight>
                          <a:srgbClr val="00FF00"/>
                        </a:highlight>
                        <a:latin typeface="Assistant" pitchFamily="2" charset="-79"/>
                        <a:cs typeface="Assistant" pitchFamily="2" charset="-79"/>
                      </a:rPr>
                      <a:t>היחס החדש הוא </a:t>
                    </a:r>
                    <a14:m>
                      <m:oMath xmlns:m="http://schemas.openxmlformats.org/officeDocument/2006/math">
                        <m:r>
                          <a:rPr lang="he-IL" sz="2000">
                            <a:highlight>
                              <a:srgbClr val="00FF00"/>
                            </a:highlight>
                            <a:latin typeface="Cambria Math" panose="02040503050406030204" pitchFamily="18" charset="0"/>
                          </a:rPr>
                          <m:t>5:3:4</m:t>
                        </m:r>
                      </m:oMath>
                    </a14:m>
                    <a:r>
                      <a:rPr lang="he-IL" sz="2000">
                        <a:highlight>
                          <a:srgbClr val="00FF00"/>
                        </a:highlight>
                        <a:latin typeface="Assistant" pitchFamily="2" charset="-79"/>
                        <a:cs typeface="Assistant" pitchFamily="2" charset="-79"/>
                      </a:rPr>
                      <a:t>, ולכן חלקו של הצבע השחור בתערובת גדל.</a:t>
                    </a:r>
                  </a:p>
                </p:txBody>
              </p:sp>
            </mc:Choice>
            <mc:Fallback xmlns="">
              <p:sp>
                <p:nvSpPr>
                  <p:cNvPr id="22" name="תיבת טקסט 7">
                    <a:extLst>
                      <a:ext uri="{FF2B5EF4-FFF2-40B4-BE49-F238E27FC236}">
                        <a16:creationId xmlns:a16="http://schemas.microsoft.com/office/drawing/2014/main" id="{C96DB53E-22DA-80AE-0E08-02536764EA37}"/>
                      </a:ext>
                    </a:extLst>
                  </p:cNvPr>
                  <p:cNvSpPr txBox="1">
                    <a:spLocks noRot="1" noChangeAspect="1" noMove="1" noResize="1" noEditPoints="1" noAdjustHandles="1" noChangeArrowheads="1" noChangeShapeType="1" noTextEdit="1"/>
                  </p:cNvSpPr>
                  <p:nvPr/>
                </p:nvSpPr>
                <p:spPr>
                  <a:xfrm>
                    <a:off x="4686078" y="3228945"/>
                    <a:ext cx="6513341" cy="530961"/>
                  </a:xfrm>
                  <a:prstGeom prst="rect">
                    <a:avLst/>
                  </a:prstGeom>
                  <a:blipFill>
                    <a:blip r:embed="rId5"/>
                    <a:stretch>
                      <a:fillRect r="-935" b="-25352"/>
                    </a:stretch>
                  </a:blipFill>
                </p:spPr>
                <p:txBody>
                  <a:bodyPr/>
                  <a:lstStyle/>
                  <a:p>
                    <a:r>
                      <a:rPr lang="en-US">
                        <a:noFill/>
                      </a:rPr>
                      <a:t> </a:t>
                    </a:r>
                  </a:p>
                </p:txBody>
              </p:sp>
            </mc:Fallback>
          </mc:AlternateContent>
        </p:grpSp>
        <p:sp>
          <p:nvSpPr>
            <p:cNvPr id="20" name="אליפסה 9">
              <a:extLst>
                <a:ext uri="{FF2B5EF4-FFF2-40B4-BE49-F238E27FC236}">
                  <a16:creationId xmlns:a16="http://schemas.microsoft.com/office/drawing/2014/main" id="{70DE0611-A30C-A838-CB56-EDC8B49B74D6}"/>
                </a:ext>
              </a:extLst>
            </p:cNvPr>
            <p:cNvSpPr/>
            <p:nvPr/>
          </p:nvSpPr>
          <p:spPr>
            <a:xfrm>
              <a:off x="11280913" y="3269817"/>
              <a:ext cx="252766" cy="318364"/>
            </a:xfrm>
            <a:prstGeom prst="ellipse">
              <a:avLst/>
            </a:prstGeom>
            <a:noFill/>
            <a:ln>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LID4096"/>
            </a:p>
          </p:txBody>
        </p:sp>
      </p:grpSp>
      <p:grpSp>
        <p:nvGrpSpPr>
          <p:cNvPr id="23" name="קבוצה 10">
            <a:extLst>
              <a:ext uri="{FF2B5EF4-FFF2-40B4-BE49-F238E27FC236}">
                <a16:creationId xmlns:a16="http://schemas.microsoft.com/office/drawing/2014/main" id="{FA8D9D13-A518-1868-9EFE-776BD51971B6}"/>
              </a:ext>
            </a:extLst>
          </p:cNvPr>
          <p:cNvGrpSpPr/>
          <p:nvPr/>
        </p:nvGrpSpPr>
        <p:grpSpPr>
          <a:xfrm>
            <a:off x="4003590" y="4502693"/>
            <a:ext cx="7718425" cy="535105"/>
            <a:chOff x="4042166" y="3108471"/>
            <a:chExt cx="7718425" cy="651435"/>
          </a:xfrm>
        </p:grpSpPr>
        <p:grpSp>
          <p:nvGrpSpPr>
            <p:cNvPr id="24" name="קבוצה 8">
              <a:extLst>
                <a:ext uri="{FF2B5EF4-FFF2-40B4-BE49-F238E27FC236}">
                  <a16:creationId xmlns:a16="http://schemas.microsoft.com/office/drawing/2014/main" id="{169D038A-8AEA-A83E-B2BD-D7588AD92C86}"/>
                </a:ext>
              </a:extLst>
            </p:cNvPr>
            <p:cNvGrpSpPr/>
            <p:nvPr/>
          </p:nvGrpSpPr>
          <p:grpSpPr>
            <a:xfrm>
              <a:off x="4042166" y="3108471"/>
              <a:ext cx="7718425" cy="651435"/>
              <a:chOff x="4042166" y="3108471"/>
              <a:chExt cx="7718425" cy="651435"/>
            </a:xfrm>
          </p:grpSpPr>
          <p:sp>
            <p:nvSpPr>
              <p:cNvPr id="26" name="מלבן: פינות מעוגלות 6">
                <a:extLst>
                  <a:ext uri="{FF2B5EF4-FFF2-40B4-BE49-F238E27FC236}">
                    <a16:creationId xmlns:a16="http://schemas.microsoft.com/office/drawing/2014/main" id="{B8E582B3-4225-D592-5594-29E48618465A}"/>
                  </a:ext>
                </a:extLst>
              </p:cNvPr>
              <p:cNvSpPr/>
              <p:nvPr/>
            </p:nvSpPr>
            <p:spPr>
              <a:xfrm>
                <a:off x="4042166" y="3108471"/>
                <a:ext cx="7718425" cy="641058"/>
              </a:xfrm>
              <a:prstGeom prst="roundRect">
                <a:avLst>
                  <a:gd name="adj" fmla="val 50000"/>
                </a:avLst>
              </a:prstGeom>
              <a:noFill/>
              <a:ln w="12700">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LID4096"/>
              </a:p>
            </p:txBody>
          </p:sp>
          <mc:AlternateContent xmlns:mc="http://schemas.openxmlformats.org/markup-compatibility/2006" xmlns:a14="http://schemas.microsoft.com/office/drawing/2010/main">
            <mc:Choice Requires="a14">
              <p:sp>
                <p:nvSpPr>
                  <p:cNvPr id="27" name="תיבת טקסט 7">
                    <a:extLst>
                      <a:ext uri="{FF2B5EF4-FFF2-40B4-BE49-F238E27FC236}">
                        <a16:creationId xmlns:a16="http://schemas.microsoft.com/office/drawing/2014/main" id="{1AEE6A9F-1C89-601D-07E8-79603A5B45A2}"/>
                      </a:ext>
                    </a:extLst>
                  </p:cNvPr>
                  <p:cNvSpPr txBox="1"/>
                  <p:nvPr/>
                </p:nvSpPr>
                <p:spPr>
                  <a:xfrm>
                    <a:off x="4042166" y="3228945"/>
                    <a:ext cx="7157254" cy="530961"/>
                  </a:xfrm>
                  <a:prstGeom prst="rect">
                    <a:avLst/>
                  </a:prstGeom>
                  <a:noFill/>
                </p:spPr>
                <p:txBody>
                  <a:bodyPr wrap="square" rtlCol="0">
                    <a:spAutoFit/>
                  </a:bodyPr>
                  <a:lstStyle/>
                  <a:p>
                    <a:pPr lvl="0">
                      <a:lnSpc>
                        <a:spcPct val="120000"/>
                      </a:lnSpc>
                    </a:pPr>
                    <a:r>
                      <a:rPr lang="he-IL" sz="2000">
                        <a:latin typeface="Assistant" pitchFamily="2" charset="-79"/>
                        <a:cs typeface="Assistant" pitchFamily="2" charset="-79"/>
                      </a:rPr>
                      <a:t>היחס החדש הוא </a:t>
                    </a:r>
                    <a14:m>
                      <m:oMath xmlns:m="http://schemas.openxmlformats.org/officeDocument/2006/math">
                        <m:r>
                          <a:rPr lang="he-IL" sz="2000">
                            <a:latin typeface="Cambria Math" panose="02040503050406030204" pitchFamily="18" charset="0"/>
                          </a:rPr>
                          <m:t>7:5:4</m:t>
                        </m:r>
                      </m:oMath>
                    </a14:m>
                    <a:r>
                      <a:rPr lang="he-IL" sz="2000">
                        <a:latin typeface="Assistant" pitchFamily="2" charset="-79"/>
                        <a:cs typeface="Assistant" pitchFamily="2" charset="-79"/>
                      </a:rPr>
                      <a:t>, כי הוספנו 2 יחידות לכל צבע כדי לשמור על איזון.</a:t>
                    </a:r>
                  </a:p>
                </p:txBody>
              </p:sp>
            </mc:Choice>
            <mc:Fallback xmlns="">
              <p:sp>
                <p:nvSpPr>
                  <p:cNvPr id="27" name="תיבת טקסט 7">
                    <a:extLst>
                      <a:ext uri="{FF2B5EF4-FFF2-40B4-BE49-F238E27FC236}">
                        <a16:creationId xmlns:a16="http://schemas.microsoft.com/office/drawing/2014/main" id="{1AEE6A9F-1C89-601D-07E8-79603A5B45A2}"/>
                      </a:ext>
                    </a:extLst>
                  </p:cNvPr>
                  <p:cNvSpPr txBox="1">
                    <a:spLocks noRot="1" noChangeAspect="1" noMove="1" noResize="1" noEditPoints="1" noAdjustHandles="1" noChangeArrowheads="1" noChangeShapeType="1" noTextEdit="1"/>
                  </p:cNvSpPr>
                  <p:nvPr/>
                </p:nvSpPr>
                <p:spPr>
                  <a:xfrm>
                    <a:off x="4042166" y="3228945"/>
                    <a:ext cx="7157254" cy="530961"/>
                  </a:xfrm>
                  <a:prstGeom prst="rect">
                    <a:avLst/>
                  </a:prstGeom>
                  <a:blipFill>
                    <a:blip r:embed="rId6"/>
                    <a:stretch>
                      <a:fillRect r="-852" b="-25352"/>
                    </a:stretch>
                  </a:blipFill>
                </p:spPr>
                <p:txBody>
                  <a:bodyPr/>
                  <a:lstStyle/>
                  <a:p>
                    <a:r>
                      <a:rPr lang="en-US">
                        <a:noFill/>
                      </a:rPr>
                      <a:t> </a:t>
                    </a:r>
                  </a:p>
                </p:txBody>
              </p:sp>
            </mc:Fallback>
          </mc:AlternateContent>
        </p:grpSp>
        <p:sp>
          <p:nvSpPr>
            <p:cNvPr id="25" name="אליפסה 9">
              <a:extLst>
                <a:ext uri="{FF2B5EF4-FFF2-40B4-BE49-F238E27FC236}">
                  <a16:creationId xmlns:a16="http://schemas.microsoft.com/office/drawing/2014/main" id="{318467C3-2AC6-29F3-A8E8-E1CBF5B00783}"/>
                </a:ext>
              </a:extLst>
            </p:cNvPr>
            <p:cNvSpPr/>
            <p:nvPr/>
          </p:nvSpPr>
          <p:spPr>
            <a:xfrm>
              <a:off x="11280913" y="3269817"/>
              <a:ext cx="252766" cy="318364"/>
            </a:xfrm>
            <a:prstGeom prst="ellipse">
              <a:avLst/>
            </a:prstGeom>
            <a:noFill/>
            <a:ln>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LID4096"/>
            </a:p>
          </p:txBody>
        </p:sp>
      </p:grpSp>
      <p:grpSp>
        <p:nvGrpSpPr>
          <p:cNvPr id="28" name="קבוצה 10">
            <a:extLst>
              <a:ext uri="{FF2B5EF4-FFF2-40B4-BE49-F238E27FC236}">
                <a16:creationId xmlns:a16="http://schemas.microsoft.com/office/drawing/2014/main" id="{E39C4244-252F-7DD5-1CF0-D67D4D7AC09E}"/>
              </a:ext>
            </a:extLst>
          </p:cNvPr>
          <p:cNvGrpSpPr/>
          <p:nvPr/>
        </p:nvGrpSpPr>
        <p:grpSpPr>
          <a:xfrm>
            <a:off x="4003590" y="5220787"/>
            <a:ext cx="7723075" cy="905143"/>
            <a:chOff x="4037516" y="3108471"/>
            <a:chExt cx="7723075" cy="1101918"/>
          </a:xfrm>
        </p:grpSpPr>
        <p:grpSp>
          <p:nvGrpSpPr>
            <p:cNvPr id="29" name="קבוצה 8">
              <a:extLst>
                <a:ext uri="{FF2B5EF4-FFF2-40B4-BE49-F238E27FC236}">
                  <a16:creationId xmlns:a16="http://schemas.microsoft.com/office/drawing/2014/main" id="{E372E5A8-F299-D355-615E-BB04C6D04A7B}"/>
                </a:ext>
              </a:extLst>
            </p:cNvPr>
            <p:cNvGrpSpPr/>
            <p:nvPr/>
          </p:nvGrpSpPr>
          <p:grpSpPr>
            <a:xfrm>
              <a:off x="4037516" y="3108471"/>
              <a:ext cx="7723075" cy="1101918"/>
              <a:chOff x="4037516" y="3108471"/>
              <a:chExt cx="7723075" cy="1101918"/>
            </a:xfrm>
          </p:grpSpPr>
          <p:sp>
            <p:nvSpPr>
              <p:cNvPr id="31" name="מלבן: פינות מעוגלות 6">
                <a:extLst>
                  <a:ext uri="{FF2B5EF4-FFF2-40B4-BE49-F238E27FC236}">
                    <a16:creationId xmlns:a16="http://schemas.microsoft.com/office/drawing/2014/main" id="{CFE314C7-5382-3CB6-E310-15BFFB1F0563}"/>
                  </a:ext>
                </a:extLst>
              </p:cNvPr>
              <p:cNvSpPr/>
              <p:nvPr/>
            </p:nvSpPr>
            <p:spPr>
              <a:xfrm>
                <a:off x="4042166" y="3108471"/>
                <a:ext cx="7718425" cy="1101918"/>
              </a:xfrm>
              <a:prstGeom prst="roundRect">
                <a:avLst>
                  <a:gd name="adj" fmla="val 50000"/>
                </a:avLst>
              </a:prstGeom>
              <a:noFill/>
              <a:ln w="12700">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LID4096"/>
              </a:p>
            </p:txBody>
          </p:sp>
          <p:sp>
            <p:nvSpPr>
              <p:cNvPr id="32" name="תיבת טקסט 7">
                <a:extLst>
                  <a:ext uri="{FF2B5EF4-FFF2-40B4-BE49-F238E27FC236}">
                    <a16:creationId xmlns:a16="http://schemas.microsoft.com/office/drawing/2014/main" id="{4AD0AD72-F26F-0358-816A-586429F68BA8}"/>
                  </a:ext>
                </a:extLst>
              </p:cNvPr>
              <p:cNvSpPr txBox="1"/>
              <p:nvPr/>
            </p:nvSpPr>
            <p:spPr>
              <a:xfrm>
                <a:off x="4037516" y="3228945"/>
                <a:ext cx="7161904" cy="981444"/>
              </a:xfrm>
              <a:prstGeom prst="rect">
                <a:avLst/>
              </a:prstGeom>
              <a:noFill/>
            </p:spPr>
            <p:txBody>
              <a:bodyPr wrap="square" rtlCol="0">
                <a:spAutoFit/>
              </a:bodyPr>
              <a:lstStyle/>
              <a:p>
                <a:pPr lvl="0">
                  <a:lnSpc>
                    <a:spcPct val="120000"/>
                  </a:lnSpc>
                </a:pPr>
                <a:r>
                  <a:rPr lang="he-IL" sz="2000">
                    <a:latin typeface="Assistant" pitchFamily="2" charset="-79"/>
                    <a:cs typeface="Assistant" pitchFamily="2" charset="-79"/>
                  </a:rPr>
                  <a:t>לא ניתן לדעת את היחס החדש מבלי לדעת את הכמות המדויקת של הליטרים שהוסיפו.</a:t>
                </a:r>
              </a:p>
            </p:txBody>
          </p:sp>
        </p:grpSp>
        <p:sp>
          <p:nvSpPr>
            <p:cNvPr id="30" name="אליפסה 9">
              <a:extLst>
                <a:ext uri="{FF2B5EF4-FFF2-40B4-BE49-F238E27FC236}">
                  <a16:creationId xmlns:a16="http://schemas.microsoft.com/office/drawing/2014/main" id="{A2246063-9F83-68FB-F29E-090B57DB3848}"/>
                </a:ext>
              </a:extLst>
            </p:cNvPr>
            <p:cNvSpPr/>
            <p:nvPr/>
          </p:nvSpPr>
          <p:spPr>
            <a:xfrm>
              <a:off x="11276263" y="3500247"/>
              <a:ext cx="252766" cy="318364"/>
            </a:xfrm>
            <a:prstGeom prst="ellipse">
              <a:avLst/>
            </a:prstGeom>
            <a:noFill/>
            <a:ln>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LID4096"/>
            </a:p>
          </p:txBody>
        </p:sp>
      </p:grpSp>
    </p:spTree>
    <p:extLst>
      <p:ext uri="{BB962C8B-B14F-4D97-AF65-F5344CB8AC3E}">
        <p14:creationId xmlns:p14="http://schemas.microsoft.com/office/powerpoint/2010/main" val="290923894"/>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1661BE-F79B-615F-AFB9-0D4BFFCDCF2B}"/>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7A92E0F1-21A7-34AB-738A-81DA03A252D8}"/>
              </a:ext>
            </a:extLst>
          </p:cNvPr>
          <p:cNvSpPr txBox="1"/>
          <p:nvPr/>
        </p:nvSpPr>
        <p:spPr>
          <a:xfrm>
            <a:off x="2621280" y="3167390"/>
            <a:ext cx="5815584" cy="954107"/>
          </a:xfrm>
          <a:prstGeom prst="rect">
            <a:avLst/>
          </a:prstGeom>
          <a:noFill/>
        </p:spPr>
        <p:txBody>
          <a:bodyPr wrap="square">
            <a:spAutoFit/>
          </a:bodyPr>
          <a:lstStyle/>
          <a:p>
            <a:pPr algn="ctr"/>
            <a:r>
              <a:rPr lang="he-IL" sz="2800" b="0" i="0" kern="1200" dirty="0">
                <a:solidFill>
                  <a:schemeClr val="dk1"/>
                </a:solidFill>
                <a:effectLst/>
                <a:latin typeface="+mn-lt"/>
                <a:ea typeface="+mn-ea"/>
                <a:cs typeface="+mn-cs"/>
              </a:rPr>
              <a:t> רכיב </a:t>
            </a:r>
            <a:r>
              <a:rPr lang="en-US" sz="2800" b="0" i="0" kern="1200" dirty="0">
                <a:solidFill>
                  <a:schemeClr val="dk1"/>
                </a:solidFill>
                <a:effectLst/>
                <a:latin typeface="+mn-lt"/>
                <a:ea typeface="+mn-ea"/>
                <a:cs typeface="+mn-cs"/>
              </a:rPr>
              <a:t>6</a:t>
            </a:r>
            <a:endParaRPr lang="he-IL" sz="2800" b="0" i="0" kern="1200" dirty="0">
              <a:solidFill>
                <a:schemeClr val="dk1"/>
              </a:solidFill>
              <a:effectLst/>
              <a:latin typeface="+mn-lt"/>
              <a:ea typeface="+mn-ea"/>
              <a:cs typeface="+mn-cs"/>
            </a:endParaRPr>
          </a:p>
          <a:p>
            <a:pPr algn="ctr"/>
            <a:r>
              <a:rPr lang="en-IL" sz="2800" b="0" i="0" kern="1200" dirty="0">
                <a:solidFill>
                  <a:schemeClr val="dk1"/>
                </a:solidFill>
                <a:effectLst/>
                <a:latin typeface="+mn-lt"/>
                <a:ea typeface="+mn-ea"/>
                <a:cs typeface="+mn-cs"/>
              </a:rPr>
              <a:t>methodica-math-ratio-01</a:t>
            </a:r>
            <a:r>
              <a:rPr lang="en-US" sz="2800" dirty="0">
                <a:solidFill>
                  <a:schemeClr val="dk1"/>
                </a:solidFill>
              </a:rPr>
              <a:t>-06</a:t>
            </a:r>
            <a:endParaRPr lang="LID4096" sz="2800" dirty="0">
              <a:latin typeface="Assistant" pitchFamily="2" charset="-79"/>
              <a:cs typeface="Assistant" pitchFamily="2" charset="-79"/>
            </a:endParaRPr>
          </a:p>
        </p:txBody>
      </p:sp>
    </p:spTree>
    <p:extLst>
      <p:ext uri="{BB962C8B-B14F-4D97-AF65-F5344CB8AC3E}">
        <p14:creationId xmlns:p14="http://schemas.microsoft.com/office/powerpoint/2010/main" val="3406786301"/>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19400C-4FD5-DE7E-86E0-E2AF128ADB98}"/>
            </a:ext>
          </a:extLst>
        </p:cNvPr>
        <p:cNvGrpSpPr/>
        <p:nvPr/>
      </p:nvGrpSpPr>
      <p:grpSpPr>
        <a:xfrm>
          <a:off x="0" y="0"/>
          <a:ext cx="0" cy="0"/>
          <a:chOff x="0" y="0"/>
          <a:chExt cx="0" cy="0"/>
        </a:xfrm>
      </p:grpSpPr>
      <p:pic>
        <p:nvPicPr>
          <p:cNvPr id="4" name="תמונה 3">
            <a:extLst>
              <a:ext uri="{FF2B5EF4-FFF2-40B4-BE49-F238E27FC236}">
                <a16:creationId xmlns:a16="http://schemas.microsoft.com/office/drawing/2014/main" id="{E118F2F1-8160-896E-D71C-264453554A67}"/>
              </a:ext>
            </a:extLst>
          </p:cNvPr>
          <p:cNvPicPr>
            <a:picLocks noChangeAspect="1"/>
          </p:cNvPicPr>
          <p:nvPr/>
        </p:nvPicPr>
        <p:blipFill>
          <a:blip r:embed="rId4">
            <a:extLst>
              <a:ext uri="{28A0092B-C50C-407E-A947-70E740481C1C}">
                <a14:useLocalDpi xmlns:a14="http://schemas.microsoft.com/office/drawing/2010/main"/>
              </a:ext>
            </a:extLst>
          </a:blip>
          <a:stretch>
            <a:fillRect/>
          </a:stretch>
        </p:blipFill>
        <p:spPr>
          <a:xfrm>
            <a:off x="192984" y="6236080"/>
            <a:ext cx="1777778" cy="495238"/>
          </a:xfrm>
          <a:prstGeom prst="rect">
            <a:avLst/>
          </a:prstGeom>
        </p:spPr>
      </p:pic>
      <p:cxnSp>
        <p:nvCxnSpPr>
          <p:cNvPr id="5" name="מחבר ישר 4">
            <a:extLst>
              <a:ext uri="{FF2B5EF4-FFF2-40B4-BE49-F238E27FC236}">
                <a16:creationId xmlns:a16="http://schemas.microsoft.com/office/drawing/2014/main" id="{BE2EA784-649F-65DD-11DB-CF96A2B0EC95}"/>
              </a:ext>
            </a:extLst>
          </p:cNvPr>
          <p:cNvCxnSpPr>
            <a:cxnSpLocks/>
          </p:cNvCxnSpPr>
          <p:nvPr/>
        </p:nvCxnSpPr>
        <p:spPr>
          <a:xfrm>
            <a:off x="0" y="6079252"/>
            <a:ext cx="12192000" cy="0"/>
          </a:xfrm>
          <a:prstGeom prst="line">
            <a:avLst/>
          </a:prstGeom>
          <a:ln>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pic>
        <p:nvPicPr>
          <p:cNvPr id="2" name="תמונה 1">
            <a:extLst>
              <a:ext uri="{FF2B5EF4-FFF2-40B4-BE49-F238E27FC236}">
                <a16:creationId xmlns:a16="http://schemas.microsoft.com/office/drawing/2014/main" id="{B03E4205-C165-88B6-1DE3-722589516E8A}"/>
              </a:ext>
            </a:extLst>
          </p:cNvPr>
          <p:cNvPicPr>
            <a:picLocks noChangeAspect="1"/>
          </p:cNvPicPr>
          <p:nvPr/>
        </p:nvPicPr>
        <p:blipFill>
          <a:blip r:embed="rId5">
            <a:extLst>
              <a:ext uri="{28A0092B-C50C-407E-A947-70E740481C1C}">
                <a14:useLocalDpi xmlns:a14="http://schemas.microsoft.com/office/drawing/2010/main"/>
              </a:ext>
            </a:extLst>
          </a:blip>
          <a:stretch>
            <a:fillRect/>
          </a:stretch>
        </p:blipFill>
        <p:spPr>
          <a:xfrm>
            <a:off x="0" y="57121"/>
            <a:ext cx="933869" cy="721626"/>
          </a:xfrm>
          <a:prstGeom prst="rect">
            <a:avLst/>
          </a:prstGeom>
        </p:spPr>
      </p:pic>
      <p:sp>
        <p:nvSpPr>
          <p:cNvPr id="3" name="מלבן: פינות מעוגלות 2">
            <a:extLst>
              <a:ext uri="{FF2B5EF4-FFF2-40B4-BE49-F238E27FC236}">
                <a16:creationId xmlns:a16="http://schemas.microsoft.com/office/drawing/2014/main" id="{7375D27A-3DAC-A313-3A4B-A6584E4853B3}"/>
              </a:ext>
            </a:extLst>
          </p:cNvPr>
          <p:cNvSpPr/>
          <p:nvPr/>
        </p:nvSpPr>
        <p:spPr>
          <a:xfrm>
            <a:off x="10244695" y="6193485"/>
            <a:ext cx="1798983" cy="506891"/>
          </a:xfrm>
          <a:prstGeom prst="roundRect">
            <a:avLst>
              <a:gd name="adj" fmla="val 50000"/>
            </a:avLst>
          </a:prstGeom>
          <a:noFill/>
          <a:ln>
            <a:solidFill>
              <a:srgbClr val="019DE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he-IL">
                <a:solidFill>
                  <a:srgbClr val="019DE5"/>
                </a:solidFill>
                <a:latin typeface="Assistant" pitchFamily="2" charset="-79"/>
                <a:cs typeface="Assistant" pitchFamily="2" charset="-79"/>
              </a:rPr>
              <a:t>חזרה</a:t>
            </a:r>
            <a:endParaRPr lang="LID4096">
              <a:solidFill>
                <a:srgbClr val="019DE5"/>
              </a:solidFill>
              <a:latin typeface="Assistant" pitchFamily="2" charset="-79"/>
              <a:cs typeface="Assistant" pitchFamily="2" charset="-79"/>
            </a:endParaRPr>
          </a:p>
        </p:txBody>
      </p:sp>
      <p:sp>
        <p:nvSpPr>
          <p:cNvPr id="11" name="TextBox 10">
            <a:extLst>
              <a:ext uri="{FF2B5EF4-FFF2-40B4-BE49-F238E27FC236}">
                <a16:creationId xmlns:a16="http://schemas.microsoft.com/office/drawing/2014/main" id="{3ECE7365-91A4-3F40-7FDF-6FA16D0F9109}"/>
              </a:ext>
            </a:extLst>
          </p:cNvPr>
          <p:cNvSpPr txBox="1"/>
          <p:nvPr/>
        </p:nvSpPr>
        <p:spPr>
          <a:xfrm>
            <a:off x="3095740" y="625127"/>
            <a:ext cx="6400799" cy="2246769"/>
          </a:xfrm>
          <a:prstGeom prst="rect">
            <a:avLst/>
          </a:prstGeom>
          <a:noFill/>
        </p:spPr>
        <p:txBody>
          <a:bodyPr wrap="square">
            <a:spAutoFit/>
          </a:bodyPr>
          <a:lstStyle/>
          <a:p>
            <a:pPr algn="ctr"/>
            <a:r>
              <a:rPr lang="he-IL" sz="2000">
                <a:latin typeface="Assistant" pitchFamily="2" charset="-79"/>
                <a:cs typeface="Assistant" pitchFamily="2" charset="-79"/>
              </a:rPr>
              <a:t>כל הכבוד!</a:t>
            </a:r>
          </a:p>
          <a:p>
            <a:pPr algn="ctr"/>
            <a:r>
              <a:rPr lang="he-IL" sz="2000">
                <a:latin typeface="Assistant" pitchFamily="2" charset="-79"/>
                <a:cs typeface="Assistant" pitchFamily="2" charset="-79"/>
              </a:rPr>
              <a:t>הסתיים שלב התרגול. </a:t>
            </a:r>
          </a:p>
          <a:p>
            <a:pPr algn="ctr"/>
            <a:r>
              <a:rPr lang="he-IL" sz="2000">
                <a:latin typeface="Assistant" pitchFamily="2" charset="-79"/>
                <a:cs typeface="Assistant" pitchFamily="2" charset="-79"/>
              </a:rPr>
              <a:t>אם לא הצלחת לענות נכון על חלק מהשאלות, </a:t>
            </a:r>
          </a:p>
          <a:p>
            <a:pPr algn="ctr"/>
            <a:r>
              <a:rPr lang="he-IL" sz="2000">
                <a:latin typeface="Assistant" pitchFamily="2" charset="-79"/>
                <a:cs typeface="Assistant" pitchFamily="2" charset="-79"/>
              </a:rPr>
              <a:t>חשוב להבין מה עדיין לא ברור ולפנות לצ'אט או למורה להסבר נוסף. </a:t>
            </a:r>
          </a:p>
          <a:p>
            <a:pPr algn="ctr"/>
            <a:r>
              <a:rPr lang="he-IL" sz="4000" b="1">
                <a:latin typeface="Assistant" pitchFamily="2" charset="-79"/>
                <a:cs typeface="Assistant" pitchFamily="2" charset="-79"/>
              </a:rPr>
              <a:t>עכשיו מגיעה שאלת השיא</a:t>
            </a:r>
          </a:p>
          <a:p>
            <a:pPr algn="ctr"/>
            <a:r>
              <a:rPr lang="he-IL" sz="2000">
                <a:latin typeface="Assistant" pitchFamily="2" charset="-79"/>
                <a:cs typeface="Assistant" pitchFamily="2" charset="-79"/>
              </a:rPr>
              <a:t>יש בה 4 סעיפים. עליכם לענות נכון על 3 לפחות.</a:t>
            </a:r>
            <a:endParaRPr lang="en-US" sz="2000">
              <a:latin typeface="Assistant" pitchFamily="2" charset="-79"/>
              <a:cs typeface="Assistant" pitchFamily="2" charset="-79"/>
            </a:endParaRPr>
          </a:p>
        </p:txBody>
      </p:sp>
      <p:pic>
        <p:nvPicPr>
          <p:cNvPr id="8" name="Picture 7">
            <a:extLst>
              <a:ext uri="{FF2B5EF4-FFF2-40B4-BE49-F238E27FC236}">
                <a16:creationId xmlns:a16="http://schemas.microsoft.com/office/drawing/2014/main" id="{B0539EDB-8D71-C4A9-D661-EB85CBF0A0BE}"/>
              </a:ext>
            </a:extLst>
          </p:cNvPr>
          <p:cNvPicPr>
            <a:picLocks noChangeAspect="1"/>
          </p:cNvPicPr>
          <p:nvPr/>
        </p:nvPicPr>
        <p:blipFill>
          <a:blip r:embed="rId6" cstate="email">
            <a:extLst>
              <a:ext uri="{28A0092B-C50C-407E-A947-70E740481C1C}">
                <a14:useLocalDpi xmlns:a14="http://schemas.microsoft.com/office/drawing/2010/main"/>
              </a:ext>
            </a:extLst>
          </a:blip>
          <a:stretch>
            <a:fillRect/>
          </a:stretch>
        </p:blipFill>
        <p:spPr>
          <a:xfrm>
            <a:off x="3933038" y="2916813"/>
            <a:ext cx="4325924" cy="2725989"/>
          </a:xfrm>
          <a:prstGeom prst="rect">
            <a:avLst/>
          </a:prstGeom>
        </p:spPr>
      </p:pic>
    </p:spTree>
    <p:custDataLst>
      <p:tags r:id="rId1"/>
    </p:custDataLst>
    <p:extLst>
      <p:ext uri="{BB962C8B-B14F-4D97-AF65-F5344CB8AC3E}">
        <p14:creationId xmlns:p14="http://schemas.microsoft.com/office/powerpoint/2010/main" val="497423182"/>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55F1C2-DBC9-E09B-5017-F626D7272065}"/>
            </a:ext>
          </a:extLst>
        </p:cNvPr>
        <p:cNvGrpSpPr/>
        <p:nvPr/>
      </p:nvGrpSpPr>
      <p:grpSpPr>
        <a:xfrm>
          <a:off x="0" y="0"/>
          <a:ext cx="0" cy="0"/>
          <a:chOff x="0" y="0"/>
          <a:chExt cx="0" cy="0"/>
        </a:xfrm>
      </p:grpSpPr>
      <p:pic>
        <p:nvPicPr>
          <p:cNvPr id="9" name="Picture 8">
            <a:extLst>
              <a:ext uri="{FF2B5EF4-FFF2-40B4-BE49-F238E27FC236}">
                <a16:creationId xmlns:a16="http://schemas.microsoft.com/office/drawing/2014/main" id="{534F60BB-CF35-6C35-AE0B-527DC6EC1B1D}"/>
              </a:ext>
            </a:extLst>
          </p:cNvPr>
          <p:cNvPicPr>
            <a:picLocks noChangeAspect="1"/>
          </p:cNvPicPr>
          <p:nvPr/>
        </p:nvPicPr>
        <p:blipFill>
          <a:blip r:embed="rId5" cstate="email">
            <a:extLst>
              <a:ext uri="{28A0092B-C50C-407E-A947-70E740481C1C}">
                <a14:useLocalDpi xmlns:a14="http://schemas.microsoft.com/office/drawing/2010/main"/>
              </a:ext>
            </a:extLst>
          </a:blip>
          <a:srcRect/>
          <a:stretch/>
        </p:blipFill>
        <p:spPr>
          <a:xfrm>
            <a:off x="0" y="0"/>
            <a:ext cx="12203430" cy="6088184"/>
          </a:xfrm>
          <a:prstGeom prst="rect">
            <a:avLst/>
          </a:prstGeom>
        </p:spPr>
      </p:pic>
      <p:cxnSp>
        <p:nvCxnSpPr>
          <p:cNvPr id="4" name="מחבר ישר 3">
            <a:extLst>
              <a:ext uri="{FF2B5EF4-FFF2-40B4-BE49-F238E27FC236}">
                <a16:creationId xmlns:a16="http://schemas.microsoft.com/office/drawing/2014/main" id="{BC010E91-9865-4EFB-DF78-F1447B9D566E}"/>
              </a:ext>
            </a:extLst>
          </p:cNvPr>
          <p:cNvCxnSpPr>
            <a:cxnSpLocks/>
          </p:cNvCxnSpPr>
          <p:nvPr/>
        </p:nvCxnSpPr>
        <p:spPr>
          <a:xfrm>
            <a:off x="0" y="6079252"/>
            <a:ext cx="12192000" cy="0"/>
          </a:xfrm>
          <a:prstGeom prst="line">
            <a:avLst/>
          </a:prstGeom>
          <a:ln>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grpSp>
        <p:nvGrpSpPr>
          <p:cNvPr id="28" name="Group 27">
            <a:extLst>
              <a:ext uri="{FF2B5EF4-FFF2-40B4-BE49-F238E27FC236}">
                <a16:creationId xmlns:a16="http://schemas.microsoft.com/office/drawing/2014/main" id="{721AC07F-3BD3-7844-E5BA-255481480B65}"/>
              </a:ext>
            </a:extLst>
          </p:cNvPr>
          <p:cNvGrpSpPr/>
          <p:nvPr/>
        </p:nvGrpSpPr>
        <p:grpSpPr>
          <a:xfrm>
            <a:off x="132487" y="168966"/>
            <a:ext cx="4606290" cy="1425117"/>
            <a:chOff x="2063034" y="1115367"/>
            <a:chExt cx="8889670" cy="705511"/>
          </a:xfrm>
        </p:grpSpPr>
        <p:sp>
          <p:nvSpPr>
            <p:cNvPr id="27" name="מלבן: פינות מעוגלות 2">
              <a:extLst>
                <a:ext uri="{FF2B5EF4-FFF2-40B4-BE49-F238E27FC236}">
                  <a16:creationId xmlns:a16="http://schemas.microsoft.com/office/drawing/2014/main" id="{D916A985-40CC-3A2B-5EC5-5758756C33AE}"/>
                </a:ext>
              </a:extLst>
            </p:cNvPr>
            <p:cNvSpPr/>
            <p:nvPr/>
          </p:nvSpPr>
          <p:spPr>
            <a:xfrm>
              <a:off x="2063034" y="1115367"/>
              <a:ext cx="8889670" cy="705511"/>
            </a:xfrm>
            <a:prstGeom prst="roundRect">
              <a:avLst>
                <a:gd name="adj" fmla="val 8509"/>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he-IL"/>
                <a:t>עליכם לעזור לצוות בשטח לקבל החלטות מבוססות נתונים על סמך המפות וכלי המדידה.</a:t>
              </a:r>
            </a:p>
          </p:txBody>
        </p:sp>
        <p:sp>
          <p:nvSpPr>
            <p:cNvPr id="8" name="תיבת טקסט 5">
              <a:extLst>
                <a:ext uri="{FF2B5EF4-FFF2-40B4-BE49-F238E27FC236}">
                  <a16:creationId xmlns:a16="http://schemas.microsoft.com/office/drawing/2014/main" id="{3CB7F4A6-03FC-9E13-D19B-77BA4315C8CB}"/>
                </a:ext>
              </a:extLst>
            </p:cNvPr>
            <p:cNvSpPr txBox="1"/>
            <p:nvPr/>
          </p:nvSpPr>
          <p:spPr>
            <a:xfrm>
              <a:off x="2063034" y="1244223"/>
              <a:ext cx="8648958" cy="457099"/>
            </a:xfrm>
            <a:prstGeom prst="rect">
              <a:avLst/>
            </a:prstGeom>
            <a:noFill/>
          </p:spPr>
          <p:txBody>
            <a:bodyPr wrap="square" rtlCol="0">
              <a:spAutoFit/>
            </a:bodyPr>
            <a:lstStyle/>
            <a:p>
              <a:r>
                <a:rPr lang="he-IL">
                  <a:latin typeface="Assistant" pitchFamily="2" charset="-79"/>
                  <a:cs typeface="Assistant" pitchFamily="2" charset="-79"/>
                </a:rPr>
                <a:t>משפחת לוי רוצה לבנות את בית החלומות שלה. </a:t>
              </a:r>
            </a:p>
            <a:p>
              <a:r>
                <a:rPr lang="he-IL">
                  <a:latin typeface="Assistant" pitchFamily="2" charset="-79"/>
                  <a:cs typeface="Assistant" pitchFamily="2" charset="-79"/>
                </a:rPr>
                <a:t>כדי להגשים את החלום, הם נפגשו עם אורי האדריכל וביקשו ממנו לעזור להם לתכנן אותו.</a:t>
              </a:r>
              <a:endParaRPr lang="he-IL" sz="2000">
                <a:latin typeface="Assistant" pitchFamily="2" charset="-79"/>
                <a:cs typeface="Assistant" pitchFamily="2" charset="-79"/>
              </a:endParaRPr>
            </a:p>
          </p:txBody>
        </p:sp>
      </p:grpSp>
      <p:pic>
        <p:nvPicPr>
          <p:cNvPr id="7" name="Picture 6">
            <a:extLst>
              <a:ext uri="{FF2B5EF4-FFF2-40B4-BE49-F238E27FC236}">
                <a16:creationId xmlns:a16="http://schemas.microsoft.com/office/drawing/2014/main" id="{6F604ADA-B228-C710-4D39-48A7ABA29AB2}"/>
              </a:ext>
            </a:extLst>
          </p:cNvPr>
          <p:cNvPicPr>
            <a:picLocks noChangeAspect="1"/>
          </p:cNvPicPr>
          <p:nvPr/>
        </p:nvPicPr>
        <p:blipFill>
          <a:blip r:embed="rId6"/>
          <a:stretch>
            <a:fillRect/>
          </a:stretch>
        </p:blipFill>
        <p:spPr>
          <a:xfrm>
            <a:off x="10371417" y="6124170"/>
            <a:ext cx="1820583" cy="622831"/>
          </a:xfrm>
          <a:prstGeom prst="rect">
            <a:avLst/>
          </a:prstGeom>
        </p:spPr>
      </p:pic>
      <p:pic>
        <p:nvPicPr>
          <p:cNvPr id="3" name="תמונה 3">
            <a:extLst>
              <a:ext uri="{FF2B5EF4-FFF2-40B4-BE49-F238E27FC236}">
                <a16:creationId xmlns:a16="http://schemas.microsoft.com/office/drawing/2014/main" id="{8E7F2B3A-2A55-C11A-F4DF-2D7DE43634B9}"/>
              </a:ext>
            </a:extLst>
          </p:cNvPr>
          <p:cNvPicPr>
            <a:picLocks noChangeAspect="1"/>
          </p:cNvPicPr>
          <p:nvPr/>
        </p:nvPicPr>
        <p:blipFill>
          <a:blip r:embed="rId7">
            <a:extLst>
              <a:ext uri="{28A0092B-C50C-407E-A947-70E740481C1C}">
                <a14:useLocalDpi xmlns:a14="http://schemas.microsoft.com/office/drawing/2010/main"/>
              </a:ext>
            </a:extLst>
          </a:blip>
          <a:stretch>
            <a:fillRect/>
          </a:stretch>
        </p:blipFill>
        <p:spPr>
          <a:xfrm>
            <a:off x="192984" y="6236080"/>
            <a:ext cx="1777778" cy="495238"/>
          </a:xfrm>
          <a:prstGeom prst="rect">
            <a:avLst/>
          </a:prstGeom>
        </p:spPr>
      </p:pic>
    </p:spTree>
    <p:custDataLst>
      <p:tags r:id="rId1"/>
    </p:custDataLst>
    <p:extLst>
      <p:ext uri="{BB962C8B-B14F-4D97-AF65-F5344CB8AC3E}">
        <p14:creationId xmlns:p14="http://schemas.microsoft.com/office/powerpoint/2010/main" val="273496296"/>
      </p:ext>
    </p:extLst>
  </p:cSld>
  <p:clrMapOvr>
    <a:masterClrMapping/>
  </p:clrMapOvr>
  <p:extLst>
    <p:ext uri="{6950BFC3-D8DA-4A85-94F7-54DA5524770B}">
      <p188:commentRel xmlns:p188="http://schemas.microsoft.com/office/powerpoint/2018/8/main" r:id="rId4"/>
    </p:ext>
  </p:extLst>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BB64F9-644A-4576-80A4-91531E18A8A7}"/>
            </a:ext>
          </a:extLst>
        </p:cNvPr>
        <p:cNvGrpSpPr/>
        <p:nvPr/>
      </p:nvGrpSpPr>
      <p:grpSpPr>
        <a:xfrm>
          <a:off x="0" y="0"/>
          <a:ext cx="0" cy="0"/>
          <a:chOff x="0" y="0"/>
          <a:chExt cx="0" cy="0"/>
        </a:xfrm>
      </p:grpSpPr>
      <p:cxnSp>
        <p:nvCxnSpPr>
          <p:cNvPr id="4" name="מחבר ישר 3">
            <a:extLst>
              <a:ext uri="{FF2B5EF4-FFF2-40B4-BE49-F238E27FC236}">
                <a16:creationId xmlns:a16="http://schemas.microsoft.com/office/drawing/2014/main" id="{A41E79B5-A831-8616-BA5B-75A8782D610C}"/>
              </a:ext>
            </a:extLst>
          </p:cNvPr>
          <p:cNvCxnSpPr>
            <a:cxnSpLocks/>
          </p:cNvCxnSpPr>
          <p:nvPr/>
        </p:nvCxnSpPr>
        <p:spPr>
          <a:xfrm>
            <a:off x="0" y="6079252"/>
            <a:ext cx="12192000" cy="0"/>
          </a:xfrm>
          <a:prstGeom prst="line">
            <a:avLst/>
          </a:prstGeom>
          <a:ln>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pic>
        <p:nvPicPr>
          <p:cNvPr id="3" name="תמונה 2">
            <a:extLst>
              <a:ext uri="{FF2B5EF4-FFF2-40B4-BE49-F238E27FC236}">
                <a16:creationId xmlns:a16="http://schemas.microsoft.com/office/drawing/2014/main" id="{0FEA2BD3-C3BD-4F3B-5F9E-56FA21FC7F0B}"/>
              </a:ext>
            </a:extLst>
          </p:cNvPr>
          <p:cNvPicPr>
            <a:picLocks noChangeAspect="1"/>
          </p:cNvPicPr>
          <p:nvPr/>
        </p:nvPicPr>
        <p:blipFill>
          <a:blip r:embed="rId4">
            <a:extLst>
              <a:ext uri="{28A0092B-C50C-407E-A947-70E740481C1C}">
                <a14:useLocalDpi xmlns:a14="http://schemas.microsoft.com/office/drawing/2010/main"/>
              </a:ext>
            </a:extLst>
          </a:blip>
          <a:stretch>
            <a:fillRect/>
          </a:stretch>
        </p:blipFill>
        <p:spPr>
          <a:xfrm>
            <a:off x="0" y="57121"/>
            <a:ext cx="933869" cy="721626"/>
          </a:xfrm>
          <a:prstGeom prst="rect">
            <a:avLst/>
          </a:prstGeom>
        </p:spPr>
      </p:pic>
      <p:sp>
        <p:nvSpPr>
          <p:cNvPr id="7" name="מלבן: פינות מעוגלות 6">
            <a:extLst>
              <a:ext uri="{FF2B5EF4-FFF2-40B4-BE49-F238E27FC236}">
                <a16:creationId xmlns:a16="http://schemas.microsoft.com/office/drawing/2014/main" id="{6329D301-083B-397E-729E-F7FA75D2F689}"/>
              </a:ext>
            </a:extLst>
          </p:cNvPr>
          <p:cNvSpPr/>
          <p:nvPr/>
        </p:nvSpPr>
        <p:spPr>
          <a:xfrm>
            <a:off x="10244695" y="6193485"/>
            <a:ext cx="1798983" cy="506891"/>
          </a:xfrm>
          <a:prstGeom prst="roundRect">
            <a:avLst>
              <a:gd name="adj" fmla="val 50000"/>
            </a:avLst>
          </a:prstGeom>
          <a:noFill/>
          <a:ln>
            <a:solidFill>
              <a:srgbClr val="019DE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he-IL">
                <a:solidFill>
                  <a:srgbClr val="019DE5"/>
                </a:solidFill>
                <a:latin typeface="Assistant" pitchFamily="2" charset="-79"/>
                <a:cs typeface="Assistant" pitchFamily="2" charset="-79"/>
              </a:rPr>
              <a:t>חזרה</a:t>
            </a:r>
            <a:endParaRPr lang="LID4096">
              <a:solidFill>
                <a:srgbClr val="019DE5"/>
              </a:solidFill>
              <a:latin typeface="Assistant" pitchFamily="2" charset="-79"/>
              <a:cs typeface="Assistant" pitchFamily="2" charset="-79"/>
            </a:endParaRPr>
          </a:p>
        </p:txBody>
      </p:sp>
      <p:sp>
        <p:nvSpPr>
          <p:cNvPr id="78" name="תיבת טקסט 5">
            <a:extLst>
              <a:ext uri="{FF2B5EF4-FFF2-40B4-BE49-F238E27FC236}">
                <a16:creationId xmlns:a16="http://schemas.microsoft.com/office/drawing/2014/main" id="{3E5047C9-2492-3539-5A63-6A49C68E797D}"/>
              </a:ext>
            </a:extLst>
          </p:cNvPr>
          <p:cNvSpPr txBox="1"/>
          <p:nvPr/>
        </p:nvSpPr>
        <p:spPr>
          <a:xfrm>
            <a:off x="6598374" y="592150"/>
            <a:ext cx="4840196" cy="2246769"/>
          </a:xfrm>
          <a:prstGeom prst="rect">
            <a:avLst/>
          </a:prstGeom>
          <a:noFill/>
        </p:spPr>
        <p:txBody>
          <a:bodyPr wrap="square" rtlCol="0">
            <a:spAutoFit/>
          </a:bodyPr>
          <a:lstStyle/>
          <a:p>
            <a:r>
              <a:rPr lang="he-IL" sz="2000">
                <a:latin typeface="Assistant" pitchFamily="2" charset="-79"/>
                <a:cs typeface="Assistant" pitchFamily="2" charset="-79"/>
              </a:rPr>
              <a:t>אורי הציע לחלק את המגרש לשני אזורים: </a:t>
            </a:r>
          </a:p>
          <a:p>
            <a:r>
              <a:rPr lang="he-IL" sz="2000">
                <a:latin typeface="Assistant" pitchFamily="2" charset="-79"/>
                <a:cs typeface="Assistant" pitchFamily="2" charset="-79"/>
              </a:rPr>
              <a:t>שטח לבניית הבית ושטח לגינה. הפס המקווקו בשרטוט מסמן את קו ההפרדה ביניהם.</a:t>
            </a:r>
          </a:p>
          <a:p>
            <a:r>
              <a:rPr lang="he-IL" sz="2000">
                <a:latin typeface="Assistant" pitchFamily="2" charset="-79"/>
                <a:cs typeface="Assistant" pitchFamily="2" charset="-79"/>
              </a:rPr>
              <a:t>נתון כי היחס בין אורך </a:t>
            </a:r>
            <a:r>
              <a:rPr lang="en-US" sz="2000">
                <a:latin typeface="Assistant" pitchFamily="2" charset="-79"/>
                <a:cs typeface="Assistant" pitchFamily="2" charset="-79"/>
              </a:rPr>
              <a:t>AB</a:t>
            </a:r>
            <a:r>
              <a:rPr lang="he-IL" sz="2000">
                <a:latin typeface="Assistant" pitchFamily="2" charset="-79"/>
                <a:cs typeface="Assistant" pitchFamily="2" charset="-79"/>
              </a:rPr>
              <a:t> לאורך</a:t>
            </a:r>
            <a:r>
              <a:rPr lang="en-US" sz="2000">
                <a:latin typeface="Assistant" pitchFamily="2" charset="-79"/>
                <a:cs typeface="Assistant" pitchFamily="2" charset="-79"/>
              </a:rPr>
              <a:t>AE </a:t>
            </a:r>
            <a:r>
              <a:rPr lang="he-IL" sz="2000">
                <a:latin typeface="Assistant" pitchFamily="2" charset="-79"/>
                <a:cs typeface="Assistant" pitchFamily="2" charset="-79"/>
              </a:rPr>
              <a:t> הוא 2 : 1.</a:t>
            </a:r>
          </a:p>
          <a:p>
            <a:endParaRPr lang="he-IL" sz="2000">
              <a:latin typeface="Assistant" pitchFamily="2" charset="-79"/>
              <a:cs typeface="Assistant" pitchFamily="2" charset="-79"/>
            </a:endParaRPr>
          </a:p>
          <a:p>
            <a:r>
              <a:rPr lang="he-IL" sz="2000" b="1">
                <a:solidFill>
                  <a:srgbClr val="00B0F0"/>
                </a:solidFill>
                <a:latin typeface="Assistant" pitchFamily="2" charset="-79"/>
                <a:cs typeface="Assistant" pitchFamily="2" charset="-79"/>
              </a:rPr>
              <a:t>א. לפני שאורי יוכל להתחיל בתכנון, עליו לדעת מהו שטח המגרש כולו. חשבו את שטח המגרש.</a:t>
            </a:r>
            <a:endParaRPr lang="LID4096" sz="2000" b="1">
              <a:solidFill>
                <a:srgbClr val="00B0F0"/>
              </a:solidFill>
              <a:latin typeface="Assistant" pitchFamily="2" charset="-79"/>
              <a:cs typeface="Assistant" pitchFamily="2" charset="-79"/>
            </a:endParaRPr>
          </a:p>
        </p:txBody>
      </p:sp>
      <p:sp>
        <p:nvSpPr>
          <p:cNvPr id="11" name="מלבן: פינות מעוגלות 18">
            <a:extLst>
              <a:ext uri="{FF2B5EF4-FFF2-40B4-BE49-F238E27FC236}">
                <a16:creationId xmlns:a16="http://schemas.microsoft.com/office/drawing/2014/main" id="{8BFBF63F-1136-7032-DADA-6A5611CCD3EA}"/>
              </a:ext>
            </a:extLst>
          </p:cNvPr>
          <p:cNvSpPr/>
          <p:nvPr/>
        </p:nvSpPr>
        <p:spPr>
          <a:xfrm>
            <a:off x="268356" y="6182143"/>
            <a:ext cx="1798983" cy="506891"/>
          </a:xfrm>
          <a:prstGeom prst="roundRect">
            <a:avLst>
              <a:gd name="adj" fmla="val 50000"/>
            </a:avLst>
          </a:prstGeom>
          <a:solidFill>
            <a:schemeClr val="bg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he-IL">
                <a:latin typeface="Assistant" pitchFamily="2" charset="-79"/>
                <a:cs typeface="Assistant" pitchFamily="2" charset="-79"/>
              </a:rPr>
              <a:t>המשך</a:t>
            </a:r>
            <a:endParaRPr lang="LID4096">
              <a:latin typeface="Assistant" pitchFamily="2" charset="-79"/>
              <a:cs typeface="Assistant" pitchFamily="2" charset="-79"/>
            </a:endParaRPr>
          </a:p>
        </p:txBody>
      </p:sp>
      <p:pic>
        <p:nvPicPr>
          <p:cNvPr id="6" name="image3.png">
            <a:extLst>
              <a:ext uri="{FF2B5EF4-FFF2-40B4-BE49-F238E27FC236}">
                <a16:creationId xmlns:a16="http://schemas.microsoft.com/office/drawing/2014/main" id="{7E22FF7D-4CA9-9632-DFF2-E34BB269FC2E}"/>
              </a:ext>
            </a:extLst>
          </p:cNvPr>
          <p:cNvPicPr/>
          <p:nvPr/>
        </p:nvPicPr>
        <p:blipFill>
          <a:blip r:embed="rId5" cstate="email">
            <a:extLst>
              <a:ext uri="{28A0092B-C50C-407E-A947-70E740481C1C}">
                <a14:useLocalDpi xmlns:a14="http://schemas.microsoft.com/office/drawing/2010/main"/>
              </a:ext>
            </a:extLst>
          </a:blip>
          <a:srcRect/>
          <a:stretch>
            <a:fillRect/>
          </a:stretch>
        </p:blipFill>
        <p:spPr>
          <a:xfrm>
            <a:off x="300625" y="778747"/>
            <a:ext cx="6168572" cy="5093565"/>
          </a:xfrm>
          <a:prstGeom prst="rect">
            <a:avLst/>
          </a:prstGeom>
          <a:ln/>
        </p:spPr>
      </p:pic>
      <p:sp>
        <p:nvSpPr>
          <p:cNvPr id="9" name="מלבן: פינות מעוגלות 6">
            <a:extLst>
              <a:ext uri="{FF2B5EF4-FFF2-40B4-BE49-F238E27FC236}">
                <a16:creationId xmlns:a16="http://schemas.microsoft.com/office/drawing/2014/main" id="{45BF6196-66E5-CB17-F77E-E66347E08D96}"/>
              </a:ext>
            </a:extLst>
          </p:cNvPr>
          <p:cNvSpPr/>
          <p:nvPr/>
        </p:nvSpPr>
        <p:spPr>
          <a:xfrm>
            <a:off x="8501798" y="3054846"/>
            <a:ext cx="1110834" cy="526581"/>
          </a:xfrm>
          <a:prstGeom prst="roundRect">
            <a:avLst>
              <a:gd name="adj" fmla="val 1764"/>
            </a:avLst>
          </a:prstGeom>
          <a:noFill/>
          <a:ln w="12700">
            <a:solidFill>
              <a:srgbClr val="92D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he-IL" sz="2000">
                <a:solidFill>
                  <a:schemeClr val="tx1"/>
                </a:solidFill>
                <a:latin typeface="Assistant" pitchFamily="2" charset="-79"/>
                <a:cs typeface="Assistant" pitchFamily="2" charset="-79"/>
              </a:rPr>
              <a:t>216</a:t>
            </a:r>
            <a:endParaRPr lang="LID4096" sz="2000">
              <a:solidFill>
                <a:schemeClr val="tx1"/>
              </a:solidFill>
              <a:latin typeface="Assistant" pitchFamily="2" charset="-79"/>
              <a:cs typeface="Assistant" pitchFamily="2" charset="-79"/>
            </a:endParaRPr>
          </a:p>
        </p:txBody>
      </p:sp>
      <p:sp>
        <p:nvSpPr>
          <p:cNvPr id="12" name="תיבת טקסט 5">
            <a:extLst>
              <a:ext uri="{FF2B5EF4-FFF2-40B4-BE49-F238E27FC236}">
                <a16:creationId xmlns:a16="http://schemas.microsoft.com/office/drawing/2014/main" id="{F67F97DD-4692-1DC8-D3D6-AAB26ECBA093}"/>
              </a:ext>
            </a:extLst>
          </p:cNvPr>
          <p:cNvSpPr txBox="1"/>
          <p:nvPr/>
        </p:nvSpPr>
        <p:spPr>
          <a:xfrm>
            <a:off x="7315200" y="3116737"/>
            <a:ext cx="4123370" cy="400110"/>
          </a:xfrm>
          <a:prstGeom prst="rect">
            <a:avLst/>
          </a:prstGeom>
          <a:noFill/>
        </p:spPr>
        <p:txBody>
          <a:bodyPr wrap="square" rtlCol="0">
            <a:spAutoFit/>
          </a:bodyPr>
          <a:lstStyle/>
          <a:p>
            <a:r>
              <a:rPr lang="he-IL" sz="2000">
                <a:latin typeface="Assistant" pitchFamily="2" charset="-79"/>
                <a:cs typeface="Assistant" pitchFamily="2" charset="-79"/>
              </a:rPr>
              <a:t>שטח המגרש הוא                              מ"ר.</a:t>
            </a:r>
            <a:endParaRPr lang="LID4096" sz="2000" b="1">
              <a:solidFill>
                <a:srgbClr val="00B0F0"/>
              </a:solidFill>
              <a:latin typeface="Assistant" pitchFamily="2" charset="-79"/>
              <a:cs typeface="Assistant" pitchFamily="2" charset="-79"/>
            </a:endParaRPr>
          </a:p>
        </p:txBody>
      </p:sp>
      <p:grpSp>
        <p:nvGrpSpPr>
          <p:cNvPr id="14" name="Group 13">
            <a:extLst>
              <a:ext uri="{FF2B5EF4-FFF2-40B4-BE49-F238E27FC236}">
                <a16:creationId xmlns:a16="http://schemas.microsoft.com/office/drawing/2014/main" id="{2DBF2006-C617-DB06-9FCD-E1BC565C486A}"/>
              </a:ext>
            </a:extLst>
          </p:cNvPr>
          <p:cNvGrpSpPr/>
          <p:nvPr/>
        </p:nvGrpSpPr>
        <p:grpSpPr>
          <a:xfrm>
            <a:off x="2179982" y="6182142"/>
            <a:ext cx="2481470" cy="506891"/>
            <a:chOff x="2179982" y="6182142"/>
            <a:chExt cx="2481470" cy="506891"/>
          </a:xfrm>
        </p:grpSpPr>
        <p:sp>
          <p:nvSpPr>
            <p:cNvPr id="16" name="מלבן: פינות מעוגלות 1">
              <a:extLst>
                <a:ext uri="{FF2B5EF4-FFF2-40B4-BE49-F238E27FC236}">
                  <a16:creationId xmlns:a16="http://schemas.microsoft.com/office/drawing/2014/main" id="{61B5BC68-0B6D-9186-07B9-96886C856B85}"/>
                </a:ext>
              </a:extLst>
            </p:cNvPr>
            <p:cNvSpPr/>
            <p:nvPr/>
          </p:nvSpPr>
          <p:spPr>
            <a:xfrm>
              <a:off x="2179982" y="6182142"/>
              <a:ext cx="2481470" cy="506891"/>
            </a:xfrm>
            <a:prstGeom prst="roundRect">
              <a:avLst>
                <a:gd name="adj" fmla="val 50000"/>
              </a:avLst>
            </a:prstGeom>
            <a:noFill/>
            <a:ln>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he-IL">
                  <a:solidFill>
                    <a:srgbClr val="00B0F0"/>
                  </a:solidFill>
                </a:rPr>
                <a:t>     אפשר רמז?</a:t>
              </a:r>
              <a:endParaRPr lang="LID4096">
                <a:solidFill>
                  <a:srgbClr val="00B0F0"/>
                </a:solidFill>
              </a:endParaRPr>
            </a:p>
          </p:txBody>
        </p:sp>
        <p:pic>
          <p:nvPicPr>
            <p:cNvPr id="18" name="גרפיקה 11" descr="נורת חשמל וגלגל שיניים עם מילוי מלא">
              <a:extLst>
                <a:ext uri="{FF2B5EF4-FFF2-40B4-BE49-F238E27FC236}">
                  <a16:creationId xmlns:a16="http://schemas.microsoft.com/office/drawing/2014/main" id="{B5C34E42-7FDB-690C-A805-5B4373EC87C1}"/>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3831910" y="6266545"/>
              <a:ext cx="338083" cy="338083"/>
            </a:xfrm>
            <a:prstGeom prst="rect">
              <a:avLst/>
            </a:prstGeom>
          </p:spPr>
        </p:pic>
      </p:grpSp>
      <p:grpSp>
        <p:nvGrpSpPr>
          <p:cNvPr id="19" name="קבוצה 14">
            <a:extLst>
              <a:ext uri="{FF2B5EF4-FFF2-40B4-BE49-F238E27FC236}">
                <a16:creationId xmlns:a16="http://schemas.microsoft.com/office/drawing/2014/main" id="{D38D7FD1-E2A3-5C22-00F4-E611588CF887}"/>
              </a:ext>
            </a:extLst>
          </p:cNvPr>
          <p:cNvGrpSpPr/>
          <p:nvPr/>
        </p:nvGrpSpPr>
        <p:grpSpPr>
          <a:xfrm>
            <a:off x="-9344826" y="26138"/>
            <a:ext cx="9123904" cy="3818372"/>
            <a:chOff x="-9229411" y="26138"/>
            <a:chExt cx="9123904" cy="3818372"/>
          </a:xfrm>
        </p:grpSpPr>
        <p:sp>
          <p:nvSpPr>
            <p:cNvPr id="20" name="מלבן: פינות מעוגלות 16">
              <a:extLst>
                <a:ext uri="{FF2B5EF4-FFF2-40B4-BE49-F238E27FC236}">
                  <a16:creationId xmlns:a16="http://schemas.microsoft.com/office/drawing/2014/main" id="{E00F886C-45CC-2CB0-9893-6A37861A89AE}"/>
                </a:ext>
              </a:extLst>
            </p:cNvPr>
            <p:cNvSpPr/>
            <p:nvPr/>
          </p:nvSpPr>
          <p:spPr>
            <a:xfrm>
              <a:off x="-9229411" y="26138"/>
              <a:ext cx="9123904" cy="3818372"/>
            </a:xfrm>
            <a:prstGeom prst="roundRect">
              <a:avLst>
                <a:gd name="adj" fmla="val 8509"/>
              </a:avLst>
            </a:prstGeom>
            <a:solidFill>
              <a:srgbClr val="00B0F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LID4096"/>
            </a:p>
          </p:txBody>
        </p:sp>
        <p:sp>
          <p:nvSpPr>
            <p:cNvPr id="21" name="מלבן: פינות מעוגלות 27">
              <a:extLst>
                <a:ext uri="{FF2B5EF4-FFF2-40B4-BE49-F238E27FC236}">
                  <a16:creationId xmlns:a16="http://schemas.microsoft.com/office/drawing/2014/main" id="{4E20DF03-529A-24DD-6AB4-688FD4B21058}"/>
                </a:ext>
              </a:extLst>
            </p:cNvPr>
            <p:cNvSpPr/>
            <p:nvPr/>
          </p:nvSpPr>
          <p:spPr>
            <a:xfrm>
              <a:off x="-5861703" y="3135618"/>
              <a:ext cx="1798983" cy="506891"/>
            </a:xfrm>
            <a:prstGeom prst="roundRect">
              <a:avLst>
                <a:gd name="adj" fmla="val 50000"/>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he-IL">
                  <a:solidFill>
                    <a:schemeClr val="tx1"/>
                  </a:solidFill>
                  <a:latin typeface="Assistant" pitchFamily="2" charset="-79"/>
                  <a:cs typeface="Assistant" pitchFamily="2" charset="-79"/>
                </a:rPr>
                <a:t>חזרה לשאלה</a:t>
              </a:r>
              <a:endParaRPr lang="LID4096">
                <a:solidFill>
                  <a:schemeClr val="tx1"/>
                </a:solidFill>
                <a:latin typeface="Assistant" pitchFamily="2" charset="-79"/>
                <a:cs typeface="Assistant" pitchFamily="2" charset="-79"/>
              </a:endParaRPr>
            </a:p>
          </p:txBody>
        </p:sp>
        <p:pic>
          <p:nvPicPr>
            <p:cNvPr id="22" name="גרפיקה 28" descr="נורת חשמל וגלגל שיניים עם מילוי מלא">
              <a:extLst>
                <a:ext uri="{FF2B5EF4-FFF2-40B4-BE49-F238E27FC236}">
                  <a16:creationId xmlns:a16="http://schemas.microsoft.com/office/drawing/2014/main" id="{ED504B2A-FA4C-D0DE-1D62-FCE8943A7035}"/>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983558" y="489982"/>
              <a:ext cx="338083" cy="338083"/>
            </a:xfrm>
            <a:prstGeom prst="rect">
              <a:avLst/>
            </a:prstGeom>
          </p:spPr>
        </p:pic>
      </p:grpSp>
      <mc:AlternateContent xmlns:mc="http://schemas.openxmlformats.org/markup-compatibility/2006" xmlns:a14="http://schemas.microsoft.com/office/drawing/2010/main">
        <mc:Choice Requires="a14">
          <p:sp>
            <p:nvSpPr>
              <p:cNvPr id="23" name="מלבן: פינות מעוגלות 9">
                <a:extLst>
                  <a:ext uri="{FF2B5EF4-FFF2-40B4-BE49-F238E27FC236}">
                    <a16:creationId xmlns:a16="http://schemas.microsoft.com/office/drawing/2014/main" id="{CE80C38E-DB4E-2DF6-4F25-C067873865F9}"/>
                  </a:ext>
                </a:extLst>
              </p:cNvPr>
              <p:cNvSpPr/>
              <p:nvPr/>
            </p:nvSpPr>
            <p:spPr>
              <a:xfrm>
                <a:off x="-4673600" y="4034704"/>
                <a:ext cx="4265369" cy="3818365"/>
              </a:xfrm>
              <a:prstGeom prst="roundRect">
                <a:avLst>
                  <a:gd name="adj" fmla="val 1647"/>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he-IL" sz="2000" b="1">
                  <a:solidFill>
                    <a:schemeClr val="tx1"/>
                  </a:solidFill>
                  <a:latin typeface="Assistant" pitchFamily="2" charset="-79"/>
                  <a:cs typeface="Assistant" pitchFamily="2" charset="-79"/>
                </a:endParaRPr>
              </a:p>
              <a:p>
                <a:pPr algn="ctr"/>
                <a:r>
                  <a:rPr lang="he-IL" sz="2000" b="1">
                    <a:solidFill>
                      <a:schemeClr val="tx1"/>
                    </a:solidFill>
                    <a:latin typeface="Assistant" pitchFamily="2" charset="-79"/>
                    <a:cs typeface="Assistant" pitchFamily="2" charset="-79"/>
                  </a:rPr>
                  <a:t>כל הכבוד, צדקתם! / טעיתם. לא נורא, מטעויות לומדים</a:t>
                </a:r>
              </a:p>
              <a:p>
                <a:pPr algn="ctr"/>
                <a:endParaRPr lang="he-IL" sz="2000" b="1">
                  <a:solidFill>
                    <a:schemeClr val="tx1"/>
                  </a:solidFill>
                  <a:latin typeface="Assistant" pitchFamily="2" charset="-79"/>
                  <a:cs typeface="Assistant" pitchFamily="2" charset="-79"/>
                </a:endParaRPr>
              </a:p>
              <a:p>
                <a:pPr algn="ctr"/>
                <a:r>
                  <a:rPr lang="he-IL" sz="2000">
                    <a:solidFill>
                      <a:schemeClr val="tx1"/>
                    </a:solidFill>
                    <a:latin typeface="Assistant" pitchFamily="2" charset="-79"/>
                    <a:cs typeface="Assistant" pitchFamily="2" charset="-79"/>
                  </a:rPr>
                  <a:t>היחס בין </a:t>
                </a:r>
                <a:r>
                  <a:rPr lang="en-US" sz="2000">
                    <a:solidFill>
                      <a:schemeClr val="tx1"/>
                    </a:solidFill>
                    <a:latin typeface="Assistant" pitchFamily="2" charset="-79"/>
                    <a:cs typeface="Assistant" pitchFamily="2" charset="-79"/>
                  </a:rPr>
                  <a:t>AB</a:t>
                </a:r>
                <a:r>
                  <a:rPr lang="he-IL" sz="2000">
                    <a:solidFill>
                      <a:schemeClr val="tx1"/>
                    </a:solidFill>
                    <a:latin typeface="Assistant" pitchFamily="2" charset="-79"/>
                    <a:cs typeface="Assistant" pitchFamily="2" charset="-79"/>
                  </a:rPr>
                  <a:t> ל-</a:t>
                </a:r>
                <a:r>
                  <a:rPr lang="en-US" sz="2000">
                    <a:solidFill>
                      <a:schemeClr val="tx1"/>
                    </a:solidFill>
                    <a:latin typeface="Assistant" pitchFamily="2" charset="-79"/>
                    <a:cs typeface="Assistant" pitchFamily="2" charset="-79"/>
                  </a:rPr>
                  <a:t>AE</a:t>
                </a:r>
                <a:r>
                  <a:rPr lang="he-IL" sz="2000">
                    <a:solidFill>
                      <a:schemeClr val="tx1"/>
                    </a:solidFill>
                    <a:latin typeface="Assistant" pitchFamily="2" charset="-79"/>
                    <a:cs typeface="Assistant" pitchFamily="2" charset="-79"/>
                  </a:rPr>
                  <a:t> הוא 2 : 1, לכן </a:t>
                </a:r>
                <a:r>
                  <a:rPr lang="en-US" sz="2000">
                    <a:solidFill>
                      <a:schemeClr val="tx1"/>
                    </a:solidFill>
                    <a:latin typeface="Assistant" pitchFamily="2" charset="-79"/>
                    <a:cs typeface="Assistant" pitchFamily="2" charset="-79"/>
                  </a:rPr>
                  <a:t>AE = 10</a:t>
                </a:r>
                <a:r>
                  <a:rPr lang="he-IL" sz="2000">
                    <a:solidFill>
                      <a:schemeClr val="tx1"/>
                    </a:solidFill>
                    <a:latin typeface="Assistant" pitchFamily="2" charset="-79"/>
                    <a:cs typeface="Assistant" pitchFamily="2" charset="-79"/>
                  </a:rPr>
                  <a:t>.</a:t>
                </a:r>
              </a:p>
              <a:p>
                <a:pPr algn="ctr"/>
                <a:r>
                  <a:rPr lang="he-IL" sz="2000">
                    <a:solidFill>
                      <a:schemeClr val="tx1"/>
                    </a:solidFill>
                    <a:latin typeface="Assistant" pitchFamily="2" charset="-79"/>
                    <a:cs typeface="Assistant" pitchFamily="2" charset="-79"/>
                  </a:rPr>
                  <a:t>נחשב את שטח המלבן </a:t>
                </a:r>
                <a:r>
                  <a:rPr lang="en-US" sz="2000">
                    <a:solidFill>
                      <a:schemeClr val="tx1"/>
                    </a:solidFill>
                    <a:latin typeface="Assistant" pitchFamily="2" charset="-79"/>
                    <a:cs typeface="Assistant" pitchFamily="2" charset="-79"/>
                  </a:rPr>
                  <a:t>AEDB</a:t>
                </a:r>
                <a:r>
                  <a:rPr lang="he-IL" sz="2000">
                    <a:solidFill>
                      <a:schemeClr val="tx1"/>
                    </a:solidFill>
                    <a:latin typeface="Assistant" pitchFamily="2" charset="-79"/>
                    <a:cs typeface="Assistant" pitchFamily="2" charset="-79"/>
                  </a:rPr>
                  <a:t>:</a:t>
                </a:r>
              </a:p>
              <a:p>
                <a:pPr algn="ctr"/>
                <a14:m>
                  <m:oMathPara xmlns:m="http://schemas.openxmlformats.org/officeDocument/2006/math">
                    <m:oMath>
                      <m:r>
                        <a:rPr lang="en-US" sz="2000" i="1">
                          <a:solidFill>
                            <a:schemeClr val="tx1"/>
                          </a:solidFill>
                          <a:latin typeface="Cambria Math" panose="02040503050406030204" pitchFamily="18" charset="0"/>
                        </a:rPr>
                        <m:t>20⋅ 10 = 200</m:t>
                      </m:r>
                    </m:oMath>
                  </m:oMathPara>
                </a14:m>
                <a:endParaRPr lang="he-IL" sz="2000">
                  <a:solidFill>
                    <a:schemeClr val="tx1"/>
                  </a:solidFill>
                  <a:latin typeface="Assistant" pitchFamily="2" charset="-79"/>
                </a:endParaRPr>
              </a:p>
              <a:p>
                <a:pPr algn="ctr"/>
                <a:r>
                  <a:rPr lang="he-IL" sz="2000">
                    <a:solidFill>
                      <a:schemeClr val="tx1"/>
                    </a:solidFill>
                    <a:latin typeface="Assistant" pitchFamily="2" charset="-79"/>
                    <a:cs typeface="Assistant" pitchFamily="2" charset="-79"/>
                  </a:rPr>
                  <a:t>נחשב את שטח הריבוע </a:t>
                </a:r>
                <a:r>
                  <a:rPr lang="en-US" sz="2000">
                    <a:solidFill>
                      <a:schemeClr val="tx1"/>
                    </a:solidFill>
                    <a:latin typeface="Assistant" pitchFamily="2" charset="-79"/>
                    <a:cs typeface="Assistant" pitchFamily="2" charset="-79"/>
                  </a:rPr>
                  <a:t>GHCD</a:t>
                </a:r>
                <a:r>
                  <a:rPr lang="he-IL" sz="2000">
                    <a:solidFill>
                      <a:schemeClr val="tx1"/>
                    </a:solidFill>
                    <a:latin typeface="Assistant" pitchFamily="2" charset="-79"/>
                    <a:cs typeface="Assistant" pitchFamily="2" charset="-79"/>
                  </a:rPr>
                  <a:t>:</a:t>
                </a:r>
              </a:p>
              <a:p>
                <a:pPr algn="ctr"/>
                <a14:m>
                  <m:oMathPara xmlns:m="http://schemas.openxmlformats.org/officeDocument/2006/math">
                    <m:oMath>
                      <m:r>
                        <a:rPr lang="en-US" sz="2000" i="1">
                          <a:solidFill>
                            <a:schemeClr val="tx1"/>
                          </a:solidFill>
                          <a:latin typeface="Cambria Math" panose="02040503050406030204" pitchFamily="18" charset="0"/>
                        </a:rPr>
                        <m:t>4⋅4 =16</m:t>
                      </m:r>
                    </m:oMath>
                  </m:oMathPara>
                </a14:m>
                <a:endParaRPr lang="he-IL" sz="2000">
                  <a:solidFill>
                    <a:schemeClr val="tx1"/>
                  </a:solidFill>
                  <a:latin typeface="Assistant" pitchFamily="2" charset="-79"/>
                </a:endParaRPr>
              </a:p>
              <a:p>
                <a:pPr algn="ctr"/>
                <a:r>
                  <a:rPr lang="he-IL" sz="2000">
                    <a:solidFill>
                      <a:schemeClr val="tx1"/>
                    </a:solidFill>
                    <a:latin typeface="Assistant" pitchFamily="2" charset="-79"/>
                    <a:cs typeface="Assistant" pitchFamily="2" charset="-79"/>
                  </a:rPr>
                  <a:t>שטח החלקה כולה הוא 200 + 16 = 216 מ"ר.</a:t>
                </a:r>
              </a:p>
            </p:txBody>
          </p:sp>
        </mc:Choice>
        <mc:Fallback xmlns="">
          <p:sp>
            <p:nvSpPr>
              <p:cNvPr id="23" name="מלבן: פינות מעוגלות 9">
                <a:extLst>
                  <a:ext uri="{FF2B5EF4-FFF2-40B4-BE49-F238E27FC236}">
                    <a16:creationId xmlns:a16="http://schemas.microsoft.com/office/drawing/2014/main" id="{CE80C38E-DB4E-2DF6-4F25-C067873865F9}"/>
                  </a:ext>
                </a:extLst>
              </p:cNvPr>
              <p:cNvSpPr>
                <a:spLocks noRot="1" noChangeAspect="1" noMove="1" noResize="1" noEditPoints="1" noAdjustHandles="1" noChangeArrowheads="1" noChangeShapeType="1" noTextEdit="1"/>
              </p:cNvSpPr>
              <p:nvPr/>
            </p:nvSpPr>
            <p:spPr>
              <a:xfrm>
                <a:off x="-4673600" y="4034704"/>
                <a:ext cx="4265369" cy="3818365"/>
              </a:xfrm>
              <a:prstGeom prst="roundRect">
                <a:avLst>
                  <a:gd name="adj" fmla="val 1647"/>
                </a:avLst>
              </a:prstGeom>
              <a:blipFill>
                <a:blip r:embed="rId8"/>
                <a:stretch>
                  <a:fillRect l="-1857" r="-857"/>
                </a:stretch>
              </a:blipFill>
              <a:ln>
                <a:noFill/>
              </a:ln>
            </p:spPr>
            <p:txBody>
              <a:bodyPr/>
              <a:lstStyle/>
              <a:p>
                <a:r>
                  <a:rPr lang="en-US">
                    <a:noFill/>
                  </a:rPr>
                  <a:t> </a:t>
                </a:r>
              </a:p>
            </p:txBody>
          </p:sp>
        </mc:Fallback>
      </mc:AlternateContent>
      <p:sp>
        <p:nvSpPr>
          <p:cNvPr id="25" name="תיבת טקסט 26">
            <a:extLst>
              <a:ext uri="{FF2B5EF4-FFF2-40B4-BE49-F238E27FC236}">
                <a16:creationId xmlns:a16="http://schemas.microsoft.com/office/drawing/2014/main" id="{CC04289C-3A5E-4B58-9EB0-722E851383F2}"/>
              </a:ext>
            </a:extLst>
          </p:cNvPr>
          <p:cNvSpPr txBox="1"/>
          <p:nvPr/>
        </p:nvSpPr>
        <p:spPr>
          <a:xfrm>
            <a:off x="-7442200" y="474122"/>
            <a:ext cx="6343227" cy="707886"/>
          </a:xfrm>
          <a:prstGeom prst="rect">
            <a:avLst/>
          </a:prstGeom>
          <a:noFill/>
        </p:spPr>
        <p:txBody>
          <a:bodyPr wrap="square" rtlCol="0">
            <a:spAutoFit/>
          </a:bodyPr>
          <a:lstStyle/>
          <a:p>
            <a:r>
              <a:rPr lang="he-IL" sz="2000">
                <a:solidFill>
                  <a:schemeClr val="bg1"/>
                </a:solidFill>
                <a:latin typeface="Assistant" pitchFamily="2" charset="-79"/>
                <a:cs typeface="Assistant" pitchFamily="2" charset="-79"/>
              </a:rPr>
              <a:t>נתון אורך הקטע </a:t>
            </a:r>
            <a:r>
              <a:rPr lang="en-US" sz="2000">
                <a:solidFill>
                  <a:schemeClr val="bg1"/>
                </a:solidFill>
                <a:latin typeface="Assistant" pitchFamily="2" charset="-79"/>
                <a:cs typeface="Assistant" pitchFamily="2" charset="-79"/>
              </a:rPr>
              <a:t>AB</a:t>
            </a:r>
            <a:r>
              <a:rPr lang="he-IL" sz="2000">
                <a:solidFill>
                  <a:schemeClr val="bg1"/>
                </a:solidFill>
                <a:latin typeface="Assistant" pitchFamily="2" charset="-79"/>
                <a:cs typeface="Assistant" pitchFamily="2" charset="-79"/>
              </a:rPr>
              <a:t>.</a:t>
            </a:r>
          </a:p>
          <a:p>
            <a:r>
              <a:rPr lang="he-IL" sz="2000">
                <a:solidFill>
                  <a:schemeClr val="bg1"/>
                </a:solidFill>
                <a:latin typeface="Assistant" pitchFamily="2" charset="-79"/>
                <a:cs typeface="Assistant" pitchFamily="2" charset="-79"/>
              </a:rPr>
              <a:t>מצאו תחילה את אורך </a:t>
            </a:r>
            <a:r>
              <a:rPr lang="en-US" sz="2000">
                <a:solidFill>
                  <a:schemeClr val="bg1"/>
                </a:solidFill>
                <a:latin typeface="Assistant" pitchFamily="2" charset="-79"/>
                <a:cs typeface="Assistant" pitchFamily="2" charset="-79"/>
              </a:rPr>
              <a:t>AE</a:t>
            </a:r>
            <a:r>
              <a:rPr lang="he-IL" sz="2000">
                <a:solidFill>
                  <a:schemeClr val="bg1"/>
                </a:solidFill>
                <a:latin typeface="Assistant" pitchFamily="2" charset="-79"/>
                <a:cs typeface="Assistant" pitchFamily="2" charset="-79"/>
              </a:rPr>
              <a:t>.</a:t>
            </a:r>
            <a:endParaRPr lang="LID4096" sz="2000">
              <a:solidFill>
                <a:schemeClr val="bg1"/>
              </a:solidFill>
              <a:latin typeface="Assistant" pitchFamily="2" charset="-79"/>
              <a:cs typeface="Assistant" pitchFamily="2" charset="-79"/>
            </a:endParaRPr>
          </a:p>
        </p:txBody>
      </p:sp>
      <p:sp>
        <p:nvSpPr>
          <p:cNvPr id="5" name="מלבן 7">
            <a:extLst>
              <a:ext uri="{FF2B5EF4-FFF2-40B4-BE49-F238E27FC236}">
                <a16:creationId xmlns:a16="http://schemas.microsoft.com/office/drawing/2014/main" id="{757FC14C-22FC-96CC-36D2-50599C9F1B1F}"/>
              </a:ext>
            </a:extLst>
          </p:cNvPr>
          <p:cNvSpPr/>
          <p:nvPr/>
        </p:nvSpPr>
        <p:spPr>
          <a:xfrm>
            <a:off x="11896440" y="332438"/>
            <a:ext cx="45719" cy="5474677"/>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LID4096"/>
          </a:p>
        </p:txBody>
      </p:sp>
      <p:sp>
        <p:nvSpPr>
          <p:cNvPr id="10" name="מלבן 8">
            <a:extLst>
              <a:ext uri="{FF2B5EF4-FFF2-40B4-BE49-F238E27FC236}">
                <a16:creationId xmlns:a16="http://schemas.microsoft.com/office/drawing/2014/main" id="{8E4F8734-076C-73E3-D946-CEBBC273AC6A}"/>
              </a:ext>
            </a:extLst>
          </p:cNvPr>
          <p:cNvSpPr/>
          <p:nvPr/>
        </p:nvSpPr>
        <p:spPr>
          <a:xfrm>
            <a:off x="11896439" y="332437"/>
            <a:ext cx="45719" cy="3526971"/>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LID4096"/>
          </a:p>
        </p:txBody>
      </p:sp>
    </p:spTree>
    <p:custDataLst>
      <p:tags r:id="rId1"/>
    </p:custDataLst>
    <p:extLst>
      <p:ext uri="{BB962C8B-B14F-4D97-AF65-F5344CB8AC3E}">
        <p14:creationId xmlns:p14="http://schemas.microsoft.com/office/powerpoint/2010/main" val="2654004313"/>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5C5AC6-5AC6-B706-C837-38F338DD397F}"/>
            </a:ext>
          </a:extLst>
        </p:cNvPr>
        <p:cNvGrpSpPr/>
        <p:nvPr/>
      </p:nvGrpSpPr>
      <p:grpSpPr>
        <a:xfrm>
          <a:off x="0" y="0"/>
          <a:ext cx="0" cy="0"/>
          <a:chOff x="0" y="0"/>
          <a:chExt cx="0" cy="0"/>
        </a:xfrm>
      </p:grpSpPr>
      <p:cxnSp>
        <p:nvCxnSpPr>
          <p:cNvPr id="4" name="מחבר ישר 3">
            <a:extLst>
              <a:ext uri="{FF2B5EF4-FFF2-40B4-BE49-F238E27FC236}">
                <a16:creationId xmlns:a16="http://schemas.microsoft.com/office/drawing/2014/main" id="{BC3D5E90-1D3F-519A-D5E2-B6D4D946DA83}"/>
              </a:ext>
            </a:extLst>
          </p:cNvPr>
          <p:cNvCxnSpPr>
            <a:cxnSpLocks/>
          </p:cNvCxnSpPr>
          <p:nvPr/>
        </p:nvCxnSpPr>
        <p:spPr>
          <a:xfrm>
            <a:off x="0" y="6079252"/>
            <a:ext cx="12192000" cy="0"/>
          </a:xfrm>
          <a:prstGeom prst="line">
            <a:avLst/>
          </a:prstGeom>
          <a:ln>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pic>
        <p:nvPicPr>
          <p:cNvPr id="3" name="תמונה 2">
            <a:extLst>
              <a:ext uri="{FF2B5EF4-FFF2-40B4-BE49-F238E27FC236}">
                <a16:creationId xmlns:a16="http://schemas.microsoft.com/office/drawing/2014/main" id="{7E233D49-C2A7-B08E-D0AE-4CCA3416407D}"/>
              </a:ext>
            </a:extLst>
          </p:cNvPr>
          <p:cNvPicPr>
            <a:picLocks noChangeAspect="1"/>
          </p:cNvPicPr>
          <p:nvPr/>
        </p:nvPicPr>
        <p:blipFill>
          <a:blip r:embed="rId4">
            <a:extLst>
              <a:ext uri="{28A0092B-C50C-407E-A947-70E740481C1C}">
                <a14:useLocalDpi xmlns:a14="http://schemas.microsoft.com/office/drawing/2010/main"/>
              </a:ext>
            </a:extLst>
          </a:blip>
          <a:stretch>
            <a:fillRect/>
          </a:stretch>
        </p:blipFill>
        <p:spPr>
          <a:xfrm>
            <a:off x="0" y="57121"/>
            <a:ext cx="933869" cy="721626"/>
          </a:xfrm>
          <a:prstGeom prst="rect">
            <a:avLst/>
          </a:prstGeom>
        </p:spPr>
      </p:pic>
      <p:sp>
        <p:nvSpPr>
          <p:cNvPr id="7" name="מלבן: פינות מעוגלות 6">
            <a:extLst>
              <a:ext uri="{FF2B5EF4-FFF2-40B4-BE49-F238E27FC236}">
                <a16:creationId xmlns:a16="http://schemas.microsoft.com/office/drawing/2014/main" id="{CC6C8998-1207-CBBB-7E6A-7CCD0C6A589F}"/>
              </a:ext>
            </a:extLst>
          </p:cNvPr>
          <p:cNvSpPr/>
          <p:nvPr/>
        </p:nvSpPr>
        <p:spPr>
          <a:xfrm>
            <a:off x="10244695" y="6193485"/>
            <a:ext cx="1798983" cy="506891"/>
          </a:xfrm>
          <a:prstGeom prst="roundRect">
            <a:avLst>
              <a:gd name="adj" fmla="val 50000"/>
            </a:avLst>
          </a:prstGeom>
          <a:noFill/>
          <a:ln>
            <a:solidFill>
              <a:srgbClr val="019DE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he-IL">
                <a:solidFill>
                  <a:srgbClr val="019DE5"/>
                </a:solidFill>
                <a:latin typeface="Assistant" pitchFamily="2" charset="-79"/>
                <a:cs typeface="Assistant" pitchFamily="2" charset="-79"/>
              </a:rPr>
              <a:t>חזרה</a:t>
            </a:r>
            <a:endParaRPr lang="LID4096">
              <a:solidFill>
                <a:srgbClr val="019DE5"/>
              </a:solidFill>
              <a:latin typeface="Assistant" pitchFamily="2" charset="-79"/>
              <a:cs typeface="Assistant" pitchFamily="2" charset="-79"/>
            </a:endParaRPr>
          </a:p>
        </p:txBody>
      </p:sp>
      <p:sp>
        <p:nvSpPr>
          <p:cNvPr id="78" name="תיבת טקסט 5">
            <a:extLst>
              <a:ext uri="{FF2B5EF4-FFF2-40B4-BE49-F238E27FC236}">
                <a16:creationId xmlns:a16="http://schemas.microsoft.com/office/drawing/2014/main" id="{F2571B74-630D-8982-5135-148A60DA9A16}"/>
              </a:ext>
            </a:extLst>
          </p:cNvPr>
          <p:cNvSpPr txBox="1"/>
          <p:nvPr/>
        </p:nvSpPr>
        <p:spPr>
          <a:xfrm>
            <a:off x="6598374" y="592150"/>
            <a:ext cx="4840196" cy="1938992"/>
          </a:xfrm>
          <a:prstGeom prst="rect">
            <a:avLst/>
          </a:prstGeom>
          <a:noFill/>
        </p:spPr>
        <p:txBody>
          <a:bodyPr wrap="square" rtlCol="0">
            <a:spAutoFit/>
          </a:bodyPr>
          <a:lstStyle/>
          <a:p>
            <a:r>
              <a:rPr lang="he-IL" sz="2000">
                <a:latin typeface="Assistant" pitchFamily="2" charset="-79"/>
                <a:cs typeface="Assistant" pitchFamily="2" charset="-79"/>
              </a:rPr>
              <a:t>לאחר שחישב את שטח המגרש, אורי סימן את קו ההפרדה בין הבית לגינה.</a:t>
            </a:r>
          </a:p>
          <a:p>
            <a:r>
              <a:rPr lang="he-IL" sz="2000">
                <a:latin typeface="Assistant" pitchFamily="2" charset="-79"/>
                <a:cs typeface="Assistant" pitchFamily="2" charset="-79"/>
              </a:rPr>
              <a:t>נתון כי קו ההפרדה מחלק את הקטע</a:t>
            </a:r>
            <a:r>
              <a:rPr lang="en-US" sz="2000">
                <a:latin typeface="Assistant" pitchFamily="2" charset="-79"/>
                <a:cs typeface="Assistant" pitchFamily="2" charset="-79"/>
              </a:rPr>
              <a:t>AB </a:t>
            </a:r>
            <a:r>
              <a:rPr lang="he-IL" sz="2000">
                <a:latin typeface="Assistant" pitchFamily="2" charset="-79"/>
                <a:cs typeface="Assistant" pitchFamily="2" charset="-79"/>
              </a:rPr>
              <a:t> ביחס של </a:t>
            </a:r>
            <a:br>
              <a:rPr lang="en-US" sz="2000">
                <a:latin typeface="Assistant" pitchFamily="2" charset="-79"/>
                <a:cs typeface="Assistant" pitchFamily="2" charset="-79"/>
              </a:rPr>
            </a:br>
            <a:r>
              <a:rPr lang="he-IL" sz="2000">
                <a:latin typeface="Assistant" pitchFamily="2" charset="-79"/>
                <a:cs typeface="Assistant" pitchFamily="2" charset="-79"/>
              </a:rPr>
              <a:t>3 : 2.</a:t>
            </a:r>
          </a:p>
          <a:p>
            <a:endParaRPr lang="he-IL" sz="2000">
              <a:latin typeface="Assistant" pitchFamily="2" charset="-79"/>
              <a:cs typeface="Assistant" pitchFamily="2" charset="-79"/>
            </a:endParaRPr>
          </a:p>
          <a:p>
            <a:r>
              <a:rPr lang="he-IL" sz="2000" b="1">
                <a:solidFill>
                  <a:srgbClr val="00B0F0"/>
                </a:solidFill>
                <a:latin typeface="Assistant" pitchFamily="2" charset="-79"/>
                <a:cs typeface="Assistant" pitchFamily="2" charset="-79"/>
              </a:rPr>
              <a:t>ב. חשבו את השטח המיועד לגינה.</a:t>
            </a:r>
            <a:endParaRPr lang="LID4096" sz="2000" b="1">
              <a:solidFill>
                <a:srgbClr val="00B0F0"/>
              </a:solidFill>
              <a:latin typeface="Assistant" pitchFamily="2" charset="-79"/>
              <a:cs typeface="Assistant" pitchFamily="2" charset="-79"/>
            </a:endParaRPr>
          </a:p>
        </p:txBody>
      </p:sp>
      <p:sp>
        <p:nvSpPr>
          <p:cNvPr id="11" name="מלבן: פינות מעוגלות 18">
            <a:extLst>
              <a:ext uri="{FF2B5EF4-FFF2-40B4-BE49-F238E27FC236}">
                <a16:creationId xmlns:a16="http://schemas.microsoft.com/office/drawing/2014/main" id="{9F1811E7-E00D-097B-6F0F-1F4EAC5C0257}"/>
              </a:ext>
            </a:extLst>
          </p:cNvPr>
          <p:cNvSpPr/>
          <p:nvPr/>
        </p:nvSpPr>
        <p:spPr>
          <a:xfrm>
            <a:off x="268356" y="6182143"/>
            <a:ext cx="1798983" cy="506891"/>
          </a:xfrm>
          <a:prstGeom prst="roundRect">
            <a:avLst>
              <a:gd name="adj" fmla="val 50000"/>
            </a:avLst>
          </a:prstGeom>
          <a:solidFill>
            <a:schemeClr val="bg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he-IL">
                <a:latin typeface="Assistant" pitchFamily="2" charset="-79"/>
                <a:cs typeface="Assistant" pitchFamily="2" charset="-79"/>
              </a:rPr>
              <a:t>המשך</a:t>
            </a:r>
            <a:endParaRPr lang="LID4096">
              <a:latin typeface="Assistant" pitchFamily="2" charset="-79"/>
              <a:cs typeface="Assistant" pitchFamily="2" charset="-79"/>
            </a:endParaRPr>
          </a:p>
        </p:txBody>
      </p:sp>
      <p:pic>
        <p:nvPicPr>
          <p:cNvPr id="6" name="image3.png">
            <a:extLst>
              <a:ext uri="{FF2B5EF4-FFF2-40B4-BE49-F238E27FC236}">
                <a16:creationId xmlns:a16="http://schemas.microsoft.com/office/drawing/2014/main" id="{D25478A9-F505-CF81-DC80-F5A816A8736C}"/>
              </a:ext>
            </a:extLst>
          </p:cNvPr>
          <p:cNvPicPr/>
          <p:nvPr/>
        </p:nvPicPr>
        <p:blipFill>
          <a:blip r:embed="rId5" cstate="email">
            <a:extLst>
              <a:ext uri="{28A0092B-C50C-407E-A947-70E740481C1C}">
                <a14:useLocalDpi xmlns:a14="http://schemas.microsoft.com/office/drawing/2010/main"/>
              </a:ext>
            </a:extLst>
          </a:blip>
          <a:srcRect/>
          <a:stretch>
            <a:fillRect/>
          </a:stretch>
        </p:blipFill>
        <p:spPr>
          <a:xfrm>
            <a:off x="300625" y="778747"/>
            <a:ext cx="6168572" cy="5093565"/>
          </a:xfrm>
          <a:prstGeom prst="rect">
            <a:avLst/>
          </a:prstGeom>
          <a:ln/>
        </p:spPr>
      </p:pic>
      <p:sp>
        <p:nvSpPr>
          <p:cNvPr id="9" name="מלבן: פינות מעוגלות 6">
            <a:extLst>
              <a:ext uri="{FF2B5EF4-FFF2-40B4-BE49-F238E27FC236}">
                <a16:creationId xmlns:a16="http://schemas.microsoft.com/office/drawing/2014/main" id="{0C2EB7D2-AFE1-6275-4695-56E66E924DBE}"/>
              </a:ext>
            </a:extLst>
          </p:cNvPr>
          <p:cNvSpPr/>
          <p:nvPr/>
        </p:nvSpPr>
        <p:spPr>
          <a:xfrm>
            <a:off x="8675969" y="2779074"/>
            <a:ext cx="1110834" cy="526581"/>
          </a:xfrm>
          <a:prstGeom prst="roundRect">
            <a:avLst>
              <a:gd name="adj" fmla="val 1764"/>
            </a:avLst>
          </a:prstGeom>
          <a:noFill/>
          <a:ln w="12700">
            <a:solidFill>
              <a:srgbClr val="92D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he-IL" sz="2000">
                <a:solidFill>
                  <a:schemeClr val="tx1"/>
                </a:solidFill>
                <a:latin typeface="Assistant" pitchFamily="2" charset="-79"/>
                <a:cs typeface="Assistant" pitchFamily="2" charset="-79"/>
              </a:rPr>
              <a:t>80</a:t>
            </a:r>
            <a:endParaRPr lang="LID4096" sz="2000">
              <a:solidFill>
                <a:schemeClr val="tx1"/>
              </a:solidFill>
              <a:latin typeface="Assistant" pitchFamily="2" charset="-79"/>
              <a:cs typeface="Assistant" pitchFamily="2" charset="-79"/>
            </a:endParaRPr>
          </a:p>
        </p:txBody>
      </p:sp>
      <p:sp>
        <p:nvSpPr>
          <p:cNvPr id="12" name="תיבת טקסט 5">
            <a:extLst>
              <a:ext uri="{FF2B5EF4-FFF2-40B4-BE49-F238E27FC236}">
                <a16:creationId xmlns:a16="http://schemas.microsoft.com/office/drawing/2014/main" id="{CA2D3D24-7908-0A85-A074-6BC722D6D6C6}"/>
              </a:ext>
            </a:extLst>
          </p:cNvPr>
          <p:cNvSpPr txBox="1"/>
          <p:nvPr/>
        </p:nvSpPr>
        <p:spPr>
          <a:xfrm>
            <a:off x="7315200" y="2840965"/>
            <a:ext cx="4123370" cy="400110"/>
          </a:xfrm>
          <a:prstGeom prst="rect">
            <a:avLst/>
          </a:prstGeom>
          <a:noFill/>
        </p:spPr>
        <p:txBody>
          <a:bodyPr wrap="square" rtlCol="0">
            <a:spAutoFit/>
          </a:bodyPr>
          <a:lstStyle/>
          <a:p>
            <a:r>
              <a:rPr lang="he-IL" sz="2000">
                <a:latin typeface="Assistant" pitchFamily="2" charset="-79"/>
                <a:cs typeface="Assistant" pitchFamily="2" charset="-79"/>
              </a:rPr>
              <a:t>שטח הגינה הוא                            מ"ר.</a:t>
            </a:r>
            <a:endParaRPr lang="LID4096" sz="2000" b="1">
              <a:solidFill>
                <a:srgbClr val="00B0F0"/>
              </a:solidFill>
              <a:latin typeface="Assistant" pitchFamily="2" charset="-79"/>
              <a:cs typeface="Assistant" pitchFamily="2" charset="-79"/>
            </a:endParaRPr>
          </a:p>
        </p:txBody>
      </p:sp>
      <p:grpSp>
        <p:nvGrpSpPr>
          <p:cNvPr id="14" name="Group 13">
            <a:extLst>
              <a:ext uri="{FF2B5EF4-FFF2-40B4-BE49-F238E27FC236}">
                <a16:creationId xmlns:a16="http://schemas.microsoft.com/office/drawing/2014/main" id="{D768178D-7748-7A8B-A628-3367E14F5C9E}"/>
              </a:ext>
            </a:extLst>
          </p:cNvPr>
          <p:cNvGrpSpPr/>
          <p:nvPr/>
        </p:nvGrpSpPr>
        <p:grpSpPr>
          <a:xfrm>
            <a:off x="2179982" y="6182142"/>
            <a:ext cx="2481470" cy="506891"/>
            <a:chOff x="2179982" y="6182142"/>
            <a:chExt cx="2481470" cy="506891"/>
          </a:xfrm>
        </p:grpSpPr>
        <p:sp>
          <p:nvSpPr>
            <p:cNvPr id="16" name="מלבן: פינות מעוגלות 1">
              <a:extLst>
                <a:ext uri="{FF2B5EF4-FFF2-40B4-BE49-F238E27FC236}">
                  <a16:creationId xmlns:a16="http://schemas.microsoft.com/office/drawing/2014/main" id="{264EBF73-9469-6019-E66F-041CB48FB342}"/>
                </a:ext>
              </a:extLst>
            </p:cNvPr>
            <p:cNvSpPr/>
            <p:nvPr/>
          </p:nvSpPr>
          <p:spPr>
            <a:xfrm>
              <a:off x="2179982" y="6182142"/>
              <a:ext cx="2481470" cy="506891"/>
            </a:xfrm>
            <a:prstGeom prst="roundRect">
              <a:avLst>
                <a:gd name="adj" fmla="val 50000"/>
              </a:avLst>
            </a:prstGeom>
            <a:noFill/>
            <a:ln>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he-IL">
                  <a:solidFill>
                    <a:srgbClr val="00B0F0"/>
                  </a:solidFill>
                </a:rPr>
                <a:t>     אפשר רמז?</a:t>
              </a:r>
              <a:endParaRPr lang="LID4096">
                <a:solidFill>
                  <a:srgbClr val="00B0F0"/>
                </a:solidFill>
              </a:endParaRPr>
            </a:p>
          </p:txBody>
        </p:sp>
        <p:pic>
          <p:nvPicPr>
            <p:cNvPr id="18" name="גרפיקה 11" descr="נורת חשמל וגלגל שיניים עם מילוי מלא">
              <a:extLst>
                <a:ext uri="{FF2B5EF4-FFF2-40B4-BE49-F238E27FC236}">
                  <a16:creationId xmlns:a16="http://schemas.microsoft.com/office/drawing/2014/main" id="{E4B879F0-9D52-F26C-29A3-2D65A8C811FB}"/>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3831910" y="6266545"/>
              <a:ext cx="338083" cy="338083"/>
            </a:xfrm>
            <a:prstGeom prst="rect">
              <a:avLst/>
            </a:prstGeom>
          </p:spPr>
        </p:pic>
      </p:grpSp>
      <p:grpSp>
        <p:nvGrpSpPr>
          <p:cNvPr id="19" name="קבוצה 14">
            <a:extLst>
              <a:ext uri="{FF2B5EF4-FFF2-40B4-BE49-F238E27FC236}">
                <a16:creationId xmlns:a16="http://schemas.microsoft.com/office/drawing/2014/main" id="{2AD5663E-3156-EE30-833B-CEC31FF1B29A}"/>
              </a:ext>
            </a:extLst>
          </p:cNvPr>
          <p:cNvGrpSpPr/>
          <p:nvPr/>
        </p:nvGrpSpPr>
        <p:grpSpPr>
          <a:xfrm>
            <a:off x="-9344826" y="26138"/>
            <a:ext cx="9123904" cy="3818372"/>
            <a:chOff x="-9229411" y="26138"/>
            <a:chExt cx="9123904" cy="3818372"/>
          </a:xfrm>
        </p:grpSpPr>
        <p:sp>
          <p:nvSpPr>
            <p:cNvPr id="20" name="מלבן: פינות מעוגלות 16">
              <a:extLst>
                <a:ext uri="{FF2B5EF4-FFF2-40B4-BE49-F238E27FC236}">
                  <a16:creationId xmlns:a16="http://schemas.microsoft.com/office/drawing/2014/main" id="{49991F5D-AFEA-A788-4C9A-9FA4B7BAF97E}"/>
                </a:ext>
              </a:extLst>
            </p:cNvPr>
            <p:cNvSpPr/>
            <p:nvPr/>
          </p:nvSpPr>
          <p:spPr>
            <a:xfrm>
              <a:off x="-9229411" y="26138"/>
              <a:ext cx="9123904" cy="3818372"/>
            </a:xfrm>
            <a:prstGeom prst="roundRect">
              <a:avLst>
                <a:gd name="adj" fmla="val 8509"/>
              </a:avLst>
            </a:prstGeom>
            <a:solidFill>
              <a:srgbClr val="00B0F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LID4096"/>
            </a:p>
          </p:txBody>
        </p:sp>
        <p:sp>
          <p:nvSpPr>
            <p:cNvPr id="21" name="מלבן: פינות מעוגלות 27">
              <a:extLst>
                <a:ext uri="{FF2B5EF4-FFF2-40B4-BE49-F238E27FC236}">
                  <a16:creationId xmlns:a16="http://schemas.microsoft.com/office/drawing/2014/main" id="{E49989DD-5E44-CC5E-52A5-ED2CABE2880A}"/>
                </a:ext>
              </a:extLst>
            </p:cNvPr>
            <p:cNvSpPr/>
            <p:nvPr/>
          </p:nvSpPr>
          <p:spPr>
            <a:xfrm>
              <a:off x="-5861703" y="3135618"/>
              <a:ext cx="1798983" cy="506891"/>
            </a:xfrm>
            <a:prstGeom prst="roundRect">
              <a:avLst>
                <a:gd name="adj" fmla="val 50000"/>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he-IL">
                  <a:solidFill>
                    <a:schemeClr val="tx1"/>
                  </a:solidFill>
                  <a:latin typeface="Assistant" pitchFamily="2" charset="-79"/>
                  <a:cs typeface="Assistant" pitchFamily="2" charset="-79"/>
                </a:rPr>
                <a:t>חזרה לשאלה</a:t>
              </a:r>
              <a:endParaRPr lang="LID4096">
                <a:solidFill>
                  <a:schemeClr val="tx1"/>
                </a:solidFill>
                <a:latin typeface="Assistant" pitchFamily="2" charset="-79"/>
                <a:cs typeface="Assistant" pitchFamily="2" charset="-79"/>
              </a:endParaRPr>
            </a:p>
          </p:txBody>
        </p:sp>
        <p:pic>
          <p:nvPicPr>
            <p:cNvPr id="22" name="גרפיקה 28" descr="נורת חשמל וגלגל שיניים עם מילוי מלא">
              <a:extLst>
                <a:ext uri="{FF2B5EF4-FFF2-40B4-BE49-F238E27FC236}">
                  <a16:creationId xmlns:a16="http://schemas.microsoft.com/office/drawing/2014/main" id="{D086874B-106C-83BD-D8AB-83656819A590}"/>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983558" y="489982"/>
              <a:ext cx="338083" cy="338083"/>
            </a:xfrm>
            <a:prstGeom prst="rect">
              <a:avLst/>
            </a:prstGeom>
          </p:spPr>
        </p:pic>
      </p:grpSp>
      <mc:AlternateContent xmlns:mc="http://schemas.openxmlformats.org/markup-compatibility/2006" xmlns:a14="http://schemas.microsoft.com/office/drawing/2010/main">
        <mc:Choice Requires="a14">
          <p:sp>
            <p:nvSpPr>
              <p:cNvPr id="23" name="מלבן: פינות מעוגלות 9">
                <a:extLst>
                  <a:ext uri="{FF2B5EF4-FFF2-40B4-BE49-F238E27FC236}">
                    <a16:creationId xmlns:a16="http://schemas.microsoft.com/office/drawing/2014/main" id="{81BB76F5-EDCB-B6A0-9968-BF2DD2D6C9AD}"/>
                  </a:ext>
                </a:extLst>
              </p:cNvPr>
              <p:cNvSpPr/>
              <p:nvPr/>
            </p:nvSpPr>
            <p:spPr>
              <a:xfrm>
                <a:off x="-4673600" y="4034704"/>
                <a:ext cx="4265369" cy="3818365"/>
              </a:xfrm>
              <a:prstGeom prst="roundRect">
                <a:avLst>
                  <a:gd name="adj" fmla="val 1647"/>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he-IL" sz="2000" b="1">
                  <a:solidFill>
                    <a:schemeClr val="tx1"/>
                  </a:solidFill>
                  <a:latin typeface="Assistant" pitchFamily="2" charset="-79"/>
                  <a:cs typeface="Assistant" pitchFamily="2" charset="-79"/>
                </a:endParaRPr>
              </a:p>
              <a:p>
                <a:pPr algn="ctr"/>
                <a:r>
                  <a:rPr lang="he-IL" sz="2000" b="1">
                    <a:solidFill>
                      <a:schemeClr val="tx1"/>
                    </a:solidFill>
                    <a:latin typeface="Assistant" pitchFamily="2" charset="-79"/>
                    <a:cs typeface="Assistant" pitchFamily="2" charset="-79"/>
                  </a:rPr>
                  <a:t>כל הכבוד, צדקתם! / טעיתם. לא נורא, מטעויות לומדים</a:t>
                </a:r>
              </a:p>
              <a:p>
                <a:pPr algn="ctr"/>
                <a:endParaRPr lang="he-IL" sz="2000" b="1">
                  <a:solidFill>
                    <a:schemeClr val="tx1"/>
                  </a:solidFill>
                  <a:latin typeface="Assistant" pitchFamily="2" charset="-79"/>
                  <a:cs typeface="Assistant" pitchFamily="2" charset="-79"/>
                </a:endParaRPr>
              </a:p>
              <a:p>
                <a:r>
                  <a:rPr lang="he-IL" sz="2000">
                    <a:solidFill>
                      <a:schemeClr val="tx1"/>
                    </a:solidFill>
                    <a:latin typeface="Assistant" pitchFamily="2" charset="-79"/>
                    <a:cs typeface="Assistant" pitchFamily="2" charset="-79"/>
                  </a:rPr>
                  <a:t>ידוע כי  מ’ </a:t>
                </a:r>
                <a:r>
                  <a:rPr lang="en-US" sz="2000">
                    <a:solidFill>
                      <a:schemeClr val="tx1"/>
                    </a:solidFill>
                    <a:latin typeface="Assistant" pitchFamily="2" charset="-79"/>
                    <a:cs typeface="Assistant" pitchFamily="2" charset="-79"/>
                  </a:rPr>
                  <a:t>AB = 20</a:t>
                </a:r>
                <a:r>
                  <a:rPr lang="he-IL" sz="2000">
                    <a:solidFill>
                      <a:schemeClr val="tx1"/>
                    </a:solidFill>
                    <a:latin typeface="Assistant" pitchFamily="2" charset="-79"/>
                    <a:cs typeface="Assistant" pitchFamily="2" charset="-79"/>
                  </a:rPr>
                  <a:t>. היחס בין </a:t>
                </a:r>
                <a:r>
                  <a:rPr lang="en-US" sz="2000">
                    <a:solidFill>
                      <a:schemeClr val="tx1"/>
                    </a:solidFill>
                    <a:latin typeface="Assistant" pitchFamily="2" charset="-79"/>
                    <a:cs typeface="Assistant" pitchFamily="2" charset="-79"/>
                  </a:rPr>
                  <a:t>AT</a:t>
                </a:r>
                <a:r>
                  <a:rPr lang="he-IL" sz="2000">
                    <a:solidFill>
                      <a:schemeClr val="tx1"/>
                    </a:solidFill>
                    <a:latin typeface="Assistant" pitchFamily="2" charset="-79"/>
                    <a:cs typeface="Assistant" pitchFamily="2" charset="-79"/>
                  </a:rPr>
                  <a:t> ל -</a:t>
                </a:r>
                <a:r>
                  <a:rPr lang="en-US" sz="2000">
                    <a:solidFill>
                      <a:schemeClr val="tx1"/>
                    </a:solidFill>
                    <a:latin typeface="Assistant" pitchFamily="2" charset="-79"/>
                    <a:cs typeface="Assistant" pitchFamily="2" charset="-79"/>
                  </a:rPr>
                  <a:t>TB</a:t>
                </a:r>
                <a:r>
                  <a:rPr lang="he-IL" sz="2000">
                    <a:solidFill>
                      <a:schemeClr val="tx1"/>
                    </a:solidFill>
                    <a:latin typeface="Assistant" pitchFamily="2" charset="-79"/>
                    <a:cs typeface="Assistant" pitchFamily="2" charset="-79"/>
                  </a:rPr>
                  <a:t> הוא </a:t>
                </a:r>
                <a:r>
                  <a:rPr lang="en-US" sz="2000">
                    <a:solidFill>
                      <a:schemeClr val="tx1"/>
                    </a:solidFill>
                    <a:latin typeface="Assistant" pitchFamily="2" charset="-79"/>
                    <a:cs typeface="Assistant" pitchFamily="2" charset="-79"/>
                  </a:rPr>
                  <a:t>3 : 2</a:t>
                </a:r>
                <a:r>
                  <a:rPr lang="he-IL" sz="2000">
                    <a:solidFill>
                      <a:schemeClr val="tx1"/>
                    </a:solidFill>
                    <a:latin typeface="Assistant" pitchFamily="2" charset="-79"/>
                    <a:cs typeface="Assistant" pitchFamily="2" charset="-79"/>
                  </a:rPr>
                  <a:t>.</a:t>
                </a:r>
                <a:endParaRPr lang="en-US" sz="2000">
                  <a:solidFill>
                    <a:schemeClr val="tx1"/>
                  </a:solidFill>
                  <a:latin typeface="Assistant" pitchFamily="2" charset="-79"/>
                  <a:cs typeface="Assistant" pitchFamily="2" charset="-79"/>
                </a:endParaRPr>
              </a:p>
              <a:p>
                <a:r>
                  <a:rPr lang="he-IL" sz="2000">
                    <a:solidFill>
                      <a:schemeClr val="tx1"/>
                    </a:solidFill>
                    <a:latin typeface="Assistant" pitchFamily="2" charset="-79"/>
                    <a:cs typeface="Assistant" pitchFamily="2" charset="-79"/>
                  </a:rPr>
                  <a:t>נחשב את </a:t>
                </a:r>
                <a:r>
                  <a:rPr lang="en-US" sz="2000">
                    <a:solidFill>
                      <a:schemeClr val="tx1"/>
                    </a:solidFill>
                    <a:latin typeface="Assistant" pitchFamily="2" charset="-79"/>
                    <a:cs typeface="Assistant" pitchFamily="2" charset="-79"/>
                  </a:rPr>
                  <a:t>AT</a:t>
                </a:r>
                <a:r>
                  <a:rPr lang="he-IL" sz="2000">
                    <a:solidFill>
                      <a:schemeClr val="tx1"/>
                    </a:solidFill>
                    <a:latin typeface="Assistant" pitchFamily="2" charset="-79"/>
                    <a:cs typeface="Assistant" pitchFamily="2" charset="-79"/>
                  </a:rPr>
                  <a:t>: </a:t>
                </a:r>
                <a14:m>
                  <m:oMath xmlns:m="http://schemas.openxmlformats.org/officeDocument/2006/math">
                    <m:f>
                      <m:fPr>
                        <m:ctrlPr>
                          <a:rPr lang="en-US" sz="2000" i="1">
                            <a:solidFill>
                              <a:schemeClr val="tx1"/>
                            </a:solidFill>
                            <a:latin typeface="Cambria Math" panose="02040503050406030204" pitchFamily="18" charset="0"/>
                          </a:rPr>
                        </m:ctrlPr>
                      </m:fPr>
                      <m:num>
                        <m:r>
                          <a:rPr lang="en-US" sz="2000" i="1">
                            <a:solidFill>
                              <a:schemeClr val="tx1"/>
                            </a:solidFill>
                            <a:latin typeface="Cambria Math" panose="02040503050406030204" pitchFamily="18" charset="0"/>
                          </a:rPr>
                          <m:t>2</m:t>
                        </m:r>
                      </m:num>
                      <m:den>
                        <m:r>
                          <a:rPr lang="en-US" sz="2000" i="1">
                            <a:solidFill>
                              <a:schemeClr val="tx1"/>
                            </a:solidFill>
                            <a:latin typeface="Cambria Math" panose="02040503050406030204" pitchFamily="18" charset="0"/>
                          </a:rPr>
                          <m:t>5</m:t>
                        </m:r>
                      </m:den>
                    </m:f>
                    <m:r>
                      <a:rPr lang="en-US" sz="2000" i="1">
                        <a:solidFill>
                          <a:schemeClr val="tx1"/>
                        </a:solidFill>
                        <a:latin typeface="Cambria Math" panose="02040503050406030204" pitchFamily="18" charset="0"/>
                      </a:rPr>
                      <m:t>⋅20= 8 </m:t>
                    </m:r>
                  </m:oMath>
                </a14:m>
                <a:r>
                  <a:rPr lang="he-IL" sz="2000">
                    <a:solidFill>
                      <a:schemeClr val="tx1"/>
                    </a:solidFill>
                    <a:latin typeface="Assistant" pitchFamily="2" charset="-79"/>
                    <a:cs typeface="Assistant" pitchFamily="2" charset="-79"/>
                  </a:rPr>
                  <a:t>,</a:t>
                </a:r>
                <a:endParaRPr lang="en-US" sz="2000">
                  <a:solidFill>
                    <a:schemeClr val="tx1"/>
                  </a:solidFill>
                  <a:latin typeface="Assistant" pitchFamily="2" charset="-79"/>
                  <a:cs typeface="Assistant" pitchFamily="2" charset="-79"/>
                </a:endParaRPr>
              </a:p>
              <a:p>
                <a:r>
                  <a:rPr lang="he-IL" sz="2000">
                    <a:solidFill>
                      <a:schemeClr val="tx1"/>
                    </a:solidFill>
                    <a:latin typeface="Assistant" pitchFamily="2" charset="-79"/>
                    <a:cs typeface="Assistant" pitchFamily="2" charset="-79"/>
                  </a:rPr>
                  <a:t>לכן שטח הגינה הוא </a:t>
                </a:r>
                <a14:m>
                  <m:oMath xmlns:m="http://schemas.openxmlformats.org/officeDocument/2006/math">
                    <m:r>
                      <a:rPr lang="en-US" sz="2000" i="1">
                        <a:solidFill>
                          <a:schemeClr val="tx1"/>
                        </a:solidFill>
                        <a:latin typeface="Cambria Math" panose="02040503050406030204" pitchFamily="18" charset="0"/>
                      </a:rPr>
                      <m:t>10⋅8=80</m:t>
                    </m:r>
                  </m:oMath>
                </a14:m>
                <a:r>
                  <a:rPr lang="he-IL" sz="2000">
                    <a:solidFill>
                      <a:schemeClr val="tx1"/>
                    </a:solidFill>
                    <a:latin typeface="Assistant" pitchFamily="2" charset="-79"/>
                    <a:cs typeface="Assistant" pitchFamily="2" charset="-79"/>
                  </a:rPr>
                  <a:t>.</a:t>
                </a:r>
                <a:endParaRPr lang="en-US" sz="2000">
                  <a:solidFill>
                    <a:schemeClr val="tx1"/>
                  </a:solidFill>
                  <a:latin typeface="Assistant" pitchFamily="2" charset="-79"/>
                  <a:cs typeface="Assistant" pitchFamily="2" charset="-79"/>
                </a:endParaRPr>
              </a:p>
            </p:txBody>
          </p:sp>
        </mc:Choice>
        <mc:Fallback xmlns="">
          <p:sp>
            <p:nvSpPr>
              <p:cNvPr id="23" name="מלבן: פינות מעוגלות 9">
                <a:extLst>
                  <a:ext uri="{FF2B5EF4-FFF2-40B4-BE49-F238E27FC236}">
                    <a16:creationId xmlns:a16="http://schemas.microsoft.com/office/drawing/2014/main" id="{81BB76F5-EDCB-B6A0-9968-BF2DD2D6C9AD}"/>
                  </a:ext>
                </a:extLst>
              </p:cNvPr>
              <p:cNvSpPr>
                <a:spLocks noRot="1" noChangeAspect="1" noMove="1" noResize="1" noEditPoints="1" noAdjustHandles="1" noChangeArrowheads="1" noChangeShapeType="1" noTextEdit="1"/>
              </p:cNvSpPr>
              <p:nvPr/>
            </p:nvSpPr>
            <p:spPr>
              <a:xfrm>
                <a:off x="-4673600" y="4034704"/>
                <a:ext cx="4265369" cy="3818365"/>
              </a:xfrm>
              <a:prstGeom prst="roundRect">
                <a:avLst>
                  <a:gd name="adj" fmla="val 1647"/>
                </a:avLst>
              </a:prstGeom>
              <a:blipFill>
                <a:blip r:embed="rId8"/>
                <a:stretch>
                  <a:fillRect r="-1286"/>
                </a:stretch>
              </a:blipFill>
              <a:ln>
                <a:noFill/>
              </a:ln>
            </p:spPr>
            <p:txBody>
              <a:bodyPr/>
              <a:lstStyle/>
              <a:p>
                <a:r>
                  <a:rPr lang="en-US">
                    <a:noFill/>
                  </a:rPr>
                  <a:t> </a:t>
                </a:r>
              </a:p>
            </p:txBody>
          </p:sp>
        </mc:Fallback>
      </mc:AlternateContent>
      <p:sp>
        <p:nvSpPr>
          <p:cNvPr id="25" name="תיבת טקסט 26">
            <a:extLst>
              <a:ext uri="{FF2B5EF4-FFF2-40B4-BE49-F238E27FC236}">
                <a16:creationId xmlns:a16="http://schemas.microsoft.com/office/drawing/2014/main" id="{D358CC1A-C1D1-BF66-9D32-48B1828A2848}"/>
              </a:ext>
            </a:extLst>
          </p:cNvPr>
          <p:cNvSpPr txBox="1"/>
          <p:nvPr/>
        </p:nvSpPr>
        <p:spPr>
          <a:xfrm>
            <a:off x="-7442200" y="474122"/>
            <a:ext cx="6343227" cy="400110"/>
          </a:xfrm>
          <a:prstGeom prst="rect">
            <a:avLst/>
          </a:prstGeom>
          <a:noFill/>
        </p:spPr>
        <p:txBody>
          <a:bodyPr wrap="square" rtlCol="0">
            <a:spAutoFit/>
          </a:bodyPr>
          <a:lstStyle/>
          <a:p>
            <a:r>
              <a:rPr lang="he-IL" sz="2000">
                <a:solidFill>
                  <a:schemeClr val="bg1"/>
                </a:solidFill>
                <a:latin typeface="Assistant" pitchFamily="2" charset="-79"/>
                <a:cs typeface="Assistant" pitchFamily="2" charset="-79"/>
              </a:rPr>
              <a:t>חשבו תחילה את אורך  </a:t>
            </a:r>
            <a:r>
              <a:rPr lang="en-US" sz="2000">
                <a:solidFill>
                  <a:schemeClr val="bg1"/>
                </a:solidFill>
                <a:latin typeface="Assistant" pitchFamily="2" charset="-79"/>
                <a:cs typeface="Assistant" pitchFamily="2" charset="-79"/>
              </a:rPr>
              <a:t>AT</a:t>
            </a:r>
            <a:r>
              <a:rPr lang="he-IL" sz="2000">
                <a:solidFill>
                  <a:schemeClr val="bg1"/>
                </a:solidFill>
                <a:latin typeface="Assistant" pitchFamily="2" charset="-79"/>
                <a:cs typeface="Assistant" pitchFamily="2" charset="-79"/>
              </a:rPr>
              <a:t>.</a:t>
            </a:r>
            <a:endParaRPr lang="LID4096" sz="2000">
              <a:solidFill>
                <a:schemeClr val="bg1"/>
              </a:solidFill>
              <a:latin typeface="Assistant" pitchFamily="2" charset="-79"/>
              <a:cs typeface="Assistant" pitchFamily="2" charset="-79"/>
            </a:endParaRPr>
          </a:p>
        </p:txBody>
      </p:sp>
      <p:sp>
        <p:nvSpPr>
          <p:cNvPr id="5" name="מלבן 7">
            <a:extLst>
              <a:ext uri="{FF2B5EF4-FFF2-40B4-BE49-F238E27FC236}">
                <a16:creationId xmlns:a16="http://schemas.microsoft.com/office/drawing/2014/main" id="{C23F226C-EB53-DA9C-497D-717292737697}"/>
              </a:ext>
            </a:extLst>
          </p:cNvPr>
          <p:cNvSpPr/>
          <p:nvPr/>
        </p:nvSpPr>
        <p:spPr>
          <a:xfrm>
            <a:off x="11896440" y="332438"/>
            <a:ext cx="45719" cy="5474677"/>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LID4096"/>
          </a:p>
        </p:txBody>
      </p:sp>
      <p:sp>
        <p:nvSpPr>
          <p:cNvPr id="10" name="מלבן 8">
            <a:extLst>
              <a:ext uri="{FF2B5EF4-FFF2-40B4-BE49-F238E27FC236}">
                <a16:creationId xmlns:a16="http://schemas.microsoft.com/office/drawing/2014/main" id="{BE8D4930-3EAD-3369-7953-B9D7A5828C3D}"/>
              </a:ext>
            </a:extLst>
          </p:cNvPr>
          <p:cNvSpPr/>
          <p:nvPr/>
        </p:nvSpPr>
        <p:spPr>
          <a:xfrm>
            <a:off x="11896439" y="1015588"/>
            <a:ext cx="45719" cy="3526971"/>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LID4096"/>
          </a:p>
        </p:txBody>
      </p:sp>
    </p:spTree>
    <p:custDataLst>
      <p:tags r:id="rId1"/>
    </p:custDataLst>
    <p:extLst>
      <p:ext uri="{BB962C8B-B14F-4D97-AF65-F5344CB8AC3E}">
        <p14:creationId xmlns:p14="http://schemas.microsoft.com/office/powerpoint/2010/main" val="1798633808"/>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4A18FA-240F-BEEB-E182-1F701DFEF2A5}"/>
            </a:ext>
          </a:extLst>
        </p:cNvPr>
        <p:cNvGrpSpPr/>
        <p:nvPr/>
      </p:nvGrpSpPr>
      <p:grpSpPr>
        <a:xfrm>
          <a:off x="0" y="0"/>
          <a:ext cx="0" cy="0"/>
          <a:chOff x="0" y="0"/>
          <a:chExt cx="0" cy="0"/>
        </a:xfrm>
      </p:grpSpPr>
      <p:pic>
        <p:nvPicPr>
          <p:cNvPr id="9" name="Picture 8">
            <a:extLst>
              <a:ext uri="{FF2B5EF4-FFF2-40B4-BE49-F238E27FC236}">
                <a16:creationId xmlns:a16="http://schemas.microsoft.com/office/drawing/2014/main" id="{EA461DFB-2B0B-F0BF-D572-8E504358A5D0}"/>
              </a:ext>
            </a:extLst>
          </p:cNvPr>
          <p:cNvPicPr>
            <a:picLocks noChangeAspect="1"/>
          </p:cNvPicPr>
          <p:nvPr/>
        </p:nvPicPr>
        <p:blipFill>
          <a:blip r:embed="rId4" cstate="email">
            <a:extLst>
              <a:ext uri="{28A0092B-C50C-407E-A947-70E740481C1C}">
                <a14:useLocalDpi xmlns:a14="http://schemas.microsoft.com/office/drawing/2010/main"/>
              </a:ext>
            </a:extLst>
          </a:blip>
          <a:srcRect/>
          <a:stretch/>
        </p:blipFill>
        <p:spPr>
          <a:xfrm>
            <a:off x="0" y="0"/>
            <a:ext cx="12203430" cy="6088184"/>
          </a:xfrm>
          <a:prstGeom prst="rect">
            <a:avLst/>
          </a:prstGeom>
        </p:spPr>
      </p:pic>
      <p:cxnSp>
        <p:nvCxnSpPr>
          <p:cNvPr id="4" name="מחבר ישר 3">
            <a:extLst>
              <a:ext uri="{FF2B5EF4-FFF2-40B4-BE49-F238E27FC236}">
                <a16:creationId xmlns:a16="http://schemas.microsoft.com/office/drawing/2014/main" id="{221CA28A-97DC-F860-9A3E-63187BBF280A}"/>
              </a:ext>
            </a:extLst>
          </p:cNvPr>
          <p:cNvCxnSpPr>
            <a:cxnSpLocks/>
          </p:cNvCxnSpPr>
          <p:nvPr/>
        </p:nvCxnSpPr>
        <p:spPr>
          <a:xfrm>
            <a:off x="0" y="6079252"/>
            <a:ext cx="12192000" cy="0"/>
          </a:xfrm>
          <a:prstGeom prst="line">
            <a:avLst/>
          </a:prstGeom>
          <a:ln>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grpSp>
        <p:nvGrpSpPr>
          <p:cNvPr id="28" name="Group 27">
            <a:extLst>
              <a:ext uri="{FF2B5EF4-FFF2-40B4-BE49-F238E27FC236}">
                <a16:creationId xmlns:a16="http://schemas.microsoft.com/office/drawing/2014/main" id="{B1AE0989-A54D-EFA7-DB84-2B24B407711F}"/>
              </a:ext>
            </a:extLst>
          </p:cNvPr>
          <p:cNvGrpSpPr/>
          <p:nvPr/>
        </p:nvGrpSpPr>
        <p:grpSpPr>
          <a:xfrm>
            <a:off x="152242" y="4474940"/>
            <a:ext cx="4606290" cy="1425116"/>
            <a:chOff x="2063034" y="1115367"/>
            <a:chExt cx="8889670" cy="705511"/>
          </a:xfrm>
        </p:grpSpPr>
        <p:sp>
          <p:nvSpPr>
            <p:cNvPr id="27" name="מלבן: פינות מעוגלות 2">
              <a:extLst>
                <a:ext uri="{FF2B5EF4-FFF2-40B4-BE49-F238E27FC236}">
                  <a16:creationId xmlns:a16="http://schemas.microsoft.com/office/drawing/2014/main" id="{F25CEF49-E2D4-3FD4-8D66-55B86515FC59}"/>
                </a:ext>
              </a:extLst>
            </p:cNvPr>
            <p:cNvSpPr/>
            <p:nvPr/>
          </p:nvSpPr>
          <p:spPr>
            <a:xfrm>
              <a:off x="2063034" y="1115367"/>
              <a:ext cx="8889670" cy="705511"/>
            </a:xfrm>
            <a:prstGeom prst="roundRect">
              <a:avLst>
                <a:gd name="adj" fmla="val 8509"/>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he-IL"/>
                <a:t>עליכם לעזור לצוות בשטח לקבל החלטות מבוססות נתונים על סמך המפות וכלי המדידה.</a:t>
              </a:r>
            </a:p>
          </p:txBody>
        </p:sp>
        <p:sp>
          <p:nvSpPr>
            <p:cNvPr id="8" name="תיבת טקסט 5">
              <a:extLst>
                <a:ext uri="{FF2B5EF4-FFF2-40B4-BE49-F238E27FC236}">
                  <a16:creationId xmlns:a16="http://schemas.microsoft.com/office/drawing/2014/main" id="{4B63BD9F-0D48-8FA1-FF54-10EF2B05AEB9}"/>
                </a:ext>
              </a:extLst>
            </p:cNvPr>
            <p:cNvSpPr txBox="1"/>
            <p:nvPr/>
          </p:nvSpPr>
          <p:spPr>
            <a:xfrm>
              <a:off x="2063034" y="1172371"/>
              <a:ext cx="8648958" cy="594229"/>
            </a:xfrm>
            <a:prstGeom prst="rect">
              <a:avLst/>
            </a:prstGeom>
            <a:noFill/>
          </p:spPr>
          <p:txBody>
            <a:bodyPr wrap="square" rtlCol="0">
              <a:spAutoFit/>
            </a:bodyPr>
            <a:lstStyle/>
            <a:p>
              <a:r>
                <a:rPr lang="he-IL">
                  <a:latin typeface="Assistant" pitchFamily="2" charset="-79"/>
                  <a:cs typeface="Assistant" pitchFamily="2" charset="-79"/>
                </a:rPr>
                <a:t>כשראו את התוכנית, בני משפחת לוי אמרו שהבית נראה להם קטן מדי ביחס לגינה. הם ביקשו מאורי להקטין את הגינה כך שהיחס בין שטח הגינה לבין שטח הבנייה יהיה 3 : 1.</a:t>
              </a:r>
              <a:endParaRPr lang="he-IL" sz="2000">
                <a:latin typeface="Assistant" pitchFamily="2" charset="-79"/>
                <a:cs typeface="Assistant" pitchFamily="2" charset="-79"/>
              </a:endParaRPr>
            </a:p>
          </p:txBody>
        </p:sp>
      </p:grpSp>
      <p:pic>
        <p:nvPicPr>
          <p:cNvPr id="7" name="Picture 6">
            <a:extLst>
              <a:ext uri="{FF2B5EF4-FFF2-40B4-BE49-F238E27FC236}">
                <a16:creationId xmlns:a16="http://schemas.microsoft.com/office/drawing/2014/main" id="{8E3007B0-8F9B-4593-E557-C7F84DDB98FB}"/>
              </a:ext>
            </a:extLst>
          </p:cNvPr>
          <p:cNvPicPr>
            <a:picLocks noChangeAspect="1"/>
          </p:cNvPicPr>
          <p:nvPr/>
        </p:nvPicPr>
        <p:blipFill>
          <a:blip r:embed="rId5"/>
          <a:stretch>
            <a:fillRect/>
          </a:stretch>
        </p:blipFill>
        <p:spPr>
          <a:xfrm>
            <a:off x="10371417" y="6124170"/>
            <a:ext cx="1820583" cy="622831"/>
          </a:xfrm>
          <a:prstGeom prst="rect">
            <a:avLst/>
          </a:prstGeom>
        </p:spPr>
      </p:pic>
      <p:pic>
        <p:nvPicPr>
          <p:cNvPr id="3" name="תמונה 3">
            <a:extLst>
              <a:ext uri="{FF2B5EF4-FFF2-40B4-BE49-F238E27FC236}">
                <a16:creationId xmlns:a16="http://schemas.microsoft.com/office/drawing/2014/main" id="{3AAEC026-6AB5-649B-9F53-5220B7BE39C4}"/>
              </a:ext>
            </a:extLst>
          </p:cNvPr>
          <p:cNvPicPr>
            <a:picLocks noChangeAspect="1"/>
          </p:cNvPicPr>
          <p:nvPr/>
        </p:nvPicPr>
        <p:blipFill>
          <a:blip r:embed="rId6">
            <a:extLst>
              <a:ext uri="{28A0092B-C50C-407E-A947-70E740481C1C}">
                <a14:useLocalDpi xmlns:a14="http://schemas.microsoft.com/office/drawing/2010/main"/>
              </a:ext>
            </a:extLst>
          </a:blip>
          <a:stretch>
            <a:fillRect/>
          </a:stretch>
        </p:blipFill>
        <p:spPr>
          <a:xfrm>
            <a:off x="192984" y="6236080"/>
            <a:ext cx="1777778" cy="495238"/>
          </a:xfrm>
          <a:prstGeom prst="rect">
            <a:avLst/>
          </a:prstGeom>
        </p:spPr>
      </p:pic>
    </p:spTree>
    <p:custDataLst>
      <p:tags r:id="rId1"/>
    </p:custDataLst>
    <p:extLst>
      <p:ext uri="{BB962C8B-B14F-4D97-AF65-F5344CB8AC3E}">
        <p14:creationId xmlns:p14="http://schemas.microsoft.com/office/powerpoint/2010/main" val="3715469"/>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EB4C58-04CB-7041-B746-00BB7F1F90A6}"/>
            </a:ext>
          </a:extLst>
        </p:cNvPr>
        <p:cNvGrpSpPr/>
        <p:nvPr/>
      </p:nvGrpSpPr>
      <p:grpSpPr>
        <a:xfrm>
          <a:off x="0" y="0"/>
          <a:ext cx="0" cy="0"/>
          <a:chOff x="0" y="0"/>
          <a:chExt cx="0" cy="0"/>
        </a:xfrm>
      </p:grpSpPr>
      <p:cxnSp>
        <p:nvCxnSpPr>
          <p:cNvPr id="4" name="מחבר ישר 3">
            <a:extLst>
              <a:ext uri="{FF2B5EF4-FFF2-40B4-BE49-F238E27FC236}">
                <a16:creationId xmlns:a16="http://schemas.microsoft.com/office/drawing/2014/main" id="{4DDE2590-0510-7499-90A1-D6061B3E2D0E}"/>
              </a:ext>
            </a:extLst>
          </p:cNvPr>
          <p:cNvCxnSpPr>
            <a:cxnSpLocks/>
          </p:cNvCxnSpPr>
          <p:nvPr/>
        </p:nvCxnSpPr>
        <p:spPr>
          <a:xfrm>
            <a:off x="0" y="6079252"/>
            <a:ext cx="12192000" cy="0"/>
          </a:xfrm>
          <a:prstGeom prst="line">
            <a:avLst/>
          </a:prstGeom>
          <a:ln>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pic>
        <p:nvPicPr>
          <p:cNvPr id="3" name="תמונה 2">
            <a:extLst>
              <a:ext uri="{FF2B5EF4-FFF2-40B4-BE49-F238E27FC236}">
                <a16:creationId xmlns:a16="http://schemas.microsoft.com/office/drawing/2014/main" id="{281A84DC-DBDC-E547-4095-70F907D52273}"/>
              </a:ext>
            </a:extLst>
          </p:cNvPr>
          <p:cNvPicPr>
            <a:picLocks noChangeAspect="1"/>
          </p:cNvPicPr>
          <p:nvPr/>
        </p:nvPicPr>
        <p:blipFill>
          <a:blip r:embed="rId4">
            <a:extLst>
              <a:ext uri="{28A0092B-C50C-407E-A947-70E740481C1C}">
                <a14:useLocalDpi xmlns:a14="http://schemas.microsoft.com/office/drawing/2010/main"/>
              </a:ext>
            </a:extLst>
          </a:blip>
          <a:stretch>
            <a:fillRect/>
          </a:stretch>
        </p:blipFill>
        <p:spPr>
          <a:xfrm>
            <a:off x="0" y="57121"/>
            <a:ext cx="933869" cy="721626"/>
          </a:xfrm>
          <a:prstGeom prst="rect">
            <a:avLst/>
          </a:prstGeom>
        </p:spPr>
      </p:pic>
      <p:sp>
        <p:nvSpPr>
          <p:cNvPr id="7" name="מלבן: פינות מעוגלות 6">
            <a:extLst>
              <a:ext uri="{FF2B5EF4-FFF2-40B4-BE49-F238E27FC236}">
                <a16:creationId xmlns:a16="http://schemas.microsoft.com/office/drawing/2014/main" id="{BC5C1759-B0D0-0FC0-69EB-07993072BF1D}"/>
              </a:ext>
            </a:extLst>
          </p:cNvPr>
          <p:cNvSpPr/>
          <p:nvPr/>
        </p:nvSpPr>
        <p:spPr>
          <a:xfrm>
            <a:off x="10244695" y="6193485"/>
            <a:ext cx="1798983" cy="506891"/>
          </a:xfrm>
          <a:prstGeom prst="roundRect">
            <a:avLst>
              <a:gd name="adj" fmla="val 50000"/>
            </a:avLst>
          </a:prstGeom>
          <a:noFill/>
          <a:ln>
            <a:solidFill>
              <a:srgbClr val="019DE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he-IL">
                <a:solidFill>
                  <a:srgbClr val="019DE5"/>
                </a:solidFill>
                <a:latin typeface="Assistant" pitchFamily="2" charset="-79"/>
                <a:cs typeface="Assistant" pitchFamily="2" charset="-79"/>
              </a:rPr>
              <a:t>חזרה</a:t>
            </a:r>
            <a:endParaRPr lang="LID4096">
              <a:solidFill>
                <a:srgbClr val="019DE5"/>
              </a:solidFill>
              <a:latin typeface="Assistant" pitchFamily="2" charset="-79"/>
              <a:cs typeface="Assistant" pitchFamily="2" charset="-79"/>
            </a:endParaRPr>
          </a:p>
        </p:txBody>
      </p:sp>
      <p:sp>
        <p:nvSpPr>
          <p:cNvPr id="78" name="תיבת טקסט 5">
            <a:extLst>
              <a:ext uri="{FF2B5EF4-FFF2-40B4-BE49-F238E27FC236}">
                <a16:creationId xmlns:a16="http://schemas.microsoft.com/office/drawing/2014/main" id="{D87D9E16-C675-E9B1-E6FB-35A7994C7FEA}"/>
              </a:ext>
            </a:extLst>
          </p:cNvPr>
          <p:cNvSpPr txBox="1"/>
          <p:nvPr/>
        </p:nvSpPr>
        <p:spPr>
          <a:xfrm>
            <a:off x="7178053" y="592150"/>
            <a:ext cx="4260517" cy="1015663"/>
          </a:xfrm>
          <a:prstGeom prst="rect">
            <a:avLst/>
          </a:prstGeom>
          <a:noFill/>
        </p:spPr>
        <p:txBody>
          <a:bodyPr wrap="square" rtlCol="0">
            <a:spAutoFit/>
          </a:bodyPr>
          <a:lstStyle/>
          <a:p>
            <a:r>
              <a:rPr lang="he-IL" sz="2000" b="1">
                <a:solidFill>
                  <a:srgbClr val="00B0F0"/>
                </a:solidFill>
                <a:latin typeface="Assistant" pitchFamily="2" charset="-79"/>
                <a:cs typeface="Assistant" pitchFamily="2" charset="-79"/>
              </a:rPr>
              <a:t>ג. כמה שטח צריך אורי להעביר מהשטח המיועד לגינה אל השטח המיועד לבנייה כדי לעמוד בבקשתם?</a:t>
            </a:r>
            <a:endParaRPr lang="LID4096" sz="2000" b="1">
              <a:solidFill>
                <a:srgbClr val="00B0F0"/>
              </a:solidFill>
              <a:latin typeface="Assistant" pitchFamily="2" charset="-79"/>
              <a:cs typeface="Assistant" pitchFamily="2" charset="-79"/>
            </a:endParaRPr>
          </a:p>
        </p:txBody>
      </p:sp>
      <p:sp>
        <p:nvSpPr>
          <p:cNvPr id="11" name="מלבן: פינות מעוגלות 18">
            <a:extLst>
              <a:ext uri="{FF2B5EF4-FFF2-40B4-BE49-F238E27FC236}">
                <a16:creationId xmlns:a16="http://schemas.microsoft.com/office/drawing/2014/main" id="{3A008187-E48E-21B6-CA9A-930F18EF6FD0}"/>
              </a:ext>
            </a:extLst>
          </p:cNvPr>
          <p:cNvSpPr/>
          <p:nvPr/>
        </p:nvSpPr>
        <p:spPr>
          <a:xfrm>
            <a:off x="268356" y="6182143"/>
            <a:ext cx="1798983" cy="506891"/>
          </a:xfrm>
          <a:prstGeom prst="roundRect">
            <a:avLst>
              <a:gd name="adj" fmla="val 50000"/>
            </a:avLst>
          </a:prstGeom>
          <a:solidFill>
            <a:schemeClr val="bg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he-IL">
                <a:latin typeface="Assistant" pitchFamily="2" charset="-79"/>
                <a:cs typeface="Assistant" pitchFamily="2" charset="-79"/>
              </a:rPr>
              <a:t>המשך</a:t>
            </a:r>
            <a:endParaRPr lang="LID4096">
              <a:latin typeface="Assistant" pitchFamily="2" charset="-79"/>
              <a:cs typeface="Assistant" pitchFamily="2" charset="-79"/>
            </a:endParaRPr>
          </a:p>
        </p:txBody>
      </p:sp>
      <p:pic>
        <p:nvPicPr>
          <p:cNvPr id="6" name="image3.png">
            <a:extLst>
              <a:ext uri="{FF2B5EF4-FFF2-40B4-BE49-F238E27FC236}">
                <a16:creationId xmlns:a16="http://schemas.microsoft.com/office/drawing/2014/main" id="{A1A7FB30-3F85-D5E5-67C6-7FE0CE2FFC2C}"/>
              </a:ext>
            </a:extLst>
          </p:cNvPr>
          <p:cNvPicPr/>
          <p:nvPr/>
        </p:nvPicPr>
        <p:blipFill>
          <a:blip r:embed="rId5" cstate="email">
            <a:extLst>
              <a:ext uri="{28A0092B-C50C-407E-A947-70E740481C1C}">
                <a14:useLocalDpi xmlns:a14="http://schemas.microsoft.com/office/drawing/2010/main"/>
              </a:ext>
            </a:extLst>
          </a:blip>
          <a:srcRect/>
          <a:stretch>
            <a:fillRect/>
          </a:stretch>
        </p:blipFill>
        <p:spPr>
          <a:xfrm>
            <a:off x="300625" y="778747"/>
            <a:ext cx="6168572" cy="5093565"/>
          </a:xfrm>
          <a:prstGeom prst="rect">
            <a:avLst/>
          </a:prstGeom>
          <a:ln/>
        </p:spPr>
      </p:pic>
      <p:sp>
        <p:nvSpPr>
          <p:cNvPr id="9" name="מלבן: פינות מעוגלות 6">
            <a:extLst>
              <a:ext uri="{FF2B5EF4-FFF2-40B4-BE49-F238E27FC236}">
                <a16:creationId xmlns:a16="http://schemas.microsoft.com/office/drawing/2014/main" id="{679582FA-7B3E-F05D-7AE9-D7D5D996BBDA}"/>
              </a:ext>
            </a:extLst>
          </p:cNvPr>
          <p:cNvSpPr/>
          <p:nvPr/>
        </p:nvSpPr>
        <p:spPr>
          <a:xfrm>
            <a:off x="7703516" y="1879189"/>
            <a:ext cx="1110834" cy="526581"/>
          </a:xfrm>
          <a:prstGeom prst="roundRect">
            <a:avLst>
              <a:gd name="adj" fmla="val 1764"/>
            </a:avLst>
          </a:prstGeom>
          <a:noFill/>
          <a:ln w="12700">
            <a:solidFill>
              <a:srgbClr val="92D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he-IL" sz="2000">
                <a:solidFill>
                  <a:schemeClr val="tx1"/>
                </a:solidFill>
                <a:latin typeface="Assistant" pitchFamily="2" charset="-79"/>
                <a:cs typeface="Assistant" pitchFamily="2" charset="-79"/>
              </a:rPr>
              <a:t>26</a:t>
            </a:r>
            <a:endParaRPr lang="LID4096" sz="2000">
              <a:solidFill>
                <a:schemeClr val="tx1"/>
              </a:solidFill>
              <a:latin typeface="Assistant" pitchFamily="2" charset="-79"/>
              <a:cs typeface="Assistant" pitchFamily="2" charset="-79"/>
            </a:endParaRPr>
          </a:p>
        </p:txBody>
      </p:sp>
      <p:sp>
        <p:nvSpPr>
          <p:cNvPr id="12" name="תיבת טקסט 5">
            <a:extLst>
              <a:ext uri="{FF2B5EF4-FFF2-40B4-BE49-F238E27FC236}">
                <a16:creationId xmlns:a16="http://schemas.microsoft.com/office/drawing/2014/main" id="{664524DA-9C66-1A86-9DD9-2E5A7F1C73C0}"/>
              </a:ext>
            </a:extLst>
          </p:cNvPr>
          <p:cNvSpPr txBox="1"/>
          <p:nvPr/>
        </p:nvSpPr>
        <p:spPr>
          <a:xfrm>
            <a:off x="6769822" y="1941080"/>
            <a:ext cx="4668748" cy="400110"/>
          </a:xfrm>
          <a:prstGeom prst="rect">
            <a:avLst/>
          </a:prstGeom>
          <a:noFill/>
        </p:spPr>
        <p:txBody>
          <a:bodyPr wrap="square" rtlCol="0">
            <a:spAutoFit/>
          </a:bodyPr>
          <a:lstStyle/>
          <a:p>
            <a:r>
              <a:rPr lang="he-IL" sz="2000">
                <a:latin typeface="Assistant" pitchFamily="2" charset="-79"/>
                <a:cs typeface="Assistant" pitchFamily="2" charset="-79"/>
              </a:rPr>
              <a:t>השטח שצריך להעביר הוא                             מ"ר.</a:t>
            </a:r>
            <a:endParaRPr lang="LID4096" sz="2000" b="1">
              <a:solidFill>
                <a:srgbClr val="00B0F0"/>
              </a:solidFill>
              <a:latin typeface="Assistant" pitchFamily="2" charset="-79"/>
              <a:cs typeface="Assistant" pitchFamily="2" charset="-79"/>
            </a:endParaRPr>
          </a:p>
        </p:txBody>
      </p:sp>
      <p:grpSp>
        <p:nvGrpSpPr>
          <p:cNvPr id="14" name="Group 13">
            <a:extLst>
              <a:ext uri="{FF2B5EF4-FFF2-40B4-BE49-F238E27FC236}">
                <a16:creationId xmlns:a16="http://schemas.microsoft.com/office/drawing/2014/main" id="{13754C50-7D6F-2021-3FBD-B70D95FE3B5C}"/>
              </a:ext>
            </a:extLst>
          </p:cNvPr>
          <p:cNvGrpSpPr/>
          <p:nvPr/>
        </p:nvGrpSpPr>
        <p:grpSpPr>
          <a:xfrm>
            <a:off x="2179982" y="6182142"/>
            <a:ext cx="2481470" cy="506891"/>
            <a:chOff x="2179982" y="6182142"/>
            <a:chExt cx="2481470" cy="506891"/>
          </a:xfrm>
        </p:grpSpPr>
        <p:sp>
          <p:nvSpPr>
            <p:cNvPr id="16" name="מלבן: פינות מעוגלות 1">
              <a:extLst>
                <a:ext uri="{FF2B5EF4-FFF2-40B4-BE49-F238E27FC236}">
                  <a16:creationId xmlns:a16="http://schemas.microsoft.com/office/drawing/2014/main" id="{6DD942A2-B84E-A747-9469-C4E7926B6A77}"/>
                </a:ext>
              </a:extLst>
            </p:cNvPr>
            <p:cNvSpPr/>
            <p:nvPr/>
          </p:nvSpPr>
          <p:spPr>
            <a:xfrm>
              <a:off x="2179982" y="6182142"/>
              <a:ext cx="2481470" cy="506891"/>
            </a:xfrm>
            <a:prstGeom prst="roundRect">
              <a:avLst>
                <a:gd name="adj" fmla="val 50000"/>
              </a:avLst>
            </a:prstGeom>
            <a:noFill/>
            <a:ln>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he-IL">
                  <a:solidFill>
                    <a:srgbClr val="00B0F0"/>
                  </a:solidFill>
                </a:rPr>
                <a:t>     אפשר רמז?</a:t>
              </a:r>
              <a:endParaRPr lang="LID4096">
                <a:solidFill>
                  <a:srgbClr val="00B0F0"/>
                </a:solidFill>
              </a:endParaRPr>
            </a:p>
          </p:txBody>
        </p:sp>
        <p:pic>
          <p:nvPicPr>
            <p:cNvPr id="18" name="גרפיקה 11" descr="נורת חשמל וגלגל שיניים עם מילוי מלא">
              <a:extLst>
                <a:ext uri="{FF2B5EF4-FFF2-40B4-BE49-F238E27FC236}">
                  <a16:creationId xmlns:a16="http://schemas.microsoft.com/office/drawing/2014/main" id="{D2BBB8D9-54C1-B253-0630-C8C89320B490}"/>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3831910" y="6266545"/>
              <a:ext cx="338083" cy="338083"/>
            </a:xfrm>
            <a:prstGeom prst="rect">
              <a:avLst/>
            </a:prstGeom>
          </p:spPr>
        </p:pic>
      </p:grpSp>
      <p:grpSp>
        <p:nvGrpSpPr>
          <p:cNvPr id="19" name="קבוצה 14">
            <a:extLst>
              <a:ext uri="{FF2B5EF4-FFF2-40B4-BE49-F238E27FC236}">
                <a16:creationId xmlns:a16="http://schemas.microsoft.com/office/drawing/2014/main" id="{5E21E63F-AE5B-B1D4-F232-E9773FD2C643}"/>
              </a:ext>
            </a:extLst>
          </p:cNvPr>
          <p:cNvGrpSpPr/>
          <p:nvPr/>
        </p:nvGrpSpPr>
        <p:grpSpPr>
          <a:xfrm>
            <a:off x="-9344826" y="26138"/>
            <a:ext cx="9123904" cy="3818372"/>
            <a:chOff x="-9229411" y="26138"/>
            <a:chExt cx="9123904" cy="3818372"/>
          </a:xfrm>
        </p:grpSpPr>
        <p:sp>
          <p:nvSpPr>
            <p:cNvPr id="20" name="מלבן: פינות מעוגלות 16">
              <a:extLst>
                <a:ext uri="{FF2B5EF4-FFF2-40B4-BE49-F238E27FC236}">
                  <a16:creationId xmlns:a16="http://schemas.microsoft.com/office/drawing/2014/main" id="{1747780A-8961-8643-8A92-D9AA9A2003AC}"/>
                </a:ext>
              </a:extLst>
            </p:cNvPr>
            <p:cNvSpPr/>
            <p:nvPr/>
          </p:nvSpPr>
          <p:spPr>
            <a:xfrm>
              <a:off x="-9229411" y="26138"/>
              <a:ext cx="9123904" cy="3818372"/>
            </a:xfrm>
            <a:prstGeom prst="roundRect">
              <a:avLst>
                <a:gd name="adj" fmla="val 8509"/>
              </a:avLst>
            </a:prstGeom>
            <a:solidFill>
              <a:srgbClr val="00B0F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LID4096"/>
            </a:p>
          </p:txBody>
        </p:sp>
        <p:sp>
          <p:nvSpPr>
            <p:cNvPr id="21" name="מלבן: פינות מעוגלות 27">
              <a:extLst>
                <a:ext uri="{FF2B5EF4-FFF2-40B4-BE49-F238E27FC236}">
                  <a16:creationId xmlns:a16="http://schemas.microsoft.com/office/drawing/2014/main" id="{0EDC97EE-CCB9-4B98-CBA8-5358ABB96C12}"/>
                </a:ext>
              </a:extLst>
            </p:cNvPr>
            <p:cNvSpPr/>
            <p:nvPr/>
          </p:nvSpPr>
          <p:spPr>
            <a:xfrm>
              <a:off x="-5861703" y="3135618"/>
              <a:ext cx="1798983" cy="506891"/>
            </a:xfrm>
            <a:prstGeom prst="roundRect">
              <a:avLst>
                <a:gd name="adj" fmla="val 50000"/>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he-IL">
                  <a:solidFill>
                    <a:schemeClr val="tx1"/>
                  </a:solidFill>
                  <a:latin typeface="Assistant" pitchFamily="2" charset="-79"/>
                  <a:cs typeface="Assistant" pitchFamily="2" charset="-79"/>
                </a:rPr>
                <a:t>חזרה לשאלה</a:t>
              </a:r>
              <a:endParaRPr lang="LID4096">
                <a:solidFill>
                  <a:schemeClr val="tx1"/>
                </a:solidFill>
                <a:latin typeface="Assistant" pitchFamily="2" charset="-79"/>
                <a:cs typeface="Assistant" pitchFamily="2" charset="-79"/>
              </a:endParaRPr>
            </a:p>
          </p:txBody>
        </p:sp>
        <p:pic>
          <p:nvPicPr>
            <p:cNvPr id="22" name="גרפיקה 28" descr="נורת חשמל וגלגל שיניים עם מילוי מלא">
              <a:extLst>
                <a:ext uri="{FF2B5EF4-FFF2-40B4-BE49-F238E27FC236}">
                  <a16:creationId xmlns:a16="http://schemas.microsoft.com/office/drawing/2014/main" id="{8FEFCD50-B77B-61D9-300C-519E485F8A77}"/>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983558" y="489982"/>
              <a:ext cx="338083" cy="338083"/>
            </a:xfrm>
            <a:prstGeom prst="rect">
              <a:avLst/>
            </a:prstGeom>
          </p:spPr>
        </p:pic>
      </p:grpSp>
      <mc:AlternateContent xmlns:mc="http://schemas.openxmlformats.org/markup-compatibility/2006" xmlns:a14="http://schemas.microsoft.com/office/drawing/2010/main">
        <mc:Choice Requires="a14">
          <p:sp>
            <p:nvSpPr>
              <p:cNvPr id="23" name="מלבן: פינות מעוגלות 9">
                <a:extLst>
                  <a:ext uri="{FF2B5EF4-FFF2-40B4-BE49-F238E27FC236}">
                    <a16:creationId xmlns:a16="http://schemas.microsoft.com/office/drawing/2014/main" id="{EE6851D7-D740-5F43-8D7F-B0ACB30649C0}"/>
                  </a:ext>
                </a:extLst>
              </p:cNvPr>
              <p:cNvSpPr/>
              <p:nvPr/>
            </p:nvSpPr>
            <p:spPr>
              <a:xfrm>
                <a:off x="-4830194" y="4034704"/>
                <a:ext cx="4421963" cy="4688381"/>
              </a:xfrm>
              <a:prstGeom prst="roundRect">
                <a:avLst>
                  <a:gd name="adj" fmla="val 1647"/>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he-IL" sz="2000" b="1">
                  <a:solidFill>
                    <a:schemeClr val="tx1"/>
                  </a:solidFill>
                  <a:latin typeface="Assistant" pitchFamily="2" charset="-79"/>
                  <a:cs typeface="Assistant" pitchFamily="2" charset="-79"/>
                </a:endParaRPr>
              </a:p>
              <a:p>
                <a:pPr algn="ctr"/>
                <a:r>
                  <a:rPr lang="he-IL" sz="2000" b="1">
                    <a:solidFill>
                      <a:schemeClr val="tx1"/>
                    </a:solidFill>
                    <a:latin typeface="Assistant" pitchFamily="2" charset="-79"/>
                    <a:cs typeface="Assistant" pitchFamily="2" charset="-79"/>
                  </a:rPr>
                  <a:t>כל הכבוד, צדקתם! / טעיתם. לא נורא, מטעויות לומדים</a:t>
                </a:r>
              </a:p>
              <a:p>
                <a:pPr algn="ctr"/>
                <a:endParaRPr lang="he-IL" sz="2000" b="1">
                  <a:solidFill>
                    <a:schemeClr val="tx1"/>
                  </a:solidFill>
                  <a:latin typeface="Assistant" pitchFamily="2" charset="-79"/>
                  <a:cs typeface="Assistant" pitchFamily="2" charset="-79"/>
                </a:endParaRPr>
              </a:p>
              <a:p>
                <a:r>
                  <a:rPr lang="he-IL" sz="2000">
                    <a:solidFill>
                      <a:schemeClr val="tx1"/>
                    </a:solidFill>
                    <a:latin typeface="Assistant" pitchFamily="2" charset="-79"/>
                    <a:cs typeface="Assistant" pitchFamily="2" charset="-79"/>
                  </a:rPr>
                  <a:t>שטח המגרש הוא 216 מ"ר. היחס המבוקש הוא 3 : 1.</a:t>
                </a:r>
              </a:p>
              <a:p>
                <a:r>
                  <a:rPr lang="he-IL" sz="2000">
                    <a:solidFill>
                      <a:schemeClr val="tx1"/>
                    </a:solidFill>
                    <a:latin typeface="Assistant" pitchFamily="2" charset="-79"/>
                    <a:cs typeface="Assistant" pitchFamily="2" charset="-79"/>
                  </a:rPr>
                  <a:t>נחשב את השטח המיועד לבנייה לפי היחס המבוקש:</a:t>
                </a:r>
              </a:p>
              <a:p>
                <a:pPr/>
                <a14:m>
                  <m:oMathPara xmlns:m="http://schemas.openxmlformats.org/officeDocument/2006/math">
                    <m:oMath>
                      <m:f>
                        <m:fPr>
                          <m:ctrlPr>
                            <a:rPr lang="en-US" sz="2000" i="1">
                              <a:solidFill>
                                <a:schemeClr val="tx1"/>
                              </a:solidFill>
                              <a:latin typeface="Cambria Math" panose="02040503050406030204" pitchFamily="18" charset="0"/>
                            </a:rPr>
                          </m:ctrlPr>
                        </m:fPr>
                        <m:num>
                          <m:r>
                            <a:rPr lang="en-US" sz="2000" i="1">
                              <a:solidFill>
                                <a:schemeClr val="tx1"/>
                              </a:solidFill>
                              <a:latin typeface="Cambria Math" panose="02040503050406030204" pitchFamily="18" charset="0"/>
                            </a:rPr>
                            <m:t>3</m:t>
                          </m:r>
                        </m:num>
                        <m:den>
                          <m:r>
                            <a:rPr lang="en-US" sz="2000" i="1">
                              <a:solidFill>
                                <a:schemeClr val="tx1"/>
                              </a:solidFill>
                              <a:latin typeface="Cambria Math" panose="02040503050406030204" pitchFamily="18" charset="0"/>
                            </a:rPr>
                            <m:t>4</m:t>
                          </m:r>
                        </m:den>
                      </m:f>
                      <m:r>
                        <a:rPr lang="en-US" sz="2000" i="1">
                          <a:solidFill>
                            <a:schemeClr val="tx1"/>
                          </a:solidFill>
                          <a:latin typeface="Cambria Math" panose="02040503050406030204" pitchFamily="18" charset="0"/>
                        </a:rPr>
                        <m:t>⋅216= 162</m:t>
                      </m:r>
                    </m:oMath>
                  </m:oMathPara>
                </a14:m>
                <a:endParaRPr lang="en-US" sz="2000">
                  <a:solidFill>
                    <a:schemeClr val="tx1"/>
                  </a:solidFill>
                  <a:latin typeface="Assistant" pitchFamily="2" charset="-79"/>
                  <a:cs typeface="Assistant" pitchFamily="2" charset="-79"/>
                </a:endParaRPr>
              </a:p>
              <a:p>
                <a:r>
                  <a:rPr lang="he-IL" sz="2000">
                    <a:solidFill>
                      <a:schemeClr val="tx1"/>
                    </a:solidFill>
                    <a:latin typeface="Assistant" pitchFamily="2" charset="-79"/>
                    <a:cs typeface="Assistant" pitchFamily="2" charset="-79"/>
                  </a:rPr>
                  <a:t>ואת השטח המיועד לגינה: </a:t>
                </a:r>
                <a14:m>
                  <m:oMath xmlns:m="http://schemas.openxmlformats.org/officeDocument/2006/math">
                    <m:f>
                      <m:fPr>
                        <m:ctrlPr>
                          <a:rPr lang="en-US" sz="2000" i="1">
                            <a:solidFill>
                              <a:schemeClr val="tx1"/>
                            </a:solidFill>
                            <a:latin typeface="Cambria Math" panose="02040503050406030204" pitchFamily="18" charset="0"/>
                          </a:rPr>
                        </m:ctrlPr>
                      </m:fPr>
                      <m:num>
                        <m:r>
                          <a:rPr lang="en-US" sz="2000" i="1">
                            <a:solidFill>
                              <a:schemeClr val="tx1"/>
                            </a:solidFill>
                            <a:latin typeface="Cambria Math" panose="02040503050406030204" pitchFamily="18" charset="0"/>
                          </a:rPr>
                          <m:t>1</m:t>
                        </m:r>
                      </m:num>
                      <m:den>
                        <m:r>
                          <a:rPr lang="en-US" sz="2000" i="1">
                            <a:solidFill>
                              <a:schemeClr val="tx1"/>
                            </a:solidFill>
                            <a:latin typeface="Cambria Math" panose="02040503050406030204" pitchFamily="18" charset="0"/>
                          </a:rPr>
                          <m:t>4</m:t>
                        </m:r>
                      </m:den>
                    </m:f>
                    <m:r>
                      <a:rPr lang="en-US" sz="2000" i="1">
                        <a:solidFill>
                          <a:schemeClr val="tx1"/>
                        </a:solidFill>
                        <a:latin typeface="Cambria Math" panose="02040503050406030204" pitchFamily="18" charset="0"/>
                      </a:rPr>
                      <m:t>⋅216=54</m:t>
                    </m:r>
                  </m:oMath>
                </a14:m>
                <a:endParaRPr lang="he-IL" sz="2000">
                  <a:solidFill>
                    <a:schemeClr val="tx1"/>
                  </a:solidFill>
                  <a:latin typeface="Assistant" pitchFamily="2" charset="-79"/>
                  <a:cs typeface="Assistant" pitchFamily="2" charset="-79"/>
                </a:endParaRPr>
              </a:p>
              <a:p>
                <a:r>
                  <a:rPr lang="he-IL" sz="2000">
                    <a:solidFill>
                      <a:schemeClr val="tx1"/>
                    </a:solidFill>
                    <a:latin typeface="Assistant" pitchFamily="2" charset="-79"/>
                    <a:cs typeface="Assistant" pitchFamily="2" charset="-79"/>
                  </a:rPr>
                  <a:t>שטח הגינה שמצאנו בסעיף ב' הוא 80 מ"ר.</a:t>
                </a:r>
              </a:p>
              <a:p>
                <a:r>
                  <a:rPr lang="he-IL" sz="2000">
                    <a:solidFill>
                      <a:schemeClr val="tx1"/>
                    </a:solidFill>
                    <a:latin typeface="Assistant" pitchFamily="2" charset="-79"/>
                    <a:cs typeface="Assistant" pitchFamily="2" charset="-79"/>
                  </a:rPr>
                  <a:t>לכן, עלינו להעביר </a:t>
                </a:r>
                <a:r>
                  <a:rPr lang="en-US" sz="2000">
                    <a:solidFill>
                      <a:schemeClr val="tx1"/>
                    </a:solidFill>
                    <a:latin typeface="Assistant" pitchFamily="2" charset="-79"/>
                    <a:cs typeface="Assistant" pitchFamily="2" charset="-79"/>
                  </a:rPr>
                  <a:t>80 - 54</a:t>
                </a:r>
                <a:r>
                  <a:rPr lang="he-IL" sz="2000">
                    <a:solidFill>
                      <a:schemeClr val="tx1"/>
                    </a:solidFill>
                    <a:latin typeface="Assistant" pitchFamily="2" charset="-79"/>
                    <a:cs typeface="Assistant" pitchFamily="2" charset="-79"/>
                  </a:rPr>
                  <a:t> = </a:t>
                </a:r>
                <a:r>
                  <a:rPr lang="en-US" sz="2000">
                    <a:solidFill>
                      <a:schemeClr val="tx1"/>
                    </a:solidFill>
                    <a:latin typeface="Assistant" pitchFamily="2" charset="-79"/>
                    <a:cs typeface="Assistant" pitchFamily="2" charset="-79"/>
                  </a:rPr>
                  <a:t>26</a:t>
                </a:r>
                <a:r>
                  <a:rPr lang="he-IL" sz="2000">
                    <a:solidFill>
                      <a:schemeClr val="tx1"/>
                    </a:solidFill>
                    <a:latin typeface="Assistant" pitchFamily="2" charset="-79"/>
                    <a:cs typeface="Assistant" pitchFamily="2" charset="-79"/>
                  </a:rPr>
                  <a:t> מ"ר לשטח המיועד לבנייה. </a:t>
                </a:r>
                <a:endParaRPr lang="en-US" sz="2000">
                  <a:solidFill>
                    <a:schemeClr val="tx1"/>
                  </a:solidFill>
                  <a:latin typeface="Assistant" pitchFamily="2" charset="-79"/>
                  <a:cs typeface="Assistant" pitchFamily="2" charset="-79"/>
                </a:endParaRPr>
              </a:p>
            </p:txBody>
          </p:sp>
        </mc:Choice>
        <mc:Fallback xmlns="">
          <p:sp>
            <p:nvSpPr>
              <p:cNvPr id="23" name="מלבן: פינות מעוגלות 9">
                <a:extLst>
                  <a:ext uri="{FF2B5EF4-FFF2-40B4-BE49-F238E27FC236}">
                    <a16:creationId xmlns:a16="http://schemas.microsoft.com/office/drawing/2014/main" id="{EE6851D7-D740-5F43-8D7F-B0ACB30649C0}"/>
                  </a:ext>
                </a:extLst>
              </p:cNvPr>
              <p:cNvSpPr>
                <a:spLocks noRot="1" noChangeAspect="1" noMove="1" noResize="1" noEditPoints="1" noAdjustHandles="1" noChangeArrowheads="1" noChangeShapeType="1" noTextEdit="1"/>
              </p:cNvSpPr>
              <p:nvPr/>
            </p:nvSpPr>
            <p:spPr>
              <a:xfrm>
                <a:off x="-4830194" y="4034704"/>
                <a:ext cx="4421963" cy="4688381"/>
              </a:xfrm>
              <a:prstGeom prst="roundRect">
                <a:avLst>
                  <a:gd name="adj" fmla="val 1647"/>
                </a:avLst>
              </a:prstGeom>
              <a:blipFill>
                <a:blip r:embed="rId8"/>
                <a:stretch>
                  <a:fillRect r="-966"/>
                </a:stretch>
              </a:blipFill>
              <a:ln>
                <a:noFill/>
              </a:ln>
            </p:spPr>
            <p:txBody>
              <a:bodyPr/>
              <a:lstStyle/>
              <a:p>
                <a:r>
                  <a:rPr lang="en-US">
                    <a:noFill/>
                  </a:rPr>
                  <a:t> </a:t>
                </a:r>
              </a:p>
            </p:txBody>
          </p:sp>
        </mc:Fallback>
      </mc:AlternateContent>
      <p:sp>
        <p:nvSpPr>
          <p:cNvPr id="25" name="תיבת טקסט 26">
            <a:extLst>
              <a:ext uri="{FF2B5EF4-FFF2-40B4-BE49-F238E27FC236}">
                <a16:creationId xmlns:a16="http://schemas.microsoft.com/office/drawing/2014/main" id="{71ADF17D-78BF-EDFF-DB68-EDD20D4B504D}"/>
              </a:ext>
            </a:extLst>
          </p:cNvPr>
          <p:cNvSpPr txBox="1"/>
          <p:nvPr/>
        </p:nvSpPr>
        <p:spPr>
          <a:xfrm>
            <a:off x="-7442200" y="474122"/>
            <a:ext cx="6343227" cy="707886"/>
          </a:xfrm>
          <a:prstGeom prst="rect">
            <a:avLst/>
          </a:prstGeom>
          <a:noFill/>
        </p:spPr>
        <p:txBody>
          <a:bodyPr wrap="square" rtlCol="0">
            <a:spAutoFit/>
          </a:bodyPr>
          <a:lstStyle/>
          <a:p>
            <a:r>
              <a:rPr lang="he-IL" sz="2000">
                <a:solidFill>
                  <a:schemeClr val="bg1"/>
                </a:solidFill>
                <a:latin typeface="Assistant" pitchFamily="2" charset="-79"/>
                <a:cs typeface="Assistant" pitchFamily="2" charset="-79"/>
              </a:rPr>
              <a:t>חשבו תחילה את השטח החדש של הבנייה ושל הגינה ואז השוו לשטחים המקוריים.</a:t>
            </a:r>
            <a:endParaRPr lang="LID4096" sz="2000">
              <a:solidFill>
                <a:schemeClr val="bg1"/>
              </a:solidFill>
              <a:latin typeface="Assistant" pitchFamily="2" charset="-79"/>
              <a:cs typeface="Assistant" pitchFamily="2" charset="-79"/>
            </a:endParaRPr>
          </a:p>
        </p:txBody>
      </p:sp>
      <p:sp>
        <p:nvSpPr>
          <p:cNvPr id="5" name="מלבן 7">
            <a:extLst>
              <a:ext uri="{FF2B5EF4-FFF2-40B4-BE49-F238E27FC236}">
                <a16:creationId xmlns:a16="http://schemas.microsoft.com/office/drawing/2014/main" id="{BF68CF68-4DBA-3602-059F-5B3B248B8B5A}"/>
              </a:ext>
            </a:extLst>
          </p:cNvPr>
          <p:cNvSpPr/>
          <p:nvPr/>
        </p:nvSpPr>
        <p:spPr>
          <a:xfrm>
            <a:off x="11896440" y="332438"/>
            <a:ext cx="45719" cy="5474677"/>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LID4096"/>
          </a:p>
        </p:txBody>
      </p:sp>
      <p:sp>
        <p:nvSpPr>
          <p:cNvPr id="10" name="מלבן 8">
            <a:extLst>
              <a:ext uri="{FF2B5EF4-FFF2-40B4-BE49-F238E27FC236}">
                <a16:creationId xmlns:a16="http://schemas.microsoft.com/office/drawing/2014/main" id="{2FB101D0-F294-A3F4-2D27-DCD4550DBCEF}"/>
              </a:ext>
            </a:extLst>
          </p:cNvPr>
          <p:cNvSpPr/>
          <p:nvPr/>
        </p:nvSpPr>
        <p:spPr>
          <a:xfrm>
            <a:off x="11896439" y="1306290"/>
            <a:ext cx="45719" cy="3526971"/>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LID4096"/>
          </a:p>
        </p:txBody>
      </p:sp>
    </p:spTree>
    <p:custDataLst>
      <p:tags r:id="rId1"/>
    </p:custDataLst>
    <p:extLst>
      <p:ext uri="{BB962C8B-B14F-4D97-AF65-F5344CB8AC3E}">
        <p14:creationId xmlns:p14="http://schemas.microsoft.com/office/powerpoint/2010/main" val="954051396"/>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EF37A8-A682-CA37-AB1D-45FB2D046830}"/>
            </a:ext>
          </a:extLst>
        </p:cNvPr>
        <p:cNvGrpSpPr/>
        <p:nvPr/>
      </p:nvGrpSpPr>
      <p:grpSpPr>
        <a:xfrm>
          <a:off x="0" y="0"/>
          <a:ext cx="0" cy="0"/>
          <a:chOff x="0" y="0"/>
          <a:chExt cx="0" cy="0"/>
        </a:xfrm>
      </p:grpSpPr>
      <p:cxnSp>
        <p:nvCxnSpPr>
          <p:cNvPr id="4" name="מחבר ישר 3">
            <a:extLst>
              <a:ext uri="{FF2B5EF4-FFF2-40B4-BE49-F238E27FC236}">
                <a16:creationId xmlns:a16="http://schemas.microsoft.com/office/drawing/2014/main" id="{9DE02640-22D4-60EC-EF02-B11EDDBCAE02}"/>
              </a:ext>
            </a:extLst>
          </p:cNvPr>
          <p:cNvCxnSpPr>
            <a:cxnSpLocks/>
          </p:cNvCxnSpPr>
          <p:nvPr/>
        </p:nvCxnSpPr>
        <p:spPr>
          <a:xfrm>
            <a:off x="0" y="6079252"/>
            <a:ext cx="12192000" cy="0"/>
          </a:xfrm>
          <a:prstGeom prst="line">
            <a:avLst/>
          </a:prstGeom>
          <a:ln>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pic>
        <p:nvPicPr>
          <p:cNvPr id="3" name="תמונה 2">
            <a:extLst>
              <a:ext uri="{FF2B5EF4-FFF2-40B4-BE49-F238E27FC236}">
                <a16:creationId xmlns:a16="http://schemas.microsoft.com/office/drawing/2014/main" id="{F08A4A86-B7F3-6C74-79CC-21D0D192437D}"/>
              </a:ext>
            </a:extLst>
          </p:cNvPr>
          <p:cNvPicPr>
            <a:picLocks noChangeAspect="1"/>
          </p:cNvPicPr>
          <p:nvPr/>
        </p:nvPicPr>
        <p:blipFill>
          <a:blip r:embed="rId5">
            <a:extLst>
              <a:ext uri="{28A0092B-C50C-407E-A947-70E740481C1C}">
                <a14:useLocalDpi xmlns:a14="http://schemas.microsoft.com/office/drawing/2010/main"/>
              </a:ext>
            </a:extLst>
          </a:blip>
          <a:stretch>
            <a:fillRect/>
          </a:stretch>
        </p:blipFill>
        <p:spPr>
          <a:xfrm>
            <a:off x="0" y="57121"/>
            <a:ext cx="933869" cy="721626"/>
          </a:xfrm>
          <a:prstGeom prst="rect">
            <a:avLst/>
          </a:prstGeom>
        </p:spPr>
      </p:pic>
      <p:sp>
        <p:nvSpPr>
          <p:cNvPr id="7" name="מלבן: פינות מעוגלות 6">
            <a:extLst>
              <a:ext uri="{FF2B5EF4-FFF2-40B4-BE49-F238E27FC236}">
                <a16:creationId xmlns:a16="http://schemas.microsoft.com/office/drawing/2014/main" id="{C444D1A9-F61F-E4B9-C6E8-4836EE327E24}"/>
              </a:ext>
            </a:extLst>
          </p:cNvPr>
          <p:cNvSpPr/>
          <p:nvPr/>
        </p:nvSpPr>
        <p:spPr>
          <a:xfrm>
            <a:off x="10244695" y="6193485"/>
            <a:ext cx="1798983" cy="506891"/>
          </a:xfrm>
          <a:prstGeom prst="roundRect">
            <a:avLst>
              <a:gd name="adj" fmla="val 50000"/>
            </a:avLst>
          </a:prstGeom>
          <a:noFill/>
          <a:ln>
            <a:solidFill>
              <a:srgbClr val="019DE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he-IL">
                <a:solidFill>
                  <a:srgbClr val="019DE5"/>
                </a:solidFill>
                <a:latin typeface="Assistant" pitchFamily="2" charset="-79"/>
                <a:cs typeface="Assistant" pitchFamily="2" charset="-79"/>
              </a:rPr>
              <a:t>חזרה</a:t>
            </a:r>
            <a:endParaRPr lang="LID4096">
              <a:solidFill>
                <a:srgbClr val="019DE5"/>
              </a:solidFill>
              <a:latin typeface="Assistant" pitchFamily="2" charset="-79"/>
              <a:cs typeface="Assistant" pitchFamily="2" charset="-79"/>
            </a:endParaRPr>
          </a:p>
        </p:txBody>
      </p:sp>
      <p:sp>
        <p:nvSpPr>
          <p:cNvPr id="78" name="תיבת טקסט 5">
            <a:extLst>
              <a:ext uri="{FF2B5EF4-FFF2-40B4-BE49-F238E27FC236}">
                <a16:creationId xmlns:a16="http://schemas.microsoft.com/office/drawing/2014/main" id="{1CD6E084-A85D-F5A2-FB38-059697ED4C68}"/>
              </a:ext>
            </a:extLst>
          </p:cNvPr>
          <p:cNvSpPr txBox="1"/>
          <p:nvPr/>
        </p:nvSpPr>
        <p:spPr>
          <a:xfrm>
            <a:off x="6769821" y="592150"/>
            <a:ext cx="4668749" cy="2554545"/>
          </a:xfrm>
          <a:prstGeom prst="rect">
            <a:avLst/>
          </a:prstGeom>
          <a:noFill/>
        </p:spPr>
        <p:txBody>
          <a:bodyPr wrap="square" rtlCol="0">
            <a:spAutoFit/>
          </a:bodyPr>
          <a:lstStyle/>
          <a:p>
            <a:r>
              <a:rPr lang="he-IL" sz="2000">
                <a:latin typeface="Assistant" pitchFamily="2" charset="-79"/>
                <a:cs typeface="Assistant" pitchFamily="2" charset="-79"/>
              </a:rPr>
              <a:t>אחרי כמה ימים משפחת לוי התחרטה, והחליטה שהיא רוצה גינה גדולה יותר. הם ביקשו מאורי שהיחס בין שטח הגינה לשטח הבנייה יהיה 1 : 1.</a:t>
            </a:r>
          </a:p>
          <a:p>
            <a:endParaRPr lang="he-IL" sz="2000" b="1">
              <a:solidFill>
                <a:srgbClr val="00B0F0"/>
              </a:solidFill>
              <a:latin typeface="Assistant" pitchFamily="2" charset="-79"/>
              <a:cs typeface="Assistant" pitchFamily="2" charset="-79"/>
            </a:endParaRPr>
          </a:p>
          <a:p>
            <a:r>
              <a:rPr lang="he-IL" sz="2000" b="1">
                <a:solidFill>
                  <a:srgbClr val="00B0F0"/>
                </a:solidFill>
                <a:latin typeface="Assistant" pitchFamily="2" charset="-79"/>
                <a:cs typeface="Assistant" pitchFamily="2" charset="-79"/>
              </a:rPr>
              <a:t>ד. בהנחה ששטח הגינה לפני השינוי הוא 80 מ"ר, כמה שטח צריך אורי להעביר מהשטח המיועד לבנייה, אל הגינה, כדי לעמוד בבקשה החדשה?</a:t>
            </a:r>
            <a:endParaRPr lang="LID4096" sz="2000" b="1">
              <a:solidFill>
                <a:srgbClr val="00B0F0"/>
              </a:solidFill>
              <a:latin typeface="Assistant" pitchFamily="2" charset="-79"/>
              <a:cs typeface="Assistant" pitchFamily="2" charset="-79"/>
            </a:endParaRPr>
          </a:p>
        </p:txBody>
      </p:sp>
      <p:sp>
        <p:nvSpPr>
          <p:cNvPr id="11" name="מלבן: פינות מעוגלות 18">
            <a:extLst>
              <a:ext uri="{FF2B5EF4-FFF2-40B4-BE49-F238E27FC236}">
                <a16:creationId xmlns:a16="http://schemas.microsoft.com/office/drawing/2014/main" id="{BAA21A87-5FD7-129D-33E1-716A09E42710}"/>
              </a:ext>
            </a:extLst>
          </p:cNvPr>
          <p:cNvSpPr/>
          <p:nvPr/>
        </p:nvSpPr>
        <p:spPr>
          <a:xfrm>
            <a:off x="268356" y="6182143"/>
            <a:ext cx="1798983" cy="506891"/>
          </a:xfrm>
          <a:prstGeom prst="roundRect">
            <a:avLst>
              <a:gd name="adj" fmla="val 50000"/>
            </a:avLst>
          </a:prstGeom>
          <a:solidFill>
            <a:schemeClr val="bg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he-IL">
                <a:latin typeface="Assistant" pitchFamily="2" charset="-79"/>
                <a:cs typeface="Assistant" pitchFamily="2" charset="-79"/>
              </a:rPr>
              <a:t>המשך</a:t>
            </a:r>
            <a:endParaRPr lang="LID4096">
              <a:latin typeface="Assistant" pitchFamily="2" charset="-79"/>
              <a:cs typeface="Assistant" pitchFamily="2" charset="-79"/>
            </a:endParaRPr>
          </a:p>
        </p:txBody>
      </p:sp>
      <p:pic>
        <p:nvPicPr>
          <p:cNvPr id="6" name="image3.png">
            <a:extLst>
              <a:ext uri="{FF2B5EF4-FFF2-40B4-BE49-F238E27FC236}">
                <a16:creationId xmlns:a16="http://schemas.microsoft.com/office/drawing/2014/main" id="{077FF6FA-738B-476A-9A7F-2189B7AAAC83}"/>
              </a:ext>
            </a:extLst>
          </p:cNvPr>
          <p:cNvPicPr/>
          <p:nvPr/>
        </p:nvPicPr>
        <p:blipFill>
          <a:blip r:embed="rId6" cstate="email">
            <a:extLst>
              <a:ext uri="{28A0092B-C50C-407E-A947-70E740481C1C}">
                <a14:useLocalDpi xmlns:a14="http://schemas.microsoft.com/office/drawing/2010/main"/>
              </a:ext>
            </a:extLst>
          </a:blip>
          <a:srcRect/>
          <a:stretch>
            <a:fillRect/>
          </a:stretch>
        </p:blipFill>
        <p:spPr>
          <a:xfrm>
            <a:off x="300625" y="778747"/>
            <a:ext cx="6168572" cy="5093565"/>
          </a:xfrm>
          <a:prstGeom prst="rect">
            <a:avLst/>
          </a:prstGeom>
          <a:ln/>
        </p:spPr>
      </p:pic>
      <p:sp>
        <p:nvSpPr>
          <p:cNvPr id="9" name="מלבן: פינות מעוגלות 6">
            <a:extLst>
              <a:ext uri="{FF2B5EF4-FFF2-40B4-BE49-F238E27FC236}">
                <a16:creationId xmlns:a16="http://schemas.microsoft.com/office/drawing/2014/main" id="{443E5483-9915-A0FA-52E8-5A68BE39FB09}"/>
              </a:ext>
            </a:extLst>
          </p:cNvPr>
          <p:cNvSpPr/>
          <p:nvPr/>
        </p:nvSpPr>
        <p:spPr>
          <a:xfrm>
            <a:off x="7703516" y="3287075"/>
            <a:ext cx="1048598" cy="557435"/>
          </a:xfrm>
          <a:prstGeom prst="roundRect">
            <a:avLst>
              <a:gd name="adj" fmla="val 1764"/>
            </a:avLst>
          </a:prstGeom>
          <a:noFill/>
          <a:ln w="12700">
            <a:solidFill>
              <a:srgbClr val="92D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he-IL" sz="2000">
                <a:solidFill>
                  <a:schemeClr val="tx1"/>
                </a:solidFill>
                <a:latin typeface="Assistant" pitchFamily="2" charset="-79"/>
                <a:cs typeface="Assistant" pitchFamily="2" charset="-79"/>
              </a:rPr>
              <a:t>28</a:t>
            </a:r>
            <a:endParaRPr lang="LID4096" sz="2000">
              <a:solidFill>
                <a:schemeClr val="tx1"/>
              </a:solidFill>
              <a:latin typeface="Assistant" pitchFamily="2" charset="-79"/>
              <a:cs typeface="Assistant" pitchFamily="2" charset="-79"/>
            </a:endParaRPr>
          </a:p>
        </p:txBody>
      </p:sp>
      <p:sp>
        <p:nvSpPr>
          <p:cNvPr id="12" name="תיבת טקסט 5">
            <a:extLst>
              <a:ext uri="{FF2B5EF4-FFF2-40B4-BE49-F238E27FC236}">
                <a16:creationId xmlns:a16="http://schemas.microsoft.com/office/drawing/2014/main" id="{DF52DD82-EBAD-84DF-A968-39994B545B50}"/>
              </a:ext>
            </a:extLst>
          </p:cNvPr>
          <p:cNvSpPr txBox="1"/>
          <p:nvPr/>
        </p:nvSpPr>
        <p:spPr>
          <a:xfrm>
            <a:off x="6769822" y="3348966"/>
            <a:ext cx="4668748" cy="400110"/>
          </a:xfrm>
          <a:prstGeom prst="rect">
            <a:avLst/>
          </a:prstGeom>
          <a:noFill/>
        </p:spPr>
        <p:txBody>
          <a:bodyPr wrap="square" rtlCol="0">
            <a:spAutoFit/>
          </a:bodyPr>
          <a:lstStyle/>
          <a:p>
            <a:r>
              <a:rPr lang="he-IL" sz="2000">
                <a:latin typeface="Assistant" pitchFamily="2" charset="-79"/>
                <a:cs typeface="Assistant" pitchFamily="2" charset="-79"/>
              </a:rPr>
              <a:t>השטח שצריך להעביר הוא                             מ"ר.</a:t>
            </a:r>
            <a:endParaRPr lang="LID4096" sz="2000" b="1">
              <a:solidFill>
                <a:srgbClr val="00B0F0"/>
              </a:solidFill>
              <a:latin typeface="Assistant" pitchFamily="2" charset="-79"/>
              <a:cs typeface="Assistant" pitchFamily="2" charset="-79"/>
            </a:endParaRPr>
          </a:p>
        </p:txBody>
      </p:sp>
      <p:grpSp>
        <p:nvGrpSpPr>
          <p:cNvPr id="14" name="Group 13">
            <a:extLst>
              <a:ext uri="{FF2B5EF4-FFF2-40B4-BE49-F238E27FC236}">
                <a16:creationId xmlns:a16="http://schemas.microsoft.com/office/drawing/2014/main" id="{EB881499-83E0-8372-3B56-50A34461F252}"/>
              </a:ext>
            </a:extLst>
          </p:cNvPr>
          <p:cNvGrpSpPr/>
          <p:nvPr/>
        </p:nvGrpSpPr>
        <p:grpSpPr>
          <a:xfrm>
            <a:off x="2179982" y="6182142"/>
            <a:ext cx="2481470" cy="506891"/>
            <a:chOff x="2179982" y="6182142"/>
            <a:chExt cx="2481470" cy="506891"/>
          </a:xfrm>
        </p:grpSpPr>
        <p:sp>
          <p:nvSpPr>
            <p:cNvPr id="16" name="מלבן: פינות מעוגלות 1">
              <a:extLst>
                <a:ext uri="{FF2B5EF4-FFF2-40B4-BE49-F238E27FC236}">
                  <a16:creationId xmlns:a16="http://schemas.microsoft.com/office/drawing/2014/main" id="{F2E4AA70-BDD8-765C-D496-C72A5C360690}"/>
                </a:ext>
              </a:extLst>
            </p:cNvPr>
            <p:cNvSpPr/>
            <p:nvPr/>
          </p:nvSpPr>
          <p:spPr>
            <a:xfrm>
              <a:off x="2179982" y="6182142"/>
              <a:ext cx="2481470" cy="506891"/>
            </a:xfrm>
            <a:prstGeom prst="roundRect">
              <a:avLst>
                <a:gd name="adj" fmla="val 50000"/>
              </a:avLst>
            </a:prstGeom>
            <a:noFill/>
            <a:ln>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he-IL">
                  <a:solidFill>
                    <a:srgbClr val="00B0F0"/>
                  </a:solidFill>
                </a:rPr>
                <a:t>     אפשר רמז?</a:t>
              </a:r>
              <a:endParaRPr lang="LID4096">
                <a:solidFill>
                  <a:srgbClr val="00B0F0"/>
                </a:solidFill>
              </a:endParaRPr>
            </a:p>
          </p:txBody>
        </p:sp>
        <p:pic>
          <p:nvPicPr>
            <p:cNvPr id="18" name="גרפיקה 11" descr="נורת חשמל וגלגל שיניים עם מילוי מלא">
              <a:extLst>
                <a:ext uri="{FF2B5EF4-FFF2-40B4-BE49-F238E27FC236}">
                  <a16:creationId xmlns:a16="http://schemas.microsoft.com/office/drawing/2014/main" id="{D5626CF5-2F56-78C7-EB3F-EB5673B5D40C}"/>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3831910" y="6266545"/>
              <a:ext cx="338083" cy="338083"/>
            </a:xfrm>
            <a:prstGeom prst="rect">
              <a:avLst/>
            </a:prstGeom>
          </p:spPr>
        </p:pic>
      </p:grpSp>
      <p:grpSp>
        <p:nvGrpSpPr>
          <p:cNvPr id="19" name="קבוצה 14">
            <a:extLst>
              <a:ext uri="{FF2B5EF4-FFF2-40B4-BE49-F238E27FC236}">
                <a16:creationId xmlns:a16="http://schemas.microsoft.com/office/drawing/2014/main" id="{61F3C0CE-EB18-B276-CB4C-5B6E862DCF71}"/>
              </a:ext>
            </a:extLst>
          </p:cNvPr>
          <p:cNvGrpSpPr/>
          <p:nvPr/>
        </p:nvGrpSpPr>
        <p:grpSpPr>
          <a:xfrm>
            <a:off x="-9344826" y="26138"/>
            <a:ext cx="9123904" cy="3818372"/>
            <a:chOff x="-9229411" y="26138"/>
            <a:chExt cx="9123904" cy="3818372"/>
          </a:xfrm>
        </p:grpSpPr>
        <p:sp>
          <p:nvSpPr>
            <p:cNvPr id="20" name="מלבן: פינות מעוגלות 16">
              <a:extLst>
                <a:ext uri="{FF2B5EF4-FFF2-40B4-BE49-F238E27FC236}">
                  <a16:creationId xmlns:a16="http://schemas.microsoft.com/office/drawing/2014/main" id="{B242C051-C97B-95B9-B7EC-CB486BAB39C8}"/>
                </a:ext>
              </a:extLst>
            </p:cNvPr>
            <p:cNvSpPr/>
            <p:nvPr/>
          </p:nvSpPr>
          <p:spPr>
            <a:xfrm>
              <a:off x="-9229411" y="26138"/>
              <a:ext cx="9123904" cy="3818372"/>
            </a:xfrm>
            <a:prstGeom prst="roundRect">
              <a:avLst>
                <a:gd name="adj" fmla="val 8509"/>
              </a:avLst>
            </a:prstGeom>
            <a:solidFill>
              <a:srgbClr val="00B0F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LID4096"/>
            </a:p>
          </p:txBody>
        </p:sp>
        <p:sp>
          <p:nvSpPr>
            <p:cNvPr id="21" name="מלבן: פינות מעוגלות 27">
              <a:extLst>
                <a:ext uri="{FF2B5EF4-FFF2-40B4-BE49-F238E27FC236}">
                  <a16:creationId xmlns:a16="http://schemas.microsoft.com/office/drawing/2014/main" id="{E091B57C-978A-743A-55DE-C6C43D1F2972}"/>
                </a:ext>
              </a:extLst>
            </p:cNvPr>
            <p:cNvSpPr/>
            <p:nvPr/>
          </p:nvSpPr>
          <p:spPr>
            <a:xfrm>
              <a:off x="-5861703" y="3135618"/>
              <a:ext cx="1798983" cy="506891"/>
            </a:xfrm>
            <a:prstGeom prst="roundRect">
              <a:avLst>
                <a:gd name="adj" fmla="val 50000"/>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he-IL">
                  <a:solidFill>
                    <a:schemeClr val="tx1"/>
                  </a:solidFill>
                  <a:latin typeface="Assistant" pitchFamily="2" charset="-79"/>
                  <a:cs typeface="Assistant" pitchFamily="2" charset="-79"/>
                </a:rPr>
                <a:t>חזרה לשאלה</a:t>
              </a:r>
              <a:endParaRPr lang="LID4096">
                <a:solidFill>
                  <a:schemeClr val="tx1"/>
                </a:solidFill>
                <a:latin typeface="Assistant" pitchFamily="2" charset="-79"/>
                <a:cs typeface="Assistant" pitchFamily="2" charset="-79"/>
              </a:endParaRPr>
            </a:p>
          </p:txBody>
        </p:sp>
        <p:pic>
          <p:nvPicPr>
            <p:cNvPr id="22" name="גרפיקה 28" descr="נורת חשמל וגלגל שיניים עם מילוי מלא">
              <a:extLst>
                <a:ext uri="{FF2B5EF4-FFF2-40B4-BE49-F238E27FC236}">
                  <a16:creationId xmlns:a16="http://schemas.microsoft.com/office/drawing/2014/main" id="{626D69C8-EBD2-BBC4-40DB-555965086002}"/>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983558" y="489982"/>
              <a:ext cx="338083" cy="338083"/>
            </a:xfrm>
            <a:prstGeom prst="rect">
              <a:avLst/>
            </a:prstGeom>
          </p:spPr>
        </p:pic>
      </p:grpSp>
      <p:sp>
        <p:nvSpPr>
          <p:cNvPr id="23" name="מלבן: פינות מעוגלות 9">
            <a:extLst>
              <a:ext uri="{FF2B5EF4-FFF2-40B4-BE49-F238E27FC236}">
                <a16:creationId xmlns:a16="http://schemas.microsoft.com/office/drawing/2014/main" id="{FDC58E42-7ABC-72B9-8B4A-842EE6D8C067}"/>
              </a:ext>
            </a:extLst>
          </p:cNvPr>
          <p:cNvSpPr/>
          <p:nvPr/>
        </p:nvSpPr>
        <p:spPr>
          <a:xfrm>
            <a:off x="-4830194" y="4034704"/>
            <a:ext cx="4421963" cy="4688381"/>
          </a:xfrm>
          <a:prstGeom prst="roundRect">
            <a:avLst>
              <a:gd name="adj" fmla="val 1647"/>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he-IL" sz="2000" b="1">
              <a:solidFill>
                <a:schemeClr val="tx1"/>
              </a:solidFill>
              <a:latin typeface="Assistant" pitchFamily="2" charset="-79"/>
              <a:cs typeface="Assistant" pitchFamily="2" charset="-79"/>
            </a:endParaRPr>
          </a:p>
          <a:p>
            <a:pPr algn="ctr"/>
            <a:r>
              <a:rPr lang="he-IL" sz="2000" b="1">
                <a:solidFill>
                  <a:schemeClr val="tx1"/>
                </a:solidFill>
                <a:latin typeface="Assistant" pitchFamily="2" charset="-79"/>
                <a:cs typeface="Assistant" pitchFamily="2" charset="-79"/>
              </a:rPr>
              <a:t>כל הכבוד, צדקתם! / טעיתם. לא נורא, מטעויות לומדים</a:t>
            </a:r>
          </a:p>
          <a:p>
            <a:pPr algn="ctr"/>
            <a:endParaRPr lang="he-IL" sz="2000" b="1">
              <a:solidFill>
                <a:schemeClr val="tx1"/>
              </a:solidFill>
              <a:latin typeface="Assistant" pitchFamily="2" charset="-79"/>
              <a:cs typeface="Assistant" pitchFamily="2" charset="-79"/>
            </a:endParaRPr>
          </a:p>
          <a:p>
            <a:r>
              <a:rPr lang="he-IL" sz="2000">
                <a:solidFill>
                  <a:schemeClr val="tx1"/>
                </a:solidFill>
                <a:latin typeface="Assistant" pitchFamily="2" charset="-79"/>
                <a:cs typeface="Assistant" pitchFamily="2" charset="-79"/>
              </a:rPr>
              <a:t>שטח הגינה כולה הוא </a:t>
            </a:r>
            <a:r>
              <a:rPr lang="en-US" sz="2000">
                <a:solidFill>
                  <a:schemeClr val="tx1"/>
                </a:solidFill>
                <a:latin typeface="Assistant" pitchFamily="2" charset="-79"/>
                <a:cs typeface="Assistant" pitchFamily="2" charset="-79"/>
              </a:rPr>
              <a:t>216</a:t>
            </a:r>
            <a:r>
              <a:rPr lang="he-IL" sz="2000">
                <a:solidFill>
                  <a:schemeClr val="tx1"/>
                </a:solidFill>
                <a:latin typeface="Assistant" pitchFamily="2" charset="-79"/>
                <a:cs typeface="Assistant" pitchFamily="2" charset="-79"/>
              </a:rPr>
              <a:t> מ"ר . </a:t>
            </a:r>
            <a:endParaRPr lang="en-US" sz="2000">
              <a:solidFill>
                <a:schemeClr val="tx1"/>
              </a:solidFill>
              <a:latin typeface="Assistant" pitchFamily="2" charset="-79"/>
              <a:cs typeface="Assistant" pitchFamily="2" charset="-79"/>
            </a:endParaRPr>
          </a:p>
          <a:p>
            <a:r>
              <a:rPr lang="he-IL" sz="2000">
                <a:solidFill>
                  <a:schemeClr val="tx1"/>
                </a:solidFill>
                <a:latin typeface="Assistant" pitchFamily="2" charset="-79"/>
                <a:cs typeface="Assistant" pitchFamily="2" charset="-79"/>
              </a:rPr>
              <a:t>אם נרצה לחלק את השטחים ביחס של </a:t>
            </a:r>
            <a:r>
              <a:rPr lang="en-US" sz="2000">
                <a:solidFill>
                  <a:schemeClr val="tx1"/>
                </a:solidFill>
                <a:latin typeface="Assistant" pitchFamily="2" charset="-79"/>
                <a:cs typeface="Assistant" pitchFamily="2" charset="-79"/>
              </a:rPr>
              <a:t>1:1</a:t>
            </a:r>
            <a:r>
              <a:rPr lang="he-IL" sz="2000">
                <a:solidFill>
                  <a:schemeClr val="tx1"/>
                </a:solidFill>
                <a:latin typeface="Assistant" pitchFamily="2" charset="-79"/>
                <a:cs typeface="Assistant" pitchFamily="2" charset="-79"/>
              </a:rPr>
              <a:t> , בעצם נרצה ששני השטחים יהיו שווים.</a:t>
            </a:r>
            <a:endParaRPr lang="en-US" sz="2000">
              <a:solidFill>
                <a:schemeClr val="tx1"/>
              </a:solidFill>
              <a:latin typeface="Assistant" pitchFamily="2" charset="-79"/>
              <a:cs typeface="Assistant" pitchFamily="2" charset="-79"/>
            </a:endParaRPr>
          </a:p>
          <a:p>
            <a:r>
              <a:rPr lang="he-IL" sz="2000">
                <a:solidFill>
                  <a:schemeClr val="tx1"/>
                </a:solidFill>
                <a:latin typeface="Assistant" pitchFamily="2" charset="-79"/>
                <a:cs typeface="Assistant" pitchFamily="2" charset="-79"/>
              </a:rPr>
              <a:t>לכן, שטח הבנייה ושטח הגינה יהיו:</a:t>
            </a:r>
          </a:p>
          <a:p>
            <a:r>
              <a:rPr lang="he-IL" sz="2000">
                <a:solidFill>
                  <a:schemeClr val="tx1"/>
                </a:solidFill>
                <a:latin typeface="Assistant" pitchFamily="2" charset="-79"/>
                <a:cs typeface="Assistant" pitchFamily="2" charset="-79"/>
              </a:rPr>
              <a:t> </a:t>
            </a:r>
            <a:r>
              <a:rPr lang="en-US" sz="2000">
                <a:solidFill>
                  <a:schemeClr val="tx1"/>
                </a:solidFill>
                <a:latin typeface="Assistant" pitchFamily="2" charset="-79"/>
                <a:cs typeface="Assistant" pitchFamily="2" charset="-79"/>
              </a:rPr>
              <a:t> 216 : 2</a:t>
            </a:r>
            <a:r>
              <a:rPr lang="he-IL" sz="2000">
                <a:solidFill>
                  <a:schemeClr val="tx1"/>
                </a:solidFill>
                <a:latin typeface="Assistant" pitchFamily="2" charset="-79"/>
                <a:cs typeface="Assistant" pitchFamily="2" charset="-79"/>
              </a:rPr>
              <a:t>=</a:t>
            </a:r>
            <a:r>
              <a:rPr lang="en-US" sz="2000">
                <a:solidFill>
                  <a:schemeClr val="tx1"/>
                </a:solidFill>
                <a:latin typeface="Assistant" pitchFamily="2" charset="-79"/>
                <a:cs typeface="Assistant" pitchFamily="2" charset="-79"/>
              </a:rPr>
              <a:t>108 </a:t>
            </a:r>
            <a:r>
              <a:rPr lang="he-IL" sz="2000">
                <a:solidFill>
                  <a:schemeClr val="tx1"/>
                </a:solidFill>
                <a:latin typeface="Assistant" pitchFamily="2" charset="-79"/>
                <a:cs typeface="Assistant" pitchFamily="2" charset="-79"/>
              </a:rPr>
              <a:t> מ"ר. </a:t>
            </a:r>
            <a:endParaRPr lang="en-US" sz="2000">
              <a:solidFill>
                <a:schemeClr val="tx1"/>
              </a:solidFill>
              <a:latin typeface="Assistant" pitchFamily="2" charset="-79"/>
              <a:cs typeface="Assistant" pitchFamily="2" charset="-79"/>
            </a:endParaRPr>
          </a:p>
          <a:p>
            <a:r>
              <a:rPr lang="he-IL" sz="2000">
                <a:solidFill>
                  <a:schemeClr val="tx1"/>
                </a:solidFill>
                <a:latin typeface="Assistant" pitchFamily="2" charset="-79"/>
                <a:cs typeface="Assistant" pitchFamily="2" charset="-79"/>
              </a:rPr>
              <a:t>שטח הגינה הוא </a:t>
            </a:r>
            <a:r>
              <a:rPr lang="en-US" sz="2000">
                <a:solidFill>
                  <a:schemeClr val="tx1"/>
                </a:solidFill>
                <a:latin typeface="Assistant" pitchFamily="2" charset="-79"/>
                <a:cs typeface="Assistant" pitchFamily="2" charset="-79"/>
              </a:rPr>
              <a:t>80</a:t>
            </a:r>
            <a:r>
              <a:rPr lang="he-IL" sz="2000">
                <a:solidFill>
                  <a:schemeClr val="tx1"/>
                </a:solidFill>
                <a:latin typeface="Assistant" pitchFamily="2" charset="-79"/>
                <a:cs typeface="Assistant" pitchFamily="2" charset="-79"/>
              </a:rPr>
              <a:t> מ"ר, לכן נרצה להעביר </a:t>
            </a:r>
            <a:r>
              <a:rPr lang="en-US" sz="2000">
                <a:solidFill>
                  <a:schemeClr val="tx1"/>
                </a:solidFill>
                <a:latin typeface="Assistant" pitchFamily="2" charset="-79"/>
                <a:cs typeface="Assistant" pitchFamily="2" charset="-79"/>
              </a:rPr>
              <a:t> 108 - 80</a:t>
            </a:r>
            <a:r>
              <a:rPr lang="he-IL" sz="2000">
                <a:solidFill>
                  <a:schemeClr val="tx1"/>
                </a:solidFill>
                <a:latin typeface="Assistant" pitchFamily="2" charset="-79"/>
                <a:cs typeface="Assistant" pitchFamily="2" charset="-79"/>
              </a:rPr>
              <a:t>= </a:t>
            </a:r>
            <a:r>
              <a:rPr lang="en-US" sz="2000">
                <a:solidFill>
                  <a:schemeClr val="tx1"/>
                </a:solidFill>
                <a:latin typeface="Assistant" pitchFamily="2" charset="-79"/>
                <a:cs typeface="Assistant" pitchFamily="2" charset="-79"/>
              </a:rPr>
              <a:t>28</a:t>
            </a:r>
            <a:r>
              <a:rPr lang="he-IL" sz="2000">
                <a:solidFill>
                  <a:schemeClr val="tx1"/>
                </a:solidFill>
                <a:latin typeface="Assistant" pitchFamily="2" charset="-79"/>
                <a:cs typeface="Assistant" pitchFamily="2" charset="-79"/>
              </a:rPr>
              <a:t> מ"ר משטח הבנייה לשטח הגינה. </a:t>
            </a:r>
            <a:endParaRPr lang="en-US" sz="2000">
              <a:solidFill>
                <a:schemeClr val="tx1"/>
              </a:solidFill>
              <a:latin typeface="Assistant" pitchFamily="2" charset="-79"/>
              <a:cs typeface="Assistant" pitchFamily="2" charset="-79"/>
            </a:endParaRPr>
          </a:p>
        </p:txBody>
      </p:sp>
      <p:sp>
        <p:nvSpPr>
          <p:cNvPr id="25" name="תיבת טקסט 26">
            <a:extLst>
              <a:ext uri="{FF2B5EF4-FFF2-40B4-BE49-F238E27FC236}">
                <a16:creationId xmlns:a16="http://schemas.microsoft.com/office/drawing/2014/main" id="{51166257-BC4F-FD00-61BF-FB1709E13C02}"/>
              </a:ext>
            </a:extLst>
          </p:cNvPr>
          <p:cNvSpPr txBox="1"/>
          <p:nvPr/>
        </p:nvSpPr>
        <p:spPr>
          <a:xfrm>
            <a:off x="-7442200" y="474122"/>
            <a:ext cx="6343227" cy="1015663"/>
          </a:xfrm>
          <a:prstGeom prst="rect">
            <a:avLst/>
          </a:prstGeom>
          <a:noFill/>
        </p:spPr>
        <p:txBody>
          <a:bodyPr wrap="square" rtlCol="0">
            <a:spAutoFit/>
          </a:bodyPr>
          <a:lstStyle/>
          <a:p>
            <a:r>
              <a:rPr lang="he-IL" sz="2000">
                <a:solidFill>
                  <a:schemeClr val="bg1"/>
                </a:solidFill>
                <a:latin typeface="Assistant" pitchFamily="2" charset="-79"/>
                <a:cs typeface="Assistant" pitchFamily="2" charset="-79"/>
              </a:rPr>
              <a:t>חשבו תחילה את השטח החדש של הבנייה ושל הגינה בהתאם ליחס שמשפחת לוי מבקשת. </a:t>
            </a:r>
          </a:p>
          <a:p>
            <a:r>
              <a:rPr lang="he-IL" sz="2000">
                <a:solidFill>
                  <a:schemeClr val="bg1"/>
                </a:solidFill>
                <a:latin typeface="Assistant" pitchFamily="2" charset="-79"/>
                <a:cs typeface="Assistant" pitchFamily="2" charset="-79"/>
              </a:rPr>
              <a:t>רק בשלב שני,  השוו לגדלי השטחים המקוריים.</a:t>
            </a:r>
            <a:endParaRPr lang="LID4096" sz="2000">
              <a:solidFill>
                <a:schemeClr val="bg1"/>
              </a:solidFill>
              <a:latin typeface="Assistant" pitchFamily="2" charset="-79"/>
              <a:cs typeface="Assistant" pitchFamily="2" charset="-79"/>
            </a:endParaRPr>
          </a:p>
        </p:txBody>
      </p:sp>
      <p:sp>
        <p:nvSpPr>
          <p:cNvPr id="5" name="מלבן 7">
            <a:extLst>
              <a:ext uri="{FF2B5EF4-FFF2-40B4-BE49-F238E27FC236}">
                <a16:creationId xmlns:a16="http://schemas.microsoft.com/office/drawing/2014/main" id="{A9A3181D-7FB0-5FD6-F98C-C0BDAC7ED513}"/>
              </a:ext>
            </a:extLst>
          </p:cNvPr>
          <p:cNvSpPr/>
          <p:nvPr/>
        </p:nvSpPr>
        <p:spPr>
          <a:xfrm>
            <a:off x="11896440" y="332438"/>
            <a:ext cx="45719" cy="5474677"/>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LID4096"/>
          </a:p>
        </p:txBody>
      </p:sp>
      <p:sp>
        <p:nvSpPr>
          <p:cNvPr id="10" name="מלבן 8">
            <a:extLst>
              <a:ext uri="{FF2B5EF4-FFF2-40B4-BE49-F238E27FC236}">
                <a16:creationId xmlns:a16="http://schemas.microsoft.com/office/drawing/2014/main" id="{E84E1F9E-4319-B4F0-22A1-E878EC6DF582}"/>
              </a:ext>
            </a:extLst>
          </p:cNvPr>
          <p:cNvSpPr/>
          <p:nvPr/>
        </p:nvSpPr>
        <p:spPr>
          <a:xfrm>
            <a:off x="11896439" y="2416212"/>
            <a:ext cx="45719" cy="3526971"/>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LID4096"/>
          </a:p>
        </p:txBody>
      </p:sp>
    </p:spTree>
    <p:custDataLst>
      <p:tags r:id="rId1"/>
    </p:custDataLst>
    <p:extLst>
      <p:ext uri="{BB962C8B-B14F-4D97-AF65-F5344CB8AC3E}">
        <p14:creationId xmlns:p14="http://schemas.microsoft.com/office/powerpoint/2010/main" val="1368883373"/>
      </p:ext>
    </p:extLst>
  </p:cSld>
  <p:clrMapOvr>
    <a:masterClrMapping/>
  </p:clrMapOvr>
  <p:extLst>
    <p:ext uri="{6950BFC3-D8DA-4A85-94F7-54DA5524770B}">
      <p188:commentRel xmlns:p188="http://schemas.microsoft.com/office/powerpoint/2018/8/main" r:id="rId4"/>
    </p:ext>
  </p:extLst>
</p:sld>
</file>

<file path=ppt/tags/tag1.xml><?xml version="1.0" encoding="utf-8"?>
<p:tagLst xmlns:a="http://schemas.openxmlformats.org/drawingml/2006/main" xmlns:r="http://schemas.openxmlformats.org/officeDocument/2006/relationships" xmlns:p="http://schemas.openxmlformats.org/presentationml/2006/main">
  <p:tag name="ARTICULATE_PROJECT_OPEN" val="0"/>
  <p:tag name="ARTICULATE_SLIDE_COUNT" val="52"/>
  <p:tag name="ARTICULATE_SLIDE_THUMBNAIL_REFRESH" val="1"/>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ערכת נושא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ערכת נושא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D2D3630D225AC040BE55C55EC1F1C31E" ma:contentTypeVersion="16" ma:contentTypeDescription="Create a new document." ma:contentTypeScope="" ma:versionID="9dc3974ef9d7a71772937db05642ceb0">
  <xsd:schema xmlns:xsd="http://www.w3.org/2001/XMLSchema" xmlns:xs="http://www.w3.org/2001/XMLSchema" xmlns:p="http://schemas.microsoft.com/office/2006/metadata/properties" xmlns:ns2="45481ece-085c-4051-9e36-d405e2c6b9f1" xmlns:ns3="5986fafe-ce1e-4054-9e70-82256040b949" targetNamespace="http://schemas.microsoft.com/office/2006/metadata/properties" ma:root="true" ma:fieldsID="b829294d16c1e34d2a1997e804a378f8" ns2:_="" ns3:_="">
    <xsd:import namespace="45481ece-085c-4051-9e36-d405e2c6b9f1"/>
    <xsd:import namespace="5986fafe-ce1e-4054-9e70-82256040b949"/>
    <xsd:element name="properties">
      <xsd:complexType>
        <xsd:sequence>
          <xsd:element name="documentManagement">
            <xsd:complexType>
              <xsd:all>
                <xsd:element ref="ns2:SharedWithUsers" minOccurs="0"/>
                <xsd:element ref="ns2:SharedWithDetails" minOccurs="0"/>
                <xsd:element ref="ns3:MediaServiceMetadata" minOccurs="0"/>
                <xsd:element ref="ns3:MediaServiceFastMetadata" minOccurs="0"/>
                <xsd:element ref="ns3:MediaServiceObjectDetectorVersions" minOccurs="0"/>
                <xsd:element ref="ns3:MediaServiceGenerationTime" minOccurs="0"/>
                <xsd:element ref="ns3:MediaServiceEventHashCode" minOccurs="0"/>
                <xsd:element ref="ns3:MediaLengthInSeconds" minOccurs="0"/>
                <xsd:element ref="ns3:MediaServiceDateTaken" minOccurs="0"/>
                <xsd:element ref="ns3:lcf76f155ced4ddcb4097134ff3c332f" minOccurs="0"/>
                <xsd:element ref="ns2:TaxCatchAll" minOccurs="0"/>
                <xsd:element ref="ns3:MediaServiceOCR" minOccurs="0"/>
                <xsd:element ref="ns3:MediaServiceLocation" minOccurs="0"/>
                <xsd:element ref="ns3:MediaServiceSearchProperties" minOccurs="0"/>
                <xsd:element ref="ns3: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5481ece-085c-4051-9e36-d405e2c6b9f1" elementFormDefault="qualified">
    <xsd:import namespace="http://schemas.microsoft.com/office/2006/documentManagement/types"/>
    <xsd:import namespace="http://schemas.microsoft.com/office/infopath/2007/PartnerControls"/>
    <xsd:element name="SharedWithUsers" ma:index="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internalName="SharedWithDetails" ma:readOnly="true">
      <xsd:simpleType>
        <xsd:restriction base="dms:Note">
          <xsd:maxLength value="255"/>
        </xsd:restriction>
      </xsd:simpleType>
    </xsd:element>
    <xsd:element name="TaxCatchAll" ma:index="19" nillable="true" ma:displayName="Taxonomy Catch All Column" ma:hidden="true" ma:list="{9c8af511-bd15-49d5-8532-22276998a571}" ma:internalName="TaxCatchAll" ma:showField="CatchAllData" ma:web="45481ece-085c-4051-9e36-d405e2c6b9f1">
      <xsd:complexType>
        <xsd:complexContent>
          <xsd:extension base="dms:MultiChoiceLookup">
            <xsd:sequence>
              <xsd:element name="Value" type="dms:Lookup" maxOccurs="unbounded" minOccurs="0" nillable="true"/>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5986fafe-ce1e-4054-9e70-82256040b949" elementFormDefault="qualified">
    <xsd:import namespace="http://schemas.microsoft.com/office/2006/documentManagement/types"/>
    <xsd:import namespace="http://schemas.microsoft.com/office/infopath/2007/PartnerControls"/>
    <xsd:element name="MediaServiceMetadata" ma:index="10" nillable="true" ma:displayName="MediaServiceMetadata" ma:hidden="true" ma:internalName="MediaServiceMetadata" ma:readOnly="true">
      <xsd:simpleType>
        <xsd:restriction base="dms:Note"/>
      </xsd:simpleType>
    </xsd:element>
    <xsd:element name="MediaServiceFastMetadata" ma:index="11" nillable="true" ma:displayName="MediaServiceFastMetadata" ma:hidden="true" ma:internalName="MediaServiceFastMetadata" ma:readOnly="true">
      <xsd:simpleType>
        <xsd:restriction base="dms:Note"/>
      </xsd:simpleType>
    </xsd:element>
    <xsd:element name="MediaServiceObjectDetectorVersions" ma:index="12" nillable="true" ma:displayName="MediaServiceObjectDetectorVersions" ma:hidden="true" ma:indexed="true" ma:internalName="MediaServiceObjectDetectorVersions"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MediaServiceDateTaken" ma:index="16" nillable="true" ma:displayName="MediaServiceDateTaken" ma:hidden="true" ma:indexed="true" ma:internalName="MediaServiceDateTaken" ma:readOnly="true">
      <xsd:simpleType>
        <xsd:restriction base="dms:Text"/>
      </xsd:simpleType>
    </xsd:element>
    <xsd:element name="lcf76f155ced4ddcb4097134ff3c332f" ma:index="18" nillable="true" ma:taxonomy="true" ma:internalName="lcf76f155ced4ddcb4097134ff3c332f" ma:taxonomyFieldName="MediaServiceImageTags" ma:displayName="Image Tags" ma:readOnly="false" ma:fieldId="{5cf76f15-5ced-4ddc-b409-7134ff3c332f}" ma:taxonomyMulti="true" ma:sspId="d46a8c9c-758c-460d-bc6c-4b1809200b3f" ma:termSetId="09814cd3-568e-fe90-9814-8d621ff8fb84" ma:anchorId="fba54fb3-c3e1-fe81-a776-ca4b69148c4d" ma:open="true" ma:isKeyword="false">
      <xsd:complexType>
        <xsd:sequence>
          <xsd:element ref="pc:Terms" minOccurs="0" maxOccurs="1"/>
        </xsd:sequence>
      </xsd:complexType>
    </xsd:element>
    <xsd:element name="MediaServiceOCR" ma:index="20" nillable="true" ma:displayName="Extracted Text" ma:internalName="MediaServiceOCR" ma:readOnly="true">
      <xsd:simpleType>
        <xsd:restriction base="dms:Note">
          <xsd:maxLength value="255"/>
        </xsd:restriction>
      </xsd:simpleType>
    </xsd:element>
    <xsd:element name="MediaServiceLocation" ma:index="21" nillable="true" ma:displayName="Location" ma:indexed="true" ma:internalName="MediaServiceLocation" ma:readOnly="true">
      <xsd:simpleType>
        <xsd:restriction base="dms:Text"/>
      </xsd:simpleType>
    </xsd:element>
    <xsd:element name="MediaServiceSearchProperties" ma:index="22" nillable="true" ma:displayName="MediaServiceSearchProperties" ma:hidden="true" ma:internalName="MediaServiceSearchProperties" ma:readOnly="true">
      <xsd:simpleType>
        <xsd:restriction base="dms:Note"/>
      </xsd:simpleType>
    </xsd:element>
    <xsd:element name="MediaServiceBillingMetadata" ma:index="23" nillable="true" ma:displayName="MediaServiceBillingMetadata" ma:hidden="true" ma:internalName="MediaServiceBillingMetadata"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TaxCatchAll xmlns="45481ece-085c-4051-9e36-d405e2c6b9f1" xsi:nil="true"/>
    <lcf76f155ced4ddcb4097134ff3c332f xmlns="5986fafe-ce1e-4054-9e70-82256040b949">
      <Terms xmlns="http://schemas.microsoft.com/office/infopath/2007/PartnerControls"/>
    </lcf76f155ced4ddcb4097134ff3c332f>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CC765AED-5369-4464-AEDD-084F3F5F33DB}">
  <ds:schemaRefs>
    <ds:schemaRef ds:uri="45481ece-085c-4051-9e36-d405e2c6b9f1"/>
    <ds:schemaRef ds:uri="5986fafe-ce1e-4054-9e70-82256040b949"/>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2F09553E-2074-4E21-B988-E33C30356103}">
  <ds:schemaRefs>
    <ds:schemaRef ds:uri="45481ece-085c-4051-9e36-d405e2c6b9f1"/>
    <ds:schemaRef ds:uri="5986fafe-ce1e-4054-9e70-82256040b949"/>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3.xml><?xml version="1.0" encoding="utf-8"?>
<ds:datastoreItem xmlns:ds="http://schemas.openxmlformats.org/officeDocument/2006/customXml" ds:itemID="{A72EA43B-0141-4980-8CCA-1ACB26358261}">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58</TotalTime>
  <Words>7725</Words>
  <Application>Microsoft Office PowerPoint</Application>
  <PresentationFormat>Widescreen</PresentationFormat>
  <Paragraphs>1226</Paragraphs>
  <Slides>68</Slides>
  <Notes>60</Notes>
  <HiddenSlides>2</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68</vt:i4>
      </vt:variant>
    </vt:vector>
  </HeadingPairs>
  <TitlesOfParts>
    <vt:vector size="77" baseType="lpstr">
      <vt:lpstr>Aptos</vt:lpstr>
      <vt:lpstr>Aptos Display</vt:lpstr>
      <vt:lpstr>Arial</vt:lpstr>
      <vt:lpstr>Assistant</vt:lpstr>
      <vt:lpstr>Assistant ExtraBold</vt:lpstr>
      <vt:lpstr>Cambria Math</vt:lpstr>
      <vt:lpstr>Courier New</vt:lpstr>
      <vt:lpstr>Wingdings</vt:lpstr>
      <vt:lpstr>ערכת נושא Office</vt:lpstr>
      <vt:lpstr>PowerPoint Presentation</vt:lpstr>
      <vt:lpstr>PowerPoint Presentation</vt:lpstr>
      <vt:lpstr>PowerPoint Presentation</vt:lpstr>
      <vt:lpstr>אולימפיאדת המדעים</vt:lpstr>
      <vt:lpstr>אולימפיאדת המדעים</vt:lpstr>
      <vt:lpstr>אולימפיאדת המדעים</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Raz Mahal</dc:creator>
  <cp:lastModifiedBy>Kholod khadeja</cp:lastModifiedBy>
  <cp:revision>2</cp:revision>
  <dcterms:created xsi:type="dcterms:W3CDTF">2026-05-26T10:36:24Z</dcterms:created>
  <dcterms:modified xsi:type="dcterms:W3CDTF">2026-08-17T07:15:39Z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rticulateGUID">
    <vt:lpwstr>FAE34CFC-7075-466E-911E-D7F40104AA87</vt:lpwstr>
  </property>
  <property fmtid="{D5CDD505-2E9C-101B-9397-08002B2CF9AE}" pid="3" name="ArticulatePath">
    <vt:lpwstr>תבניות להזנה מפתחות</vt:lpwstr>
  </property>
  <property fmtid="{D5CDD505-2E9C-101B-9397-08002B2CF9AE}" pid="4" name="ContentTypeId">
    <vt:lpwstr>0x010100D2D3630D225AC040BE55C55EC1F1C31E</vt:lpwstr>
  </property>
  <property fmtid="{D5CDD505-2E9C-101B-9397-08002B2CF9AE}" pid="5" name="MediaServiceImageTags">
    <vt:lpwstr/>
  </property>
</Properties>
</file>